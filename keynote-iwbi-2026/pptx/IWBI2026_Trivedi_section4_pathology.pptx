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whole talk we have stayed in the reading room. Now walk across the hospital to the pathology lab — a part of the building a radiology audience rarely sees. The same arc played out here: hand-built tools, then deep learning, then foundation models. But tissue AI can do one thing our images cannot, and it is the reason this matters to you. And remember the third model I opened with — the four-thousand-dollar recurrence score being read off a glass slide across town. We are about to meet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fact that surprises most imaging people. Some of the largest foundation models in medicine were not built on radiology images — they were built on pathology slides. In 2024, Virchow, from Paige and Microsoft, was trained on about 1.5 million whole-slide images from roughly 120,000 patients, self-supervised, with no hand labels. It learned the structure of human tissue on its own, and detects cancer across more than a dozen tissue types at clinical-grade accuracy, including rare cancers where data is scarce.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directly relevant to breast imaging. These models read features off the H&amp;E that the eye cannot see. Take the cancer hardest to detect on a mammogram — invasive lobular carcinoma. It hides in dense tissue and grows single-file. Lobular cancer is defined molecularly by the loss of one protein, E-cadherin, the CDH1 gene. A model predicts CDH1 status from the H&amp;E alone at an AUC around 0.94. The morphology was always a readout of the molecular biology underneath; it just was not visible by eye. And among cases the model flagged as CDH1-lost where the standard test found nothing, about three-quarters had another mechanism silencing the gene — biology the assay never tested for.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Pathology ran the same AI-versus-experts study radiology did. CAMELYON16: detecting lymph-node metastasis on H&amp;E, eleven pathologists reading a test set under a realistic two-hour time limit. The best algorithm scored 0.994; the pathologist panel, under the clock, 0.810. The top algorithms matched experts given unlimited time. The framing is not replacement — it is fatigue and time pressure, which machines do not feel.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AI on a problem that decides treatment today. Since trastuzumab deruxtecan and DESTINY-Breast04, HER2-low disease is treatable. That makes the HER2 zero-versus-one-plus call decisive — and it is a call the assay was never designed to make, on which pathologists disagree. Baseline agreement is about 72 percent. Automated AI reaches 92. And on the hardest call, zero versus one-plus, AI lifts reader agreement from about 70 to about 87 percent. A distinction that now determines who is eligible for a drug that improves survival.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capability imaging simply does not have, and the third model from the opening. Oncotype DX — the 21-gene recurrence score — costs about four thousand dollars and takes one to two weeks. The slide is already on the desk. Orpheus, in Nature Communications this year, infers that recurrence score directly from the H&amp;E across six thousand cases. It flags the high-risk patients at an AUC of 0.89 versus 0.73 for a leading nomogram. And in the low-score patients — the ones the test calls low-risk — it predicts who actually recurs better than the recurrence score itself: 0.75 versus 0.49. Morphology to molecular identity, from a slide we already have.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 all of this arrived at once is the substrate underneath it. Instead of training a new model per task, labs trained one self-supervised model on millions of unlabeled slides — a GPT for tissue — that learns the visual language of pathology and adapts with minimal fine-tuning. UNI, CONCH, Virchow, and Prov-GigaPath were published within months of each other in Nature and Nature Medicine. They cut the data a breast task needs and generalize across institutions and scanners, which is what had limited clinical pathology AI. The honest caveat: the bottleneck now is scanning, digital workflow, and reimbursement — not the algorithm. Most US labs still read glass. Paige Prostate was the first FDA-authorized pathology AI, in 2021; molecular-from-H&amp;E is not yet replacing the assays.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decades, radiology and pathology have been handled as separate departments, with separate images and separate reports. AI now makes it practical to analyze them together for the same patient. Radiology AI localizes the lesion; pathology AI infers molecular features from the same disease; and multimodal models combine the two. That is where the next section goes, and it is what the talk means by clinical intelligence.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58368"/>
            <a:ext cx="10058400" cy="365760"/>
          </a:xfrm>
          <a:prstGeom prst="rect">
            <a:avLst/>
          </a:prstGeom>
          <a:noFill/>
        </p:spPr>
        <p:txBody>
          <a:bodyPr wrap="square" anchor="t" lIns="0" rIns="0" tIns="0" bIns="0">
            <a:spAutoFit/>
          </a:bodyPr>
          <a:lstStyle/>
          <a:p>
            <a:pPr algn="l">
              <a:lnSpc>
                <a:spcPct val="100000"/>
              </a:lnSpc>
            </a:pPr>
            <a:r>
              <a:rPr sz="1100" b="0" i="0">
                <a:solidFill>
                  <a:srgbClr val="5C6975"/>
                </a:solidFill>
                <a:latin typeface="Consolas"/>
              </a:rPr>
              <a:t>LESION  →  IMAGE  →  </a:t>
            </a:r>
            <a:r>
              <a:rPr sz="1100" b="1" i="0">
                <a:solidFill>
                  <a:srgbClr val="E7AC51"/>
                </a:solidFill>
                <a:latin typeface="Consolas"/>
              </a:rPr>
              <a:t>PATIENT</a:t>
            </a:r>
            <a:r>
              <a:rPr sz="1100" b="0" i="0">
                <a:solidFill>
                  <a:srgbClr val="5C6975"/>
                </a:solidFill>
                <a:latin typeface="Consolas"/>
              </a:rPr>
              <a:t>  →  POPULATION</a:t>
            </a:r>
          </a:p>
        </p:txBody>
      </p:sp>
      <p:sp>
        <p:nvSpPr>
          <p:cNvPr id="4" name="TextBox 3"/>
          <p:cNvSpPr txBox="1"/>
          <p:nvPr/>
        </p:nvSpPr>
        <p:spPr>
          <a:xfrm>
            <a:off x="777240" y="1828800"/>
            <a:ext cx="10607040" cy="1280160"/>
          </a:xfrm>
          <a:prstGeom prst="rect">
            <a:avLst/>
          </a:prstGeom>
          <a:noFill/>
        </p:spPr>
        <p:txBody>
          <a:bodyPr wrap="square" anchor="t" lIns="0" rIns="0" tIns="0" bIns="0">
            <a:spAutoFit/>
          </a:bodyPr>
          <a:lstStyle/>
          <a:p>
            <a:pPr algn="l">
              <a:lnSpc>
                <a:spcPct val="102000"/>
              </a:lnSpc>
            </a:pPr>
            <a:r>
              <a:rPr sz="4600" b="1" i="0">
                <a:solidFill>
                  <a:srgbClr val="ECEFF3"/>
                </a:solidFill>
                <a:latin typeface="Arial"/>
              </a:rPr>
              <a:t>Across the hospital, in the </a:t>
            </a:r>
            <a:r>
              <a:rPr sz="4600" b="1" i="0">
                <a:solidFill>
                  <a:srgbClr val="E7AC51"/>
                </a:solidFill>
                <a:latin typeface="Arial"/>
              </a:rPr>
              <a:t>pathology lab.</a:t>
            </a:r>
          </a:p>
        </p:txBody>
      </p:sp>
      <p:sp>
        <p:nvSpPr>
          <p:cNvPr id="5" name="TextBox 4"/>
          <p:cNvSpPr txBox="1"/>
          <p:nvPr/>
        </p:nvSpPr>
        <p:spPr>
          <a:xfrm>
            <a:off x="777240" y="3429000"/>
            <a:ext cx="9144000" cy="1463040"/>
          </a:xfrm>
          <a:prstGeom prst="rect">
            <a:avLst/>
          </a:prstGeom>
          <a:noFill/>
        </p:spPr>
        <p:txBody>
          <a:bodyPr wrap="square" anchor="t" lIns="0" rIns="0" tIns="0" bIns="0">
            <a:spAutoFit/>
          </a:bodyPr>
          <a:lstStyle/>
          <a:p>
            <a:pPr algn="l">
              <a:lnSpc>
                <a:spcPct val="140000"/>
              </a:lnSpc>
            </a:pPr>
            <a:r>
              <a:rPr sz="1700" b="0" i="0">
                <a:solidFill>
                  <a:srgbClr val="9DA9B5"/>
                </a:solidFill>
                <a:latin typeface="Arial"/>
              </a:rPr>
              <a:t>So far we have stayed in the reading room. The same arc — hand-built tools, then deep learning, then foundation models — has played out in pathology, and it has one capability our images do not: inferring molecular and genomic features directly from the stained slide.</a:t>
            </a:r>
          </a:p>
        </p:txBody>
      </p:sp>
      <p:sp>
        <p:nvSpPr>
          <p:cNvPr id="6" name="Rectangle 5"/>
          <p:cNvSpPr/>
          <p:nvPr/>
        </p:nvSpPr>
        <p:spPr>
          <a:xfrm>
            <a:off x="777240" y="5166360"/>
            <a:ext cx="45720" cy="914400"/>
          </a:xfrm>
          <a:prstGeom prst="rect">
            <a:avLst/>
          </a:prstGeom>
          <a:solidFill>
            <a:srgbClr val="C9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5166360"/>
            <a:ext cx="9601200" cy="914400"/>
          </a:xfrm>
          <a:prstGeom prst="rect">
            <a:avLst/>
          </a:prstGeom>
          <a:noFill/>
        </p:spPr>
        <p:txBody>
          <a:bodyPr wrap="square" anchor="t" lIns="0" rIns="0" tIns="0" bIns="0">
            <a:spAutoFit/>
          </a:bodyPr>
          <a:lstStyle/>
          <a:p>
            <a:pPr algn="l">
              <a:lnSpc>
                <a:spcPct val="140000"/>
              </a:lnSpc>
            </a:pPr>
            <a:r>
              <a:rPr sz="1400" b="0" i="0">
                <a:solidFill>
                  <a:srgbClr val="5C6975"/>
                </a:solidFill>
                <a:latin typeface="Arial"/>
              </a:rPr>
              <a:t>This is also where the </a:t>
            </a:r>
            <a:r>
              <a:rPr sz="1400" b="1" i="0">
                <a:solidFill>
                  <a:srgbClr val="E7AC51"/>
                </a:solidFill>
                <a:latin typeface="Arial"/>
              </a:rPr>
              <a:t>third model</a:t>
            </a:r>
            <a:r>
              <a:rPr sz="1400" b="0" i="0">
                <a:solidFill>
                  <a:srgbClr val="5C6975"/>
                </a:solidFill>
                <a:latin typeface="Arial"/>
              </a:rPr>
              <a:t> from the opening lives — the recurrence score read from a glass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AN UNEXPECTED FACT</a:t>
            </a:r>
          </a:p>
        </p:txBody>
      </p:sp>
      <p:sp>
        <p:nvSpPr>
          <p:cNvPr id="4" name="TextBox 3"/>
          <p:cNvSpPr txBox="1"/>
          <p:nvPr/>
        </p:nvSpPr>
        <p:spPr>
          <a:xfrm>
            <a:off x="777240" y="1051560"/>
            <a:ext cx="10607040" cy="1005840"/>
          </a:xfrm>
          <a:prstGeom prst="rect">
            <a:avLst/>
          </a:prstGeom>
          <a:noFill/>
        </p:spPr>
        <p:txBody>
          <a:bodyPr wrap="square" anchor="t" lIns="0" rIns="0" tIns="0" bIns="0">
            <a:spAutoFit/>
          </a:bodyPr>
          <a:lstStyle/>
          <a:p>
            <a:pPr algn="l">
              <a:lnSpc>
                <a:spcPct val="110000"/>
              </a:lnSpc>
            </a:pPr>
            <a:r>
              <a:rPr sz="2600" b="1" i="0">
                <a:solidFill>
                  <a:srgbClr val="ECEFF3"/>
                </a:solidFill>
                <a:latin typeface="Arial"/>
              </a:rPr>
              <a:t>Some of the largest medical foundation models were trained on </a:t>
            </a:r>
            <a:r>
              <a:rPr sz="2600" b="1" i="0">
                <a:solidFill>
                  <a:srgbClr val="E7AC51"/>
                </a:solidFill>
                <a:latin typeface="Arial"/>
              </a:rPr>
              <a:t>pathology slides.</a:t>
            </a:r>
          </a:p>
        </p:txBody>
      </p:sp>
      <p:sp>
        <p:nvSpPr>
          <p:cNvPr id="5" name="TextBox 4"/>
          <p:cNvSpPr txBox="1"/>
          <p:nvPr/>
        </p:nvSpPr>
        <p:spPr>
          <a:xfrm>
            <a:off x="777240" y="2331720"/>
            <a:ext cx="10607040" cy="1188720"/>
          </a:xfrm>
          <a:prstGeom prst="rect">
            <a:avLst/>
          </a:prstGeom>
          <a:noFill/>
        </p:spPr>
        <p:txBody>
          <a:bodyPr wrap="square" anchor="t" lIns="0" rIns="0" tIns="0" bIns="0">
            <a:spAutoFit/>
          </a:bodyPr>
          <a:lstStyle/>
          <a:p>
            <a:pPr algn="l">
              <a:lnSpc>
                <a:spcPct val="140000"/>
              </a:lnSpc>
            </a:pPr>
            <a:r>
              <a:rPr sz="1500" b="1" i="0">
                <a:solidFill>
                  <a:srgbClr val="ECEFF3"/>
                </a:solidFill>
                <a:latin typeface="Arial"/>
              </a:rPr>
              <a:t>Virchow</a:t>
            </a:r>
            <a:r>
              <a:rPr sz="1500" b="0" i="0">
                <a:solidFill>
                  <a:srgbClr val="9DA9B5"/>
                </a:solidFill>
                <a:latin typeface="Arial"/>
              </a:rPr>
              <a:t> (Paige + Microsoft, Nature Medicine 2024) was trained on ~1.5M whole-slide images from ~120,000 patients — </a:t>
            </a:r>
            <a:r>
              <a:rPr sz="1500" b="1" i="0">
                <a:solidFill>
                  <a:srgbClr val="ECEFF3"/>
                </a:solidFill>
                <a:latin typeface="Arial"/>
              </a:rPr>
              <a:t>self-supervised, no hand labels</a:t>
            </a:r>
            <a:r>
              <a:rPr sz="1500" b="0" i="0">
                <a:solidFill>
                  <a:srgbClr val="9DA9B5"/>
                </a:solidFill>
                <a:latin typeface="Arial"/>
              </a:rPr>
              <a:t>. It learned the structure of human tissue on its own, and detects cancer across a dozen-plus tissue types at clinical-grade accuracy, including rare cancers.</a:t>
            </a:r>
          </a:p>
        </p:txBody>
      </p:sp>
      <p:sp>
        <p:nvSpPr>
          <p:cNvPr id="6" name="Rounded Rectangle 5"/>
          <p:cNvSpPr/>
          <p:nvPr/>
        </p:nvSpPr>
        <p:spPr>
          <a:xfrm>
            <a:off x="777240" y="3749039"/>
            <a:ext cx="274320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1" i="0">
                <a:solidFill>
                  <a:srgbClr val="5FB7C9"/>
                </a:solidFill>
                <a:latin typeface="Consolas"/>
              </a:rPr>
              <a:t>1.49M</a:t>
            </a:r>
            <a:r>
              <a:rPr sz="1050" b="0" i="0">
                <a:solidFill>
                  <a:srgbClr val="ECEFF3"/>
                </a:solidFill>
                <a:latin typeface="Consolas"/>
              </a:rPr>
              <a:t> whole-slide images</a:t>
            </a:r>
          </a:p>
        </p:txBody>
      </p:sp>
      <p:sp>
        <p:nvSpPr>
          <p:cNvPr id="7" name="Rounded Rectangle 6"/>
          <p:cNvSpPr/>
          <p:nvPr/>
        </p:nvSpPr>
        <p:spPr>
          <a:xfrm>
            <a:off x="3657600" y="3749039"/>
            <a:ext cx="274320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1" i="0">
                <a:solidFill>
                  <a:srgbClr val="5FB7C9"/>
                </a:solidFill>
                <a:latin typeface="Consolas"/>
              </a:rPr>
              <a:t>119,629</a:t>
            </a:r>
            <a:r>
              <a:rPr sz="1050" b="0" i="0">
                <a:solidFill>
                  <a:srgbClr val="ECEFF3"/>
                </a:solidFill>
                <a:latin typeface="Consolas"/>
              </a:rPr>
              <a:t> patients</a:t>
            </a:r>
          </a:p>
        </p:txBody>
      </p:sp>
      <p:sp>
        <p:nvSpPr>
          <p:cNvPr id="8" name="Rounded Rectangle 7"/>
          <p:cNvSpPr/>
          <p:nvPr/>
        </p:nvSpPr>
        <p:spPr>
          <a:xfrm>
            <a:off x="6537960" y="3749039"/>
            <a:ext cx="484632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1" i="0">
                <a:solidFill>
                  <a:srgbClr val="5FB7C9"/>
                </a:solidFill>
                <a:latin typeface="Consolas"/>
              </a:rPr>
              <a:t>0.95</a:t>
            </a:r>
            <a:r>
              <a:rPr sz="1050" b="0" i="0">
                <a:solidFill>
                  <a:srgbClr val="ECEFF3"/>
                </a:solidFill>
                <a:latin typeface="Consolas"/>
              </a:rPr>
              <a:t> specimen-level AUC · pan-cancer incl. rare</a:t>
            </a:r>
          </a:p>
        </p:txBody>
      </p:sp>
      <p:sp>
        <p:nvSpPr>
          <p:cNvPr id="9" name="TextBox 8"/>
          <p:cNvSpPr txBox="1"/>
          <p:nvPr/>
        </p:nvSpPr>
        <p:spPr>
          <a:xfrm>
            <a:off x="777240" y="4663440"/>
            <a:ext cx="10607040" cy="36576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Vorontsov et al., Nature Medicine 2024 · DOI 10.1038/s41591-024-03141-0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MORPHOLOGY IS MOLECULAR</a:t>
            </a:r>
          </a:p>
        </p:txBody>
      </p:sp>
      <p:sp>
        <p:nvSpPr>
          <p:cNvPr id="4" name="TextBox 3"/>
          <p:cNvSpPr txBox="1"/>
          <p:nvPr/>
        </p:nvSpPr>
        <p:spPr>
          <a:xfrm>
            <a:off x="777240" y="1051560"/>
            <a:ext cx="10607040" cy="1005840"/>
          </a:xfrm>
          <a:prstGeom prst="rect">
            <a:avLst/>
          </a:prstGeom>
          <a:noFill/>
        </p:spPr>
        <p:txBody>
          <a:bodyPr wrap="square" anchor="t" lIns="0" rIns="0" tIns="0" bIns="0">
            <a:spAutoFit/>
          </a:bodyPr>
          <a:lstStyle/>
          <a:p>
            <a:pPr algn="l">
              <a:lnSpc>
                <a:spcPct val="110000"/>
              </a:lnSpc>
            </a:pPr>
            <a:r>
              <a:rPr sz="2500" b="1" i="0">
                <a:solidFill>
                  <a:srgbClr val="ECEFF3"/>
                </a:solidFill>
                <a:latin typeface="Arial"/>
              </a:rPr>
              <a:t>Inferring molecular features from the H&amp;E, including </a:t>
            </a:r>
            <a:r>
              <a:rPr sz="2500" b="1" i="0">
                <a:solidFill>
                  <a:srgbClr val="E7AC51"/>
                </a:solidFill>
                <a:latin typeface="Arial"/>
              </a:rPr>
              <a:t>invasive lobular carcinoma.</a:t>
            </a:r>
          </a:p>
        </p:txBody>
      </p:sp>
      <p:sp>
        <p:nvSpPr>
          <p:cNvPr id="5" name="TextBox 4"/>
          <p:cNvSpPr txBox="1"/>
          <p:nvPr/>
        </p:nvSpPr>
        <p:spPr>
          <a:xfrm>
            <a:off x="777240" y="2286000"/>
            <a:ext cx="10607040" cy="1371600"/>
          </a:xfrm>
          <a:prstGeom prst="rect">
            <a:avLst/>
          </a:prstGeom>
          <a:noFill/>
        </p:spPr>
        <p:txBody>
          <a:bodyPr wrap="square" anchor="t" lIns="0" rIns="0" tIns="0" bIns="0">
            <a:spAutoFit/>
          </a:bodyPr>
          <a:lstStyle/>
          <a:p>
            <a:pPr algn="l">
              <a:lnSpc>
                <a:spcPct val="140000"/>
              </a:lnSpc>
            </a:pPr>
            <a:r>
              <a:rPr sz="1500" b="1" i="0">
                <a:solidFill>
                  <a:srgbClr val="ECEFF3"/>
                </a:solidFill>
                <a:latin typeface="Arial"/>
              </a:rPr>
              <a:t>Invasive lobular carcinoma</a:t>
            </a:r>
            <a:r>
              <a:rPr sz="1500" b="0" i="0">
                <a:solidFill>
                  <a:srgbClr val="9DA9B5"/>
                </a:solidFill>
                <a:latin typeface="Arial"/>
              </a:rPr>
              <a:t> hides in dense tissue and grows single-file — the hardest cancer to catch on mammography. It is defined molecularly by loss of E-cadherin (the </a:t>
            </a:r>
            <a:r>
              <a:rPr sz="1500" b="1" i="0">
                <a:solidFill>
                  <a:srgbClr val="ECEFF3"/>
                </a:solidFill>
                <a:latin typeface="Arial"/>
              </a:rPr>
              <a:t>CDH1</a:t>
            </a:r>
            <a:r>
              <a:rPr sz="1500" b="0" i="0">
                <a:solidFill>
                  <a:srgbClr val="9DA9B5"/>
                </a:solidFill>
                <a:latin typeface="Arial"/>
              </a:rPr>
              <a:t> gene). A model predicts CDH1 status </a:t>
            </a:r>
            <a:r>
              <a:rPr sz="1500" b="1" i="0">
                <a:solidFill>
                  <a:srgbClr val="ECEFF3"/>
                </a:solidFill>
                <a:latin typeface="Arial"/>
              </a:rPr>
              <a:t>from the H&amp;E alone</a:t>
            </a:r>
            <a:r>
              <a:rPr sz="1500" b="0" i="0">
                <a:solidFill>
                  <a:srgbClr val="9DA9B5"/>
                </a:solidFill>
                <a:latin typeface="Arial"/>
              </a:rPr>
              <a:t>. The morphology was always a readout of the biology underneath; it just wasn't visible by eye.</a:t>
            </a:r>
          </a:p>
        </p:txBody>
      </p:sp>
      <p:sp>
        <p:nvSpPr>
          <p:cNvPr id="6" name="Rounded Rectangle 5"/>
          <p:cNvSpPr/>
          <p:nvPr/>
        </p:nvSpPr>
        <p:spPr>
          <a:xfrm>
            <a:off x="777240" y="3886200"/>
            <a:ext cx="329184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0" i="0">
                <a:solidFill>
                  <a:srgbClr val="ECEFF3"/>
                </a:solidFill>
                <a:latin typeface="Consolas"/>
              </a:rPr>
              <a:t>CDH1 from H&amp;E · </a:t>
            </a:r>
            <a:r>
              <a:rPr sz="1050" b="1" i="0">
                <a:solidFill>
                  <a:srgbClr val="5FB7C9"/>
                </a:solidFill>
                <a:latin typeface="Consolas"/>
              </a:rPr>
              <a:t>AUC ~0.94</a:t>
            </a:r>
          </a:p>
        </p:txBody>
      </p:sp>
      <p:sp>
        <p:nvSpPr>
          <p:cNvPr id="7" name="Rounded Rectangle 6"/>
          <p:cNvSpPr/>
          <p:nvPr/>
        </p:nvSpPr>
        <p:spPr>
          <a:xfrm>
            <a:off x="4206240" y="3886200"/>
            <a:ext cx="676656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1" i="0">
                <a:solidFill>
                  <a:srgbClr val="5FB7C9"/>
                </a:solidFill>
                <a:latin typeface="Consolas"/>
              </a:rPr>
              <a:t>74%</a:t>
            </a:r>
            <a:r>
              <a:rPr sz="1050" b="0" i="0">
                <a:solidFill>
                  <a:srgbClr val="ECEFF3"/>
                </a:solidFill>
                <a:latin typeface="Consolas"/>
              </a:rPr>
              <a:t> of AI-flagged cases had hidden CDH1 inactivation the assay missed</a:t>
            </a:r>
          </a:p>
        </p:txBody>
      </p:sp>
      <p:sp>
        <p:nvSpPr>
          <p:cNvPr id="8" name="TextBox 7"/>
          <p:cNvSpPr txBox="1"/>
          <p:nvPr/>
        </p:nvSpPr>
        <p:spPr>
          <a:xfrm>
            <a:off x="777240" y="4800600"/>
            <a:ext cx="10607040" cy="36576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Cancer Research 2024 (Mount Sinai) · PMID 39106449 — a dedicated model, not Virchow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PATHOLOGY'S READER STUDY</a:t>
            </a:r>
          </a:p>
        </p:txBody>
      </p:sp>
      <p:sp>
        <p:nvSpPr>
          <p:cNvPr id="4" name="TextBox 3"/>
          <p:cNvSpPr txBox="1"/>
          <p:nvPr/>
        </p:nvSpPr>
        <p:spPr>
          <a:xfrm>
            <a:off x="777240" y="1051560"/>
            <a:ext cx="10607040" cy="1005840"/>
          </a:xfrm>
          <a:prstGeom prst="rect">
            <a:avLst/>
          </a:prstGeom>
          <a:noFill/>
        </p:spPr>
        <p:txBody>
          <a:bodyPr wrap="square" anchor="t" lIns="0" rIns="0" tIns="0" bIns="0">
            <a:spAutoFit/>
          </a:bodyPr>
          <a:lstStyle/>
          <a:p>
            <a:pPr algn="l">
              <a:lnSpc>
                <a:spcPct val="110000"/>
              </a:lnSpc>
            </a:pPr>
            <a:r>
              <a:rPr sz="2600" b="1" i="0">
                <a:solidFill>
                  <a:srgbClr val="ECEFF3"/>
                </a:solidFill>
                <a:latin typeface="Arial"/>
              </a:rPr>
              <a:t>CAMELYON16: </a:t>
            </a:r>
            <a:r>
              <a:rPr sz="2600" b="1" i="0">
                <a:solidFill>
                  <a:srgbClr val="E7AC51"/>
                </a:solidFill>
                <a:latin typeface="Arial"/>
              </a:rPr>
              <a:t>AI compared with pathologists</a:t>
            </a:r>
            <a:r>
              <a:rPr sz="2600" b="1" i="0">
                <a:solidFill>
                  <a:srgbClr val="ECEFF3"/>
                </a:solidFill>
                <a:latin typeface="Arial"/>
              </a:rPr>
              <a:t> on lymph-node metastasis.</a:t>
            </a:r>
          </a:p>
        </p:txBody>
      </p:sp>
      <p:sp>
        <p:nvSpPr>
          <p:cNvPr id="5" name="TextBox 4"/>
          <p:cNvSpPr txBox="1"/>
          <p:nvPr/>
        </p:nvSpPr>
        <p:spPr>
          <a:xfrm>
            <a:off x="777240" y="2468880"/>
            <a:ext cx="5120640" cy="1188720"/>
          </a:xfrm>
          <a:prstGeom prst="rect">
            <a:avLst/>
          </a:prstGeom>
          <a:noFill/>
        </p:spPr>
        <p:txBody>
          <a:bodyPr wrap="square" anchor="t" lIns="0" rIns="0" tIns="0" bIns="0">
            <a:spAutoFit/>
          </a:bodyPr>
          <a:lstStyle/>
          <a:p>
            <a:pPr algn="l">
              <a:lnSpc>
                <a:spcPct val="100000"/>
              </a:lnSpc>
            </a:pPr>
            <a:r>
              <a:rPr sz="5200" b="1" i="0">
                <a:solidFill>
                  <a:srgbClr val="E7AC51"/>
                </a:solidFill>
                <a:latin typeface="Arial"/>
              </a:rPr>
              <a:t>0.994</a:t>
            </a:r>
          </a:p>
        </p:txBody>
      </p:sp>
      <p:sp>
        <p:nvSpPr>
          <p:cNvPr id="6" name="TextBox 5"/>
          <p:cNvSpPr txBox="1"/>
          <p:nvPr/>
        </p:nvSpPr>
        <p:spPr>
          <a:xfrm>
            <a:off x="777240" y="3703320"/>
            <a:ext cx="4937760" cy="822960"/>
          </a:xfrm>
          <a:prstGeom prst="rect">
            <a:avLst/>
          </a:prstGeom>
          <a:noFill/>
        </p:spPr>
        <p:txBody>
          <a:bodyPr wrap="square" anchor="t" lIns="0" rIns="0" tIns="0" bIns="0">
            <a:spAutoFit/>
          </a:bodyPr>
          <a:lstStyle/>
          <a:p>
            <a:pPr algn="l">
              <a:lnSpc>
                <a:spcPct val="135000"/>
              </a:lnSpc>
            </a:pPr>
            <a:r>
              <a:rPr sz="1150" b="0" i="0">
                <a:solidFill>
                  <a:srgbClr val="ECEFF3"/>
                </a:solidFill>
                <a:latin typeface="Consolas"/>
              </a:rPr>
              <a:t>best algorithm · AUC</a:t>
            </a:r>
          </a:p>
        </p:txBody>
      </p:sp>
      <p:sp>
        <p:nvSpPr>
          <p:cNvPr id="7" name="TextBox 6"/>
          <p:cNvSpPr txBox="1"/>
          <p:nvPr/>
        </p:nvSpPr>
        <p:spPr>
          <a:xfrm>
            <a:off x="6446520" y="2468880"/>
            <a:ext cx="5120640" cy="1188720"/>
          </a:xfrm>
          <a:prstGeom prst="rect">
            <a:avLst/>
          </a:prstGeom>
          <a:noFill/>
        </p:spPr>
        <p:txBody>
          <a:bodyPr wrap="square" anchor="t" lIns="0" rIns="0" tIns="0" bIns="0">
            <a:spAutoFit/>
          </a:bodyPr>
          <a:lstStyle/>
          <a:p>
            <a:pPr algn="l">
              <a:lnSpc>
                <a:spcPct val="100000"/>
              </a:lnSpc>
            </a:pPr>
            <a:r>
              <a:rPr sz="5200" b="1" i="0">
                <a:solidFill>
                  <a:srgbClr val="E7AC51"/>
                </a:solidFill>
                <a:latin typeface="Arial"/>
              </a:rPr>
              <a:t>0.810</a:t>
            </a:r>
          </a:p>
        </p:txBody>
      </p:sp>
      <p:sp>
        <p:nvSpPr>
          <p:cNvPr id="8" name="TextBox 7"/>
          <p:cNvSpPr txBox="1"/>
          <p:nvPr/>
        </p:nvSpPr>
        <p:spPr>
          <a:xfrm>
            <a:off x="6446520" y="3703320"/>
            <a:ext cx="4937760" cy="822960"/>
          </a:xfrm>
          <a:prstGeom prst="rect">
            <a:avLst/>
          </a:prstGeom>
          <a:noFill/>
        </p:spPr>
        <p:txBody>
          <a:bodyPr wrap="square" anchor="t" lIns="0" rIns="0" tIns="0" bIns="0">
            <a:spAutoFit/>
          </a:bodyPr>
          <a:lstStyle/>
          <a:p>
            <a:pPr algn="l">
              <a:lnSpc>
                <a:spcPct val="135000"/>
              </a:lnSpc>
            </a:pPr>
            <a:r>
              <a:rPr sz="1150" b="0" i="0">
                <a:solidFill>
                  <a:srgbClr val="ECEFF3"/>
                </a:solidFill>
                <a:latin typeface="Consolas"/>
              </a:rPr>
              <a:t>pathologist panel · AUC (under a 2-hour limit)</a:t>
            </a:r>
          </a:p>
        </p:txBody>
      </p:sp>
      <p:sp>
        <p:nvSpPr>
          <p:cNvPr id="9" name="TextBox 8"/>
          <p:cNvSpPr txBox="1"/>
          <p:nvPr/>
        </p:nvSpPr>
        <p:spPr>
          <a:xfrm>
            <a:off x="777240" y="4572000"/>
            <a:ext cx="10607040" cy="1097280"/>
          </a:xfrm>
          <a:prstGeom prst="rect">
            <a:avLst/>
          </a:prstGeom>
          <a:noFill/>
        </p:spPr>
        <p:txBody>
          <a:bodyPr wrap="square" anchor="t" lIns="0" rIns="0" tIns="0" bIns="0">
            <a:spAutoFit/>
          </a:bodyPr>
          <a:lstStyle/>
          <a:p>
            <a:pPr algn="l">
              <a:lnSpc>
                <a:spcPct val="140000"/>
              </a:lnSpc>
            </a:pPr>
            <a:r>
              <a:rPr sz="1600" b="0" i="0">
                <a:solidFill>
                  <a:srgbClr val="9DA9B5"/>
                </a:solidFill>
                <a:latin typeface="Arial"/>
              </a:rPr>
              <a:t>Lymph-node metastasis on H&amp;E, 11 pathologists under realistic time pressure. </a:t>
            </a:r>
            <a:r>
              <a:rPr sz="1600" b="1" i="0">
                <a:solidFill>
                  <a:srgbClr val="ECEFF3"/>
                </a:solidFill>
                <a:latin typeface="Arial"/>
              </a:rPr>
              <a:t>Under the clock, the best AI exceeded the panel</a:t>
            </a:r>
            <a:r>
              <a:rPr sz="1600" b="0" i="0">
                <a:solidFill>
                  <a:srgbClr val="9DA9B5"/>
                </a:solidFill>
                <a:latin typeface="Arial"/>
              </a:rPr>
              <a:t>; top algorithms matched experts given unlimited time. The point is fatigue and time, not replacement.</a:t>
            </a:r>
          </a:p>
        </p:txBody>
      </p:sp>
      <p:sp>
        <p:nvSpPr>
          <p:cNvPr id="10" name="TextBox 9"/>
          <p:cNvSpPr txBox="1"/>
          <p:nvPr/>
        </p:nvSpPr>
        <p:spPr>
          <a:xfrm>
            <a:off x="777240" y="5760720"/>
            <a:ext cx="10607040" cy="36576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Ehteshami Bejnordi et al., JAMA 2017 · DOI 10.1001/jama.2017.14585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A CALL THAT NOW PICKS A DRUG</a:t>
            </a:r>
          </a:p>
        </p:txBody>
      </p:sp>
      <p:sp>
        <p:nvSpPr>
          <p:cNvPr id="4" name="TextBox 3"/>
          <p:cNvSpPr txBox="1"/>
          <p:nvPr/>
        </p:nvSpPr>
        <p:spPr>
          <a:xfrm>
            <a:off x="777240" y="1051560"/>
            <a:ext cx="10607040" cy="1005840"/>
          </a:xfrm>
          <a:prstGeom prst="rect">
            <a:avLst/>
          </a:prstGeom>
          <a:noFill/>
        </p:spPr>
        <p:txBody>
          <a:bodyPr wrap="square" anchor="t" lIns="0" rIns="0" tIns="0" bIns="0">
            <a:spAutoFit/>
          </a:bodyPr>
          <a:lstStyle/>
          <a:p>
            <a:pPr algn="l">
              <a:lnSpc>
                <a:spcPct val="110000"/>
              </a:lnSpc>
            </a:pPr>
            <a:r>
              <a:rPr sz="2600" b="1" i="0">
                <a:solidFill>
                  <a:srgbClr val="ECEFF3"/>
                </a:solidFill>
                <a:latin typeface="Arial"/>
              </a:rPr>
              <a:t>HER2-low: AI improves agreement on the </a:t>
            </a:r>
            <a:r>
              <a:rPr sz="2600" b="1" i="0">
                <a:solidFill>
                  <a:srgbClr val="E7AC51"/>
                </a:solidFill>
                <a:latin typeface="Arial"/>
              </a:rPr>
              <a:t>0-versus-1+</a:t>
            </a:r>
            <a:r>
              <a:rPr sz="2600" b="1" i="0">
                <a:solidFill>
                  <a:srgbClr val="ECEFF3"/>
                </a:solidFill>
                <a:latin typeface="Arial"/>
              </a:rPr>
              <a:t> call.</a:t>
            </a:r>
          </a:p>
        </p:txBody>
      </p:sp>
      <p:sp>
        <p:nvSpPr>
          <p:cNvPr id="5" name="TextBox 4"/>
          <p:cNvSpPr txBox="1"/>
          <p:nvPr/>
        </p:nvSpPr>
        <p:spPr>
          <a:xfrm>
            <a:off x="777240" y="2331720"/>
            <a:ext cx="10607040" cy="914400"/>
          </a:xfrm>
          <a:prstGeom prst="rect">
            <a:avLst/>
          </a:prstGeom>
          <a:noFill/>
        </p:spPr>
        <p:txBody>
          <a:bodyPr wrap="square" anchor="t" lIns="0" rIns="0" tIns="0" bIns="0">
            <a:spAutoFit/>
          </a:bodyPr>
          <a:lstStyle/>
          <a:p>
            <a:pPr algn="l">
              <a:lnSpc>
                <a:spcPct val="140000"/>
              </a:lnSpc>
            </a:pPr>
            <a:r>
              <a:rPr sz="1500" b="0" i="0">
                <a:solidFill>
                  <a:srgbClr val="9DA9B5"/>
                </a:solidFill>
                <a:latin typeface="Arial"/>
              </a:rPr>
              <a:t>Since trastuzumab deruxtecan (DESTINY-Breast04), </a:t>
            </a:r>
            <a:r>
              <a:rPr sz="1500" b="1" i="0">
                <a:solidFill>
                  <a:srgbClr val="ECEFF3"/>
                </a:solidFill>
                <a:latin typeface="Arial"/>
              </a:rPr>
              <a:t>HER2-low is treatable</a:t>
            </a:r>
            <a:r>
              <a:rPr sz="1500" b="0" i="0">
                <a:solidFill>
                  <a:srgbClr val="9DA9B5"/>
                </a:solidFill>
                <a:latin typeface="Arial"/>
              </a:rPr>
              <a:t>. That makes the HER2 0-vs-1+ distinction decisive — a call the assay wasn't designed for, on which pathologists disagree.</a:t>
            </a:r>
          </a:p>
        </p:txBody>
      </p:sp>
      <p:sp>
        <p:nvSpPr>
          <p:cNvPr id="6" name="Rounded Rectangle 5"/>
          <p:cNvSpPr/>
          <p:nvPr/>
        </p:nvSpPr>
        <p:spPr>
          <a:xfrm>
            <a:off x="777240" y="3520440"/>
            <a:ext cx="320040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0" i="0">
                <a:solidFill>
                  <a:srgbClr val="ECEFF3"/>
                </a:solidFill>
                <a:latin typeface="Consolas"/>
              </a:rPr>
              <a:t>pathologist agreement </a:t>
            </a:r>
            <a:r>
              <a:rPr sz="1050" b="1" i="0">
                <a:solidFill>
                  <a:srgbClr val="5FB7C9"/>
                </a:solidFill>
                <a:latin typeface="Consolas"/>
              </a:rPr>
              <a:t>72.4%</a:t>
            </a:r>
          </a:p>
        </p:txBody>
      </p:sp>
      <p:sp>
        <p:nvSpPr>
          <p:cNvPr id="7" name="Rounded Rectangle 6"/>
          <p:cNvSpPr/>
          <p:nvPr/>
        </p:nvSpPr>
        <p:spPr>
          <a:xfrm>
            <a:off x="4114800" y="3520440"/>
            <a:ext cx="274320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0" i="0">
                <a:solidFill>
                  <a:srgbClr val="ECEFF3"/>
                </a:solidFill>
                <a:latin typeface="Consolas"/>
              </a:rPr>
              <a:t>automated AI </a:t>
            </a:r>
            <a:r>
              <a:rPr sz="1050" b="1" i="0">
                <a:solidFill>
                  <a:srgbClr val="5FB7C9"/>
                </a:solidFill>
                <a:latin typeface="Consolas"/>
              </a:rPr>
              <a:t>92.1%</a:t>
            </a:r>
          </a:p>
        </p:txBody>
      </p:sp>
      <p:sp>
        <p:nvSpPr>
          <p:cNvPr id="8" name="Rounded Rectangle 7"/>
          <p:cNvSpPr/>
          <p:nvPr/>
        </p:nvSpPr>
        <p:spPr>
          <a:xfrm>
            <a:off x="6995160" y="3520440"/>
            <a:ext cx="443484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0" i="0">
                <a:solidFill>
                  <a:srgbClr val="ECEFF3"/>
                </a:solidFill>
                <a:latin typeface="Consolas"/>
              </a:rPr>
              <a:t>0-vs-1+ reader agreement </a:t>
            </a:r>
            <a:r>
              <a:rPr sz="1050" b="1" i="0">
                <a:solidFill>
                  <a:srgbClr val="5FB7C9"/>
                </a:solidFill>
                <a:latin typeface="Consolas"/>
              </a:rPr>
              <a:t>70% → 87%</a:t>
            </a:r>
          </a:p>
        </p:txBody>
      </p:sp>
      <p:sp>
        <p:nvSpPr>
          <p:cNvPr id="9" name="TextBox 8"/>
          <p:cNvSpPr txBox="1"/>
          <p:nvPr/>
        </p:nvSpPr>
        <p:spPr>
          <a:xfrm>
            <a:off x="777240" y="4434840"/>
            <a:ext cx="10607040" cy="36576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Krishnamurthy et al., JCO Precision Oncology 2024 · DOI 10.1200/PO.24.00353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MORPHOLOGY → MOLECULAR (THE THIRD MODEL)</a:t>
            </a:r>
          </a:p>
        </p:txBody>
      </p:sp>
      <p:sp>
        <p:nvSpPr>
          <p:cNvPr id="4" name="TextBox 3"/>
          <p:cNvSpPr txBox="1"/>
          <p:nvPr/>
        </p:nvSpPr>
        <p:spPr>
          <a:xfrm>
            <a:off x="777240" y="1051560"/>
            <a:ext cx="10607040" cy="1005840"/>
          </a:xfrm>
          <a:prstGeom prst="rect">
            <a:avLst/>
          </a:prstGeom>
          <a:noFill/>
        </p:spPr>
        <p:txBody>
          <a:bodyPr wrap="square" anchor="t" lIns="0" rIns="0" tIns="0" bIns="0">
            <a:spAutoFit/>
          </a:bodyPr>
          <a:lstStyle/>
          <a:p>
            <a:pPr algn="l">
              <a:lnSpc>
                <a:spcPct val="110000"/>
              </a:lnSpc>
            </a:pPr>
            <a:r>
              <a:rPr sz="2400" b="1" i="0">
                <a:solidFill>
                  <a:srgbClr val="ECEFF3"/>
                </a:solidFill>
                <a:latin typeface="Arial"/>
              </a:rPr>
              <a:t>Estimating the Oncotype DX recurrence score from the </a:t>
            </a:r>
            <a:r>
              <a:rPr sz="2400" b="1" i="0">
                <a:solidFill>
                  <a:srgbClr val="E7AC51"/>
                </a:solidFill>
                <a:latin typeface="Arial"/>
              </a:rPr>
              <a:t>H&amp;E slide.</a:t>
            </a:r>
          </a:p>
        </p:txBody>
      </p:sp>
      <p:sp>
        <p:nvSpPr>
          <p:cNvPr id="5" name="TextBox 4"/>
          <p:cNvSpPr txBox="1"/>
          <p:nvPr/>
        </p:nvSpPr>
        <p:spPr>
          <a:xfrm>
            <a:off x="777240" y="2377440"/>
            <a:ext cx="5120640" cy="1188720"/>
          </a:xfrm>
          <a:prstGeom prst="rect">
            <a:avLst/>
          </a:prstGeom>
          <a:noFill/>
        </p:spPr>
        <p:txBody>
          <a:bodyPr wrap="square" anchor="t" lIns="0" rIns="0" tIns="0" bIns="0">
            <a:spAutoFit/>
          </a:bodyPr>
          <a:lstStyle/>
          <a:p>
            <a:pPr algn="l">
              <a:lnSpc>
                <a:spcPct val="100000"/>
              </a:lnSpc>
            </a:pPr>
            <a:r>
              <a:rPr sz="5200" b="1" i="0">
                <a:solidFill>
                  <a:srgbClr val="E7AC51"/>
                </a:solidFill>
                <a:latin typeface="Arial"/>
              </a:rPr>
              <a:t>0.89</a:t>
            </a:r>
            <a:r>
              <a:rPr sz="2000" b="0" i="0">
                <a:solidFill>
                  <a:srgbClr val="5C6975"/>
                </a:solidFill>
                <a:latin typeface="Arial"/>
              </a:rPr>
              <a:t> vs 0.73</a:t>
            </a:r>
          </a:p>
        </p:txBody>
      </p:sp>
      <p:sp>
        <p:nvSpPr>
          <p:cNvPr id="6" name="TextBox 5"/>
          <p:cNvSpPr txBox="1"/>
          <p:nvPr/>
        </p:nvSpPr>
        <p:spPr>
          <a:xfrm>
            <a:off x="777240" y="3611880"/>
            <a:ext cx="4937760" cy="822960"/>
          </a:xfrm>
          <a:prstGeom prst="rect">
            <a:avLst/>
          </a:prstGeom>
          <a:noFill/>
        </p:spPr>
        <p:txBody>
          <a:bodyPr wrap="square" anchor="t" lIns="0" rIns="0" tIns="0" bIns="0">
            <a:spAutoFit/>
          </a:bodyPr>
          <a:lstStyle/>
          <a:p>
            <a:pPr algn="l">
              <a:lnSpc>
                <a:spcPct val="135000"/>
              </a:lnSpc>
            </a:pPr>
            <a:r>
              <a:rPr sz="1150" b="0" i="0">
                <a:solidFill>
                  <a:srgbClr val="ECEFF3"/>
                </a:solidFill>
                <a:latin typeface="Consolas"/>
              </a:rPr>
              <a:t>flags high-risk (RS&gt;25) vs a leading nomogram</a:t>
            </a:r>
          </a:p>
        </p:txBody>
      </p:sp>
      <p:sp>
        <p:nvSpPr>
          <p:cNvPr id="7" name="TextBox 6"/>
          <p:cNvSpPr txBox="1"/>
          <p:nvPr/>
        </p:nvSpPr>
        <p:spPr>
          <a:xfrm>
            <a:off x="6446520" y="2377440"/>
            <a:ext cx="5120640" cy="1188720"/>
          </a:xfrm>
          <a:prstGeom prst="rect">
            <a:avLst/>
          </a:prstGeom>
          <a:noFill/>
        </p:spPr>
        <p:txBody>
          <a:bodyPr wrap="square" anchor="t" lIns="0" rIns="0" tIns="0" bIns="0">
            <a:spAutoFit/>
          </a:bodyPr>
          <a:lstStyle/>
          <a:p>
            <a:pPr algn="l">
              <a:lnSpc>
                <a:spcPct val="100000"/>
              </a:lnSpc>
            </a:pPr>
            <a:r>
              <a:rPr sz="5200" b="1" i="0">
                <a:solidFill>
                  <a:srgbClr val="E7AC51"/>
                </a:solidFill>
                <a:latin typeface="Arial"/>
              </a:rPr>
              <a:t>0.75</a:t>
            </a:r>
            <a:r>
              <a:rPr sz="2000" b="0" i="0">
                <a:solidFill>
                  <a:srgbClr val="5C6975"/>
                </a:solidFill>
                <a:latin typeface="Arial"/>
              </a:rPr>
              <a:t> vs 0.49</a:t>
            </a:r>
          </a:p>
        </p:txBody>
      </p:sp>
      <p:sp>
        <p:nvSpPr>
          <p:cNvPr id="8" name="TextBox 7"/>
          <p:cNvSpPr txBox="1"/>
          <p:nvPr/>
        </p:nvSpPr>
        <p:spPr>
          <a:xfrm>
            <a:off x="6446520" y="3611880"/>
            <a:ext cx="4937760" cy="822960"/>
          </a:xfrm>
          <a:prstGeom prst="rect">
            <a:avLst/>
          </a:prstGeom>
          <a:noFill/>
        </p:spPr>
        <p:txBody>
          <a:bodyPr wrap="square" anchor="t" lIns="0" rIns="0" tIns="0" bIns="0">
            <a:spAutoFit/>
          </a:bodyPr>
          <a:lstStyle/>
          <a:p>
            <a:pPr algn="l">
              <a:lnSpc>
                <a:spcPct val="135000"/>
              </a:lnSpc>
            </a:pPr>
            <a:r>
              <a:rPr sz="1150" b="0" i="0">
                <a:solidFill>
                  <a:srgbClr val="ECEFF3"/>
                </a:solidFill>
                <a:latin typeface="Consolas"/>
              </a:rPr>
              <a:t>predicts recurrence in low-RS patients — beating the score itself</a:t>
            </a:r>
          </a:p>
        </p:txBody>
      </p:sp>
      <p:sp>
        <p:nvSpPr>
          <p:cNvPr id="9" name="TextBox 8"/>
          <p:cNvSpPr txBox="1"/>
          <p:nvPr/>
        </p:nvSpPr>
        <p:spPr>
          <a:xfrm>
            <a:off x="777240" y="4526280"/>
            <a:ext cx="10607040" cy="1097280"/>
          </a:xfrm>
          <a:prstGeom prst="rect">
            <a:avLst/>
          </a:prstGeom>
          <a:noFill/>
        </p:spPr>
        <p:txBody>
          <a:bodyPr wrap="square" anchor="t" lIns="0" rIns="0" tIns="0" bIns="0">
            <a:spAutoFit/>
          </a:bodyPr>
          <a:lstStyle/>
          <a:p>
            <a:pPr algn="l">
              <a:lnSpc>
                <a:spcPct val="140000"/>
              </a:lnSpc>
            </a:pPr>
            <a:r>
              <a:rPr sz="1600" b="0" i="0">
                <a:solidFill>
                  <a:srgbClr val="9DA9B5"/>
                </a:solidFill>
                <a:latin typeface="Arial"/>
              </a:rPr>
              <a:t>Oncotype DX costs </a:t>
            </a:r>
            <a:r>
              <a:rPr sz="1600" b="1" i="0">
                <a:solidFill>
                  <a:srgbClr val="ECEFF3"/>
                </a:solidFill>
                <a:latin typeface="Arial"/>
              </a:rPr>
              <a:t>~$4,000</a:t>
            </a:r>
            <a:r>
              <a:rPr sz="1600" b="0" i="0">
                <a:solidFill>
                  <a:srgbClr val="9DA9B5"/>
                </a:solidFill>
                <a:latin typeface="Arial"/>
              </a:rPr>
              <a:t> and takes 1–2 weeks. </a:t>
            </a:r>
            <a:r>
              <a:rPr sz="1600" b="1" i="0">
                <a:solidFill>
                  <a:srgbClr val="ECEFF3"/>
                </a:solidFill>
                <a:latin typeface="Arial"/>
              </a:rPr>
              <a:t>Orpheus</a:t>
            </a:r>
            <a:r>
              <a:rPr sz="1600" b="0" i="0">
                <a:solidFill>
                  <a:srgbClr val="9DA9B5"/>
                </a:solidFill>
                <a:latin typeface="Arial"/>
              </a:rPr>
              <a:t> (6,172 cases, 3 institutions) infers the 21-gene Recurrence Score </a:t>
            </a:r>
            <a:r>
              <a:rPr sz="1600" b="1" i="0">
                <a:solidFill>
                  <a:srgbClr val="ECEFF3"/>
                </a:solidFill>
                <a:latin typeface="Arial"/>
              </a:rPr>
              <a:t>directly from the H&amp;E</a:t>
            </a:r>
            <a:r>
              <a:rPr sz="1600" b="0" i="0">
                <a:solidFill>
                  <a:srgbClr val="9DA9B5"/>
                </a:solidFill>
                <a:latin typeface="Arial"/>
              </a:rPr>
              <a:t>. This is what imaging cannot do: morphology → molecular identity.</a:t>
            </a:r>
          </a:p>
        </p:txBody>
      </p:sp>
      <p:sp>
        <p:nvSpPr>
          <p:cNvPr id="10" name="TextBox 9"/>
          <p:cNvSpPr txBox="1"/>
          <p:nvPr/>
        </p:nvSpPr>
        <p:spPr>
          <a:xfrm>
            <a:off x="777240" y="5806440"/>
            <a:ext cx="10607040" cy="36576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Boehm et al. ("Orpheus"), Nature Communications 2025 · concept: Kather et al., Nature Cancer 2020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THE SUBSTRATE</a:t>
            </a:r>
          </a:p>
        </p:txBody>
      </p:sp>
      <p:sp>
        <p:nvSpPr>
          <p:cNvPr id="4" name="TextBox 3"/>
          <p:cNvSpPr txBox="1"/>
          <p:nvPr/>
        </p:nvSpPr>
        <p:spPr>
          <a:xfrm>
            <a:off x="777240" y="1051560"/>
            <a:ext cx="10607040" cy="822960"/>
          </a:xfrm>
          <a:prstGeom prst="rect">
            <a:avLst/>
          </a:prstGeom>
          <a:noFill/>
        </p:spPr>
        <p:txBody>
          <a:bodyPr wrap="square" anchor="t" lIns="0" rIns="0" tIns="0" bIns="0">
            <a:spAutoFit/>
          </a:bodyPr>
          <a:lstStyle/>
          <a:p>
            <a:pPr algn="l">
              <a:lnSpc>
                <a:spcPct val="100000"/>
              </a:lnSpc>
            </a:pPr>
            <a:r>
              <a:rPr sz="2800" b="1" i="0">
                <a:solidFill>
                  <a:srgbClr val="ECEFF3"/>
                </a:solidFill>
                <a:latin typeface="Arial"/>
              </a:rPr>
              <a:t>Pathology </a:t>
            </a:r>
            <a:r>
              <a:rPr sz="2800" b="1" i="0">
                <a:solidFill>
                  <a:srgbClr val="E7AC51"/>
                </a:solidFill>
                <a:latin typeface="Arial"/>
              </a:rPr>
              <a:t>foundation models</a:t>
            </a:r>
            <a:r>
              <a:rPr sz="2800" b="1" i="0">
                <a:solidFill>
                  <a:srgbClr val="ECEFF3"/>
                </a:solidFill>
                <a:latin typeface="Arial"/>
              </a:rPr>
              <a:t> (2024).</a:t>
            </a:r>
          </a:p>
        </p:txBody>
      </p:sp>
      <p:graphicFrame>
        <p:nvGraphicFramePr>
          <p:cNvPr id="5" name="Table 4"/>
          <p:cNvGraphicFramePr>
            <a:graphicFrameLocks noGrp="1"/>
          </p:cNvGraphicFramePr>
          <p:nvPr/>
        </p:nvGraphicFramePr>
        <p:xfrm>
          <a:off x="777240" y="2011680"/>
          <a:ext cx="10607040" cy="2286000"/>
        </p:xfrm>
        <a:graphic>
          <a:graphicData uri="http://schemas.openxmlformats.org/drawingml/2006/table">
            <a:tbl>
              <a:tblPr firstRow="1" bandRow="1">
                <a:tableStyleId>{5C22544A-7EE6-4342-B048-85BDC9FD1C3A}</a:tableStyleId>
              </a:tblPr>
              <a:tblGrid>
                <a:gridCol w="1828800"/>
                <a:gridCol w="3108960"/>
                <a:gridCol w="3291840"/>
                <a:gridCol w="2377440"/>
              </a:tblGrid>
              <a:tr h="457200">
                <a:tc>
                  <a:txBody>
                    <a:bodyPr wrap="square"/>
                    <a:lstStyle/>
                    <a:p>
                      <a:pPr algn="l"/>
                      <a:r>
                        <a:rPr sz="1000" b="1">
                          <a:solidFill>
                            <a:srgbClr val="9DA9B5"/>
                          </a:solidFill>
                          <a:latin typeface="Consolas"/>
                        </a:rPr>
                        <a:t>Model (2024)</a:t>
                      </a:r>
                    </a:p>
                  </a:txBody>
                  <a:tcPr anchor="ctr" marL="91440" marR="73152" marT="27432" marB="27432">
                    <a:solidFill>
                      <a:srgbClr val="0F141A"/>
                    </a:solidFill>
                  </a:tcPr>
                </a:tc>
                <a:tc>
                  <a:txBody>
                    <a:bodyPr wrap="square"/>
                    <a:lstStyle/>
                    <a:p>
                      <a:pPr algn="l"/>
                      <a:r>
                        <a:rPr sz="1000" b="1">
                          <a:solidFill>
                            <a:srgbClr val="9DA9B5"/>
                          </a:solidFill>
                          <a:latin typeface="Consolas"/>
                        </a:rPr>
                        <a:t>Group</a:t>
                      </a:r>
                    </a:p>
                  </a:txBody>
                  <a:tcPr anchor="ctr" marL="91440" marR="73152" marT="27432" marB="27432">
                    <a:solidFill>
                      <a:srgbClr val="0F141A"/>
                    </a:solidFill>
                  </a:tcPr>
                </a:tc>
                <a:tc>
                  <a:txBody>
                    <a:bodyPr wrap="square"/>
                    <a:lstStyle/>
                    <a:p>
                      <a:pPr algn="l"/>
                      <a:r>
                        <a:rPr sz="1000" b="1">
                          <a:solidFill>
                            <a:srgbClr val="9DA9B5"/>
                          </a:solidFill>
                          <a:latin typeface="Consolas"/>
                        </a:rPr>
                        <a:t>Scale</a:t>
                      </a:r>
                    </a:p>
                  </a:txBody>
                  <a:tcPr anchor="ctr" marL="91440" marR="73152" marT="27432" marB="27432">
                    <a:solidFill>
                      <a:srgbClr val="0F141A"/>
                    </a:solidFill>
                  </a:tcPr>
                </a:tc>
                <a:tc>
                  <a:txBody>
                    <a:bodyPr wrap="square"/>
                    <a:lstStyle/>
                    <a:p>
                      <a:pPr algn="l"/>
                      <a:r>
                        <a:rPr sz="1000" b="1">
                          <a:solidFill>
                            <a:srgbClr val="9DA9B5"/>
                          </a:solidFill>
                          <a:latin typeface="Consolas"/>
                        </a:rPr>
                        <a:t>Note</a:t>
                      </a:r>
                    </a:p>
                  </a:txBody>
                  <a:tcPr anchor="ctr" marL="91440" marR="73152" marT="27432" marB="27432">
                    <a:solidFill>
                      <a:srgbClr val="0F141A"/>
                    </a:solidFill>
                  </a:tcPr>
                </a:tc>
              </a:tr>
              <a:tr h="457200">
                <a:tc>
                  <a:txBody>
                    <a:bodyPr wrap="square"/>
                    <a:lstStyle/>
                    <a:p>
                      <a:pPr algn="l"/>
                      <a:r>
                        <a:rPr sz="1200" b="1">
                          <a:solidFill>
                            <a:srgbClr val="E7AC51"/>
                          </a:solidFill>
                          <a:latin typeface="Consolas"/>
                        </a:rPr>
                        <a:t>UNI</a:t>
                      </a:r>
                    </a:p>
                  </a:txBody>
                  <a:tcPr anchor="ctr" marL="91440" marR="73152" marT="27432" marB="27432">
                    <a:solidFill>
                      <a:srgbClr val="0F141A"/>
                    </a:solidFill>
                  </a:tcPr>
                </a:tc>
                <a:tc>
                  <a:txBody>
                    <a:bodyPr wrap="square"/>
                    <a:lstStyle/>
                    <a:p>
                      <a:pPr algn="l"/>
                      <a:r>
                        <a:rPr sz="1100">
                          <a:solidFill>
                            <a:srgbClr val="9DA9B5"/>
                          </a:solidFill>
                          <a:latin typeface="Arial"/>
                        </a:rPr>
                        <a:t>Mahmood Lab, Harvard/BWH</a:t>
                      </a:r>
                    </a:p>
                  </a:txBody>
                  <a:tcPr anchor="ctr" marL="91440" marR="73152" marT="27432" marB="27432">
                    <a:solidFill>
                      <a:srgbClr val="0F141A"/>
                    </a:solidFill>
                  </a:tcPr>
                </a:tc>
                <a:tc>
                  <a:txBody>
                    <a:bodyPr wrap="square"/>
                    <a:lstStyle/>
                    <a:p>
                      <a:pPr algn="l"/>
                      <a:r>
                        <a:rPr sz="1100">
                          <a:solidFill>
                            <a:srgbClr val="9DA9B5"/>
                          </a:solidFill>
                          <a:latin typeface="Arial"/>
                        </a:rPr>
                        <a:t>&gt;100k slides · ~20 tissues</a:t>
                      </a:r>
                    </a:p>
                  </a:txBody>
                  <a:tcPr anchor="ctr" marL="91440" marR="73152" marT="27432" marB="27432">
                    <a:solidFill>
                      <a:srgbClr val="0F141A"/>
                    </a:solidFill>
                  </a:tcPr>
                </a:tc>
                <a:tc>
                  <a:txBody>
                    <a:bodyPr wrap="square"/>
                    <a:lstStyle/>
                    <a:p>
                      <a:pPr algn="l"/>
                      <a:r>
                        <a:rPr sz="1100">
                          <a:solidFill>
                            <a:srgbClr val="9DA9B5"/>
                          </a:solidFill>
                          <a:latin typeface="Arial"/>
                        </a:rPr>
                        <a:t>open-source tissue encoder</a:t>
                      </a:r>
                    </a:p>
                  </a:txBody>
                  <a:tcPr anchor="ctr" marL="91440" marR="73152" marT="27432" marB="27432">
                    <a:solidFill>
                      <a:srgbClr val="0F141A"/>
                    </a:solidFill>
                  </a:tcPr>
                </a:tc>
              </a:tr>
              <a:tr h="457200">
                <a:tc>
                  <a:txBody>
                    <a:bodyPr wrap="square"/>
                    <a:lstStyle/>
                    <a:p>
                      <a:pPr algn="l"/>
                      <a:r>
                        <a:rPr sz="1200" b="1">
                          <a:solidFill>
                            <a:srgbClr val="E7AC51"/>
                          </a:solidFill>
                          <a:latin typeface="Consolas"/>
                        </a:rPr>
                        <a:t>CONCH</a:t>
                      </a:r>
                    </a:p>
                  </a:txBody>
                  <a:tcPr anchor="ctr" marL="91440" marR="73152" marT="27432" marB="27432">
                    <a:solidFill>
                      <a:srgbClr val="0F141A"/>
                    </a:solidFill>
                  </a:tcPr>
                </a:tc>
                <a:tc>
                  <a:txBody>
                    <a:bodyPr wrap="square"/>
                    <a:lstStyle/>
                    <a:p>
                      <a:pPr algn="l"/>
                      <a:r>
                        <a:rPr sz="1100">
                          <a:solidFill>
                            <a:srgbClr val="9DA9B5"/>
                          </a:solidFill>
                          <a:latin typeface="Arial"/>
                        </a:rPr>
                        <a:t>Mahmood Lab</a:t>
                      </a:r>
                    </a:p>
                  </a:txBody>
                  <a:tcPr anchor="ctr" marL="91440" marR="73152" marT="27432" marB="27432">
                    <a:solidFill>
                      <a:srgbClr val="0F141A"/>
                    </a:solidFill>
                  </a:tcPr>
                </a:tc>
                <a:tc>
                  <a:txBody>
                    <a:bodyPr wrap="square"/>
                    <a:lstStyle/>
                    <a:p>
                      <a:pPr algn="l"/>
                      <a:r>
                        <a:rPr sz="1100">
                          <a:solidFill>
                            <a:srgbClr val="9DA9B5"/>
                          </a:solidFill>
                          <a:latin typeface="Arial"/>
                        </a:rPr>
                        <a:t>1.17M image–text pairs</a:t>
                      </a:r>
                    </a:p>
                  </a:txBody>
                  <a:tcPr anchor="ctr" marL="91440" marR="73152" marT="27432" marB="27432">
                    <a:solidFill>
                      <a:srgbClr val="0F141A"/>
                    </a:solidFill>
                  </a:tcPr>
                </a:tc>
                <a:tc>
                  <a:txBody>
                    <a:bodyPr wrap="square"/>
                    <a:lstStyle/>
                    <a:p>
                      <a:pPr algn="l"/>
                      <a:r>
                        <a:rPr sz="1100">
                          <a:solidFill>
                            <a:srgbClr val="9DA9B5"/>
                          </a:solidFill>
                          <a:latin typeface="Arial"/>
                        </a:rPr>
                        <a:t>vision-language: query tissue with text</a:t>
                      </a:r>
                    </a:p>
                  </a:txBody>
                  <a:tcPr anchor="ctr" marL="91440" marR="73152" marT="27432" marB="27432">
                    <a:solidFill>
                      <a:srgbClr val="0F141A"/>
                    </a:solidFill>
                  </a:tcPr>
                </a:tc>
              </a:tr>
              <a:tr h="457200">
                <a:tc>
                  <a:txBody>
                    <a:bodyPr wrap="square"/>
                    <a:lstStyle/>
                    <a:p>
                      <a:pPr algn="l"/>
                      <a:r>
                        <a:rPr sz="1200" b="1">
                          <a:solidFill>
                            <a:srgbClr val="E7AC51"/>
                          </a:solidFill>
                          <a:latin typeface="Consolas"/>
                        </a:rPr>
                        <a:t>Virchow</a:t>
                      </a:r>
                    </a:p>
                  </a:txBody>
                  <a:tcPr anchor="ctr" marL="91440" marR="73152" marT="27432" marB="27432">
                    <a:solidFill>
                      <a:srgbClr val="0F141A"/>
                    </a:solidFill>
                  </a:tcPr>
                </a:tc>
                <a:tc>
                  <a:txBody>
                    <a:bodyPr wrap="square"/>
                    <a:lstStyle/>
                    <a:p>
                      <a:pPr algn="l"/>
                      <a:r>
                        <a:rPr sz="1100">
                          <a:solidFill>
                            <a:srgbClr val="9DA9B5"/>
                          </a:solidFill>
                          <a:latin typeface="Arial"/>
                        </a:rPr>
                        <a:t>Paige + Microsoft</a:t>
                      </a:r>
                    </a:p>
                  </a:txBody>
                  <a:tcPr anchor="ctr" marL="91440" marR="73152" marT="27432" marB="27432">
                    <a:solidFill>
                      <a:srgbClr val="0F141A"/>
                    </a:solidFill>
                  </a:tcPr>
                </a:tc>
                <a:tc>
                  <a:txBody>
                    <a:bodyPr wrap="square"/>
                    <a:lstStyle/>
                    <a:p>
                      <a:pPr algn="l"/>
                      <a:r>
                        <a:rPr sz="1100">
                          <a:solidFill>
                            <a:srgbClr val="9DA9B5"/>
                          </a:solidFill>
                          <a:latin typeface="Arial"/>
                        </a:rPr>
                        <a:t>1.49M slides · 119,629 patients</a:t>
                      </a:r>
                    </a:p>
                  </a:txBody>
                  <a:tcPr anchor="ctr" marL="91440" marR="73152" marT="27432" marB="27432">
                    <a:solidFill>
                      <a:srgbClr val="0F141A"/>
                    </a:solidFill>
                  </a:tcPr>
                </a:tc>
                <a:tc>
                  <a:txBody>
                    <a:bodyPr wrap="square"/>
                    <a:lstStyle/>
                    <a:p>
                      <a:pPr algn="l"/>
                      <a:r>
                        <a:rPr sz="1100">
                          <a:solidFill>
                            <a:srgbClr val="9DA9B5"/>
                          </a:solidFill>
                          <a:latin typeface="Arial"/>
                        </a:rPr>
                        <a:t>pan-cancer incl. rare (0.95 AUC)</a:t>
                      </a:r>
                    </a:p>
                  </a:txBody>
                  <a:tcPr anchor="ctr" marL="91440" marR="73152" marT="27432" marB="27432">
                    <a:solidFill>
                      <a:srgbClr val="0F141A"/>
                    </a:solidFill>
                  </a:tcPr>
                </a:tc>
              </a:tr>
              <a:tr h="457200">
                <a:tc>
                  <a:txBody>
                    <a:bodyPr wrap="square"/>
                    <a:lstStyle/>
                    <a:p>
                      <a:pPr algn="l"/>
                      <a:r>
                        <a:rPr sz="1200" b="1">
                          <a:solidFill>
                            <a:srgbClr val="E7AC51"/>
                          </a:solidFill>
                          <a:latin typeface="Consolas"/>
                        </a:rPr>
                        <a:t>Prov-GigaPath</a:t>
                      </a:r>
                    </a:p>
                  </a:txBody>
                  <a:tcPr anchor="ctr" marL="91440" marR="73152" marT="27432" marB="27432">
                    <a:solidFill>
                      <a:srgbClr val="0F141A"/>
                    </a:solidFill>
                  </a:tcPr>
                </a:tc>
                <a:tc>
                  <a:txBody>
                    <a:bodyPr wrap="square"/>
                    <a:lstStyle/>
                    <a:p>
                      <a:pPr algn="l"/>
                      <a:r>
                        <a:rPr sz="1100">
                          <a:solidFill>
                            <a:srgbClr val="9DA9B5"/>
                          </a:solidFill>
                          <a:latin typeface="Arial"/>
                        </a:rPr>
                        <a:t>Microsoft + Providence + UW</a:t>
                      </a:r>
                    </a:p>
                  </a:txBody>
                  <a:tcPr anchor="ctr" marL="91440" marR="73152" marT="27432" marB="27432">
                    <a:solidFill>
                      <a:srgbClr val="0F141A"/>
                    </a:solidFill>
                  </a:tcPr>
                </a:tc>
                <a:tc>
                  <a:txBody>
                    <a:bodyPr wrap="square"/>
                    <a:lstStyle/>
                    <a:p>
                      <a:pPr algn="l"/>
                      <a:r>
                        <a:rPr sz="1100">
                          <a:solidFill>
                            <a:srgbClr val="9DA9B5"/>
                          </a:solidFill>
                          <a:latin typeface="Arial"/>
                        </a:rPr>
                        <a:t>1.3B tiles · 171k slides · 28 centers</a:t>
                      </a:r>
                    </a:p>
                  </a:txBody>
                  <a:tcPr anchor="ctr" marL="91440" marR="73152" marT="27432" marB="27432">
                    <a:solidFill>
                      <a:srgbClr val="0F141A"/>
                    </a:solidFill>
                  </a:tcPr>
                </a:tc>
                <a:tc>
                  <a:txBody>
                    <a:bodyPr wrap="square"/>
                    <a:lstStyle/>
                    <a:p>
                      <a:pPr algn="l"/>
                      <a:r>
                        <a:rPr sz="1100">
                          <a:solidFill>
                            <a:srgbClr val="9DA9B5"/>
                          </a:solidFill>
                          <a:latin typeface="Arial"/>
                        </a:rPr>
                        <a:t>first whole-slide FM; SOTA 25/26 tasks</a:t>
                      </a:r>
                    </a:p>
                  </a:txBody>
                  <a:tcPr anchor="ctr" marL="91440" marR="73152" marT="27432" marB="27432">
                    <a:solidFill>
                      <a:srgbClr val="0F141A"/>
                    </a:solidFill>
                  </a:tcPr>
                </a:tc>
              </a:tr>
            </a:tbl>
          </a:graphicData>
        </a:graphic>
      </p:graphicFrame>
      <p:sp>
        <p:nvSpPr>
          <p:cNvPr id="6" name="TextBox 5"/>
          <p:cNvSpPr txBox="1"/>
          <p:nvPr/>
        </p:nvSpPr>
        <p:spPr>
          <a:xfrm>
            <a:off x="777240" y="4663440"/>
            <a:ext cx="10607040" cy="1371600"/>
          </a:xfrm>
          <a:prstGeom prst="rect">
            <a:avLst/>
          </a:prstGeom>
          <a:noFill/>
        </p:spPr>
        <p:txBody>
          <a:bodyPr wrap="square" anchor="t" lIns="0" rIns="0" tIns="0" bIns="0">
            <a:spAutoFit/>
          </a:bodyPr>
          <a:lstStyle/>
          <a:p>
            <a:pPr algn="l">
              <a:lnSpc>
                <a:spcPct val="140000"/>
              </a:lnSpc>
            </a:pPr>
            <a:r>
              <a:rPr sz="1300" b="0" i="0">
                <a:solidFill>
                  <a:srgbClr val="9DA9B5"/>
                </a:solidFill>
                <a:latin typeface="Arial"/>
              </a:rPr>
              <a:t>They generalize across institutions and scanners — the reproducibility problem that had limited clinical pathology AI. </a:t>
            </a:r>
            <a:r>
              <a:rPr sz="1300" b="1" i="0">
                <a:solidFill>
                  <a:srgbClr val="ECEFF3"/>
                </a:solidFill>
                <a:latin typeface="Arial"/>
              </a:rPr>
              <a:t>Honest caveat:</a:t>
            </a:r>
            <a:r>
              <a:rPr sz="1300" b="0" i="0">
                <a:solidFill>
                  <a:srgbClr val="9DA9B5"/>
                </a:solidFill>
                <a:latin typeface="Arial"/>
              </a:rPr>
              <a:t> the bottleneck now is scanning, digital workflow, and reimbursement — not the algorithm. Most US labs still read glass; Paige Prostate was the first FDA-authorized pathology AI (2021).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III · COMBINING THE TWO SPECIALTIES</a:t>
            </a:r>
          </a:p>
        </p:txBody>
      </p:sp>
      <p:sp>
        <p:nvSpPr>
          <p:cNvPr id="4" name="TextBox 3"/>
          <p:cNvSpPr txBox="1"/>
          <p:nvPr/>
        </p:nvSpPr>
        <p:spPr>
          <a:xfrm>
            <a:off x="777240" y="1188720"/>
            <a:ext cx="10607040" cy="914400"/>
          </a:xfrm>
          <a:prstGeom prst="rect">
            <a:avLst/>
          </a:prstGeom>
          <a:noFill/>
        </p:spPr>
        <p:txBody>
          <a:bodyPr wrap="square" anchor="t" lIns="0" rIns="0" tIns="0" bIns="0">
            <a:spAutoFit/>
          </a:bodyPr>
          <a:lstStyle/>
          <a:p>
            <a:pPr algn="l">
              <a:lnSpc>
                <a:spcPct val="110000"/>
              </a:lnSpc>
            </a:pPr>
            <a:r>
              <a:rPr sz="3000" b="1" i="0">
                <a:solidFill>
                  <a:srgbClr val="ECEFF3"/>
                </a:solidFill>
                <a:latin typeface="Arial"/>
              </a:rPr>
              <a:t>Analyzing radiology and pathology </a:t>
            </a:r>
            <a:r>
              <a:rPr sz="3000" b="1" i="0">
                <a:solidFill>
                  <a:srgbClr val="E7AC51"/>
                </a:solidFill>
                <a:latin typeface="Arial"/>
              </a:rPr>
              <a:t>together.</a:t>
            </a:r>
          </a:p>
        </p:txBody>
      </p:sp>
      <p:sp>
        <p:nvSpPr>
          <p:cNvPr id="5" name="Rectangle 4"/>
          <p:cNvSpPr/>
          <p:nvPr/>
        </p:nvSpPr>
        <p:spPr>
          <a:xfrm>
            <a:off x="777240" y="2468880"/>
            <a:ext cx="45720" cy="9144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468880"/>
            <a:ext cx="10058400" cy="914400"/>
          </a:xfrm>
          <a:prstGeom prst="rect">
            <a:avLst/>
          </a:prstGeom>
          <a:noFill/>
        </p:spPr>
        <p:txBody>
          <a:bodyPr wrap="square" anchor="t" lIns="0" rIns="0" tIns="0" bIns="0">
            <a:spAutoFit/>
          </a:bodyPr>
          <a:lstStyle/>
          <a:p>
            <a:pPr algn="l">
              <a:lnSpc>
                <a:spcPct val="140000"/>
              </a:lnSpc>
            </a:pPr>
            <a:r>
              <a:rPr sz="1800" b="0" i="0">
                <a:solidFill>
                  <a:srgbClr val="ECEFF3"/>
                </a:solidFill>
                <a:latin typeface="Arial"/>
              </a:rPr>
              <a:t>Radiology and pathology have been handled as separate departments, with separate images and separate reports. AI now makes it practical to analyze them together for the same patient.</a:t>
            </a:r>
          </a:p>
        </p:txBody>
      </p:sp>
      <p:sp>
        <p:nvSpPr>
          <p:cNvPr id="7" name="TextBox 6"/>
          <p:cNvSpPr txBox="1"/>
          <p:nvPr/>
        </p:nvSpPr>
        <p:spPr>
          <a:xfrm>
            <a:off x="777240" y="3657600"/>
            <a:ext cx="10607040" cy="365760"/>
          </a:xfrm>
          <a:prstGeom prst="rect">
            <a:avLst/>
          </a:prstGeom>
          <a:noFill/>
        </p:spPr>
        <p:txBody>
          <a:bodyPr wrap="square" anchor="t" lIns="0" rIns="0" tIns="0" bIns="0">
            <a:spAutoFit/>
          </a:bodyPr>
          <a:lstStyle/>
          <a:p>
            <a:pPr algn="l">
              <a:lnSpc>
                <a:spcPct val="100000"/>
              </a:lnSpc>
            </a:pPr>
            <a:r>
              <a:rPr sz="1100" b="0" i="0">
                <a:solidFill>
                  <a:srgbClr val="5C6975"/>
                </a:solidFill>
                <a:latin typeface="Consolas"/>
              </a:rPr>
              <a:t>LESION  →  </a:t>
            </a:r>
            <a:r>
              <a:rPr sz="1100" b="0" i="0">
                <a:solidFill>
                  <a:srgbClr val="E7AC51"/>
                </a:solidFill>
                <a:latin typeface="Consolas"/>
              </a:rPr>
              <a:t>IMAGE ✓</a:t>
            </a:r>
            <a:r>
              <a:rPr sz="1100" b="0" i="0">
                <a:solidFill>
                  <a:srgbClr val="5C6975"/>
                </a:solidFill>
                <a:latin typeface="Consolas"/>
              </a:rPr>
              <a:t>  →  </a:t>
            </a:r>
            <a:r>
              <a:rPr sz="1100" b="0" i="0">
                <a:solidFill>
                  <a:srgbClr val="E7AC51"/>
                </a:solidFill>
                <a:latin typeface="Consolas"/>
              </a:rPr>
              <a:t>PATIENT →</a:t>
            </a:r>
            <a:r>
              <a:rPr sz="1100" b="0" i="0">
                <a:solidFill>
                  <a:srgbClr val="5C6975"/>
                </a:solidFill>
                <a:latin typeface="Consolas"/>
              </a:rPr>
              <a:t>  →  POPULATION</a:t>
            </a:r>
          </a:p>
        </p:txBody>
      </p:sp>
      <p:sp>
        <p:nvSpPr>
          <p:cNvPr id="8" name="TextBox 7"/>
          <p:cNvSpPr txBox="1"/>
          <p:nvPr/>
        </p:nvSpPr>
        <p:spPr>
          <a:xfrm>
            <a:off x="777240" y="4297680"/>
            <a:ext cx="10058400" cy="1188720"/>
          </a:xfrm>
          <a:prstGeom prst="rect">
            <a:avLst/>
          </a:prstGeom>
          <a:noFill/>
        </p:spPr>
        <p:txBody>
          <a:bodyPr wrap="square" anchor="t" lIns="0" rIns="0" tIns="0" bIns="0">
            <a:spAutoFit/>
          </a:bodyPr>
          <a:lstStyle/>
          <a:p>
            <a:pPr algn="l">
              <a:lnSpc>
                <a:spcPct val="145000"/>
              </a:lnSpc>
            </a:pPr>
            <a:r>
              <a:rPr sz="1800" b="0" i="0">
                <a:solidFill>
                  <a:srgbClr val="9DA9B5"/>
                </a:solidFill>
                <a:latin typeface="Arial"/>
              </a:rPr>
              <a:t>Radiology AI localizes the lesion; pathology AI infers molecular features from the same disease; multimodal models combine the two. This is what the next section means by </a:t>
            </a:r>
            <a:r>
              <a:rPr sz="1800" b="1" i="0">
                <a:solidFill>
                  <a:srgbClr val="ECEFF3"/>
                </a:solidFill>
                <a:latin typeface="Arial"/>
              </a:rPr>
              <a:t>clinical intelligence.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