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year is 2016. You're a radiologist, you're just beginning to hear about AI for breast imaging — and the reading room is still feeling the burn from CAD. So what does mammography AI actually look like, and what is the evidence?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optimism wasn't new in 2020. Back in 2016 came the first large-scale effort to build breast-cancer AI: the Digital Mammography DREAM Challenge. Over a thousand participants, 126 teams from 44 countries, on roughly 640,000 mammograms; we took part. There was an incredible surge of optimism that this would simply solve breast AI. On the held-out evaluation set, the best single model reached an AUC of 0.858; the ensemble of the eight best models reached 0.895; and the ensemble plus a single radiologist reached 0.942.</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what was the early evidence? In 2020, McKinney and colleagues at Google Health, in Nature, reported an AI that on US data cut false positives by 5.7% and false negatives by 9.4%, exceeded the average radiologist's AUC by over 11 points, and could cut a second reader's workload by 88%. The figure shows example cases the model localized. On paper, superhuman — but only on clean, curated data.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it held up independently. Salim and colleagues, in JAMA Oncology, took three commercial AI algorithms and tested them on an external Stockholm cohort of about 8,800 women. The AUC for cancer detection was 0.956 for AI-1, 0.922 for AI-2, and 0.920 for AI-3. To compare against radiologists fairly, they fixed the decision threshold at the radiologists' own level — the mean specificity of the first-reader radiologists, 96.6%. At that matched specificity, AI-1 reached 81.9% sensitivity, against the first readers' mean of 77.4%, in a simulated population of 113,663 screening examinations derived from the original 8,805 women. Combining AI with a first reader added detection, but at a cost: roughly 77% more abnormal calls for about 8% more cancers detected. That recall cost is the operating-point tension in miniature.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2023, MASAI published its clinical safety analysis — a randomized trial of about eighty thousand women, roughly forty thousand per arm. Cancer detection was 6.1 per thousand with AI versus 5.1 in controls, a ratio of 1.2, above the lowest acceptable safety limit. Recall was essentially identical, 2.2 versus 2.0 percent; the false-positive rate was 1.5 percent in both; and the positive predictive value of recall was higher with AI, 28 versus 25 percent. Three-quarters of detected cancers were invasive. So: safe, and detecting more — the green light to continue.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But here is the discipline this talk runs on. Reader studies have well-known limits: enriched case sets, lab conditions, no real workflow. CAD had good numbers too. That kind of data is not enough to drive adoption. And it shows: a 2024 European survey found about 48% of radiologists use AI, but of those only 13.7% use it for breast imaging, about one in eight. In the US, by one estimate, only around 2% of practices use it at all.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pic>
        <p:nvPicPr>
          <p:cNvPr id="2" name="Picture 1" descr="bg_motif.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5486400"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566928"/>
            <a:ext cx="8229600" cy="365760"/>
          </a:xfrm>
          <a:prstGeom prst="rect">
            <a:avLst/>
          </a:prstGeom>
          <a:noFill/>
        </p:spPr>
        <p:txBody>
          <a:bodyPr wrap="square" anchor="t" lIns="0" rIns="0" tIns="0" bIns="0">
            <a:spAutoFit/>
          </a:bodyPr>
          <a:lstStyle/>
          <a:p>
            <a:pPr algn="l">
              <a:lnSpc>
                <a:spcPct val="100000"/>
              </a:lnSpc>
            </a:pPr>
            <a:r>
              <a:rPr sz="1100" b="1" i="0">
                <a:solidFill>
                  <a:srgbClr val="E7AC51"/>
                </a:solidFill>
                <a:latin typeface="Consolas"/>
              </a:rPr>
              <a:t>ERA II</a:t>
            </a:r>
          </a:p>
        </p:txBody>
      </p:sp>
      <p:sp>
        <p:nvSpPr>
          <p:cNvPr id="5" name="TextBox 4"/>
          <p:cNvSpPr txBox="1"/>
          <p:nvPr/>
        </p:nvSpPr>
        <p:spPr>
          <a:xfrm>
            <a:off x="777240" y="2286000"/>
            <a:ext cx="6126480" cy="1463040"/>
          </a:xfrm>
          <a:prstGeom prst="rect">
            <a:avLst/>
          </a:prstGeom>
          <a:noFill/>
        </p:spPr>
        <p:txBody>
          <a:bodyPr wrap="square" anchor="t" lIns="0" rIns="0" tIns="0" bIns="0">
            <a:spAutoFit/>
          </a:bodyPr>
          <a:lstStyle/>
          <a:p>
            <a:pPr algn="l">
              <a:lnSpc>
                <a:spcPct val="100000"/>
              </a:lnSpc>
            </a:pPr>
            <a:r>
              <a:rPr sz="5000" b="1" i="0">
                <a:solidFill>
                  <a:srgbClr val="ECEFF3"/>
                </a:solidFill>
                <a:latin typeface="Arial"/>
              </a:rPr>
              <a:t>The year is </a:t>
            </a:r>
            <a:r>
              <a:rPr sz="5000" b="1" i="0">
                <a:solidFill>
                  <a:srgbClr val="E7AC51"/>
                </a:solidFill>
                <a:latin typeface="Arial"/>
              </a:rPr>
              <a:t>2016.</a:t>
            </a:r>
          </a:p>
        </p:txBody>
      </p:sp>
      <p:sp>
        <p:nvSpPr>
          <p:cNvPr id="6" name="TextBox 5"/>
          <p:cNvSpPr txBox="1"/>
          <p:nvPr/>
        </p:nvSpPr>
        <p:spPr>
          <a:xfrm>
            <a:off x="777240" y="3977639"/>
            <a:ext cx="6035040" cy="1463040"/>
          </a:xfrm>
          <a:prstGeom prst="rect">
            <a:avLst/>
          </a:prstGeom>
          <a:noFill/>
        </p:spPr>
        <p:txBody>
          <a:bodyPr wrap="square" anchor="t" lIns="0" rIns="0" tIns="0" bIns="0">
            <a:spAutoFit/>
          </a:bodyPr>
          <a:lstStyle/>
          <a:p>
            <a:pPr algn="l">
              <a:lnSpc>
                <a:spcPct val="130000"/>
              </a:lnSpc>
            </a:pPr>
            <a:r>
              <a:rPr sz="1900" b="0" i="0">
                <a:solidFill>
                  <a:srgbClr val="9DA9B5"/>
                </a:solidFill>
                <a:latin typeface="Arial"/>
              </a:rPr>
              <a:t>You're beginning to hear about AI — but still </a:t>
            </a:r>
            <a:r>
              <a:rPr sz="1900" b="1" i="0">
                <a:solidFill>
                  <a:srgbClr val="ECEFF3"/>
                </a:solidFill>
                <a:latin typeface="Arial"/>
              </a:rPr>
              <a:t>feeling the burn from CAD.</a:t>
            </a:r>
          </a:p>
        </p:txBody>
      </p:sp>
      <p:pic>
        <p:nvPicPr>
          <p:cNvPr id="7" name="Picture 6" descr="svg_7e3644f729.png"/>
          <p:cNvPicPr>
            <a:picLocks noChangeAspect="1"/>
          </p:cNvPicPr>
          <p:nvPr/>
        </p:nvPicPr>
        <p:blipFill>
          <a:blip r:embed="rId4"/>
          <a:stretch>
            <a:fillRect/>
          </a:stretch>
        </p:blipFill>
        <p:spPr>
          <a:xfrm>
            <a:off x="7040880" y="2305594"/>
            <a:ext cx="4572000" cy="2612571"/>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pic>
        <p:nvPicPr>
          <p:cNvPr id="2" name="Picture 1" descr="bg_motif.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5486400"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502920"/>
            <a:ext cx="8229600" cy="320040"/>
          </a:xfrm>
          <a:prstGeom prst="rect">
            <a:avLst/>
          </a:prstGeom>
          <a:noFill/>
        </p:spPr>
        <p:txBody>
          <a:bodyPr wrap="square" anchor="t" lIns="0" rIns="0" tIns="0" bIns="0">
            <a:spAutoFit/>
          </a:bodyPr>
          <a:lstStyle/>
          <a:p>
            <a:pPr algn="l">
              <a:lnSpc>
                <a:spcPct val="100000"/>
              </a:lnSpc>
            </a:pPr>
            <a:r>
              <a:rPr sz="1100" b="1" i="0">
                <a:solidFill>
                  <a:srgbClr val="E7AC51"/>
                </a:solidFill>
                <a:latin typeface="Consolas"/>
              </a:rPr>
              <a:t>ERA II</a:t>
            </a:r>
          </a:p>
        </p:txBody>
      </p:sp>
      <p:sp>
        <p:nvSpPr>
          <p:cNvPr id="5" name="TextBox 4"/>
          <p:cNvSpPr txBox="1"/>
          <p:nvPr/>
        </p:nvSpPr>
        <p:spPr>
          <a:xfrm>
            <a:off x="777240" y="1051560"/>
            <a:ext cx="5852160" cy="1371600"/>
          </a:xfrm>
          <a:prstGeom prst="rect">
            <a:avLst/>
          </a:prstGeom>
          <a:noFill/>
        </p:spPr>
        <p:txBody>
          <a:bodyPr wrap="square" anchor="t" lIns="0" rIns="0" tIns="0" bIns="0">
            <a:spAutoFit/>
          </a:bodyPr>
          <a:lstStyle/>
          <a:p>
            <a:pPr algn="l">
              <a:lnSpc>
                <a:spcPct val="112000"/>
              </a:lnSpc>
            </a:pPr>
            <a:r>
              <a:rPr sz="2600" b="1" i="0">
                <a:solidFill>
                  <a:srgbClr val="ECEFF3"/>
                </a:solidFill>
                <a:latin typeface="Arial"/>
              </a:rPr>
              <a:t>2016: the first large-scale push — and a </a:t>
            </a:r>
            <a:r>
              <a:rPr sz="2600" b="1" i="0">
                <a:solidFill>
                  <a:srgbClr val="E7AC51"/>
                </a:solidFill>
                <a:latin typeface="Arial"/>
              </a:rPr>
              <a:t>surge of optimism.</a:t>
            </a:r>
          </a:p>
        </p:txBody>
      </p:sp>
      <p:sp>
        <p:nvSpPr>
          <p:cNvPr id="6" name="TextBox 5"/>
          <p:cNvSpPr txBox="1"/>
          <p:nvPr/>
        </p:nvSpPr>
        <p:spPr>
          <a:xfrm>
            <a:off x="777240" y="2834640"/>
            <a:ext cx="5852160" cy="1463040"/>
          </a:xfrm>
          <a:prstGeom prst="rect">
            <a:avLst/>
          </a:prstGeom>
          <a:noFill/>
        </p:spPr>
        <p:txBody>
          <a:bodyPr wrap="square" anchor="t" lIns="0" rIns="0" tIns="0" bIns="0">
            <a:spAutoFit/>
          </a:bodyPr>
          <a:lstStyle/>
          <a:p>
            <a:pPr algn="l">
              <a:lnSpc>
                <a:spcPct val="140000"/>
              </a:lnSpc>
            </a:pPr>
            <a:r>
              <a:rPr sz="1450" b="0" i="0">
                <a:solidFill>
                  <a:srgbClr val="9DA9B5"/>
                </a:solidFill>
                <a:latin typeface="Arial"/>
              </a:rPr>
              <a:t>The Digital Mammography DREAM Challenge was the first large-scale effort to build breast-cancer AI — and we took part. The hope was that a crowdsourced competition would simply solve it.</a:t>
            </a:r>
          </a:p>
        </p:txBody>
      </p:sp>
      <p:sp>
        <p:nvSpPr>
          <p:cNvPr id="7" name="Rounded Rectangle 6"/>
          <p:cNvSpPr/>
          <p:nvPr/>
        </p:nvSpPr>
        <p:spPr>
          <a:xfrm>
            <a:off x="777240" y="4617720"/>
            <a:ext cx="5669280" cy="384048"/>
          </a:xfrm>
          <a:prstGeom prst="roundRect">
            <a:avLst/>
          </a:prstGeom>
          <a:solidFill>
            <a:srgbClr val="1B232D"/>
          </a:solidFill>
          <a:ln w="9525">
            <a:solidFill>
              <a:srgbClr val="2A333D"/>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a:lstStyle/>
          <a:p>
            <a:pPr algn="l">
              <a:lnSpc>
                <a:spcPct val="100000"/>
              </a:lnSpc>
            </a:pPr>
            <a:r>
              <a:rPr sz="1100" b="0" i="0">
                <a:solidFill>
                  <a:srgbClr val="ECEFF3"/>
                </a:solidFill>
                <a:latin typeface="Consolas"/>
              </a:rPr>
              <a:t>1,000+ participants · 126 teams · 44 countries</a:t>
            </a:r>
          </a:p>
        </p:txBody>
      </p:sp>
      <p:sp>
        <p:nvSpPr>
          <p:cNvPr id="8" name="Rectangle 7"/>
          <p:cNvSpPr/>
          <p:nvPr/>
        </p:nvSpPr>
        <p:spPr>
          <a:xfrm>
            <a:off x="777240" y="4617720"/>
            <a:ext cx="36576" cy="384048"/>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77240" y="5074920"/>
            <a:ext cx="5669280" cy="384048"/>
          </a:xfrm>
          <a:prstGeom prst="roundRect">
            <a:avLst/>
          </a:prstGeom>
          <a:solidFill>
            <a:srgbClr val="1B232D"/>
          </a:solidFill>
          <a:ln w="9525">
            <a:solidFill>
              <a:srgbClr val="2A333D"/>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a:lstStyle/>
          <a:p>
            <a:pPr algn="l">
              <a:lnSpc>
                <a:spcPct val="100000"/>
              </a:lnSpc>
            </a:pPr>
            <a:r>
              <a:rPr sz="1100" b="0" i="0">
                <a:solidFill>
                  <a:srgbClr val="ECEFF3"/>
                </a:solidFill>
                <a:latin typeface="Consolas"/>
              </a:rPr>
              <a:t>~640,000 mammograms</a:t>
            </a:r>
          </a:p>
        </p:txBody>
      </p:sp>
      <p:sp>
        <p:nvSpPr>
          <p:cNvPr id="10" name="Rectangle 9"/>
          <p:cNvSpPr/>
          <p:nvPr/>
        </p:nvSpPr>
        <p:spPr>
          <a:xfrm>
            <a:off x="777240" y="5074920"/>
            <a:ext cx="36576" cy="384048"/>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852160"/>
            <a:ext cx="5852160" cy="365760"/>
          </a:xfrm>
          <a:prstGeom prst="rect">
            <a:avLst/>
          </a:prstGeom>
          <a:noFill/>
        </p:spPr>
        <p:txBody>
          <a:bodyPr wrap="square" anchor="t" lIns="0" rIns="0" tIns="0" bIns="0">
            <a:spAutoFit/>
          </a:bodyPr>
          <a:lstStyle/>
          <a:p>
            <a:pPr algn="l">
              <a:lnSpc>
                <a:spcPct val="100000"/>
              </a:lnSpc>
            </a:pPr>
            <a:r>
              <a:rPr sz="1000" b="0" i="0">
                <a:solidFill>
                  <a:srgbClr val="5C6975"/>
                </a:solidFill>
                <a:latin typeface="Consolas"/>
              </a:rPr>
              <a:t>Schaffter et al., JAMA Network Open 2020;3(3):e200265.</a:t>
            </a:r>
          </a:p>
        </p:txBody>
      </p:sp>
      <p:sp>
        <p:nvSpPr>
          <p:cNvPr id="12" name="Rounded Rectangle 11"/>
          <p:cNvSpPr/>
          <p:nvPr/>
        </p:nvSpPr>
        <p:spPr>
          <a:xfrm>
            <a:off x="6949440" y="1019819"/>
            <a:ext cx="4754880" cy="5275560"/>
          </a:xfrm>
          <a:prstGeom prst="roundRect">
            <a:avLst/>
          </a:prstGeom>
          <a:solidFill>
            <a:srgbClr val="FFFFFF"/>
          </a:solidFill>
          <a:ln w="9525">
            <a:solidFill>
              <a:srgbClr val="C98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img_920569b1aa.png"/>
          <p:cNvPicPr>
            <a:picLocks noChangeAspect="1"/>
          </p:cNvPicPr>
          <p:nvPr/>
        </p:nvPicPr>
        <p:blipFill>
          <a:blip r:embed="rId4"/>
          <a:stretch>
            <a:fillRect/>
          </a:stretch>
        </p:blipFill>
        <p:spPr>
          <a:xfrm>
            <a:off x="7040880" y="1111259"/>
            <a:ext cx="4572000" cy="509268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pic>
        <p:nvPicPr>
          <p:cNvPr id="2" name="Picture 1" descr="bg_motif.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5486400"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502920"/>
            <a:ext cx="8229600" cy="320040"/>
          </a:xfrm>
          <a:prstGeom prst="rect">
            <a:avLst/>
          </a:prstGeom>
          <a:noFill/>
        </p:spPr>
        <p:txBody>
          <a:bodyPr wrap="square" anchor="t" lIns="0" rIns="0" tIns="0" bIns="0">
            <a:spAutoFit/>
          </a:bodyPr>
          <a:lstStyle/>
          <a:p>
            <a:pPr algn="l">
              <a:lnSpc>
                <a:spcPct val="100000"/>
              </a:lnSpc>
            </a:pPr>
            <a:r>
              <a:rPr sz="1100" b="1" i="0">
                <a:solidFill>
                  <a:srgbClr val="E7AC51"/>
                </a:solidFill>
                <a:latin typeface="Consolas"/>
              </a:rPr>
              <a:t>ERA II</a:t>
            </a:r>
          </a:p>
        </p:txBody>
      </p:sp>
      <p:sp>
        <p:nvSpPr>
          <p:cNvPr id="5" name="TextBox 4"/>
          <p:cNvSpPr txBox="1"/>
          <p:nvPr/>
        </p:nvSpPr>
        <p:spPr>
          <a:xfrm>
            <a:off x="777240" y="1051560"/>
            <a:ext cx="5760720" cy="1280160"/>
          </a:xfrm>
          <a:prstGeom prst="rect">
            <a:avLst/>
          </a:prstGeom>
          <a:noFill/>
        </p:spPr>
        <p:txBody>
          <a:bodyPr wrap="square" anchor="t" lIns="0" rIns="0" tIns="0" bIns="0">
            <a:spAutoFit/>
          </a:bodyPr>
          <a:lstStyle/>
          <a:p>
            <a:pPr algn="l">
              <a:lnSpc>
                <a:spcPct val="112000"/>
              </a:lnSpc>
            </a:pPr>
            <a:r>
              <a:rPr sz="2600" b="1" i="0">
                <a:solidFill>
                  <a:srgbClr val="ECEFF3"/>
                </a:solidFill>
                <a:latin typeface="Arial"/>
              </a:rPr>
              <a:t>2020: Google publishes its </a:t>
            </a:r>
            <a:r>
              <a:rPr sz="2600" b="1" i="0">
                <a:solidFill>
                  <a:srgbClr val="E7AC51"/>
                </a:solidFill>
                <a:latin typeface="Arial"/>
              </a:rPr>
              <a:t>breast-cancer AI model.</a:t>
            </a:r>
          </a:p>
        </p:txBody>
      </p:sp>
      <p:sp>
        <p:nvSpPr>
          <p:cNvPr id="6" name="TextBox 5"/>
          <p:cNvSpPr txBox="1"/>
          <p:nvPr/>
        </p:nvSpPr>
        <p:spPr>
          <a:xfrm>
            <a:off x="777240" y="2331720"/>
            <a:ext cx="5852160" cy="822960"/>
          </a:xfrm>
          <a:prstGeom prst="rect">
            <a:avLst/>
          </a:prstGeom>
          <a:noFill/>
        </p:spPr>
        <p:txBody>
          <a:bodyPr wrap="square" anchor="t" lIns="0" rIns="0" tIns="0" bIns="0">
            <a:spAutoFit/>
          </a:bodyPr>
          <a:lstStyle/>
          <a:p>
            <a:pPr algn="l">
              <a:lnSpc>
                <a:spcPct val="135000"/>
              </a:lnSpc>
            </a:pPr>
            <a:r>
              <a:rPr sz="1400" b="1" i="0">
                <a:solidFill>
                  <a:srgbClr val="ECEFF3"/>
                </a:solidFill>
                <a:latin typeface="Arial"/>
              </a:rPr>
              <a:t>McKinney et al., Nature 2020</a:t>
            </a:r>
            <a:r>
              <a:rPr sz="1400" b="0" i="0">
                <a:solidFill>
                  <a:srgbClr val="9DA9B5"/>
                </a:solidFill>
                <a:latin typeface="Arial"/>
              </a:rPr>
              <a:t> (Google Health, UK + US) — a deep-learning system read screening mammograms stand-alone.</a:t>
            </a:r>
          </a:p>
        </p:txBody>
      </p:sp>
      <p:sp>
        <p:nvSpPr>
          <p:cNvPr id="7" name="TextBox 6"/>
          <p:cNvSpPr txBox="1"/>
          <p:nvPr/>
        </p:nvSpPr>
        <p:spPr>
          <a:xfrm>
            <a:off x="777240" y="3246120"/>
            <a:ext cx="5669280" cy="384048"/>
          </a:xfrm>
          <a:prstGeom prst="rect">
            <a:avLst/>
          </a:prstGeom>
          <a:noFill/>
        </p:spPr>
        <p:txBody>
          <a:bodyPr wrap="square" anchor="t" lIns="0" rIns="0" tIns="0" bIns="0">
            <a:spAutoFit/>
          </a:bodyPr>
          <a:lstStyle/>
          <a:p>
            <a:pPr algn="l">
              <a:lnSpc>
                <a:spcPct val="100000"/>
              </a:lnSpc>
            </a:pPr>
            <a:r>
              <a:rPr sz="1900" b="1" i="0">
                <a:solidFill>
                  <a:srgbClr val="E7AC51"/>
                </a:solidFill>
                <a:latin typeface="Arial"/>
              </a:rPr>
              <a:t>−5.7% / −1.2%</a:t>
            </a:r>
          </a:p>
        </p:txBody>
      </p:sp>
      <p:sp>
        <p:nvSpPr>
          <p:cNvPr id="8" name="TextBox 7"/>
          <p:cNvSpPr txBox="1"/>
          <p:nvPr/>
        </p:nvSpPr>
        <p:spPr>
          <a:xfrm>
            <a:off x="777240" y="3611879"/>
            <a:ext cx="5669280" cy="310896"/>
          </a:xfrm>
          <a:prstGeom prst="rect">
            <a:avLst/>
          </a:prstGeom>
          <a:noFill/>
        </p:spPr>
        <p:txBody>
          <a:bodyPr wrap="square" anchor="t" lIns="0" rIns="0" tIns="0" bIns="0">
            <a:spAutoFit/>
          </a:bodyPr>
          <a:lstStyle/>
          <a:p>
            <a:pPr algn="l">
              <a:lnSpc>
                <a:spcPct val="100000"/>
              </a:lnSpc>
            </a:pPr>
            <a:r>
              <a:rPr sz="1100" b="0" i="0">
                <a:solidFill>
                  <a:srgbClr val="9DA9B5"/>
                </a:solidFill>
                <a:latin typeface="Consolas"/>
              </a:rPr>
              <a:t>false positives (US / UK)</a:t>
            </a:r>
          </a:p>
        </p:txBody>
      </p:sp>
      <p:sp>
        <p:nvSpPr>
          <p:cNvPr id="9" name="TextBox 8"/>
          <p:cNvSpPr txBox="1"/>
          <p:nvPr/>
        </p:nvSpPr>
        <p:spPr>
          <a:xfrm>
            <a:off x="777240" y="3959352"/>
            <a:ext cx="5669280" cy="384048"/>
          </a:xfrm>
          <a:prstGeom prst="rect">
            <a:avLst/>
          </a:prstGeom>
          <a:noFill/>
        </p:spPr>
        <p:txBody>
          <a:bodyPr wrap="square" anchor="t" lIns="0" rIns="0" tIns="0" bIns="0">
            <a:spAutoFit/>
          </a:bodyPr>
          <a:lstStyle/>
          <a:p>
            <a:pPr algn="l">
              <a:lnSpc>
                <a:spcPct val="100000"/>
              </a:lnSpc>
            </a:pPr>
            <a:r>
              <a:rPr sz="1900" b="1" i="0">
                <a:solidFill>
                  <a:srgbClr val="E7AC51"/>
                </a:solidFill>
                <a:latin typeface="Arial"/>
              </a:rPr>
              <a:t>−9.4% / −2.7%</a:t>
            </a:r>
          </a:p>
        </p:txBody>
      </p:sp>
      <p:sp>
        <p:nvSpPr>
          <p:cNvPr id="10" name="TextBox 9"/>
          <p:cNvSpPr txBox="1"/>
          <p:nvPr/>
        </p:nvSpPr>
        <p:spPr>
          <a:xfrm>
            <a:off x="777240" y="4325112"/>
            <a:ext cx="5669280" cy="310896"/>
          </a:xfrm>
          <a:prstGeom prst="rect">
            <a:avLst/>
          </a:prstGeom>
          <a:noFill/>
        </p:spPr>
        <p:txBody>
          <a:bodyPr wrap="square" anchor="t" lIns="0" rIns="0" tIns="0" bIns="0">
            <a:spAutoFit/>
          </a:bodyPr>
          <a:lstStyle/>
          <a:p>
            <a:pPr algn="l">
              <a:lnSpc>
                <a:spcPct val="100000"/>
              </a:lnSpc>
            </a:pPr>
            <a:r>
              <a:rPr sz="1100" b="0" i="0">
                <a:solidFill>
                  <a:srgbClr val="9DA9B5"/>
                </a:solidFill>
                <a:latin typeface="Consolas"/>
              </a:rPr>
              <a:t>false negatives (US / UK)</a:t>
            </a:r>
          </a:p>
        </p:txBody>
      </p:sp>
      <p:sp>
        <p:nvSpPr>
          <p:cNvPr id="11" name="TextBox 10"/>
          <p:cNvSpPr txBox="1"/>
          <p:nvPr/>
        </p:nvSpPr>
        <p:spPr>
          <a:xfrm>
            <a:off x="777240" y="4672584"/>
            <a:ext cx="5669280" cy="384048"/>
          </a:xfrm>
          <a:prstGeom prst="rect">
            <a:avLst/>
          </a:prstGeom>
          <a:noFill/>
        </p:spPr>
        <p:txBody>
          <a:bodyPr wrap="square" anchor="t" lIns="0" rIns="0" tIns="0" bIns="0">
            <a:spAutoFit/>
          </a:bodyPr>
          <a:lstStyle/>
          <a:p>
            <a:pPr algn="l">
              <a:lnSpc>
                <a:spcPct val="100000"/>
              </a:lnSpc>
            </a:pPr>
            <a:r>
              <a:rPr sz="1900" b="1" i="0">
                <a:solidFill>
                  <a:srgbClr val="E7AC51"/>
                </a:solidFill>
                <a:latin typeface="Arial"/>
              </a:rPr>
              <a:t>+11.5%</a:t>
            </a:r>
          </a:p>
        </p:txBody>
      </p:sp>
      <p:sp>
        <p:nvSpPr>
          <p:cNvPr id="12" name="TextBox 11"/>
          <p:cNvSpPr txBox="1"/>
          <p:nvPr/>
        </p:nvSpPr>
        <p:spPr>
          <a:xfrm>
            <a:off x="777240" y="5038344"/>
            <a:ext cx="5669280" cy="310896"/>
          </a:xfrm>
          <a:prstGeom prst="rect">
            <a:avLst/>
          </a:prstGeom>
          <a:noFill/>
        </p:spPr>
        <p:txBody>
          <a:bodyPr wrap="square" anchor="t" lIns="0" rIns="0" tIns="0" bIns="0">
            <a:spAutoFit/>
          </a:bodyPr>
          <a:lstStyle/>
          <a:p>
            <a:pPr algn="l">
              <a:lnSpc>
                <a:spcPct val="100000"/>
              </a:lnSpc>
            </a:pPr>
            <a:r>
              <a:rPr sz="1100" b="0" i="0">
                <a:solidFill>
                  <a:srgbClr val="9DA9B5"/>
                </a:solidFill>
                <a:latin typeface="Consolas"/>
              </a:rPr>
              <a:t>AUC over the average radiologist</a:t>
            </a:r>
          </a:p>
        </p:txBody>
      </p:sp>
      <p:sp>
        <p:nvSpPr>
          <p:cNvPr id="13" name="TextBox 12"/>
          <p:cNvSpPr txBox="1"/>
          <p:nvPr/>
        </p:nvSpPr>
        <p:spPr>
          <a:xfrm>
            <a:off x="777240" y="5385816"/>
            <a:ext cx="5669280" cy="384048"/>
          </a:xfrm>
          <a:prstGeom prst="rect">
            <a:avLst/>
          </a:prstGeom>
          <a:noFill/>
        </p:spPr>
        <p:txBody>
          <a:bodyPr wrap="square" anchor="t" lIns="0" rIns="0" tIns="0" bIns="0">
            <a:spAutoFit/>
          </a:bodyPr>
          <a:lstStyle/>
          <a:p>
            <a:pPr algn="l">
              <a:lnSpc>
                <a:spcPct val="100000"/>
              </a:lnSpc>
            </a:pPr>
            <a:r>
              <a:rPr sz="1900" b="1" i="0">
                <a:solidFill>
                  <a:srgbClr val="E7AC51"/>
                </a:solidFill>
                <a:latin typeface="Arial"/>
              </a:rPr>
              <a:t>−88%</a:t>
            </a:r>
          </a:p>
        </p:txBody>
      </p:sp>
      <p:sp>
        <p:nvSpPr>
          <p:cNvPr id="14" name="TextBox 13"/>
          <p:cNvSpPr txBox="1"/>
          <p:nvPr/>
        </p:nvSpPr>
        <p:spPr>
          <a:xfrm>
            <a:off x="777240" y="5751576"/>
            <a:ext cx="5669280" cy="310896"/>
          </a:xfrm>
          <a:prstGeom prst="rect">
            <a:avLst/>
          </a:prstGeom>
          <a:noFill/>
        </p:spPr>
        <p:txBody>
          <a:bodyPr wrap="square" anchor="t" lIns="0" rIns="0" tIns="0" bIns="0">
            <a:spAutoFit/>
          </a:bodyPr>
          <a:lstStyle/>
          <a:p>
            <a:pPr algn="l">
              <a:lnSpc>
                <a:spcPct val="100000"/>
              </a:lnSpc>
            </a:pPr>
            <a:r>
              <a:rPr sz="1100" b="0" i="0">
                <a:solidFill>
                  <a:srgbClr val="9DA9B5"/>
                </a:solidFill>
                <a:latin typeface="Consolas"/>
              </a:rPr>
              <a:t>simulated second-reader workload</a:t>
            </a:r>
          </a:p>
        </p:txBody>
      </p:sp>
      <p:sp>
        <p:nvSpPr>
          <p:cNvPr id="15" name="TextBox 14"/>
          <p:cNvSpPr txBox="1"/>
          <p:nvPr/>
        </p:nvSpPr>
        <p:spPr>
          <a:xfrm>
            <a:off x="777240" y="6199632"/>
            <a:ext cx="5760720" cy="365760"/>
          </a:xfrm>
          <a:prstGeom prst="rect">
            <a:avLst/>
          </a:prstGeom>
          <a:noFill/>
        </p:spPr>
        <p:txBody>
          <a:bodyPr wrap="square" anchor="t" lIns="0" rIns="0" tIns="0" bIns="0">
            <a:spAutoFit/>
          </a:bodyPr>
          <a:lstStyle/>
          <a:p>
            <a:pPr algn="l">
              <a:lnSpc>
                <a:spcPct val="100000"/>
              </a:lnSpc>
            </a:pPr>
            <a:r>
              <a:rPr sz="950" b="0" i="0">
                <a:solidFill>
                  <a:srgbClr val="5C6975"/>
                </a:solidFill>
                <a:latin typeface="Consolas"/>
              </a:rPr>
              <a:t>Results are promising — but again, only on clean, curated data. · McKinney et al., Nature 2020;577:89–94.</a:t>
            </a:r>
          </a:p>
        </p:txBody>
      </p:sp>
      <p:sp>
        <p:nvSpPr>
          <p:cNvPr id="16" name="Rounded Rectangle 15"/>
          <p:cNvSpPr/>
          <p:nvPr/>
        </p:nvSpPr>
        <p:spPr>
          <a:xfrm>
            <a:off x="7900966" y="1280160"/>
            <a:ext cx="2851827" cy="4754880"/>
          </a:xfrm>
          <a:prstGeom prst="roundRect">
            <a:avLst/>
          </a:prstGeom>
          <a:solidFill>
            <a:srgbClr val="FFFFFF"/>
          </a:solidFill>
          <a:ln w="9525">
            <a:solidFill>
              <a:srgbClr val="C98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img_6cb54df20e.png"/>
          <p:cNvPicPr>
            <a:picLocks noChangeAspect="1"/>
          </p:cNvPicPr>
          <p:nvPr/>
        </p:nvPicPr>
        <p:blipFill>
          <a:blip r:embed="rId4"/>
          <a:stretch>
            <a:fillRect/>
          </a:stretch>
        </p:blipFill>
        <p:spPr>
          <a:xfrm>
            <a:off x="7992406" y="1371600"/>
            <a:ext cx="2668947" cy="4572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pic>
        <p:nvPicPr>
          <p:cNvPr id="2" name="Picture 1" descr="bg_motif.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5486400"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502920"/>
            <a:ext cx="8229600" cy="320040"/>
          </a:xfrm>
          <a:prstGeom prst="rect">
            <a:avLst/>
          </a:prstGeom>
          <a:noFill/>
        </p:spPr>
        <p:txBody>
          <a:bodyPr wrap="square" anchor="t" lIns="0" rIns="0" tIns="0" bIns="0">
            <a:spAutoFit/>
          </a:bodyPr>
          <a:lstStyle/>
          <a:p>
            <a:pPr algn="l">
              <a:lnSpc>
                <a:spcPct val="100000"/>
              </a:lnSpc>
            </a:pPr>
            <a:r>
              <a:rPr sz="1100" b="1" i="0">
                <a:solidFill>
                  <a:srgbClr val="E7AC51"/>
                </a:solidFill>
                <a:latin typeface="Consolas"/>
              </a:rPr>
              <a:t>ERA II</a:t>
            </a:r>
          </a:p>
        </p:txBody>
      </p:sp>
      <p:sp>
        <p:nvSpPr>
          <p:cNvPr id="5" name="TextBox 4"/>
          <p:cNvSpPr txBox="1"/>
          <p:nvPr/>
        </p:nvSpPr>
        <p:spPr>
          <a:xfrm>
            <a:off x="777240" y="1051560"/>
            <a:ext cx="5852160" cy="1463040"/>
          </a:xfrm>
          <a:prstGeom prst="rect">
            <a:avLst/>
          </a:prstGeom>
          <a:noFill/>
        </p:spPr>
        <p:txBody>
          <a:bodyPr wrap="square" anchor="t" lIns="0" rIns="0" tIns="0" bIns="0">
            <a:spAutoFit/>
          </a:bodyPr>
          <a:lstStyle/>
          <a:p>
            <a:pPr algn="l">
              <a:lnSpc>
                <a:spcPct val="112000"/>
              </a:lnSpc>
            </a:pPr>
            <a:r>
              <a:rPr sz="2400" b="1" i="0">
                <a:solidFill>
                  <a:srgbClr val="ECEFF3"/>
                </a:solidFill>
                <a:latin typeface="Arial"/>
              </a:rPr>
              <a:t>2020: three commercial models, independently validated on </a:t>
            </a:r>
            <a:r>
              <a:rPr sz="2400" b="1" i="0">
                <a:solidFill>
                  <a:srgbClr val="E7AC51"/>
                </a:solidFill>
                <a:latin typeface="Arial"/>
              </a:rPr>
              <a:t>8,800 women.</a:t>
            </a:r>
          </a:p>
        </p:txBody>
      </p:sp>
      <p:sp>
        <p:nvSpPr>
          <p:cNvPr id="6" name="TextBox 5"/>
          <p:cNvSpPr txBox="1"/>
          <p:nvPr/>
        </p:nvSpPr>
        <p:spPr>
          <a:xfrm>
            <a:off x="777240" y="2743200"/>
            <a:ext cx="5852160" cy="731520"/>
          </a:xfrm>
          <a:prstGeom prst="rect">
            <a:avLst/>
          </a:prstGeom>
          <a:noFill/>
        </p:spPr>
        <p:txBody>
          <a:bodyPr wrap="square" anchor="t" lIns="0" rIns="0" tIns="0" bIns="0">
            <a:spAutoFit/>
          </a:bodyPr>
          <a:lstStyle/>
          <a:p>
            <a:pPr algn="l">
              <a:lnSpc>
                <a:spcPct val="135000"/>
              </a:lnSpc>
            </a:pPr>
            <a:r>
              <a:rPr sz="1400" b="1" i="0">
                <a:solidFill>
                  <a:srgbClr val="ECEFF3"/>
                </a:solidFill>
                <a:latin typeface="Arial"/>
              </a:rPr>
              <a:t>Salim et al., JAMA Oncology 2020</a:t>
            </a:r>
            <a:r>
              <a:rPr sz="1400" b="0" i="0">
                <a:solidFill>
                  <a:srgbClr val="9DA9B5"/>
                </a:solidFill>
                <a:latin typeface="Arial"/>
              </a:rPr>
              <a:t> tested three commercial algorithms on an external Stockholm cohort.</a:t>
            </a:r>
          </a:p>
        </p:txBody>
      </p:sp>
      <p:sp>
        <p:nvSpPr>
          <p:cNvPr id="7" name="TextBox 6"/>
          <p:cNvSpPr txBox="1"/>
          <p:nvPr/>
        </p:nvSpPr>
        <p:spPr>
          <a:xfrm>
            <a:off x="777240" y="3611880"/>
            <a:ext cx="5852160" cy="457200"/>
          </a:xfrm>
          <a:prstGeom prst="rect">
            <a:avLst/>
          </a:prstGeom>
          <a:noFill/>
        </p:spPr>
        <p:txBody>
          <a:bodyPr wrap="square" anchor="t" lIns="0" rIns="0" tIns="0" bIns="0">
            <a:spAutoFit/>
          </a:bodyPr>
          <a:lstStyle/>
          <a:p>
            <a:pPr algn="l">
              <a:lnSpc>
                <a:spcPct val="130000"/>
              </a:lnSpc>
            </a:pPr>
            <a:r>
              <a:rPr sz="1400" b="0" i="0">
                <a:solidFill>
                  <a:srgbClr val="9DA9B5"/>
                </a:solidFill>
                <a:latin typeface="Arial"/>
              </a:rPr>
              <a:t>AUC — AI-1 </a:t>
            </a:r>
            <a:r>
              <a:rPr sz="1400" b="1" i="0">
                <a:solidFill>
                  <a:srgbClr val="E7AC51"/>
                </a:solidFill>
                <a:latin typeface="Arial"/>
              </a:rPr>
              <a:t>0.956</a:t>
            </a:r>
            <a:r>
              <a:rPr sz="1400" b="0" i="0">
                <a:solidFill>
                  <a:srgbClr val="9DA9B5"/>
                </a:solidFill>
                <a:latin typeface="Arial"/>
              </a:rPr>
              <a:t> · AI-2 </a:t>
            </a:r>
            <a:r>
              <a:rPr sz="1400" b="1" i="0">
                <a:solidFill>
                  <a:srgbClr val="E7AC51"/>
                </a:solidFill>
                <a:latin typeface="Arial"/>
              </a:rPr>
              <a:t>0.922</a:t>
            </a:r>
            <a:r>
              <a:rPr sz="1400" b="0" i="0">
                <a:solidFill>
                  <a:srgbClr val="9DA9B5"/>
                </a:solidFill>
                <a:latin typeface="Arial"/>
              </a:rPr>
              <a:t> · AI-3 </a:t>
            </a:r>
            <a:r>
              <a:rPr sz="1400" b="1" i="0">
                <a:solidFill>
                  <a:srgbClr val="E7AC51"/>
                </a:solidFill>
                <a:latin typeface="Arial"/>
              </a:rPr>
              <a:t>0.920</a:t>
            </a:r>
          </a:p>
        </p:txBody>
      </p:sp>
      <p:sp>
        <p:nvSpPr>
          <p:cNvPr id="8" name="TextBox 7"/>
          <p:cNvSpPr txBox="1"/>
          <p:nvPr/>
        </p:nvSpPr>
        <p:spPr>
          <a:xfrm>
            <a:off x="777240" y="4206240"/>
            <a:ext cx="5852160" cy="640080"/>
          </a:xfrm>
          <a:prstGeom prst="rect">
            <a:avLst/>
          </a:prstGeom>
          <a:noFill/>
        </p:spPr>
        <p:txBody>
          <a:bodyPr wrap="square" anchor="t" lIns="0" rIns="0" tIns="0" bIns="0">
            <a:spAutoFit/>
          </a:bodyPr>
          <a:lstStyle/>
          <a:p>
            <a:pPr algn="l">
              <a:lnSpc>
                <a:spcPct val="130000"/>
              </a:lnSpc>
            </a:pPr>
            <a:r>
              <a:rPr sz="1400" b="0" i="0">
                <a:solidFill>
                  <a:srgbClr val="9DA9B5"/>
                </a:solidFill>
                <a:latin typeface="Arial"/>
              </a:rPr>
              <a:t>At readers' specificity (</a:t>
            </a:r>
            <a:r>
              <a:rPr sz="1400" b="1" i="0">
                <a:solidFill>
                  <a:srgbClr val="ECEFF3"/>
                </a:solidFill>
                <a:latin typeface="Arial"/>
              </a:rPr>
              <a:t>96.6%</a:t>
            </a:r>
            <a:r>
              <a:rPr sz="1400" b="0" i="0">
                <a:solidFill>
                  <a:srgbClr val="9DA9B5"/>
                </a:solidFill>
                <a:latin typeface="Arial"/>
              </a:rPr>
              <a:t>): AI-1 </a:t>
            </a:r>
            <a:r>
              <a:rPr sz="1400" b="1" i="0">
                <a:solidFill>
                  <a:srgbClr val="ECEFF3"/>
                </a:solidFill>
                <a:latin typeface="Arial"/>
              </a:rPr>
              <a:t>81.9%</a:t>
            </a:r>
            <a:r>
              <a:rPr sz="1400" b="0" i="0">
                <a:solidFill>
                  <a:srgbClr val="9DA9B5"/>
                </a:solidFill>
                <a:latin typeface="Arial"/>
              </a:rPr>
              <a:t> sensitivity vs readers </a:t>
            </a:r>
            <a:r>
              <a:rPr sz="1400" b="1" i="0">
                <a:solidFill>
                  <a:srgbClr val="ECEFF3"/>
                </a:solidFill>
                <a:latin typeface="Arial"/>
              </a:rPr>
              <a:t>77.4%</a:t>
            </a:r>
            <a:r>
              <a:rPr sz="1400" b="0" i="0">
                <a:solidFill>
                  <a:srgbClr val="9DA9B5"/>
                </a:solidFill>
                <a:latin typeface="Arial"/>
              </a:rPr>
              <a:t>.</a:t>
            </a:r>
          </a:p>
        </p:txBody>
      </p:sp>
      <p:sp>
        <p:nvSpPr>
          <p:cNvPr id="9" name="TextBox 8"/>
          <p:cNvSpPr txBox="1"/>
          <p:nvPr/>
        </p:nvSpPr>
        <p:spPr>
          <a:xfrm>
            <a:off x="777240" y="4846320"/>
            <a:ext cx="5852160" cy="548640"/>
          </a:xfrm>
          <a:prstGeom prst="rect">
            <a:avLst/>
          </a:prstGeom>
          <a:noFill/>
        </p:spPr>
        <p:txBody>
          <a:bodyPr wrap="square" anchor="t" lIns="0" rIns="0" tIns="0" bIns="0">
            <a:spAutoFit/>
          </a:bodyPr>
          <a:lstStyle/>
          <a:p>
            <a:pPr algn="l">
              <a:lnSpc>
                <a:spcPct val="130000"/>
              </a:lnSpc>
            </a:pPr>
            <a:r>
              <a:rPr sz="1400" b="0" i="0">
                <a:solidFill>
                  <a:srgbClr val="9DA9B5"/>
                </a:solidFill>
                <a:latin typeface="Arial"/>
              </a:rPr>
              <a:t>AI + reader: </a:t>
            </a:r>
            <a:r>
              <a:rPr sz="1400" b="1" i="0">
                <a:solidFill>
                  <a:srgbClr val="E7AC51"/>
                </a:solidFill>
                <a:latin typeface="Arial"/>
              </a:rPr>
              <a:t>+77%</a:t>
            </a:r>
            <a:r>
              <a:rPr sz="1400" b="0" i="0">
                <a:solidFill>
                  <a:srgbClr val="9DA9B5"/>
                </a:solidFill>
                <a:latin typeface="Arial"/>
              </a:rPr>
              <a:t> abnormal calls for </a:t>
            </a:r>
            <a:r>
              <a:rPr sz="1400" b="1" i="0">
                <a:solidFill>
                  <a:srgbClr val="E7AC51"/>
                </a:solidFill>
                <a:latin typeface="Arial"/>
              </a:rPr>
              <a:t>+8%</a:t>
            </a:r>
            <a:r>
              <a:rPr sz="1400" b="0" i="0">
                <a:solidFill>
                  <a:srgbClr val="9DA9B5"/>
                </a:solidFill>
                <a:latin typeface="Arial"/>
              </a:rPr>
              <a:t> detection — the operating-point tension in miniature.</a:t>
            </a:r>
          </a:p>
        </p:txBody>
      </p:sp>
      <p:sp>
        <p:nvSpPr>
          <p:cNvPr id="10" name="TextBox 9"/>
          <p:cNvSpPr txBox="1"/>
          <p:nvPr/>
        </p:nvSpPr>
        <p:spPr>
          <a:xfrm>
            <a:off x="777240" y="5989320"/>
            <a:ext cx="5852160" cy="457200"/>
          </a:xfrm>
          <a:prstGeom prst="rect">
            <a:avLst/>
          </a:prstGeom>
          <a:noFill/>
        </p:spPr>
        <p:txBody>
          <a:bodyPr wrap="square" anchor="t" lIns="0" rIns="0" tIns="0" bIns="0">
            <a:spAutoFit/>
          </a:bodyPr>
          <a:lstStyle/>
          <a:p>
            <a:pPr algn="l">
              <a:lnSpc>
                <a:spcPct val="100000"/>
              </a:lnSpc>
            </a:pPr>
            <a:r>
              <a:rPr sz="1000" b="0" i="0">
                <a:solidFill>
                  <a:srgbClr val="5C6975"/>
                </a:solidFill>
                <a:latin typeface="Consolas"/>
              </a:rPr>
              <a:t>Salim et al., JAMA Oncology 2020 (Stockholm, 8,805 women).</a:t>
            </a:r>
          </a:p>
        </p:txBody>
      </p:sp>
      <p:sp>
        <p:nvSpPr>
          <p:cNvPr id="11" name="Rounded Rectangle 10"/>
          <p:cNvSpPr/>
          <p:nvPr/>
        </p:nvSpPr>
        <p:spPr>
          <a:xfrm>
            <a:off x="6949440" y="2219999"/>
            <a:ext cx="4754880" cy="2875201"/>
          </a:xfrm>
          <a:prstGeom prst="roundRect">
            <a:avLst/>
          </a:prstGeom>
          <a:solidFill>
            <a:srgbClr val="FFFFFF"/>
          </a:solidFill>
          <a:ln w="9525">
            <a:solidFill>
              <a:srgbClr val="C98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img_1a0b098745.png"/>
          <p:cNvPicPr>
            <a:picLocks noChangeAspect="1"/>
          </p:cNvPicPr>
          <p:nvPr/>
        </p:nvPicPr>
        <p:blipFill>
          <a:blip r:embed="rId4"/>
          <a:stretch>
            <a:fillRect/>
          </a:stretch>
        </p:blipFill>
        <p:spPr>
          <a:xfrm>
            <a:off x="7040880" y="2311439"/>
            <a:ext cx="4572000" cy="2692321"/>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pic>
        <p:nvPicPr>
          <p:cNvPr id="2" name="Picture 1" descr="bg_motif.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5486400"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502920"/>
            <a:ext cx="8229600" cy="320040"/>
          </a:xfrm>
          <a:prstGeom prst="rect">
            <a:avLst/>
          </a:prstGeom>
          <a:noFill/>
        </p:spPr>
        <p:txBody>
          <a:bodyPr wrap="square" anchor="t" lIns="0" rIns="0" tIns="0" bIns="0">
            <a:spAutoFit/>
          </a:bodyPr>
          <a:lstStyle/>
          <a:p>
            <a:pPr algn="l">
              <a:lnSpc>
                <a:spcPct val="100000"/>
              </a:lnSpc>
            </a:pPr>
            <a:r>
              <a:rPr sz="1100" b="1" i="0">
                <a:solidFill>
                  <a:srgbClr val="E7AC51"/>
                </a:solidFill>
                <a:latin typeface="Consolas"/>
              </a:rPr>
              <a:t>ERA II</a:t>
            </a:r>
          </a:p>
        </p:txBody>
      </p:sp>
      <p:sp>
        <p:nvSpPr>
          <p:cNvPr id="5" name="TextBox 4"/>
          <p:cNvSpPr txBox="1"/>
          <p:nvPr/>
        </p:nvSpPr>
        <p:spPr>
          <a:xfrm>
            <a:off x="777240" y="1051560"/>
            <a:ext cx="10607040" cy="914400"/>
          </a:xfrm>
          <a:prstGeom prst="rect">
            <a:avLst/>
          </a:prstGeom>
          <a:noFill/>
        </p:spPr>
        <p:txBody>
          <a:bodyPr wrap="square" anchor="t" lIns="0" rIns="0" tIns="0" bIns="0">
            <a:spAutoFit/>
          </a:bodyPr>
          <a:lstStyle/>
          <a:p>
            <a:pPr algn="l">
              <a:lnSpc>
                <a:spcPct val="110000"/>
              </a:lnSpc>
            </a:pPr>
            <a:r>
              <a:rPr sz="3000" b="1" i="0">
                <a:solidFill>
                  <a:srgbClr val="ECEFF3"/>
                </a:solidFill>
                <a:latin typeface="Arial"/>
              </a:rPr>
              <a:t>2023: MASAI publishes its </a:t>
            </a:r>
            <a:r>
              <a:rPr sz="3000" b="1" i="0">
                <a:solidFill>
                  <a:srgbClr val="E7AC51"/>
                </a:solidFill>
                <a:latin typeface="Arial"/>
              </a:rPr>
              <a:t>safety analysis.</a:t>
            </a:r>
          </a:p>
        </p:txBody>
      </p:sp>
      <p:sp>
        <p:nvSpPr>
          <p:cNvPr id="6" name="TextBox 5"/>
          <p:cNvSpPr txBox="1"/>
          <p:nvPr/>
        </p:nvSpPr>
        <p:spPr>
          <a:xfrm>
            <a:off x="777240" y="2148840"/>
            <a:ext cx="10424160" cy="640080"/>
          </a:xfrm>
          <a:prstGeom prst="rect">
            <a:avLst/>
          </a:prstGeom>
          <a:noFill/>
        </p:spPr>
        <p:txBody>
          <a:bodyPr wrap="square" anchor="t" lIns="0" rIns="0" tIns="0" bIns="0">
            <a:spAutoFit/>
          </a:bodyPr>
          <a:lstStyle/>
          <a:p>
            <a:pPr algn="l">
              <a:lnSpc>
                <a:spcPct val="130000"/>
              </a:lnSpc>
            </a:pPr>
            <a:r>
              <a:rPr sz="1600" b="0" i="0">
                <a:solidFill>
                  <a:srgbClr val="9DA9B5"/>
                </a:solidFill>
                <a:latin typeface="Arial"/>
              </a:rPr>
              <a:t>A randomized trial, </a:t>
            </a:r>
            <a:r>
              <a:rPr sz="1600" b="1" i="0">
                <a:solidFill>
                  <a:srgbClr val="ECEFF3"/>
                </a:solidFill>
                <a:latin typeface="Arial"/>
              </a:rPr>
              <a:t>~80,000 women</a:t>
            </a:r>
            <a:r>
              <a:rPr sz="1600" b="0" i="0">
                <a:solidFill>
                  <a:srgbClr val="9DA9B5"/>
                </a:solidFill>
                <a:latin typeface="Arial"/>
              </a:rPr>
              <a:t> (≈40,000 per arm) — AI-supported reading vs standard double reading.</a:t>
            </a:r>
          </a:p>
        </p:txBody>
      </p:sp>
      <p:sp>
        <p:nvSpPr>
          <p:cNvPr id="7" name="TextBox 6"/>
          <p:cNvSpPr txBox="1"/>
          <p:nvPr/>
        </p:nvSpPr>
        <p:spPr>
          <a:xfrm>
            <a:off x="777240" y="2971800"/>
            <a:ext cx="10424160" cy="1005840"/>
          </a:xfrm>
          <a:prstGeom prst="rect">
            <a:avLst/>
          </a:prstGeom>
          <a:noFill/>
        </p:spPr>
        <p:txBody>
          <a:bodyPr wrap="square" anchor="t" lIns="0" rIns="0" tIns="0" bIns="0">
            <a:spAutoFit/>
          </a:bodyPr>
          <a:lstStyle/>
          <a:p>
            <a:pPr algn="l">
              <a:lnSpc>
                <a:spcPct val="100000"/>
              </a:lnSpc>
            </a:pPr>
            <a:r>
              <a:rPr sz="5400" b="1" i="0">
                <a:solidFill>
                  <a:srgbClr val="E7AC51"/>
                </a:solidFill>
                <a:latin typeface="Arial"/>
              </a:rPr>
              <a:t>6.1 </a:t>
            </a:r>
            <a:r>
              <a:rPr sz="3000" b="0" i="0">
                <a:solidFill>
                  <a:srgbClr val="5C6975"/>
                </a:solidFill>
                <a:latin typeface="Arial"/>
              </a:rPr>
              <a:t>vs </a:t>
            </a:r>
            <a:r>
              <a:rPr sz="5400" b="1" i="0">
                <a:solidFill>
                  <a:srgbClr val="E7AC51"/>
                </a:solidFill>
                <a:latin typeface="Arial"/>
              </a:rPr>
              <a:t>5.1</a:t>
            </a:r>
            <a:r>
              <a:rPr sz="1300" b="0" i="0">
                <a:solidFill>
                  <a:srgbClr val="ECEFF3"/>
                </a:solidFill>
                <a:latin typeface="Consolas"/>
              </a:rPr>
              <a:t>   CDR per 1,000 · ratio 1.2 (95% CI 1.0–1.5)</a:t>
            </a:r>
          </a:p>
        </p:txBody>
      </p:sp>
      <p:graphicFrame>
        <p:nvGraphicFramePr>
          <p:cNvPr id="8" name="Table 7"/>
          <p:cNvGraphicFramePr>
            <a:graphicFrameLocks noGrp="1"/>
          </p:cNvGraphicFramePr>
          <p:nvPr/>
        </p:nvGraphicFramePr>
        <p:xfrm>
          <a:off x="777240" y="4297680"/>
          <a:ext cx="6949438" cy="1645919"/>
        </p:xfrm>
        <a:graphic>
          <a:graphicData uri="http://schemas.openxmlformats.org/drawingml/2006/table">
            <a:tbl>
              <a:tblPr firstRow="1" bandRow="1">
                <a:tableStyleId>{5C22544A-7EE6-4342-B048-85BDC9FD1C3A}</a:tableStyleId>
              </a:tblPr>
              <a:tblGrid>
                <a:gridCol w="3291840"/>
                <a:gridCol w="1828799"/>
                <a:gridCol w="1828799"/>
              </a:tblGrid>
              <a:tr h="329183">
                <a:tc>
                  <a:txBody>
                    <a:bodyPr/>
                    <a:lstStyle/>
                    <a:p>
                      <a:pPr algn="l"/>
                      <a:r>
                        <a:rPr sz="1250" b="1">
                          <a:solidFill>
                            <a:srgbClr val="E7AC51"/>
                          </a:solidFill>
                          <a:latin typeface="Arial"/>
                        </a:rPr>
                        <a:t>Measure</a:t>
                      </a:r>
                    </a:p>
                  </a:txBody>
                  <a:tcPr anchor="ctr" marL="73152" marR="73152" marT="25400" marB="25400">
                    <a:solidFill>
                      <a:srgbClr val="0F141A"/>
                    </a:solidFill>
                  </a:tcPr>
                </a:tc>
                <a:tc>
                  <a:txBody>
                    <a:bodyPr/>
                    <a:lstStyle/>
                    <a:p>
                      <a:pPr algn="ctr"/>
                      <a:r>
                        <a:rPr sz="1250" b="1">
                          <a:solidFill>
                            <a:srgbClr val="E7AC51"/>
                          </a:solidFill>
                          <a:latin typeface="Arial"/>
                        </a:rPr>
                        <a:t>AI</a:t>
                      </a:r>
                    </a:p>
                  </a:txBody>
                  <a:tcPr anchor="ctr" marL="73152" marR="73152" marT="25400" marB="25400">
                    <a:solidFill>
                      <a:srgbClr val="0F141A"/>
                    </a:solidFill>
                  </a:tcPr>
                </a:tc>
                <a:tc>
                  <a:txBody>
                    <a:bodyPr/>
                    <a:lstStyle/>
                    <a:p>
                      <a:pPr algn="ctr"/>
                      <a:r>
                        <a:rPr sz="1250" b="1">
                          <a:solidFill>
                            <a:srgbClr val="E7AC51"/>
                          </a:solidFill>
                          <a:latin typeface="Arial"/>
                        </a:rPr>
                        <a:t>Control</a:t>
                      </a:r>
                    </a:p>
                  </a:txBody>
                  <a:tcPr anchor="ctr" marL="73152" marR="73152" marT="25400" marB="25400">
                    <a:solidFill>
                      <a:srgbClr val="0F141A"/>
                    </a:solidFill>
                  </a:tcPr>
                </a:tc>
              </a:tr>
              <a:tr h="329183">
                <a:tc>
                  <a:txBody>
                    <a:bodyPr/>
                    <a:lstStyle/>
                    <a:p>
                      <a:pPr algn="l"/>
                      <a:r>
                        <a:rPr sz="1250" b="0">
                          <a:solidFill>
                            <a:srgbClr val="ECEFF3"/>
                          </a:solidFill>
                          <a:latin typeface="Arial"/>
                        </a:rPr>
                        <a:t>Recall rate</a:t>
                      </a:r>
                    </a:p>
                  </a:txBody>
                  <a:tcPr anchor="ctr" marL="73152" marR="73152" marT="25400" marB="25400">
                    <a:solidFill>
                      <a:srgbClr val="0F141A"/>
                    </a:solidFill>
                  </a:tcPr>
                </a:tc>
                <a:tc>
                  <a:txBody>
                    <a:bodyPr/>
                    <a:lstStyle/>
                    <a:p>
                      <a:pPr algn="ctr"/>
                      <a:r>
                        <a:rPr sz="1250" b="0">
                          <a:solidFill>
                            <a:srgbClr val="9DA9B5"/>
                          </a:solidFill>
                          <a:latin typeface="Arial"/>
                        </a:rPr>
                        <a:t>2.2%</a:t>
                      </a:r>
                    </a:p>
                  </a:txBody>
                  <a:tcPr anchor="ctr" marL="73152" marR="73152" marT="25400" marB="25400">
                    <a:solidFill>
                      <a:srgbClr val="0F141A"/>
                    </a:solidFill>
                  </a:tcPr>
                </a:tc>
                <a:tc>
                  <a:txBody>
                    <a:bodyPr/>
                    <a:lstStyle/>
                    <a:p>
                      <a:pPr algn="ctr"/>
                      <a:r>
                        <a:rPr sz="1250" b="0">
                          <a:solidFill>
                            <a:srgbClr val="9DA9B5"/>
                          </a:solidFill>
                          <a:latin typeface="Arial"/>
                        </a:rPr>
                        <a:t>2.0%</a:t>
                      </a:r>
                    </a:p>
                  </a:txBody>
                  <a:tcPr anchor="ctr" marL="73152" marR="73152" marT="25400" marB="25400">
                    <a:solidFill>
                      <a:srgbClr val="0F141A"/>
                    </a:solidFill>
                  </a:tcPr>
                </a:tc>
              </a:tr>
              <a:tr h="329183">
                <a:tc>
                  <a:txBody>
                    <a:bodyPr/>
                    <a:lstStyle/>
                    <a:p>
                      <a:pPr algn="l"/>
                      <a:r>
                        <a:rPr sz="1250" b="0">
                          <a:solidFill>
                            <a:srgbClr val="ECEFF3"/>
                          </a:solidFill>
                          <a:latin typeface="Arial"/>
                        </a:rPr>
                        <a:t>False-positive rate</a:t>
                      </a:r>
                    </a:p>
                  </a:txBody>
                  <a:tcPr anchor="ctr" marL="73152" marR="73152" marT="25400" marB="25400">
                    <a:solidFill>
                      <a:srgbClr val="0F141A"/>
                    </a:solidFill>
                  </a:tcPr>
                </a:tc>
                <a:tc>
                  <a:txBody>
                    <a:bodyPr/>
                    <a:lstStyle/>
                    <a:p>
                      <a:pPr algn="ctr"/>
                      <a:r>
                        <a:rPr sz="1250" b="0">
                          <a:solidFill>
                            <a:srgbClr val="9DA9B5"/>
                          </a:solidFill>
                          <a:latin typeface="Arial"/>
                        </a:rPr>
                        <a:t>1.5%</a:t>
                      </a:r>
                    </a:p>
                  </a:txBody>
                  <a:tcPr anchor="ctr" marL="73152" marR="73152" marT="25400" marB="25400">
                    <a:solidFill>
                      <a:srgbClr val="0F141A"/>
                    </a:solidFill>
                  </a:tcPr>
                </a:tc>
                <a:tc>
                  <a:txBody>
                    <a:bodyPr/>
                    <a:lstStyle/>
                    <a:p>
                      <a:pPr algn="ctr"/>
                      <a:r>
                        <a:rPr sz="1250" b="0">
                          <a:solidFill>
                            <a:srgbClr val="9DA9B5"/>
                          </a:solidFill>
                          <a:latin typeface="Arial"/>
                        </a:rPr>
                        <a:t>1.5%</a:t>
                      </a:r>
                    </a:p>
                  </a:txBody>
                  <a:tcPr anchor="ctr" marL="73152" marR="73152" marT="25400" marB="25400">
                    <a:solidFill>
                      <a:srgbClr val="0F141A"/>
                    </a:solidFill>
                  </a:tcPr>
                </a:tc>
              </a:tr>
              <a:tr h="329183">
                <a:tc>
                  <a:txBody>
                    <a:bodyPr/>
                    <a:lstStyle/>
                    <a:p>
                      <a:pPr algn="l"/>
                      <a:r>
                        <a:rPr sz="1250" b="0">
                          <a:solidFill>
                            <a:srgbClr val="ECEFF3"/>
                          </a:solidFill>
                          <a:latin typeface="Arial"/>
                        </a:rPr>
                        <a:t>PPV of recall</a:t>
                      </a:r>
                    </a:p>
                  </a:txBody>
                  <a:tcPr anchor="ctr" marL="73152" marR="73152" marT="25400" marB="25400">
                    <a:solidFill>
                      <a:srgbClr val="0F141A"/>
                    </a:solidFill>
                  </a:tcPr>
                </a:tc>
                <a:tc>
                  <a:txBody>
                    <a:bodyPr/>
                    <a:lstStyle/>
                    <a:p>
                      <a:pPr algn="ctr"/>
                      <a:r>
                        <a:rPr sz="1250" b="0">
                          <a:solidFill>
                            <a:srgbClr val="9DA9B5"/>
                          </a:solidFill>
                          <a:latin typeface="Arial"/>
                        </a:rPr>
                        <a:t>28.3%</a:t>
                      </a:r>
                    </a:p>
                  </a:txBody>
                  <a:tcPr anchor="ctr" marL="73152" marR="73152" marT="25400" marB="25400">
                    <a:solidFill>
                      <a:srgbClr val="0F141A"/>
                    </a:solidFill>
                  </a:tcPr>
                </a:tc>
                <a:tc>
                  <a:txBody>
                    <a:bodyPr/>
                    <a:lstStyle/>
                    <a:p>
                      <a:pPr algn="ctr"/>
                      <a:r>
                        <a:rPr sz="1250" b="0">
                          <a:solidFill>
                            <a:srgbClr val="9DA9B5"/>
                          </a:solidFill>
                          <a:latin typeface="Arial"/>
                        </a:rPr>
                        <a:t>24.8%</a:t>
                      </a:r>
                    </a:p>
                  </a:txBody>
                  <a:tcPr anchor="ctr" marL="73152" marR="73152" marT="25400" marB="25400">
                    <a:solidFill>
                      <a:srgbClr val="0F141A"/>
                    </a:solidFill>
                  </a:tcPr>
                </a:tc>
              </a:tr>
              <a:tr h="329187">
                <a:tc>
                  <a:txBody>
                    <a:bodyPr/>
                    <a:lstStyle/>
                    <a:p>
                      <a:pPr algn="l"/>
                      <a:r>
                        <a:rPr sz="1250" b="0">
                          <a:solidFill>
                            <a:srgbClr val="ECEFF3"/>
                          </a:solidFill>
                          <a:latin typeface="Arial"/>
                        </a:rPr>
                        <a:t>Invasive cancers</a:t>
                      </a:r>
                    </a:p>
                  </a:txBody>
                  <a:tcPr anchor="ctr" marL="73152" marR="73152" marT="25400" marB="25400">
                    <a:solidFill>
                      <a:srgbClr val="0F141A"/>
                    </a:solidFill>
                  </a:tcPr>
                </a:tc>
                <a:tc>
                  <a:txBody>
                    <a:bodyPr/>
                    <a:lstStyle/>
                    <a:p>
                      <a:pPr algn="ctr"/>
                      <a:r>
                        <a:rPr sz="1250" b="0">
                          <a:solidFill>
                            <a:srgbClr val="9DA9B5"/>
                          </a:solidFill>
                          <a:latin typeface="Arial"/>
                        </a:rPr>
                        <a:t>75%</a:t>
                      </a:r>
                    </a:p>
                  </a:txBody>
                  <a:tcPr anchor="ctr" marL="73152" marR="73152" marT="25400" marB="25400">
                    <a:solidFill>
                      <a:srgbClr val="0F141A"/>
                    </a:solidFill>
                  </a:tcPr>
                </a:tc>
                <a:tc>
                  <a:txBody>
                    <a:bodyPr/>
                    <a:lstStyle/>
                    <a:p>
                      <a:pPr algn="ctr"/>
                      <a:r>
                        <a:rPr sz="1250" b="0">
                          <a:solidFill>
                            <a:srgbClr val="9DA9B5"/>
                          </a:solidFill>
                          <a:latin typeface="Arial"/>
                        </a:rPr>
                        <a:t>81%</a:t>
                      </a:r>
                    </a:p>
                  </a:txBody>
                  <a:tcPr anchor="ctr" marL="73152" marR="73152" marT="25400" marB="25400">
                    <a:solidFill>
                      <a:srgbClr val="0F141A"/>
                    </a:solidFill>
                  </a:tcPr>
                </a:tc>
              </a:tr>
            </a:tbl>
          </a:graphicData>
        </a:graphic>
      </p:graphicFrame>
      <p:sp>
        <p:nvSpPr>
          <p:cNvPr id="9" name="TextBox 8"/>
          <p:cNvSpPr txBox="1"/>
          <p:nvPr/>
        </p:nvSpPr>
        <p:spPr>
          <a:xfrm>
            <a:off x="777240" y="6355080"/>
            <a:ext cx="10515600" cy="365760"/>
          </a:xfrm>
          <a:prstGeom prst="rect">
            <a:avLst/>
          </a:prstGeom>
          <a:noFill/>
        </p:spPr>
        <p:txBody>
          <a:bodyPr wrap="square" anchor="t" lIns="0" rIns="0" tIns="0" bIns="0">
            <a:spAutoFit/>
          </a:bodyPr>
          <a:lstStyle/>
          <a:p>
            <a:pPr algn="l">
              <a:lnSpc>
                <a:spcPct val="100000"/>
              </a:lnSpc>
            </a:pPr>
            <a:r>
              <a:rPr sz="1000" b="0" i="0">
                <a:solidFill>
                  <a:srgbClr val="5C6975"/>
                </a:solidFill>
                <a:latin typeface="Consolas"/>
              </a:rPr>
              <a:t>Lång et al., Lancet Oncology 2023 — above the lowest acceptable detection limit for safety.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pic>
        <p:nvPicPr>
          <p:cNvPr id="2" name="Picture 1" descr="bg_motif.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5486400"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502920"/>
            <a:ext cx="8229600" cy="320040"/>
          </a:xfrm>
          <a:prstGeom prst="rect">
            <a:avLst/>
          </a:prstGeom>
          <a:noFill/>
        </p:spPr>
        <p:txBody>
          <a:bodyPr wrap="square" anchor="t" lIns="0" rIns="0" tIns="0" bIns="0">
            <a:spAutoFit/>
          </a:bodyPr>
          <a:lstStyle/>
          <a:p>
            <a:pPr algn="l">
              <a:lnSpc>
                <a:spcPct val="100000"/>
              </a:lnSpc>
            </a:pPr>
            <a:r>
              <a:rPr sz="1100" b="1" i="0">
                <a:solidFill>
                  <a:srgbClr val="E7AC51"/>
                </a:solidFill>
                <a:latin typeface="Consolas"/>
              </a:rPr>
              <a:t>ERA II</a:t>
            </a:r>
          </a:p>
        </p:txBody>
      </p:sp>
      <p:sp>
        <p:nvSpPr>
          <p:cNvPr id="5" name="TextBox 4"/>
          <p:cNvSpPr txBox="1"/>
          <p:nvPr/>
        </p:nvSpPr>
        <p:spPr>
          <a:xfrm>
            <a:off x="777240" y="1143000"/>
            <a:ext cx="10607040" cy="914400"/>
          </a:xfrm>
          <a:prstGeom prst="rect">
            <a:avLst/>
          </a:prstGeom>
          <a:noFill/>
        </p:spPr>
        <p:txBody>
          <a:bodyPr wrap="square" anchor="t" lIns="0" rIns="0" tIns="0" bIns="0">
            <a:spAutoFit/>
          </a:bodyPr>
          <a:lstStyle/>
          <a:p>
            <a:pPr algn="l">
              <a:lnSpc>
                <a:spcPct val="110000"/>
              </a:lnSpc>
            </a:pPr>
            <a:r>
              <a:rPr sz="3000" b="1" i="0">
                <a:solidFill>
                  <a:srgbClr val="ECEFF3"/>
                </a:solidFill>
                <a:latin typeface="Arial"/>
              </a:rPr>
              <a:t>Data isn't enough to </a:t>
            </a:r>
            <a:r>
              <a:rPr sz="3000" b="1" i="0">
                <a:solidFill>
                  <a:srgbClr val="E7AC51"/>
                </a:solidFill>
                <a:latin typeface="Arial"/>
              </a:rPr>
              <a:t>drive adoption.</a:t>
            </a:r>
          </a:p>
        </p:txBody>
      </p:sp>
      <p:sp>
        <p:nvSpPr>
          <p:cNvPr id="6" name="TextBox 5"/>
          <p:cNvSpPr txBox="1"/>
          <p:nvPr/>
        </p:nvSpPr>
        <p:spPr>
          <a:xfrm>
            <a:off x="777240" y="2286000"/>
            <a:ext cx="10424160" cy="640080"/>
          </a:xfrm>
          <a:prstGeom prst="rect">
            <a:avLst/>
          </a:prstGeom>
          <a:noFill/>
        </p:spPr>
        <p:txBody>
          <a:bodyPr wrap="square" anchor="t" lIns="0" rIns="0" tIns="0" bIns="0">
            <a:spAutoFit/>
          </a:bodyPr>
          <a:lstStyle/>
          <a:p>
            <a:pPr algn="l">
              <a:lnSpc>
                <a:spcPct val="130000"/>
              </a:lnSpc>
            </a:pPr>
            <a:r>
              <a:rPr sz="1500" b="0" i="0">
                <a:solidFill>
                  <a:srgbClr val="9DA9B5"/>
                </a:solidFill>
                <a:latin typeface="Arial"/>
              </a:rPr>
              <a:t>Enriched cases, lab conditions, no real workflow — CAD had good numbers too. The bar is prospective deployment, and real-world uptake has been slow.</a:t>
            </a:r>
          </a:p>
        </p:txBody>
      </p:sp>
      <p:sp>
        <p:nvSpPr>
          <p:cNvPr id="7" name="TextBox 6"/>
          <p:cNvSpPr txBox="1"/>
          <p:nvPr/>
        </p:nvSpPr>
        <p:spPr>
          <a:xfrm>
            <a:off x="777240" y="3383280"/>
            <a:ext cx="3291840" cy="914400"/>
          </a:xfrm>
          <a:prstGeom prst="rect">
            <a:avLst/>
          </a:prstGeom>
          <a:noFill/>
        </p:spPr>
        <p:txBody>
          <a:bodyPr wrap="square" anchor="t" lIns="0" rIns="0" tIns="0" bIns="0">
            <a:spAutoFit/>
          </a:bodyPr>
          <a:lstStyle/>
          <a:p>
            <a:pPr algn="l">
              <a:lnSpc>
                <a:spcPct val="100000"/>
              </a:lnSpc>
            </a:pPr>
            <a:r>
              <a:rPr sz="4600" b="1" i="0">
                <a:solidFill>
                  <a:srgbClr val="E7AC51"/>
                </a:solidFill>
                <a:latin typeface="Arial"/>
              </a:rPr>
              <a:t>48%</a:t>
            </a:r>
          </a:p>
        </p:txBody>
      </p:sp>
      <p:sp>
        <p:nvSpPr>
          <p:cNvPr id="8" name="TextBox 7"/>
          <p:cNvSpPr txBox="1"/>
          <p:nvPr/>
        </p:nvSpPr>
        <p:spPr>
          <a:xfrm>
            <a:off x="777240" y="4434840"/>
            <a:ext cx="3291840" cy="1280160"/>
          </a:xfrm>
          <a:prstGeom prst="rect">
            <a:avLst/>
          </a:prstGeom>
          <a:noFill/>
        </p:spPr>
        <p:txBody>
          <a:bodyPr wrap="square" anchor="t" lIns="0" rIns="0" tIns="0" bIns="0">
            <a:spAutoFit/>
          </a:bodyPr>
          <a:lstStyle/>
          <a:p>
            <a:pPr algn="l">
              <a:lnSpc>
                <a:spcPct val="130000"/>
              </a:lnSpc>
            </a:pPr>
            <a:r>
              <a:rPr sz="1150" b="0" i="0">
                <a:solidFill>
                  <a:srgbClr val="ECEFF3"/>
                </a:solidFill>
                <a:latin typeface="Consolas"/>
              </a:rPr>
              <a:t>European radiologists use AI (2024) — up from 20% in 2018</a:t>
            </a:r>
          </a:p>
        </p:txBody>
      </p:sp>
      <p:sp>
        <p:nvSpPr>
          <p:cNvPr id="9" name="TextBox 8"/>
          <p:cNvSpPr txBox="1"/>
          <p:nvPr/>
        </p:nvSpPr>
        <p:spPr>
          <a:xfrm>
            <a:off x="4434840" y="3383280"/>
            <a:ext cx="3291840" cy="914400"/>
          </a:xfrm>
          <a:prstGeom prst="rect">
            <a:avLst/>
          </a:prstGeom>
          <a:noFill/>
        </p:spPr>
        <p:txBody>
          <a:bodyPr wrap="square" anchor="t" lIns="0" rIns="0" tIns="0" bIns="0">
            <a:spAutoFit/>
          </a:bodyPr>
          <a:lstStyle/>
          <a:p>
            <a:pPr algn="l">
              <a:lnSpc>
                <a:spcPct val="100000"/>
              </a:lnSpc>
            </a:pPr>
            <a:r>
              <a:rPr sz="4600" b="1" i="0">
                <a:solidFill>
                  <a:srgbClr val="E7AC51"/>
                </a:solidFill>
                <a:latin typeface="Arial"/>
              </a:rPr>
              <a:t>13.7%</a:t>
            </a:r>
          </a:p>
        </p:txBody>
      </p:sp>
      <p:sp>
        <p:nvSpPr>
          <p:cNvPr id="10" name="TextBox 9"/>
          <p:cNvSpPr txBox="1"/>
          <p:nvPr/>
        </p:nvSpPr>
        <p:spPr>
          <a:xfrm>
            <a:off x="4434840" y="4434840"/>
            <a:ext cx="3291840" cy="1280160"/>
          </a:xfrm>
          <a:prstGeom prst="rect">
            <a:avLst/>
          </a:prstGeom>
          <a:noFill/>
        </p:spPr>
        <p:txBody>
          <a:bodyPr wrap="square" anchor="t" lIns="0" rIns="0" tIns="0" bIns="0">
            <a:spAutoFit/>
          </a:bodyPr>
          <a:lstStyle/>
          <a:p>
            <a:pPr algn="l">
              <a:lnSpc>
                <a:spcPct val="130000"/>
              </a:lnSpc>
            </a:pPr>
            <a:r>
              <a:rPr sz="1150" b="0" i="0">
                <a:solidFill>
                  <a:srgbClr val="ECEFF3"/>
                </a:solidFill>
                <a:latin typeface="Consolas"/>
              </a:rPr>
              <a:t>of them, for breast imaging — about 1 in 8</a:t>
            </a:r>
          </a:p>
        </p:txBody>
      </p:sp>
      <p:sp>
        <p:nvSpPr>
          <p:cNvPr id="11" name="TextBox 10"/>
          <p:cNvSpPr txBox="1"/>
          <p:nvPr/>
        </p:nvSpPr>
        <p:spPr>
          <a:xfrm>
            <a:off x="8092440" y="3383280"/>
            <a:ext cx="3291840" cy="914400"/>
          </a:xfrm>
          <a:prstGeom prst="rect">
            <a:avLst/>
          </a:prstGeom>
          <a:noFill/>
        </p:spPr>
        <p:txBody>
          <a:bodyPr wrap="square" anchor="t" lIns="0" rIns="0" tIns="0" bIns="0">
            <a:spAutoFit/>
          </a:bodyPr>
          <a:lstStyle/>
          <a:p>
            <a:pPr algn="l">
              <a:lnSpc>
                <a:spcPct val="100000"/>
              </a:lnSpc>
            </a:pPr>
            <a:r>
              <a:rPr sz="4600" b="1" i="0">
                <a:solidFill>
                  <a:srgbClr val="E7AC51"/>
                </a:solidFill>
                <a:latin typeface="Arial"/>
              </a:rPr>
              <a:t>~2%</a:t>
            </a:r>
          </a:p>
        </p:txBody>
      </p:sp>
      <p:sp>
        <p:nvSpPr>
          <p:cNvPr id="12" name="TextBox 11"/>
          <p:cNvSpPr txBox="1"/>
          <p:nvPr/>
        </p:nvSpPr>
        <p:spPr>
          <a:xfrm>
            <a:off x="8092440" y="4434840"/>
            <a:ext cx="3291840" cy="1280160"/>
          </a:xfrm>
          <a:prstGeom prst="rect">
            <a:avLst/>
          </a:prstGeom>
          <a:noFill/>
        </p:spPr>
        <p:txBody>
          <a:bodyPr wrap="square" anchor="t" lIns="0" rIns="0" tIns="0" bIns="0">
            <a:spAutoFit/>
          </a:bodyPr>
          <a:lstStyle/>
          <a:p>
            <a:pPr algn="l">
              <a:lnSpc>
                <a:spcPct val="130000"/>
              </a:lnSpc>
            </a:pPr>
            <a:r>
              <a:rPr sz="1150" b="0" i="0">
                <a:solidFill>
                  <a:srgbClr val="ECEFF3"/>
                </a:solidFill>
                <a:latin typeface="Consolas"/>
              </a:rPr>
              <a:t>of US practices, by one estimate</a:t>
            </a:r>
          </a:p>
        </p:txBody>
      </p:sp>
      <p:sp>
        <p:nvSpPr>
          <p:cNvPr id="13" name="TextBox 12"/>
          <p:cNvSpPr txBox="1"/>
          <p:nvPr/>
        </p:nvSpPr>
        <p:spPr>
          <a:xfrm>
            <a:off x="777240" y="6035040"/>
            <a:ext cx="10515600" cy="365760"/>
          </a:xfrm>
          <a:prstGeom prst="rect">
            <a:avLst/>
          </a:prstGeom>
          <a:noFill/>
        </p:spPr>
        <p:txBody>
          <a:bodyPr wrap="square" anchor="t" lIns="0" rIns="0" tIns="0" bIns="0">
            <a:spAutoFit/>
          </a:bodyPr>
          <a:lstStyle/>
          <a:p>
            <a:pPr algn="l">
              <a:lnSpc>
                <a:spcPct val="100000"/>
              </a:lnSpc>
            </a:pPr>
            <a:r>
              <a:rPr sz="1000" b="0" i="0">
                <a:solidFill>
                  <a:srgbClr val="5C6975"/>
                </a:solidFill>
                <a:latin typeface="Consolas"/>
              </a:rPr>
              <a:t>ESR EuroAIM/EuSoMII survey, Insights Imaging 2024 (n=572) · US estimate: industry report.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