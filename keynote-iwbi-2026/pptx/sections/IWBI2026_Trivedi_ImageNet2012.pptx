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mo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38100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39955" y="440864"/>
            <a:ext cx="238627" cy="18288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9955" y="379644"/>
            <a:ext cx="3076114" cy="1758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74" b="1" i="0">
                <a:solidFill>
                  <a:srgbClr val="E7AC51"/>
                </a:solidFill>
                <a:latin typeface="Consolas"/>
              </a:rPr>
              <a:t>THE INFLECTION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9955" y="2428536"/>
            <a:ext cx="5808240" cy="94262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</a:pPr>
            <a:r>
              <a:rPr sz="3211" b="1" i="0">
                <a:solidFill>
                  <a:srgbClr val="ECEFF3"/>
                </a:solidFill>
                <a:latin typeface="Arial"/>
              </a:rPr>
              <a:t>2012: deep learning </a:t>
            </a:r>
            <a:r>
              <a:rPr sz="3211" b="1" i="0">
                <a:solidFill>
                  <a:srgbClr val="E7AC51"/>
                </a:solidFill>
                <a:latin typeface="Arial"/>
              </a:rPr>
              <a:t>wins ImageNet.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9955" y="3650316"/>
            <a:ext cx="119313" cy="21693"/>
          </a:xfrm>
          <a:prstGeom prst="rect">
            <a:avLst/>
          </a:prstGeom>
          <a:solidFill>
            <a:srgbClr val="E7AC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276" y="3520690"/>
            <a:ext cx="5547919" cy="6073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42000"/>
              </a:lnSpc>
            </a:pPr>
            <a:r>
              <a:rPr sz="1557" b="1" i="0">
                <a:solidFill>
                  <a:srgbClr val="ECEFF3"/>
                </a:solidFill>
                <a:latin typeface="Arial"/>
              </a:rPr>
              <a:t>AlexNet</a:t>
            </a:r>
            <a:r>
              <a:rPr sz="1557" b="0" i="0">
                <a:solidFill>
                  <a:srgbClr val="9DA9B5"/>
                </a:solidFill>
                <a:latin typeface="Arial"/>
              </a:rPr>
              <a:t> (Krizhevsky · Sutskever · Hinton) cut ImageNet top-5 error to </a:t>
            </a:r>
            <a:r>
              <a:rPr sz="1557" b="1" i="0">
                <a:solidFill>
                  <a:srgbClr val="E7AC51"/>
                </a:solidFill>
                <a:latin typeface="Arial"/>
              </a:rPr>
              <a:t>15.3%</a:t>
            </a:r>
            <a:r>
              <a:rPr sz="1557" b="0" i="0">
                <a:solidFill>
                  <a:srgbClr val="9DA9B5"/>
                </a:solidFill>
                <a:latin typeface="Arial"/>
              </a:rPr>
              <a:t> — far ahead of the ~26% runner-up.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955" y="4299300"/>
            <a:ext cx="6722640" cy="17588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01" b="0" i="0">
                <a:solidFill>
                  <a:srgbClr val="5C6975"/>
                </a:solidFill>
                <a:latin typeface="Consolas"/>
              </a:rPr>
              <a:t>Krizhevsky, Sutskever &amp; Hinton, NeurIPS 2012 · ILSVRC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68837" y="1710432"/>
            <a:ext cx="4582901" cy="3437135"/>
          </a:xfrm>
          <a:prstGeom prst="roundRect">
            <a:avLst/>
          </a:prstGeom>
          <a:noFill/>
          <a:ln w="9525">
            <a:solidFill>
              <a:srgbClr val="C98A2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5193" y="3260871"/>
            <a:ext cx="3044421" cy="19757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983" b="0" i="0">
                <a:solidFill>
                  <a:srgbClr val="E7AC51"/>
                </a:solidFill>
                <a:latin typeface="Consolas"/>
              </a:rPr>
              <a:t>IMAGENET / ALEXNET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41" y="3477811"/>
            <a:ext cx="3890294" cy="1650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847" b="0" i="0">
                <a:solidFill>
                  <a:srgbClr val="5C6975"/>
                </a:solidFill>
                <a:latin typeface="Consolas"/>
              </a:rPr>
              <a:t>[ drop in — error-rate chart or architecture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