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I have shown you works. But working in a paper is not the bar for getting into the clinic. Look at what we ask a single model to do, all at once: hold up across every scanner and vendor in the field; perform in women of all ages, all densities, all risk types; and serve both the expert breast radiologist and the generalist who reads mammography one day a week. Asking one model to do all of this at once is the wrong goal. We should seriously reframe how we consider mammography-model deployment.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how should we think about deployment instead? Three reframes. First, operating points: there is no single right threshold. Sensitivity versus false positives is a value judgment, not a setting — so a model should be permitted to run at a range of operating points, tailored to the site and to the individual radiologist, rather than one point imposed on everyone. Second, multimodal, and it needs to happen as soon as possible. I will say it plainly: a model that operates only on imaging data — or imaging plus basic clinical data — will end in user frustration. The model the radiologist will actually trust pulls in image, clinical context, risk, and history together. Third, the integration tax: even a perfect model dies if it cannot get into PACS. Custom one-off integrations do not scale, and overloaded IT means onboarding only happens through a platform or vendor you already run. Put those together and the winning system is not the most accurate in a paper — it is the one tuned to the reader, that knows what they know, and that fires inside the workflow.</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8686800" cy="365760"/>
          </a:xfrm>
          <a:prstGeom prst="rect">
            <a:avLst/>
          </a:prstGeom>
          <a:noFill/>
        </p:spPr>
        <p:txBody>
          <a:bodyPr wrap="square" lIns="25400" rIns="25400" tIns="12700" bIns="12700">
            <a:noAutofit/>
          </a:bodyPr>
          <a:lstStyle/>
          <a:p>
            <a:pPr algn="l">
              <a:lnSpc>
                <a:spcPct val="128000"/>
              </a:lnSpc>
              <a:spcAft>
                <a:spcPts val="400"/>
              </a:spcAft>
            </a:pPr>
            <a:r>
              <a:rPr sz="1100" b="1">
                <a:solidFill>
                  <a:srgbClr val="E7AC51"/>
                </a:solidFill>
                <a:latin typeface="Consolas"/>
              </a:rPr>
              <a:t>ADOPTION</a:t>
            </a:r>
          </a:p>
        </p:txBody>
      </p:sp>
      <p:sp>
        <p:nvSpPr>
          <p:cNvPr id="4" name="TextBox 3"/>
          <p:cNvSpPr txBox="1"/>
          <p:nvPr/>
        </p:nvSpPr>
        <p:spPr>
          <a:xfrm>
            <a:off x="777240" y="2569971"/>
            <a:ext cx="10607040" cy="534416"/>
          </a:xfrm>
          <a:prstGeom prst="rect">
            <a:avLst/>
          </a:prstGeom>
          <a:noFill/>
        </p:spPr>
        <p:txBody>
          <a:bodyPr wrap="square" lIns="25400" rIns="25400" tIns="12700" bIns="12700">
            <a:noAutofit/>
          </a:bodyPr>
          <a:lstStyle/>
          <a:p>
            <a:pPr algn="l">
              <a:lnSpc>
                <a:spcPct val="106000"/>
              </a:lnSpc>
              <a:spcAft>
                <a:spcPts val="400"/>
              </a:spcAft>
            </a:pPr>
            <a:r>
              <a:rPr sz="2600" b="0">
                <a:solidFill>
                  <a:srgbClr val="ECEFF3"/>
                </a:solidFill>
                <a:latin typeface="Arial"/>
              </a:rPr>
              <a:t>One model for everything is </a:t>
            </a:r>
            <a:r>
              <a:rPr sz="2600" b="0">
                <a:solidFill>
                  <a:srgbClr val="E7AC51"/>
                </a:solidFill>
                <a:latin typeface="Arial"/>
              </a:rPr>
              <a:t>the wrong goal.</a:t>
            </a:r>
          </a:p>
        </p:txBody>
      </p:sp>
      <p:sp>
        <p:nvSpPr>
          <p:cNvPr id="5" name="TextBox 4"/>
          <p:cNvSpPr txBox="1"/>
          <p:nvPr/>
        </p:nvSpPr>
        <p:spPr>
          <a:xfrm>
            <a:off x="777240" y="3104387"/>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We chased better detection for three decades. But look at what we ask a </a:t>
            </a:r>
            <a:r>
              <a:rPr sz="1400" b="1">
                <a:solidFill>
                  <a:srgbClr val="ECEFF3"/>
                </a:solidFill>
                <a:latin typeface="Arial"/>
              </a:rPr>
              <a:t>single</a:t>
            </a:r>
            <a:r>
              <a:rPr sz="1400" b="0">
                <a:solidFill>
                  <a:srgbClr val="9DA9B5"/>
                </a:solidFill>
                <a:latin typeface="Arial"/>
              </a:rPr>
              <a:t> model to do at once:</a:t>
            </a:r>
          </a:p>
        </p:txBody>
      </p:sp>
      <p:sp>
        <p:nvSpPr>
          <p:cNvPr id="6" name="TextBox 5"/>
          <p:cNvSpPr txBox="1"/>
          <p:nvPr/>
        </p:nvSpPr>
        <p:spPr>
          <a:xfrm>
            <a:off x="777240" y="3450843"/>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01</a:t>
            </a:r>
            <a:r>
              <a:rPr sz="1400" b="0">
                <a:solidFill>
                  <a:srgbClr val="9DA9B5"/>
                </a:solidFill>
                <a:latin typeface="Arial"/>
              </a:rPr>
              <a:t>Hold up across </a:t>
            </a:r>
            <a:r>
              <a:rPr sz="1400" b="1">
                <a:solidFill>
                  <a:srgbClr val="ECEFF3"/>
                </a:solidFill>
                <a:latin typeface="Arial"/>
              </a:rPr>
              <a:t>every scanner and vendor</a:t>
            </a:r>
            <a:r>
              <a:rPr sz="1400" b="0">
                <a:solidFill>
                  <a:srgbClr val="9DA9B5"/>
                </a:solidFill>
                <a:latin typeface="Arial"/>
              </a:rPr>
              <a:t> in the field</a:t>
            </a:r>
          </a:p>
        </p:txBody>
      </p:sp>
      <p:sp>
        <p:nvSpPr>
          <p:cNvPr id="7" name="TextBox 6"/>
          <p:cNvSpPr txBox="1"/>
          <p:nvPr/>
        </p:nvSpPr>
        <p:spPr>
          <a:xfrm>
            <a:off x="777240" y="3797300"/>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02</a:t>
            </a:r>
            <a:r>
              <a:rPr sz="1400" b="0">
                <a:solidFill>
                  <a:srgbClr val="9DA9B5"/>
                </a:solidFill>
                <a:latin typeface="Arial"/>
              </a:rPr>
              <a:t>Perform in women of </a:t>
            </a:r>
            <a:r>
              <a:rPr sz="1400" b="1">
                <a:solidFill>
                  <a:srgbClr val="ECEFF3"/>
                </a:solidFill>
                <a:latin typeface="Arial"/>
              </a:rPr>
              <a:t>all ages, all densities, all risk types</a:t>
            </a:r>
          </a:p>
        </p:txBody>
      </p:sp>
      <p:sp>
        <p:nvSpPr>
          <p:cNvPr id="8" name="TextBox 7"/>
          <p:cNvSpPr txBox="1"/>
          <p:nvPr/>
        </p:nvSpPr>
        <p:spPr>
          <a:xfrm>
            <a:off x="777240" y="4143755"/>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03</a:t>
            </a:r>
            <a:r>
              <a:rPr sz="1400" b="0">
                <a:solidFill>
                  <a:srgbClr val="9DA9B5"/>
                </a:solidFill>
                <a:latin typeface="Arial"/>
              </a:rPr>
              <a:t>Serve both the </a:t>
            </a:r>
            <a:r>
              <a:rPr sz="1400" b="1">
                <a:solidFill>
                  <a:srgbClr val="ECEFF3"/>
                </a:solidFill>
                <a:latin typeface="Arial"/>
              </a:rPr>
              <a:t>expert breast radiologist</a:t>
            </a:r>
            <a:r>
              <a:rPr sz="1400" b="0">
                <a:solidFill>
                  <a:srgbClr val="9DA9B5"/>
                </a:solidFill>
                <a:latin typeface="Arial"/>
              </a:rPr>
              <a:t> and the </a:t>
            </a:r>
            <a:r>
              <a:rPr sz="1400" b="1">
                <a:solidFill>
                  <a:srgbClr val="ECEFF3"/>
                </a:solidFill>
                <a:latin typeface="Arial"/>
              </a:rPr>
              <a:t>generalist who reads mammo one day a week</a:t>
            </a:r>
          </a:p>
        </p:txBody>
      </p:sp>
      <p:sp>
        <p:nvSpPr>
          <p:cNvPr id="9" name="TextBox 8"/>
          <p:cNvSpPr txBox="1"/>
          <p:nvPr/>
        </p:nvSpPr>
        <p:spPr>
          <a:xfrm>
            <a:off x="777240" y="4490211"/>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We should seriously reframe how we consider </a:t>
            </a:r>
            <a:r>
              <a:rPr sz="1400" b="1">
                <a:solidFill>
                  <a:srgbClr val="ECEFF3"/>
                </a:solidFill>
                <a:latin typeface="Arial"/>
              </a:rPr>
              <a:t>mammography-model deployment.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8686800" cy="365760"/>
          </a:xfrm>
          <a:prstGeom prst="rect">
            <a:avLst/>
          </a:prstGeom>
          <a:noFill/>
        </p:spPr>
        <p:txBody>
          <a:bodyPr wrap="square" lIns="25400" rIns="25400" tIns="12700" bIns="12700">
            <a:noAutofit/>
          </a:bodyPr>
          <a:lstStyle/>
          <a:p>
            <a:pPr algn="l">
              <a:lnSpc>
                <a:spcPct val="128000"/>
              </a:lnSpc>
              <a:spcAft>
                <a:spcPts val="400"/>
              </a:spcAft>
            </a:pPr>
            <a:r>
              <a:rPr sz="1100" b="1">
                <a:solidFill>
                  <a:srgbClr val="E7AC51"/>
                </a:solidFill>
                <a:latin typeface="Consolas"/>
              </a:rPr>
              <a:t>ADOPTION</a:t>
            </a:r>
          </a:p>
        </p:txBody>
      </p:sp>
      <p:sp>
        <p:nvSpPr>
          <p:cNvPr id="4" name="TextBox 3"/>
          <p:cNvSpPr txBox="1"/>
          <p:nvPr/>
        </p:nvSpPr>
        <p:spPr>
          <a:xfrm>
            <a:off x="777240" y="2077211"/>
            <a:ext cx="10607040" cy="534416"/>
          </a:xfrm>
          <a:prstGeom prst="rect">
            <a:avLst/>
          </a:prstGeom>
          <a:noFill/>
        </p:spPr>
        <p:txBody>
          <a:bodyPr wrap="square" lIns="25400" rIns="25400" tIns="12700" bIns="12700">
            <a:noAutofit/>
          </a:bodyPr>
          <a:lstStyle/>
          <a:p>
            <a:pPr algn="l">
              <a:lnSpc>
                <a:spcPct val="106000"/>
              </a:lnSpc>
              <a:spcAft>
                <a:spcPts val="400"/>
              </a:spcAft>
            </a:pPr>
            <a:r>
              <a:rPr sz="2600" b="0">
                <a:solidFill>
                  <a:srgbClr val="ECEFF3"/>
                </a:solidFill>
                <a:latin typeface="Arial"/>
              </a:rPr>
              <a:t>How we should deploy </a:t>
            </a:r>
            <a:r>
              <a:rPr sz="2600" b="0">
                <a:solidFill>
                  <a:srgbClr val="E7AC51"/>
                </a:solidFill>
                <a:latin typeface="Arial"/>
              </a:rPr>
              <a:t>instead.</a:t>
            </a:r>
          </a:p>
        </p:txBody>
      </p:sp>
      <p:sp>
        <p:nvSpPr>
          <p:cNvPr id="5" name="TextBox 4"/>
          <p:cNvSpPr txBox="1"/>
          <p:nvPr/>
        </p:nvSpPr>
        <p:spPr>
          <a:xfrm>
            <a:off x="777240" y="2611627"/>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Not one model imposed everywhere — three reframes:</a:t>
            </a:r>
          </a:p>
        </p:txBody>
      </p:sp>
      <p:sp>
        <p:nvSpPr>
          <p:cNvPr id="6" name="TextBox 5"/>
          <p:cNvSpPr txBox="1"/>
          <p:nvPr/>
        </p:nvSpPr>
        <p:spPr>
          <a:xfrm>
            <a:off x="777240" y="2958084"/>
            <a:ext cx="10607040" cy="801623"/>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1</a:t>
            </a:r>
            <a:r>
              <a:rPr sz="1400" b="1">
                <a:solidFill>
                  <a:srgbClr val="ECEFF3"/>
                </a:solidFill>
                <a:latin typeface="Arial"/>
              </a:rPr>
              <a:t>Operating points, not one threshold.</a:t>
            </a:r>
            <a:r>
              <a:rPr sz="1400" b="0">
                <a:solidFill>
                  <a:srgbClr val="9DA9B5"/>
                </a:solidFill>
                <a:latin typeface="Arial"/>
              </a:rPr>
              <a:t> Sensitivity vs. false positives is a </a:t>
            </a:r>
            <a:r>
              <a:rPr sz="1400" b="1">
                <a:solidFill>
                  <a:srgbClr val="ECEFF3"/>
                </a:solidFill>
                <a:latin typeface="Arial"/>
              </a:rPr>
              <a:t>value judgment</a:t>
            </a:r>
            <a:r>
              <a:rPr sz="1400" b="0">
                <a:solidFill>
                  <a:srgbClr val="9DA9B5"/>
                </a:solidFill>
                <a:latin typeface="Arial"/>
              </a:rPr>
              <a:t>, not a setting. Let a model run at a range of operating points, </a:t>
            </a:r>
            <a:r>
              <a:rPr sz="1400" b="1">
                <a:solidFill>
                  <a:srgbClr val="ECEFF3"/>
                </a:solidFill>
                <a:latin typeface="Arial"/>
              </a:rPr>
              <a:t>tailored to the site and the radiologist</a:t>
            </a:r>
            <a:r>
              <a:rPr sz="1400" b="0">
                <a:solidFill>
                  <a:srgbClr val="9DA9B5"/>
                </a:solidFill>
                <a:latin typeface="Arial"/>
              </a:rPr>
              <a:t> — the expert and the once-a-week reader don't want the same one.</a:t>
            </a:r>
          </a:p>
        </p:txBody>
      </p:sp>
      <p:sp>
        <p:nvSpPr>
          <p:cNvPr id="7" name="TextBox 6"/>
          <p:cNvSpPr txBox="1"/>
          <p:nvPr/>
        </p:nvSpPr>
        <p:spPr>
          <a:xfrm>
            <a:off x="777240" y="3759707"/>
            <a:ext cx="10607040" cy="574040"/>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2</a:t>
            </a:r>
            <a:r>
              <a:rPr sz="1400" b="1">
                <a:solidFill>
                  <a:srgbClr val="ECEFF3"/>
                </a:solidFill>
                <a:latin typeface="Arial"/>
              </a:rPr>
              <a:t>Multimodal — and soon.</a:t>
            </a:r>
            <a:r>
              <a:rPr sz="1400" b="0">
                <a:solidFill>
                  <a:srgbClr val="9DA9B5"/>
                </a:solidFill>
                <a:latin typeface="Arial"/>
              </a:rPr>
              <a:t> A model on imaging alone, or </a:t>
            </a:r>
            <a:r>
              <a:rPr sz="1400" b="1">
                <a:solidFill>
                  <a:srgbClr val="ECEFF3"/>
                </a:solidFill>
                <a:latin typeface="Arial"/>
              </a:rPr>
              <a:t>imaging plus basic clinical data</a:t>
            </a:r>
            <a:r>
              <a:rPr sz="1400" b="0">
                <a:solidFill>
                  <a:srgbClr val="9DA9B5"/>
                </a:solidFill>
                <a:latin typeface="Arial"/>
              </a:rPr>
              <a:t>, will end in user frustration. The model a radiologist trusts pulls in </a:t>
            </a:r>
            <a:r>
              <a:rPr sz="1400" b="1">
                <a:solidFill>
                  <a:srgbClr val="ECEFF3"/>
                </a:solidFill>
                <a:latin typeface="Arial"/>
              </a:rPr>
              <a:t>image, clinical context, risk, and history</a:t>
            </a:r>
            <a:r>
              <a:rPr sz="1400" b="0">
                <a:solidFill>
                  <a:srgbClr val="9DA9B5"/>
                </a:solidFill>
                <a:latin typeface="Arial"/>
              </a:rPr>
              <a:t> together.</a:t>
            </a:r>
          </a:p>
        </p:txBody>
      </p:sp>
      <p:sp>
        <p:nvSpPr>
          <p:cNvPr id="8" name="TextBox 7"/>
          <p:cNvSpPr txBox="1"/>
          <p:nvPr/>
        </p:nvSpPr>
        <p:spPr>
          <a:xfrm>
            <a:off x="777240" y="4333748"/>
            <a:ext cx="10607040" cy="574040"/>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3</a:t>
            </a:r>
            <a:r>
              <a:rPr sz="1400" b="1">
                <a:solidFill>
                  <a:srgbClr val="ECEFF3"/>
                </a:solidFill>
                <a:latin typeface="Arial"/>
              </a:rPr>
              <a:t>The integration tax.</a:t>
            </a:r>
            <a:r>
              <a:rPr sz="1400" b="0">
                <a:solidFill>
                  <a:srgbClr val="9DA9B5"/>
                </a:solidFill>
                <a:latin typeface="Arial"/>
              </a:rPr>
              <a:t> A perfect model dies if it can't reach PACS. One-off integrations don't scale; onboarding happens through a platform or vendor you already run.</a:t>
            </a:r>
          </a:p>
        </p:txBody>
      </p:sp>
      <p:sp>
        <p:nvSpPr>
          <p:cNvPr id="9" name="TextBox 8"/>
          <p:cNvSpPr txBox="1"/>
          <p:nvPr/>
        </p:nvSpPr>
        <p:spPr>
          <a:xfrm>
            <a:off x="777240" y="4907788"/>
            <a:ext cx="10607040" cy="421640"/>
          </a:xfrm>
          <a:prstGeom prst="rect">
            <a:avLst/>
          </a:prstGeom>
          <a:noFill/>
        </p:spPr>
        <p:txBody>
          <a:bodyPr wrap="square" lIns="25400" rIns="25400" tIns="12700" bIns="12700">
            <a:noAutofit/>
          </a:bodyPr>
          <a:lstStyle/>
          <a:p>
            <a:pPr algn="l">
              <a:lnSpc>
                <a:spcPct val="130000"/>
              </a:lnSpc>
              <a:spcAft>
                <a:spcPts val="400"/>
              </a:spcAft>
            </a:pPr>
            <a:r>
              <a:rPr sz="1000" b="0">
                <a:solidFill>
                  <a:srgbClr val="5C6975"/>
                </a:solidFill>
                <a:latin typeface="Consolas"/>
              </a:rPr>
              <a:t>Sharma N, et al. BMC Cancer 2023;23:460 (275,900 mammograms; multi-vendor) · Eisemann N, et al. Nat Med 2025;31:917–924 (PRAIM) · Tejani AS, et al. Radiology 2024;311:e232653 · Allen B, et al. Mayo Clin Proc Digit Health 2024;2(4)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