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9955" y="379644"/>
            <a:ext cx="1980936" cy="1758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74" b="1" i="0">
                <a:solidFill>
                  <a:srgbClr val="E7AC51"/>
                </a:solidFill>
                <a:latin typeface="Consolas"/>
              </a:rPr>
              <a:t>ADOPTION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9955" y="1383667"/>
            <a:ext cx="11368859" cy="84229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2801" b="1" i="0">
                <a:solidFill>
                  <a:srgbClr val="ECEFF3"/>
                </a:solidFill>
                <a:latin typeface="Arial"/>
              </a:rPr>
              <a:t>One model for everything is </a:t>
            </a:r>
            <a:r>
              <a:rPr sz="2801" b="1" i="0">
                <a:solidFill>
                  <a:srgbClr val="E7AC51"/>
                </a:solidFill>
                <a:latin typeface="Arial"/>
              </a:rPr>
              <a:t>the wrong goal.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5" y="2397181"/>
            <a:ext cx="7633706" cy="6338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544" b="0" i="0">
                <a:solidFill>
                  <a:srgbClr val="9DA9B5"/>
                </a:solidFill>
                <a:latin typeface="Arial"/>
              </a:rPr>
              <a:t>We chased better detection for three decades. But look at what we ask a </a:t>
            </a:r>
            <a:r>
              <a:rPr sz="1544" b="1" i="0">
                <a:solidFill>
                  <a:srgbClr val="ECEFF3"/>
                </a:solidFill>
                <a:latin typeface="Arial"/>
              </a:rPr>
              <a:t>single</a:t>
            </a:r>
            <a:r>
              <a:rPr sz="1544" b="0" i="0">
                <a:solidFill>
                  <a:srgbClr val="9DA9B5"/>
                </a:solidFill>
                <a:latin typeface="Arial"/>
              </a:rPr>
              <a:t> model to do at once: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955" y="3223924"/>
            <a:ext cx="9021972" cy="316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01</a:t>
            </a:r>
            <a:r>
              <a:rPr sz="1366" b="0" i="0">
                <a:solidFill>
                  <a:srgbClr val="9DA9B5"/>
                </a:solidFill>
                <a:latin typeface="Arial"/>
              </a:rPr>
              <a:t>Hold up across </a:t>
            </a:r>
            <a:r>
              <a:rPr sz="1366" b="1" i="0">
                <a:solidFill>
                  <a:srgbClr val="ECEFF3"/>
                </a:solidFill>
                <a:latin typeface="Arial"/>
              </a:rPr>
              <a:t>every scanner and vendor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in the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955" y="3603229"/>
            <a:ext cx="9021972" cy="31655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02</a:t>
            </a:r>
            <a:r>
              <a:rPr sz="1366" b="0" i="0">
                <a:solidFill>
                  <a:srgbClr val="9DA9B5"/>
                </a:solidFill>
                <a:latin typeface="Arial"/>
              </a:rPr>
              <a:t>Perform in women of </a:t>
            </a:r>
            <a:r>
              <a:rPr sz="1366" b="1" i="0">
                <a:solidFill>
                  <a:srgbClr val="ECEFF3"/>
                </a:solidFill>
                <a:latin typeface="Arial"/>
              </a:rPr>
              <a:t>all ages, all densities, all risk types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955" y="3982534"/>
            <a:ext cx="8107572" cy="587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03</a:t>
            </a:r>
            <a:r>
              <a:rPr sz="1366" b="0" i="0">
                <a:solidFill>
                  <a:srgbClr val="9DA9B5"/>
                </a:solidFill>
                <a:latin typeface="Arial"/>
              </a:rPr>
              <a:t>Serve both the </a:t>
            </a:r>
            <a:r>
              <a:rPr sz="1366" b="1" i="0">
                <a:solidFill>
                  <a:srgbClr val="ECEFF3"/>
                </a:solidFill>
                <a:latin typeface="Arial"/>
              </a:rPr>
              <a:t>expert breast radiologist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and the </a:t>
            </a:r>
            <a:r>
              <a:rPr sz="1366" b="1" i="0">
                <a:solidFill>
                  <a:srgbClr val="ECEFF3"/>
                </a:solidFill>
                <a:latin typeface="Arial"/>
              </a:rPr>
              <a:t>generalist who reads mammo one day a week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9955" y="4784532"/>
            <a:ext cx="27432" cy="689799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889" y="4784532"/>
            <a:ext cx="8554151" cy="73551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0000"/>
              </a:lnSpc>
            </a:pPr>
            <a:r>
              <a:rPr sz="1940" b="0" i="0">
                <a:solidFill>
                  <a:srgbClr val="ECEFF3"/>
                </a:solidFill>
                <a:latin typeface="Arial"/>
              </a:rPr>
              <a:t>We should seriously reframe how we consider </a:t>
            </a:r>
            <a:r>
              <a:rPr sz="1940" b="1" i="0">
                <a:solidFill>
                  <a:srgbClr val="E7AC51"/>
                </a:solidFill>
                <a:latin typeface="Arial"/>
              </a:rPr>
              <a:t>mammography-model deployment.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_mo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486400" cy="38100"/>
          </a:xfrm>
          <a:prstGeom prst="rect">
            <a:avLst/>
          </a:prstGeom>
          <a:solidFill>
            <a:srgbClr val="E7AC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9955" y="379644"/>
            <a:ext cx="1980936" cy="17588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874" b="1" i="0">
                <a:solidFill>
                  <a:srgbClr val="E7AC51"/>
                </a:solidFill>
                <a:latin typeface="Consolas"/>
              </a:rPr>
              <a:t>ADOPTION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9955" y="1258418"/>
            <a:ext cx="11368859" cy="44400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2801" b="1" i="0">
                <a:solidFill>
                  <a:srgbClr val="ECEFF3"/>
                </a:solidFill>
                <a:latin typeface="Arial"/>
              </a:rPr>
              <a:t>How we should deploy </a:t>
            </a:r>
            <a:r>
              <a:rPr sz="2801" b="1" i="0">
                <a:solidFill>
                  <a:srgbClr val="E7AC51"/>
                </a:solidFill>
                <a:latin typeface="Arial"/>
              </a:rPr>
              <a:t>instead.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5" y="1873645"/>
            <a:ext cx="8548106" cy="3397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1544" b="0" i="0">
                <a:solidFill>
                  <a:srgbClr val="9DA9B5"/>
                </a:solidFill>
                <a:latin typeface="Arial"/>
              </a:rPr>
              <a:t>Not one model imposed everywhere — three reframes: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9955" y="2406333"/>
            <a:ext cx="8107572" cy="8582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1</a:t>
            </a:r>
            <a:r>
              <a:rPr sz="1366" b="1" i="0">
                <a:solidFill>
                  <a:srgbClr val="ECEFF3"/>
                </a:solidFill>
                <a:latin typeface="Arial"/>
              </a:rPr>
              <a:t>Operating points, not one threshold.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Sensitivity vs. false positives is a </a:t>
            </a:r>
            <a:r>
              <a:rPr sz="1366" b="1" i="0">
                <a:solidFill>
                  <a:srgbClr val="ECEFF3"/>
                </a:solidFill>
                <a:latin typeface="Arial"/>
              </a:rPr>
              <a:t>value judgment</a:t>
            </a:r>
            <a:r>
              <a:rPr sz="1366" b="0" i="0">
                <a:solidFill>
                  <a:srgbClr val="9DA9B5"/>
                </a:solidFill>
                <a:latin typeface="Arial"/>
              </a:rPr>
              <a:t>, not a setting. Let a model run at a range of operating points, </a:t>
            </a:r>
            <a:r>
              <a:rPr sz="1366" b="1" i="0">
                <a:solidFill>
                  <a:srgbClr val="5FB7C9"/>
                </a:solidFill>
                <a:latin typeface="Arial"/>
              </a:rPr>
              <a:t>tailored to the site and the radiologist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— the expert and the once-a-week reader don't want the same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9955" y="3327309"/>
            <a:ext cx="8107572" cy="8582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2</a:t>
            </a:r>
            <a:r>
              <a:rPr sz="1366" b="1" i="0">
                <a:solidFill>
                  <a:srgbClr val="ECEFF3"/>
                </a:solidFill>
                <a:latin typeface="Arial"/>
              </a:rPr>
              <a:t>Multimodal — and soon.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A model on imaging alone, or </a:t>
            </a:r>
            <a:r>
              <a:rPr sz="1366" b="1" i="0">
                <a:solidFill>
                  <a:srgbClr val="ECEFF3"/>
                </a:solidFill>
                <a:latin typeface="Arial"/>
              </a:rPr>
              <a:t>imaging plus basic clinical data</a:t>
            </a:r>
            <a:r>
              <a:rPr sz="1366" b="0" i="0">
                <a:solidFill>
                  <a:srgbClr val="9DA9B5"/>
                </a:solidFill>
                <a:latin typeface="Arial"/>
              </a:rPr>
              <a:t>, will end in user frustration. The model a radiologist trusts pulls in </a:t>
            </a:r>
            <a:r>
              <a:rPr sz="1366" b="1" i="0">
                <a:solidFill>
                  <a:srgbClr val="5FB7C9"/>
                </a:solidFill>
                <a:latin typeface="Arial"/>
              </a:rPr>
              <a:t>image, clinical context, risk, and history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together.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9955" y="4248285"/>
            <a:ext cx="8107572" cy="58739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</a:pPr>
            <a:r>
              <a:rPr sz="1366" b="1" i="0">
                <a:solidFill>
                  <a:srgbClr val="E7AC51"/>
                </a:solidFill>
                <a:latin typeface="Arial"/>
              </a:rPr>
              <a:t>3</a:t>
            </a:r>
            <a:r>
              <a:rPr sz="1366" b="1" i="0">
                <a:solidFill>
                  <a:srgbClr val="ECEFF3"/>
                </a:solidFill>
                <a:latin typeface="Arial"/>
              </a:rPr>
              <a:t>The integration tax.</a:t>
            </a:r>
            <a:r>
              <a:rPr sz="1366" b="0" i="0">
                <a:solidFill>
                  <a:srgbClr val="9DA9B5"/>
                </a:solidFill>
                <a:latin typeface="Arial"/>
              </a:rPr>
              <a:t> A perfect model dies if it can't reach PACS. One-off integrations don't scale; onboarding happens through a platform or vendor you already run.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955" y="5115365"/>
            <a:ext cx="5822137" cy="5297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50000"/>
              </a:lnSpc>
            </a:pPr>
            <a:r>
              <a:rPr sz="847" b="0" i="0">
                <a:solidFill>
                  <a:srgbClr val="5C6975"/>
                </a:solidFill>
                <a:latin typeface="Consolas"/>
              </a:rPr>
              <a:t>Sharma N, et al. BMC Cancer 2023;23:460 (275,900 mammograms; multi-vendor) · Eisemann N, et al. Nat Med 2025;31:917–924 (PRAIM) · Tejani AS, et al. Radiology 2024;311:e232653 · Allen B, et al. Mayo Clin Proc Digit Health 2024;2(4)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