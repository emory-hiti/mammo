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step back into the time machine and come forward ten years, to 2026. The early promise we just saw was retrospective and lab-based. By 2026 that has changed: AI screening has been tested where it counts — prospectively, in real screening programs — and the picture is much clearer.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where it stands in 2026: there are now two large prospective studies showing AI works in a real screening program. MASAI, the Swedish randomized trial of about 105,000 women, reported its interval-cancer result — non-inferior, with a ratio of 0.88, at a sensitivity of 80.5 versus 73.8 percent for the same specificity, and it cut reading workload by about 44 percent. PRAIM, a real-world German deployment of 463,000 women across twelve sites and 119 radiologists, found 17.6 percent more cancers detected with AI support and no increase in recall. Two prospective studies, two countries, the same direction. And a third is underway: PRISM, the first large randomized trial of screening AI in the United States — a sixteen-million-dollar PCORI-funded, seven-site study using Transpara, announced in September 2025 and recruiting now. Results are years away, but for the first time the US single-reader workflow will be tested directly. — MASAI detail, for reference: the population was 80,033 women aged 40 to 80 screened at four sites in southwest Sweden, randomized one-to-one between April 2021 and July 2022 to AI-supported reading versus standard double reading by two radiologists without AI. There were 244 screen-detected cancers, 6.1 per 1,000 participants, from 46,345 screen readings in the intervention group of 39,996 participants, versus 203 in the control group — detection went up, not down, the opposite of the feared scenario. The widely quoted framing is a roughly 20 percent relative increase in detection, 6.1 versus about 5.1 per 1,000, at this interim stage; the Lancet Digital Health companion analysis later reported a 29 percent increase in cancer detection without an increase in false positives. The workload number: AI support reduced radiologists' screen-reading workload by 44 percent — nearly halving the reading burden while detection held up or improved. — PRAIM detail, for reference: PRAIM was embedded in Germany's national program, so the existing standard was already a two-reader system. For each woman, four 2D mammograms are taken — CC and MLO of each breast — read independently by two radiologists, sometimes with a third supervising. If at least one radiologist deems the case suspicious, a consensus conference is held, attended by at least the two initial readers plus a head radiologist, and that consensus step decides recall. This matters because both arms of PRAIM kept this double-reading-plus-consensus structure — the only variable being whether AI was present. Cancer detection rate: 6.7 per 1,000 in the AI arm versus 5.7 per 1,000 in control — a 17.6 percent relative increase, 95 percent CI plus 5.7 to plus 30.8 percent, statistically superior. Recall rate: 37.4 per 1,000 in the AI arm versus 38.3 in control — a minus 2.5 percent difference, 95 percent CI minus 6.5 to plus 1.7 percent, noninferior and numerically lower. PPV of recall: 17.9 percent in the AI arm versus 14.9 percent in control. PPV of biopsy: 64.5 percent versus 59.2 percent.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ask where the model fails, we have to ask a harder question: what are we even measuring against? A screening mammogram carries no label in the image — the ground truth comes from what happens next. We link each exam to follow-up imaging and to pathology, and only then assign an outcome. But that assignment is full of judgment calls. How long do you follow a woman before you are willing to call an exam truly negative? A high-risk lesion — atypical ductal hyperplasia, LCIS, a papilloma — is neither clearly benign nor cancer; which bucket does it go in? Do you pool DCIS, which is non-invasive, with invasive cancer, when their clinical meaning is so different? Every one of these choices changes the denominator, and therefore every AUC, every sensitivity, every subgroup number that follows. Defining the outcome is the hard part — and it is rarely shown.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labels are set, the average breaks down by outcome and by cancer type. On the left, by clinical outcome: the model scores screen-detected cancers positive about 73 percent of the time, but interval cancers — the ones that surface between screens — only 31 percent. On the right, by pathology: positive-score rates climb from benign lesions at 16 percent, borderline at 26, high-risk lesions at 30, DCIS at 55, to invasive cancer at 82 percent. So non-invasive disease and high-risk lesions are flagged far less often than invasive cancer — a single headline AUC averages over categories the model handles very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breakdown is by imaging feature. Look at how the same model's scores split by what the finding looks like. Masses, asymmetries, and calcifications are correctly predicted negative in 60 to 81 percent of exams. But architectural distortions behave very differently: even screen-detected cancers split into a bimodal high-and-low distribution, and many benign distortions score high — so the model both misses cancers and over-flags benign findings in that one category. Performance depends on what the finding looks like, not just the headline AUC.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intracranial hemorrhage on head CT. A commercial detection model looked strong overall — 82.2 percent sensitivity. But broken down by the age of the bleed, it collapsed: subacute hemorrhages were caught only 45.5 percent of the time, chronic ones 54.8 percent. And in the outpatient setting, where bleeds are subtler, sensitivity fell to 72.2 percent. The same shape as breast: strong average, weak where it matters.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pulmonary embolism on chest CT — our own evaluation, not yet published. An FDA-cleared model was cleared at 94.9 percent sensitivity. Across two years of real-world data — about thirty thousand dedicated CT angiograms — it reached 86.8 percent overall. But again it fell apart in the hard cases: non-acute clots 65.3 percent, the small subsegmental clots 72.9 percent, left-sided 70.5 percent. And on routine CTs done for other reasons, incidental PE was caught only 73.5 percent of the time — 354 of 538. Same story, different organ: the clearance number is not the number you get on the cases that are easy to miss.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cross into Era III, one plug. All of this work runs on EMBED — the Emory Breast Imaging Dataset — which we have made free to researchers worldwide through the AWS Open Data Program. The first release is described in our Radiology: Artificial Intelligence paper. And we are finishing EMBED version two: nearly 300,000 patients, about a million exams, both 2D and tomosynthesis, 50,000 ultrasound and 25,000 MRI studies, outcomes harmonized with state and local cancer registries, the free-text radiology reports, and patient risk data. The map gives a sense of the reach — researchers on every continent are already using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detection works — we now have the prospective evidence. But here is what is striking: it is still 2026, and the very same mammogram — and the tissue that follows it — already tells us far more than whether there is a cancer today. From this one screening image we can read a woman's future risk and a cardiovascular signal; from her biopsy slide, a molecular recurrence score. We are standing at the brink of Era III — the shift from finding the lesion to characterizing the patient — and, remarkably, much of it is available right now.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forty years, the only risk signal we could read off the image was breast density — coarse and subjective. The clinical models we layered on top, Gail and Tyrer-Cuzick, were weak: Tyrer-Cuzick predicts five-year risk at an AUC around 0.62, barely better than chance at the level of the individual.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image itself carries risk. Yala and colleagues at MIT and MGH showed a deep network reading the mammogram out-predicts the questionnaire models — Mirai, externally validated across three countries at a C-index of 0.76 to 0.81. Among women who developed cancer within five years, it flagged 41.5 percent as high-risk versus 22.9 percent for Tyrer-Cuzick. And this is no longer just research: in June 2025 Clairity received FDA De Novo authorization — the first tool to predict five-year breast-cancer risk from a routine screening mammogram alone, and it was added to the 2026 NCCN guidance. Research model to cleared product to guideline in under five years. There is not yet a primary peer-reviewed validation paper for Clairity.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explainability done right, and it is our group's work with Duke. We asked what Mirai was actually keying on. The answer was surprisingly simple: local bilateral dissimilarity — the difference between left and right breast tissue in the same region. A transparent model built only on that asymmetry nearly matched the black box: one-year AUC 0.79 versus 0.84, and in stable-tissue subgroups three-year AUC 0.92. A risk signal you can point to on the image, and audit for where it fails.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the model does. A transformer segments the breast arterial calcification on the routine mammogram and reports its burden as an area, in square millimeters — the original image on the left, the model's segmentation on the right. You can see it scale, from mild calcification at about five square millimeters, to moderate at eighteen, to severe at over a hundred. That continuous number is what turns an incidental finding into a graded, quantitative risk marker. Our group built the segmentation model behind this, SCU-Net.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outcomes. In a multi-site cohort of more than 120,000 women across Emory and Mayo, AI-quantified BAC independently predicted major adverse cardiovascular events in a graded, dose-response fashion: mild hazard ratios around 1.2, moderate around 1.4, severe around 2.0 to 2.2. And the risk held across every component endpoint within PREVENT categories — heart attack, stroke, heart failure, and all-cause mortality. Crucially, the signal persists in women under 50, a group traditionally deemed low-risk in whom coronary calcium has usually not yet developed. An age-adjusted nomogram from Nerlekar showed a 17 percent increase in MACE per 10 percentiles of BAC and reclassified about 5 percent of women beyond standard scoring, improving the C-statistic from 0.67 to 0.71. And BAC is dynamic, not static: in 41,621 women with serial mammograms, current BAC stayed predictive throughout 8.6 years of follow-up. The commercial FDA-cleared tool reports only presence or absence; quantification is what turns a weak binary flag into an actionable, graded risk marker.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calcium biology shows up in the legs. BAC is medial arterial calcification — Mönckeberg sclerosis — the dominant pattern in peripheral arterial disease, distinct from coronary intimal atherosclerosis. In 59,854 women over a median eight years, severe BAC versus zero predicted needing a vascular intervention for PAD: overall adjusted hazard ratio 3.62, and it held across risk-factor subgroups — diabetes 6.81, smoking 5.77, CKD 4.29, hyperlipidemia 3.46, hypertension 3.11 though not significant there. In women under 50 the effect was extreme, a hazard ratio over a hundred, off this scale. The point: BAC refines who actually progresses to needing an intervention, on top of the usual risk factors.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not only arteries. In 122,011 women, BAC predicted incident valvular heart disease in a dose-response fashion, with strong discrimination — a C-index around 0.80. For severe BAC versus none: aortic stenosis 11.4, aortic regurgitation 3.1, mitral regurgitation 2.6, tricuspid regurgitation 2.3. Mitral stenosis showed no association, p about 0.97 — a built-in negative control, because mitral stenosis is rheumatic, not calcific. Severe BAC carried a five-year incidence of any mild-or-greater valve disease of 19.3 percent versus 4.6 percent — a number-needed-to-scan of seven.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back, and BAC starts to look like an index of a body-wide calcification tendency. First, coronary artery calcium: in 2,079 women who later had a cardiac CT, the rate of detectable coronary calcium rose stepwise with BAC severity — from 38 percent up to 67 percent — with CAC-over-100 rates two-and-a-half times higher, and BAC independently predicting coronary calcium after adjusting for age. The mammogram is previewing the coronary 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more surprising, a non-vascular marker: costal cartilage calcification. In 1,311 women with both a mammogram and a chest CT, BAC correlated with costal cartilage calcification — and at the 75th percentile, high BAC was associated with about 3,400 cubic millimeters more cartilage calcification, adjusted for age and diabetes; the median effect was not significant. So BAC indexes calcification that is vascular, valvular, and even skeletal — one free finding pointing to a systemic propensity.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we close the loop — from a validated model to changed care? Here is the gap: fewer than 7 percent of women at Emory and 15 percent at Mayo even had the chart data needed to compute a standard PREVENT or ASCVD risk score — including women with severe BAC. Detection without action is a missed opportunity at the scale of four to six million women a year. So we built I-BAC, an NIH-funded pragmatic randomized trial — a hybrid effectiveness-implementation design across Emory and Mayo Arizona, about 225,000 screening mammograms a year combined. Aim 1 is formative work with patients and providers to design the notification. Aim 2 randomizes 6,000 women with moderate or severe BAC to notification versus usual care, with patient filtering automated through our Carebricks agentic-AI pipeline. Aim 3 is a RE-AIM evaluation — reach, adoption, fidelity, and harms like anxiety or low-value testing. The primary endpoint is a six-month composite of lipid-panel completion, preventive-medication change, or CAC testing. Our precedent is NOTIFY-PICTURE for incidental coronary calcium — but BAC is harder, because it has no established management guideline yet.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back and notice what every one of these has in common. Risk from the image, a cardiovascular signal from the calcium, a molecular score from the tissue — each is still one model reading one modality. The real frontier is to stop doing that: to combine the image, the pathology, the genome, and the clinical record into a single model of the patient. We are right at the verge of that — multimodal, multi-omics AI. And to see where it goes, we have to leave 2026.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get back in the time machine, and come forward another ten years — to 2035. From here, everything we just saw — image-based risk, the cardiovascular signal, the molecular score — is a decade old. The question now is what we can do when all of it finally comes together, on one patient.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56408"/>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Era II · 2026</a:t>
            </a:r>
          </a:p>
        </p:txBody>
      </p:sp>
      <p:sp>
        <p:nvSpPr>
          <p:cNvPr id="4" name="TextBox 3"/>
          <p:cNvSpPr txBox="1"/>
          <p:nvPr/>
        </p:nvSpPr>
        <p:spPr>
          <a:xfrm>
            <a:off x="777240" y="3102864"/>
            <a:ext cx="5989320" cy="790447"/>
          </a:xfrm>
          <a:prstGeom prst="rect">
            <a:avLst/>
          </a:prstGeom>
          <a:noFill/>
        </p:spPr>
        <p:txBody>
          <a:bodyPr wrap="square" lIns="25400" rIns="25400" tIns="12700" bIns="12700">
            <a:noAutofit/>
          </a:bodyPr>
          <a:lstStyle/>
          <a:p>
            <a:pPr algn="l">
              <a:lnSpc>
                <a:spcPct val="106000"/>
              </a:lnSpc>
              <a:spcAft>
                <a:spcPts val="400"/>
              </a:spcAft>
            </a:pPr>
            <a:r>
              <a:rPr sz="4400" b="0">
                <a:solidFill>
                  <a:srgbClr val="ECEFF3"/>
                </a:solidFill>
                <a:latin typeface="Arial"/>
              </a:rPr>
              <a:t>The year is </a:t>
            </a:r>
            <a:r>
              <a:rPr sz="4400" b="0">
                <a:solidFill>
                  <a:srgbClr val="E7AC51"/>
                </a:solidFill>
                <a:latin typeface="Arial"/>
              </a:rPr>
              <a:t>2026.</a:t>
            </a:r>
          </a:p>
        </p:txBody>
      </p:sp>
      <p:sp>
        <p:nvSpPr>
          <p:cNvPr id="5" name="TextBox 4"/>
          <p:cNvSpPr txBox="1"/>
          <p:nvPr/>
        </p:nvSpPr>
        <p:spPr>
          <a:xfrm>
            <a:off x="777240" y="3893312"/>
            <a:ext cx="598932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Ten years on, the early promise has been put to the test — </a:t>
            </a:r>
            <a:r>
              <a:rPr sz="1400" b="1">
                <a:solidFill>
                  <a:srgbClr val="ECEFF3"/>
                </a:solidFill>
                <a:latin typeface="Arial"/>
              </a:rPr>
              <a:t>prospectively, in real screening programs.</a:t>
            </a:r>
          </a:p>
        </p:txBody>
      </p:sp>
      <p:pic>
        <p:nvPicPr>
          <p:cNvPr id="6" name="Picture 5" descr="s_fc1c61fe68.png"/>
          <p:cNvPicPr>
            <a:picLocks noChangeAspect="1"/>
          </p:cNvPicPr>
          <p:nvPr/>
        </p:nvPicPr>
        <p:blipFill>
          <a:blip r:embed="rId3"/>
          <a:stretch>
            <a:fillRect/>
          </a:stretch>
        </p:blipFill>
        <p:spPr>
          <a:xfrm>
            <a:off x="6995160" y="2109651"/>
            <a:ext cx="4617720" cy="263869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a:t>
            </a:r>
          </a:p>
        </p:txBody>
      </p:sp>
      <p:sp>
        <p:nvSpPr>
          <p:cNvPr id="4" name="TextBox 3"/>
          <p:cNvSpPr txBox="1"/>
          <p:nvPr/>
        </p:nvSpPr>
        <p:spPr>
          <a:xfrm>
            <a:off x="777240" y="1164843"/>
            <a:ext cx="1060704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2026: two prospective studies show </a:t>
            </a:r>
            <a:r>
              <a:rPr sz="2600" b="0">
                <a:solidFill>
                  <a:srgbClr val="E7AC51"/>
                </a:solidFill>
                <a:latin typeface="Arial"/>
              </a:rPr>
              <a:t>AI screening works.</a:t>
            </a:r>
          </a:p>
        </p:txBody>
      </p:sp>
      <p:sp>
        <p:nvSpPr>
          <p:cNvPr id="5" name="TextBox 4"/>
          <p:cNvSpPr txBox="1"/>
          <p:nvPr/>
        </p:nvSpPr>
        <p:spPr>
          <a:xfrm>
            <a:off x="777240" y="2069083"/>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MASAI · Sweden · RCT (~105,000)</a:t>
            </a:r>
          </a:p>
        </p:txBody>
      </p:sp>
      <p:sp>
        <p:nvSpPr>
          <p:cNvPr id="6" name="TextBox 5"/>
          <p:cNvSpPr txBox="1"/>
          <p:nvPr/>
        </p:nvSpPr>
        <p:spPr>
          <a:xfrm>
            <a:off x="777240" y="2415539"/>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Interval cancers non-inferior </a:t>
            </a:r>
            <a:r>
              <a:rPr sz="1400" b="0">
                <a:solidFill>
                  <a:srgbClr val="9DA9B5"/>
                </a:solidFill>
                <a:latin typeface="Arial"/>
              </a:rPr>
              <a:t>(ratio 0.88)</a:t>
            </a:r>
          </a:p>
        </p:txBody>
      </p:sp>
      <p:sp>
        <p:nvSpPr>
          <p:cNvPr id="7" name="TextBox 6"/>
          <p:cNvSpPr txBox="1"/>
          <p:nvPr/>
        </p:nvSpPr>
        <p:spPr>
          <a:xfrm>
            <a:off x="777240" y="2761995"/>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Sensitivity </a:t>
            </a:r>
            <a:r>
              <a:rPr sz="1400" b="1">
                <a:solidFill>
                  <a:srgbClr val="ECEFF3"/>
                </a:solidFill>
                <a:latin typeface="Arial"/>
              </a:rPr>
              <a:t>80.5%</a:t>
            </a:r>
            <a:r>
              <a:rPr sz="1400" b="0">
                <a:solidFill>
                  <a:srgbClr val="9DA9B5"/>
                </a:solidFill>
                <a:latin typeface="Arial"/>
              </a:rPr>
              <a:t> vs 73.8% at matched specificity · </a:t>
            </a:r>
            <a:r>
              <a:rPr sz="1400" b="1">
                <a:solidFill>
                  <a:srgbClr val="ECEFF3"/>
                </a:solidFill>
                <a:latin typeface="Arial"/>
              </a:rPr>
              <a:t>~44%</a:t>
            </a:r>
            <a:r>
              <a:rPr sz="1400" b="0">
                <a:solidFill>
                  <a:srgbClr val="9DA9B5"/>
                </a:solidFill>
                <a:latin typeface="Arial"/>
              </a:rPr>
              <a:t> less reading workload.</a:t>
            </a:r>
          </a:p>
        </p:txBody>
      </p:sp>
      <p:sp>
        <p:nvSpPr>
          <p:cNvPr id="8" name="TextBox 7"/>
          <p:cNvSpPr txBox="1"/>
          <p:nvPr/>
        </p:nvSpPr>
        <p:spPr>
          <a:xfrm>
            <a:off x="777240" y="3108452"/>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Gommers/Lång et al., Lancet 2026;407:505–514</a:t>
            </a:r>
          </a:p>
        </p:txBody>
      </p:sp>
      <p:sp>
        <p:nvSpPr>
          <p:cNvPr id="9" name="TextBox 8"/>
          <p:cNvSpPr txBox="1"/>
          <p:nvPr/>
        </p:nvSpPr>
        <p:spPr>
          <a:xfrm>
            <a:off x="777240" y="3454908"/>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5FB7C9"/>
                </a:solidFill>
                <a:latin typeface="Arial"/>
              </a:rPr>
              <a:t>PRAIM · Germany · real-world (463,000)</a:t>
            </a:r>
          </a:p>
        </p:txBody>
      </p:sp>
      <p:sp>
        <p:nvSpPr>
          <p:cNvPr id="10" name="TextBox 9"/>
          <p:cNvSpPr txBox="1"/>
          <p:nvPr/>
        </p:nvSpPr>
        <p:spPr>
          <a:xfrm>
            <a:off x="777240" y="3801363"/>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+17.6%</a:t>
            </a:r>
            <a:r>
              <a:rPr sz="1400" b="0">
                <a:solidFill>
                  <a:srgbClr val="9DA9B5"/>
                </a:solidFill>
                <a:latin typeface="Arial"/>
              </a:rPr>
              <a:t> cancers detected</a:t>
            </a:r>
          </a:p>
        </p:txBody>
      </p:sp>
      <p:sp>
        <p:nvSpPr>
          <p:cNvPr id="11" name="TextBox 10"/>
          <p:cNvSpPr txBox="1"/>
          <p:nvPr/>
        </p:nvSpPr>
        <p:spPr>
          <a:xfrm>
            <a:off x="777240" y="4147819"/>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Recall </a:t>
            </a:r>
            <a:r>
              <a:rPr sz="1400" b="1">
                <a:solidFill>
                  <a:srgbClr val="ECEFF3"/>
                </a:solidFill>
                <a:latin typeface="Arial"/>
              </a:rPr>
              <a:t>non-inferior</a:t>
            </a:r>
            <a:r>
              <a:rPr sz="1400" b="0">
                <a:solidFill>
                  <a:srgbClr val="9DA9B5"/>
                </a:solidFill>
                <a:latin typeface="Arial"/>
              </a:rPr>
              <a:t> · 6.7 vs 5.7 CDR per 1,000 · 12 sites, 119 radiologists.</a:t>
            </a:r>
          </a:p>
        </p:txBody>
      </p:sp>
      <p:sp>
        <p:nvSpPr>
          <p:cNvPr id="12" name="TextBox 11"/>
          <p:cNvSpPr txBox="1"/>
          <p:nvPr/>
        </p:nvSpPr>
        <p:spPr>
          <a:xfrm>
            <a:off x="777240" y="4494275"/>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Eisemann et al., Nature Medicine 2025</a:t>
            </a:r>
          </a:p>
        </p:txBody>
      </p:sp>
      <p:sp>
        <p:nvSpPr>
          <p:cNvPr id="13" name="TextBox 12"/>
          <p:cNvSpPr txBox="1"/>
          <p:nvPr/>
        </p:nvSpPr>
        <p:spPr>
          <a:xfrm>
            <a:off x="777240" y="4840731"/>
            <a:ext cx="10607040" cy="1401064"/>
          </a:xfrm>
          <a:prstGeom prst="rect">
            <a:avLst/>
          </a:prstGeom>
          <a:noFill/>
        </p:spPr>
        <p:txBody>
          <a:bodyPr wrap="square" lIns="25400" rIns="25400" tIns="12700" bIns="12700">
            <a:noAutofit/>
          </a:bodyPr>
          <a:lstStyle/>
          <a:p>
            <a:pPr algn="l">
              <a:lnSpc>
                <a:spcPct val="130000"/>
              </a:lnSpc>
              <a:spcAft>
                <a:spcPts val="400"/>
              </a:spcAft>
            </a:pPr>
            <a:r>
              <a:rPr sz="1900" b="0">
                <a:solidFill>
                  <a:srgbClr val="ECEFF3"/>
                </a:solidFill>
                <a:latin typeface="Arial"/>
              </a:rPr>
              <a:t>A third is underway: </a:t>
            </a:r>
            <a:r>
              <a:rPr sz="1900" b="1">
                <a:solidFill>
                  <a:srgbClr val="ECEFF3"/>
                </a:solidFill>
                <a:latin typeface="Arial"/>
              </a:rPr>
              <a:t>PRISM</a:t>
            </a:r>
            <a:r>
              <a:rPr sz="1900" b="0">
                <a:solidFill>
                  <a:srgbClr val="ECEFF3"/>
                </a:solidFill>
                <a:latin typeface="Arial"/>
              </a:rPr>
              <a:t> — the first large randomized trial of screening AI in the United States (Transpara; $16M PCORI; 7 sites; announced Sept 2025, recruiting). Results are years away, but it tests the </a:t>
            </a:r>
            <a:r>
              <a:rPr sz="1900" b="1">
                <a:solidFill>
                  <a:srgbClr val="ECEFF3"/>
                </a:solidFill>
                <a:latin typeface="Arial"/>
              </a:rPr>
              <a:t>US single-reader workflow</a:t>
            </a:r>
            <a:r>
              <a:rPr sz="1900" b="0">
                <a:solidFill>
                  <a:srgbClr val="ECEFF3"/>
                </a:solidFill>
                <a:latin typeface="Arial"/>
              </a:rPr>
              <a:t> directly.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a:t>
            </a:r>
          </a:p>
        </p:txBody>
      </p:sp>
      <p:sp>
        <p:nvSpPr>
          <p:cNvPr id="4" name="TextBox 3"/>
          <p:cNvSpPr txBox="1"/>
          <p:nvPr/>
        </p:nvSpPr>
        <p:spPr>
          <a:xfrm>
            <a:off x="777240" y="2563368"/>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The averages look strong — but </a:t>
            </a:r>
            <a:r>
              <a:rPr sz="2600" b="0">
                <a:solidFill>
                  <a:srgbClr val="E7AC51"/>
                </a:solidFill>
                <a:latin typeface="Arial"/>
              </a:rPr>
              <a:t>what counts as the truth?</a:t>
            </a:r>
          </a:p>
        </p:txBody>
      </p:sp>
      <p:sp>
        <p:nvSpPr>
          <p:cNvPr id="5" name="TextBox 4"/>
          <p:cNvSpPr txBox="1"/>
          <p:nvPr/>
        </p:nvSpPr>
        <p:spPr>
          <a:xfrm>
            <a:off x="777240" y="3467608"/>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label is not in the image — it comes from follow-up and pathology. Assigning it is a cascade of judgment calls (~163,000 EMBED exams, AUC 0.91), and it sets the denominator for </a:t>
            </a:r>
            <a:r>
              <a:rPr sz="1400" b="1">
                <a:solidFill>
                  <a:srgbClr val="ECEFF3"/>
                </a:solidFill>
                <a:latin typeface="Arial"/>
              </a:rPr>
              <a:t>every downstream number.</a:t>
            </a:r>
          </a:p>
        </p:txBody>
      </p:sp>
      <p:sp>
        <p:nvSpPr>
          <p:cNvPr id="6" name="TextBox 5"/>
          <p:cNvSpPr txBox="1"/>
          <p:nvPr/>
        </p:nvSpPr>
        <p:spPr>
          <a:xfrm>
            <a:off x="777240" y="4496816"/>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a:t>
            </a:r>
            <a:r>
              <a:rPr sz="1400" b="0">
                <a:solidFill>
                  <a:srgbClr val="9DA9B5"/>
                </a:solidFill>
                <a:latin typeface="Arial"/>
              </a:rPr>
              <a:t> </a:t>
            </a:r>
          </a:p>
        </p:txBody>
      </p:sp>
      <p:sp>
        <p:nvSpPr>
          <p:cNvPr id="7" name="Rounded Rectangle 6"/>
          <p:cNvSpPr/>
          <p:nvPr/>
        </p:nvSpPr>
        <p:spPr>
          <a:xfrm>
            <a:off x="7087077" y="832104"/>
            <a:ext cx="4433885" cy="5193792"/>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_bee5b46b67.png"/>
          <p:cNvPicPr>
            <a:picLocks noChangeAspect="1"/>
          </p:cNvPicPr>
          <p:nvPr/>
        </p:nvPicPr>
        <p:blipFill>
          <a:blip r:embed="rId3"/>
          <a:stretch>
            <a:fillRect/>
          </a:stretch>
        </p:blipFill>
        <p:spPr>
          <a:xfrm>
            <a:off x="7169373" y="914400"/>
            <a:ext cx="4269293" cy="5029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a:t>
            </a:r>
          </a:p>
        </p:txBody>
      </p:sp>
      <p:sp>
        <p:nvSpPr>
          <p:cNvPr id="4" name="TextBox 3"/>
          <p:cNvSpPr txBox="1"/>
          <p:nvPr/>
        </p:nvSpPr>
        <p:spPr>
          <a:xfrm>
            <a:off x="777240" y="2430018"/>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Performance across </a:t>
            </a:r>
            <a:r>
              <a:rPr sz="2600" b="0">
                <a:solidFill>
                  <a:srgbClr val="E7AC51"/>
                </a:solidFill>
                <a:latin typeface="Arial"/>
              </a:rPr>
              <a:t>outcomes and cancer types.</a:t>
            </a:r>
          </a:p>
        </p:txBody>
      </p:sp>
      <p:sp>
        <p:nvSpPr>
          <p:cNvPr id="5" name="TextBox 4"/>
          <p:cNvSpPr txBox="1"/>
          <p:nvPr/>
        </p:nvSpPr>
        <p:spPr>
          <a:xfrm>
            <a:off x="777240" y="3334258"/>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a:t>
            </a:r>
            <a:r>
              <a:rPr sz="1400" b="0">
                <a:solidFill>
                  <a:srgbClr val="9DA9B5"/>
                </a:solidFill>
                <a:latin typeface="Arial"/>
              </a:rPr>
              <a:t> </a:t>
            </a:r>
          </a:p>
        </p:txBody>
      </p:sp>
      <p:sp>
        <p:nvSpPr>
          <p:cNvPr id="6" name="TextBox 5"/>
          <p:cNvSpPr txBox="1"/>
          <p:nvPr/>
        </p:nvSpPr>
        <p:spPr>
          <a:xfrm>
            <a:off x="777240" y="3680713"/>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By clinical outcome (Fig. 2)</a:t>
            </a:r>
          </a:p>
        </p:txBody>
      </p:sp>
      <p:sp>
        <p:nvSpPr>
          <p:cNvPr id="7" name="TextBox 6"/>
          <p:cNvSpPr txBox="1"/>
          <p:nvPr/>
        </p:nvSpPr>
        <p:spPr>
          <a:xfrm>
            <a:off x="777240" y="4027169"/>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a:t>
            </a:r>
            <a:r>
              <a:rPr sz="1400" b="0">
                <a:solidFill>
                  <a:srgbClr val="9DA9B5"/>
                </a:solidFill>
                <a:latin typeface="Arial"/>
              </a:rPr>
              <a:t> </a:t>
            </a:r>
          </a:p>
        </p:txBody>
      </p:sp>
      <p:sp>
        <p:nvSpPr>
          <p:cNvPr id="8" name="TextBox 7"/>
          <p:cNvSpPr txBox="1"/>
          <p:nvPr/>
        </p:nvSpPr>
        <p:spPr>
          <a:xfrm>
            <a:off x="777240" y="4373625"/>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By pathology (Fig. 3)</a:t>
            </a:r>
          </a:p>
        </p:txBody>
      </p:sp>
      <p:sp>
        <p:nvSpPr>
          <p:cNvPr id="9" name="TextBox 8"/>
          <p:cNvSpPr txBox="1"/>
          <p:nvPr/>
        </p:nvSpPr>
        <p:spPr>
          <a:xfrm>
            <a:off x="777240" y="4720081"/>
            <a:ext cx="598932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[your group], Nat Commun 2026 (DOI 10.1038/s41467-026-70637-3), Figs. 2–3.</a:t>
            </a:r>
          </a:p>
        </p:txBody>
      </p:sp>
      <p:sp>
        <p:nvSpPr>
          <p:cNvPr id="10" name="Rounded Rectangle 9"/>
          <p:cNvSpPr/>
          <p:nvPr/>
        </p:nvSpPr>
        <p:spPr>
          <a:xfrm>
            <a:off x="6912864" y="925361"/>
            <a:ext cx="4782312" cy="5007277"/>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_f7c7ba6b41.png"/>
          <p:cNvPicPr>
            <a:picLocks noChangeAspect="1"/>
          </p:cNvPicPr>
          <p:nvPr/>
        </p:nvPicPr>
        <p:blipFill>
          <a:blip r:embed="rId3"/>
          <a:stretch>
            <a:fillRect/>
          </a:stretch>
        </p:blipFill>
        <p:spPr>
          <a:xfrm>
            <a:off x="6995160" y="1007657"/>
            <a:ext cx="4617720" cy="484268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a:t>
            </a:r>
          </a:p>
        </p:txBody>
      </p:sp>
      <p:sp>
        <p:nvSpPr>
          <p:cNvPr id="4" name="TextBox 3"/>
          <p:cNvSpPr txBox="1"/>
          <p:nvPr/>
        </p:nvSpPr>
        <p:spPr>
          <a:xfrm>
            <a:off x="777240" y="2677160"/>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Performance across </a:t>
            </a:r>
            <a:r>
              <a:rPr sz="2600" b="0">
                <a:solidFill>
                  <a:srgbClr val="E7AC51"/>
                </a:solidFill>
                <a:latin typeface="Arial"/>
              </a:rPr>
              <a:t>imaging findings.</a:t>
            </a:r>
          </a:p>
        </p:txBody>
      </p:sp>
      <p:sp>
        <p:nvSpPr>
          <p:cNvPr id="5" name="TextBox 4"/>
          <p:cNvSpPr txBox="1"/>
          <p:nvPr/>
        </p:nvSpPr>
        <p:spPr>
          <a:xfrm>
            <a:off x="777240" y="3581400"/>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a:t>
            </a:r>
            <a:r>
              <a:rPr sz="1400" b="0">
                <a:solidFill>
                  <a:srgbClr val="9DA9B5"/>
                </a:solidFill>
                <a:latin typeface="Arial"/>
              </a:rPr>
              <a:t> </a:t>
            </a:r>
          </a:p>
        </p:txBody>
      </p:sp>
      <p:sp>
        <p:nvSpPr>
          <p:cNvPr id="6" name="TextBox 5"/>
          <p:cNvSpPr txBox="1"/>
          <p:nvPr/>
        </p:nvSpPr>
        <p:spPr>
          <a:xfrm>
            <a:off x="777240" y="3927856"/>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Exam-level model-score distributions by imaging feature, across clinical outcome. </a:t>
            </a:r>
            <a:r>
              <a:rPr sz="1400" b="1">
                <a:solidFill>
                  <a:srgbClr val="ECEFF3"/>
                </a:solidFill>
                <a:latin typeface="Arial"/>
              </a:rPr>
              <a:t>[your group], Nat Commun 2026 (DOI 10.1038/s41467-026-70637-3), Fig. 6.</a:t>
            </a:r>
          </a:p>
        </p:txBody>
      </p:sp>
      <p:sp>
        <p:nvSpPr>
          <p:cNvPr id="7" name="Rounded Rectangle 6"/>
          <p:cNvSpPr/>
          <p:nvPr/>
        </p:nvSpPr>
        <p:spPr>
          <a:xfrm>
            <a:off x="6912864" y="1769439"/>
            <a:ext cx="4782312" cy="3319121"/>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_59aec28596.png"/>
          <p:cNvPicPr>
            <a:picLocks noChangeAspect="1"/>
          </p:cNvPicPr>
          <p:nvPr/>
        </p:nvPicPr>
        <p:blipFill>
          <a:blip r:embed="rId3"/>
          <a:stretch>
            <a:fillRect/>
          </a:stretch>
        </p:blipFill>
        <p:spPr>
          <a:xfrm>
            <a:off x="6995160" y="1851735"/>
            <a:ext cx="4617720" cy="31545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 · NOT ONLY BREAST</a:t>
            </a:r>
          </a:p>
        </p:txBody>
      </p:sp>
      <p:sp>
        <p:nvSpPr>
          <p:cNvPr id="4" name="TextBox 3"/>
          <p:cNvSpPr txBox="1"/>
          <p:nvPr/>
        </p:nvSpPr>
        <p:spPr>
          <a:xfrm>
            <a:off x="777240" y="1078992"/>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Head CT: </a:t>
            </a:r>
            <a:r>
              <a:rPr sz="2600" b="0">
                <a:solidFill>
                  <a:srgbClr val="E7AC51"/>
                </a:solidFill>
                <a:latin typeface="Arial"/>
              </a:rPr>
              <a:t>intracranial hemorrhage.</a:t>
            </a:r>
          </a:p>
        </p:txBody>
      </p:sp>
      <p:sp>
        <p:nvSpPr>
          <p:cNvPr id="5" name="TextBox 4"/>
          <p:cNvSpPr txBox="1"/>
          <p:nvPr/>
        </p:nvSpPr>
        <p:spPr>
          <a:xfrm>
            <a:off x="777240" y="161340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 commercial ICH detector looked strong overall — but sensitivity </a:t>
            </a:r>
            <a:r>
              <a:rPr sz="1400" b="1">
                <a:solidFill>
                  <a:srgbClr val="ECEFF3"/>
                </a:solidFill>
                <a:latin typeface="Arial"/>
              </a:rPr>
              <a:t>collapsed for subacute and chronic</a:t>
            </a:r>
            <a:r>
              <a:rPr sz="1400" b="0">
                <a:solidFill>
                  <a:srgbClr val="9DA9B5"/>
                </a:solidFill>
                <a:latin typeface="Arial"/>
              </a:rPr>
              <a:t> bleeds, and fell in the </a:t>
            </a:r>
            <a:r>
              <a:rPr sz="1400" b="1">
                <a:solidFill>
                  <a:srgbClr val="ECEFF3"/>
                </a:solidFill>
                <a:latin typeface="Arial"/>
              </a:rPr>
              <a:t>outpatient</a:t>
            </a:r>
            <a:r>
              <a:rPr sz="1400" b="0">
                <a:solidFill>
                  <a:srgbClr val="9DA9B5"/>
                </a:solidFill>
                <a:latin typeface="Arial"/>
              </a:rPr>
              <a:t> setting.</a:t>
            </a:r>
          </a:p>
        </p:txBody>
      </p:sp>
      <p:sp>
        <p:nvSpPr>
          <p:cNvPr id="6" name="TextBox 5"/>
          <p:cNvSpPr txBox="1"/>
          <p:nvPr/>
        </p:nvSpPr>
        <p:spPr>
          <a:xfrm>
            <a:off x="777240" y="2187448"/>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82.2%</a:t>
            </a:r>
          </a:p>
        </p:txBody>
      </p:sp>
      <p:sp>
        <p:nvSpPr>
          <p:cNvPr id="7" name="TextBox 6"/>
          <p:cNvSpPr txBox="1"/>
          <p:nvPr/>
        </p:nvSpPr>
        <p:spPr>
          <a:xfrm>
            <a:off x="777240" y="2713228"/>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Overall sensitivity</a:t>
            </a:r>
          </a:p>
        </p:txBody>
      </p:sp>
      <p:sp>
        <p:nvSpPr>
          <p:cNvPr id="8" name="TextBox 7"/>
          <p:cNvSpPr txBox="1"/>
          <p:nvPr/>
        </p:nvSpPr>
        <p:spPr>
          <a:xfrm>
            <a:off x="777240" y="3059684"/>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D9785B"/>
                </a:solidFill>
                <a:latin typeface="Arial"/>
              </a:rPr>
              <a:t>45.5%</a:t>
            </a:r>
          </a:p>
        </p:txBody>
      </p:sp>
      <p:sp>
        <p:nvSpPr>
          <p:cNvPr id="9" name="TextBox 8"/>
          <p:cNvSpPr txBox="1"/>
          <p:nvPr/>
        </p:nvSpPr>
        <p:spPr>
          <a:xfrm>
            <a:off x="777240" y="358546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Subacute bleeds</a:t>
            </a:r>
          </a:p>
        </p:txBody>
      </p:sp>
      <p:sp>
        <p:nvSpPr>
          <p:cNvPr id="10" name="TextBox 9"/>
          <p:cNvSpPr txBox="1"/>
          <p:nvPr/>
        </p:nvSpPr>
        <p:spPr>
          <a:xfrm>
            <a:off x="777240" y="3931920"/>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D9785B"/>
                </a:solidFill>
                <a:latin typeface="Arial"/>
              </a:rPr>
              <a:t>54.8%</a:t>
            </a:r>
          </a:p>
        </p:txBody>
      </p:sp>
      <p:sp>
        <p:nvSpPr>
          <p:cNvPr id="11" name="TextBox 10"/>
          <p:cNvSpPr txBox="1"/>
          <p:nvPr/>
        </p:nvSpPr>
        <p:spPr>
          <a:xfrm>
            <a:off x="777240" y="445770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Chronic bleeds</a:t>
            </a:r>
          </a:p>
        </p:txBody>
      </p:sp>
      <p:sp>
        <p:nvSpPr>
          <p:cNvPr id="12" name="TextBox 11"/>
          <p:cNvSpPr txBox="1"/>
          <p:nvPr/>
        </p:nvSpPr>
        <p:spPr>
          <a:xfrm>
            <a:off x="777240" y="4804156"/>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5FB7C9"/>
                </a:solidFill>
                <a:latin typeface="Arial"/>
              </a:rPr>
              <a:t>72.2%</a:t>
            </a:r>
          </a:p>
        </p:txBody>
      </p:sp>
      <p:sp>
        <p:nvSpPr>
          <p:cNvPr id="13" name="TextBox 12"/>
          <p:cNvSpPr txBox="1"/>
          <p:nvPr/>
        </p:nvSpPr>
        <p:spPr>
          <a:xfrm>
            <a:off x="777240" y="5329936"/>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Outpatient setting</a:t>
            </a:r>
          </a:p>
        </p:txBody>
      </p:sp>
      <p:sp>
        <p:nvSpPr>
          <p:cNvPr id="14" name="TextBox 13"/>
          <p:cNvSpPr txBox="1"/>
          <p:nvPr/>
        </p:nvSpPr>
        <p:spPr>
          <a:xfrm>
            <a:off x="777240" y="5676392"/>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[your group], npj Digital Medicine 2025.</a:t>
            </a:r>
          </a:p>
        </p:txBody>
      </p:sp>
      <p:sp>
        <p:nvSpPr>
          <p:cNvPr id="15" name="TextBox 14"/>
          <p:cNvSpPr txBox="1"/>
          <p:nvPr/>
        </p:nvSpPr>
        <p:spPr>
          <a:xfrm>
            <a:off x="777240" y="602284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GIF</a:t>
            </a:r>
          </a:p>
        </p:txBody>
      </p:sp>
      <p:sp>
        <p:nvSpPr>
          <p:cNvPr id="16" name="TextBox 15"/>
          <p:cNvSpPr txBox="1"/>
          <p:nvPr/>
        </p:nvSpPr>
        <p:spPr>
          <a:xfrm>
            <a:off x="777240" y="6369303"/>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to be added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 · NOT ONLY BREAST</a:t>
            </a:r>
          </a:p>
        </p:txBody>
      </p:sp>
      <p:sp>
        <p:nvSpPr>
          <p:cNvPr id="4" name="TextBox 3"/>
          <p:cNvSpPr txBox="1"/>
          <p:nvPr/>
        </p:nvSpPr>
        <p:spPr>
          <a:xfrm>
            <a:off x="777240" y="2639568"/>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Chest CT: </a:t>
            </a:r>
            <a:r>
              <a:rPr sz="2600" b="0">
                <a:solidFill>
                  <a:srgbClr val="E7AC51"/>
                </a:solidFill>
                <a:latin typeface="Arial"/>
              </a:rPr>
              <a:t>pulmonary embolism.</a:t>
            </a:r>
          </a:p>
        </p:txBody>
      </p:sp>
      <p:sp>
        <p:nvSpPr>
          <p:cNvPr id="5" name="TextBox 4"/>
          <p:cNvSpPr txBox="1"/>
          <p:nvPr/>
        </p:nvSpPr>
        <p:spPr>
          <a:xfrm>
            <a:off x="777240" y="3543808"/>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An FDA-cleared model (</a:t>
            </a:r>
            <a:r>
              <a:rPr sz="1400" b="1">
                <a:solidFill>
                  <a:srgbClr val="ECEFF3"/>
                </a:solidFill>
                <a:latin typeface="Arial"/>
              </a:rPr>
              <a:t>510(k): 94.9% sens</a:t>
            </a:r>
            <a:r>
              <a:rPr sz="1400" b="0">
                <a:solidFill>
                  <a:srgbClr val="9DA9B5"/>
                </a:solidFill>
                <a:latin typeface="Arial"/>
              </a:rPr>
              <a:t>) on two years of real-world CTPA: </a:t>
            </a:r>
            <a:r>
              <a:rPr sz="1400" b="1">
                <a:solidFill>
                  <a:srgbClr val="ECEFF3"/>
                </a:solidFill>
                <a:latin typeface="Arial"/>
              </a:rPr>
              <a:t>86.8%</a:t>
            </a:r>
            <a:r>
              <a:rPr sz="1400" b="0">
                <a:solidFill>
                  <a:srgbClr val="9DA9B5"/>
                </a:solidFill>
                <a:latin typeface="Arial"/>
              </a:rPr>
              <a:t> overall — but far lower for non-acute, small (subsegmental), left-sided, and </a:t>
            </a:r>
            <a:r>
              <a:rPr sz="1400" b="1">
                <a:solidFill>
                  <a:srgbClr val="ECEFF3"/>
                </a:solidFill>
                <a:latin typeface="Arial"/>
              </a:rPr>
              <a:t>incidental</a:t>
            </a:r>
            <a:r>
              <a:rPr sz="1400" b="0">
                <a:solidFill>
                  <a:srgbClr val="9DA9B5"/>
                </a:solidFill>
                <a:latin typeface="Arial"/>
              </a:rPr>
              <a:t> clots.</a:t>
            </a:r>
          </a:p>
        </p:txBody>
      </p:sp>
      <p:sp>
        <p:nvSpPr>
          <p:cNvPr id="6" name="TextBox 5"/>
          <p:cNvSpPr txBox="1"/>
          <p:nvPr/>
        </p:nvSpPr>
        <p:spPr>
          <a:xfrm>
            <a:off x="777240" y="4345432"/>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Sensitivity vs FDA 510(k) clearance. [your group], unpublished — Aidoc PE / iPE triage evaluation, 30,678 CTPA + 37,272 routine CT (2023–2025).</a:t>
            </a:r>
          </a:p>
        </p:txBody>
      </p:sp>
      <p:pic>
        <p:nvPicPr>
          <p:cNvPr id="7" name="Picture 6" descr="s_f751375401.png"/>
          <p:cNvPicPr>
            <a:picLocks noChangeAspect="1"/>
          </p:cNvPicPr>
          <p:nvPr/>
        </p:nvPicPr>
        <p:blipFill>
          <a:blip r:embed="rId3"/>
          <a:stretch>
            <a:fillRect/>
          </a:stretch>
        </p:blipFill>
        <p:spPr>
          <a:xfrm>
            <a:off x="6995160" y="2498008"/>
            <a:ext cx="4617720" cy="186198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 · OPEN DATA</a:t>
            </a:r>
          </a:p>
        </p:txBody>
      </p:sp>
      <p:sp>
        <p:nvSpPr>
          <p:cNvPr id="4" name="TextBox 3"/>
          <p:cNvSpPr txBox="1"/>
          <p:nvPr/>
        </p:nvSpPr>
        <p:spPr>
          <a:xfrm>
            <a:off x="777240" y="2030221"/>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Emory Breast Imaging Dataset </a:t>
            </a:r>
            <a:r>
              <a:rPr sz="2600" b="0">
                <a:solidFill>
                  <a:srgbClr val="E7AC51"/>
                </a:solidFill>
                <a:latin typeface="Arial"/>
              </a:rPr>
              <a:t>(EMBED).</a:t>
            </a:r>
          </a:p>
        </p:txBody>
      </p:sp>
      <p:sp>
        <p:nvSpPr>
          <p:cNvPr id="5" name="TextBox 4"/>
          <p:cNvSpPr txBox="1"/>
          <p:nvPr/>
        </p:nvSpPr>
        <p:spPr>
          <a:xfrm>
            <a:off x="777240" y="256463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Free to researchers through the </a:t>
            </a:r>
            <a:r>
              <a:rPr sz="1400" b="1">
                <a:solidFill>
                  <a:srgbClr val="ECEFF3"/>
                </a:solidFill>
                <a:latin typeface="Arial"/>
              </a:rPr>
              <a:t>AWS Open Data Program.</a:t>
            </a:r>
          </a:p>
        </p:txBody>
      </p:sp>
      <p:sp>
        <p:nvSpPr>
          <p:cNvPr id="6" name="TextBox 5"/>
          <p:cNvSpPr txBox="1"/>
          <p:nvPr/>
        </p:nvSpPr>
        <p:spPr>
          <a:xfrm>
            <a:off x="777240" y="291109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EMBED v2 — in progress</a:t>
            </a:r>
          </a:p>
        </p:txBody>
      </p:sp>
      <p:sp>
        <p:nvSpPr>
          <p:cNvPr id="7" name="Rounded Rectangle 6"/>
          <p:cNvSpPr/>
          <p:nvPr/>
        </p:nvSpPr>
        <p:spPr>
          <a:xfrm>
            <a:off x="777240" y="3257550"/>
            <a:ext cx="174123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~300,000 </a:t>
            </a:r>
            <a:r>
              <a:rPr sz="1100">
                <a:solidFill>
                  <a:srgbClr val="ECEFF3"/>
                </a:solidFill>
                <a:latin typeface="Consolas"/>
              </a:rPr>
              <a:t>patients</a:t>
            </a:r>
          </a:p>
        </p:txBody>
      </p:sp>
      <p:sp>
        <p:nvSpPr>
          <p:cNvPr id="8" name="Rectangle 7"/>
          <p:cNvSpPr/>
          <p:nvPr/>
        </p:nvSpPr>
        <p:spPr>
          <a:xfrm>
            <a:off x="777240" y="325755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609913" y="3257550"/>
            <a:ext cx="291915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~1M </a:t>
            </a:r>
            <a:r>
              <a:rPr sz="1100">
                <a:solidFill>
                  <a:srgbClr val="ECEFF3"/>
                </a:solidFill>
                <a:latin typeface="Consolas"/>
              </a:rPr>
              <a:t>exams</a:t>
            </a:r>
            <a:r>
              <a:rPr sz="1100">
                <a:solidFill>
                  <a:srgbClr val="ECEFF3"/>
                </a:solidFill>
                <a:latin typeface="Consolas"/>
              </a:rPr>
              <a:t> (2D · DBT · US · MRI)</a:t>
            </a:r>
          </a:p>
        </p:txBody>
      </p:sp>
      <p:sp>
        <p:nvSpPr>
          <p:cNvPr id="10" name="Rectangle 9"/>
          <p:cNvSpPr/>
          <p:nvPr/>
        </p:nvSpPr>
        <p:spPr>
          <a:xfrm>
            <a:off x="2609913" y="325755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20512" y="3257550"/>
            <a:ext cx="174123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Free-text </a:t>
            </a:r>
            <a:r>
              <a:rPr sz="1100">
                <a:solidFill>
                  <a:srgbClr val="ECEFF3"/>
                </a:solidFill>
                <a:latin typeface="Consolas"/>
              </a:rPr>
              <a:t>reports</a:t>
            </a:r>
          </a:p>
        </p:txBody>
      </p:sp>
      <p:sp>
        <p:nvSpPr>
          <p:cNvPr id="12" name="Rectangle 11"/>
          <p:cNvSpPr/>
          <p:nvPr/>
        </p:nvSpPr>
        <p:spPr>
          <a:xfrm>
            <a:off x="5620512" y="325755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53185" y="3257550"/>
            <a:ext cx="174123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Patient </a:t>
            </a:r>
            <a:r>
              <a:rPr sz="1100">
                <a:solidFill>
                  <a:srgbClr val="ECEFF3"/>
                </a:solidFill>
                <a:latin typeface="Consolas"/>
              </a:rPr>
              <a:t>risk data</a:t>
            </a:r>
          </a:p>
        </p:txBody>
      </p:sp>
      <p:sp>
        <p:nvSpPr>
          <p:cNvPr id="14" name="Rectangle 13"/>
          <p:cNvSpPr/>
          <p:nvPr/>
        </p:nvSpPr>
        <p:spPr>
          <a:xfrm>
            <a:off x="7453185" y="325755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3696462"/>
            <a:ext cx="266674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Outcomes </a:t>
            </a:r>
            <a:r>
              <a:rPr sz="1100">
                <a:solidFill>
                  <a:srgbClr val="ECEFF3"/>
                </a:solidFill>
                <a:latin typeface="Consolas"/>
              </a:rPr>
              <a:t>registry-harmonized</a:t>
            </a:r>
          </a:p>
        </p:txBody>
      </p:sp>
      <p:sp>
        <p:nvSpPr>
          <p:cNvPr id="16" name="Rectangle 15"/>
          <p:cNvSpPr/>
          <p:nvPr/>
        </p:nvSpPr>
        <p:spPr>
          <a:xfrm>
            <a:off x="777240" y="3696462"/>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90238"/>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v1: [your group], Radiology: Artificial Intelligence 2023 (Fig. 1). — aws.amazon.com/opendata</a:t>
            </a:r>
          </a:p>
        </p:txBody>
      </p:sp>
      <p:sp>
        <p:nvSpPr>
          <p:cNvPr id="18" name="TextBox 17"/>
          <p:cNvSpPr txBox="1"/>
          <p:nvPr/>
        </p:nvSpPr>
        <p:spPr>
          <a:xfrm>
            <a:off x="777240" y="4446778"/>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Map — EMBED users by country</a:t>
            </a:r>
          </a:p>
        </p:txBody>
      </p:sp>
      <p:sp>
        <p:nvSpPr>
          <p:cNvPr id="19" name="TextBox 18"/>
          <p:cNvSpPr txBox="1"/>
          <p:nvPr/>
        </p:nvSpPr>
        <p:spPr>
          <a:xfrm>
            <a:off x="777240" y="479323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drop in PNG ]</a:t>
            </a:r>
          </a:p>
        </p:txBody>
      </p:sp>
      <p:sp>
        <p:nvSpPr>
          <p:cNvPr id="20" name="TextBox 19"/>
          <p:cNvSpPr txBox="1"/>
          <p:nvPr/>
        </p:nvSpPr>
        <p:spPr>
          <a:xfrm>
            <a:off x="777240" y="513969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opt: EMBED v1 schematic — Radiology: AI, Fig.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 → ERA III</a:t>
            </a:r>
          </a:p>
        </p:txBody>
      </p:sp>
      <p:sp>
        <p:nvSpPr>
          <p:cNvPr id="4" name="TextBox 3"/>
          <p:cNvSpPr txBox="1"/>
          <p:nvPr/>
        </p:nvSpPr>
        <p:spPr>
          <a:xfrm>
            <a:off x="777240" y="2733802"/>
            <a:ext cx="10607040" cy="591312"/>
          </a:xfrm>
          <a:prstGeom prst="rect">
            <a:avLst/>
          </a:prstGeom>
          <a:noFill/>
        </p:spPr>
        <p:txBody>
          <a:bodyPr wrap="square" lIns="25400" rIns="25400" tIns="12700" bIns="12700">
            <a:noAutofit/>
          </a:bodyPr>
          <a:lstStyle/>
          <a:p>
            <a:pPr algn="l">
              <a:lnSpc>
                <a:spcPct val="106000"/>
              </a:lnSpc>
              <a:spcAft>
                <a:spcPts val="400"/>
              </a:spcAft>
            </a:pPr>
            <a:r>
              <a:rPr sz="3000" b="0">
                <a:solidFill>
                  <a:srgbClr val="ECEFF3"/>
                </a:solidFill>
                <a:latin typeface="Arial"/>
              </a:rPr>
              <a:t>We are at the </a:t>
            </a:r>
            <a:r>
              <a:rPr sz="3000" b="0">
                <a:solidFill>
                  <a:srgbClr val="E7AC51"/>
                </a:solidFill>
                <a:latin typeface="Arial"/>
              </a:rPr>
              <a:t>brink of Era III.</a:t>
            </a:r>
          </a:p>
        </p:txBody>
      </p:sp>
      <p:sp>
        <p:nvSpPr>
          <p:cNvPr id="5" name="TextBox 4"/>
          <p:cNvSpPr txBox="1"/>
          <p:nvPr/>
        </p:nvSpPr>
        <p:spPr>
          <a:xfrm>
            <a:off x="777240" y="3325114"/>
            <a:ext cx="10607040" cy="773684"/>
          </a:xfrm>
          <a:prstGeom prst="rect">
            <a:avLst/>
          </a:prstGeom>
          <a:noFill/>
        </p:spPr>
        <p:txBody>
          <a:bodyPr wrap="square" lIns="25400" rIns="25400" tIns="12700" bIns="12700">
            <a:noAutofit/>
          </a:bodyPr>
          <a:lstStyle/>
          <a:p>
            <a:pPr algn="l">
              <a:lnSpc>
                <a:spcPct val="130000"/>
              </a:lnSpc>
              <a:spcAft>
                <a:spcPts val="400"/>
              </a:spcAft>
            </a:pPr>
            <a:r>
              <a:rPr sz="1900" b="0">
                <a:solidFill>
                  <a:srgbClr val="ECEFF3"/>
                </a:solidFill>
                <a:latin typeface="Arial"/>
              </a:rPr>
              <a:t>Detection is proven. But the same 2026 image — and the tissue that follows it — already tells us more than </a:t>
            </a:r>
            <a:r>
              <a:rPr sz="1900" b="1">
                <a:solidFill>
                  <a:srgbClr val="ECEFF3"/>
                </a:solidFill>
                <a:latin typeface="Arial"/>
              </a:rPr>
              <a:t>"is there cancer today?"</a:t>
            </a:r>
          </a:p>
        </p:txBody>
      </p:sp>
      <p:sp>
        <p:nvSpPr>
          <p:cNvPr id="6" name="TextBox 5"/>
          <p:cNvSpPr txBox="1"/>
          <p:nvPr/>
        </p:nvSpPr>
        <p:spPr>
          <a:xfrm>
            <a:off x="777240" y="409879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From one screening mammogram and its biopsy: a </a:t>
            </a:r>
            <a:r>
              <a:rPr sz="1400" b="1">
                <a:solidFill>
                  <a:srgbClr val="ECEFF3"/>
                </a:solidFill>
                <a:latin typeface="Arial"/>
              </a:rPr>
              <a:t>future-risk</a:t>
            </a:r>
            <a:r>
              <a:rPr sz="1400" b="0">
                <a:solidFill>
                  <a:srgbClr val="9DA9B5"/>
                </a:solidFill>
                <a:latin typeface="Arial"/>
              </a:rPr>
              <a:t> estimate, a </a:t>
            </a:r>
            <a:r>
              <a:rPr sz="1400" b="1">
                <a:solidFill>
                  <a:srgbClr val="ECEFF3"/>
                </a:solidFill>
                <a:latin typeface="Arial"/>
              </a:rPr>
              <a:t>cardiovascular</a:t>
            </a:r>
            <a:r>
              <a:rPr sz="1400" b="0">
                <a:solidFill>
                  <a:srgbClr val="9DA9B5"/>
                </a:solidFill>
                <a:latin typeface="Arial"/>
              </a:rPr>
              <a:t> signal, and a </a:t>
            </a:r>
            <a:r>
              <a:rPr sz="1400" b="1">
                <a:solidFill>
                  <a:srgbClr val="ECEFF3"/>
                </a:solidFill>
                <a:latin typeface="Arial"/>
              </a:rPr>
              <a:t>molecular recurrence</a:t>
            </a:r>
            <a:r>
              <a:rPr sz="1400" b="0">
                <a:solidFill>
                  <a:srgbClr val="9DA9B5"/>
                </a:solidFill>
                <a:latin typeface="Arial"/>
              </a:rPr>
              <a:t> score. The shift from finding the lesion to </a:t>
            </a:r>
            <a:r>
              <a:rPr sz="1400" b="1">
                <a:solidFill>
                  <a:srgbClr val="ECEFF3"/>
                </a:solidFill>
                <a:latin typeface="Arial"/>
              </a:rPr>
              <a:t>characterizing the patient</a:t>
            </a:r>
            <a:r>
              <a:rPr sz="1400" b="0">
                <a:solidFill>
                  <a:srgbClr val="9DA9B5"/>
                </a:solidFill>
                <a:latin typeface="Arial"/>
              </a:rPr>
              <a:t> — and much of it is available now.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230809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For 40 years, the only risk signal we could read off the image was </a:t>
            </a:r>
            <a:r>
              <a:rPr sz="1400" b="0">
                <a:solidFill>
                  <a:srgbClr val="E7AC51"/>
                </a:solidFill>
                <a:latin typeface="Arial"/>
              </a:rPr>
              <a:t>density</a:t>
            </a:r>
            <a:r>
              <a:rPr sz="1400" b="0">
                <a:solidFill>
                  <a:srgbClr val="9DA9B5"/>
                </a:solidFill>
                <a:latin typeface="Arial"/>
              </a:rPr>
              <a:t>. The clinical models layered on top — </a:t>
            </a:r>
            <a:r>
              <a:rPr sz="1400" b="0">
                <a:solidFill>
                  <a:srgbClr val="E7AC51"/>
                </a:solidFill>
                <a:latin typeface="Arial"/>
              </a:rPr>
              <a:t>Gail</a:t>
            </a:r>
            <a:r>
              <a:rPr sz="1400" b="0">
                <a:solidFill>
                  <a:srgbClr val="9DA9B5"/>
                </a:solidFill>
                <a:latin typeface="Arial"/>
              </a:rPr>
              <a:t> and </a:t>
            </a:r>
            <a:r>
              <a:rPr sz="1400" b="0">
                <a:solidFill>
                  <a:srgbClr val="E7AC51"/>
                </a:solidFill>
                <a:latin typeface="Arial"/>
              </a:rPr>
              <a:t>Tyrer-Cuzick</a:t>
            </a:r>
            <a:r>
              <a:rPr sz="1400" b="0">
                <a:solidFill>
                  <a:srgbClr val="9DA9B5"/>
                </a:solidFill>
                <a:latin typeface="Arial"/>
              </a:rPr>
              <a:t> — were hardly better than a coin flip.</a:t>
            </a:r>
          </a:p>
        </p:txBody>
      </p:sp>
      <p:sp>
        <p:nvSpPr>
          <p:cNvPr id="5" name="TextBox 4"/>
          <p:cNvSpPr txBox="1"/>
          <p:nvPr/>
        </p:nvSpPr>
        <p:spPr>
          <a:xfrm>
            <a:off x="777240" y="2882138"/>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Gail · Tyrer-Cuzick · BCSC — questionnaire + density models</a:t>
            </a:r>
          </a:p>
        </p:txBody>
      </p:sp>
      <p:sp>
        <p:nvSpPr>
          <p:cNvPr id="6" name="TextBox 5"/>
          <p:cNvSpPr txBox="1"/>
          <p:nvPr/>
        </p:nvSpPr>
        <p:spPr>
          <a:xfrm>
            <a:off x="777240" y="313867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~0.62</a:t>
            </a:r>
          </a:p>
        </p:txBody>
      </p:sp>
      <p:sp>
        <p:nvSpPr>
          <p:cNvPr id="7" name="TextBox 6"/>
          <p:cNvSpPr txBox="1"/>
          <p:nvPr/>
        </p:nvSpPr>
        <p:spPr>
          <a:xfrm>
            <a:off x="777240" y="348513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Tyrer-Cuzick v8 · 5-yr AUC</a:t>
            </a:r>
          </a:p>
        </p:txBody>
      </p:sp>
      <p:sp>
        <p:nvSpPr>
          <p:cNvPr id="8" name="TextBox 7"/>
          <p:cNvSpPr txBox="1"/>
          <p:nvPr/>
        </p:nvSpPr>
        <p:spPr>
          <a:xfrm>
            <a:off x="777240" y="3831589"/>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~0.55–0.58</a:t>
            </a:r>
          </a:p>
        </p:txBody>
      </p:sp>
      <p:sp>
        <p:nvSpPr>
          <p:cNvPr id="9" name="TextBox 8"/>
          <p:cNvSpPr txBox="1"/>
          <p:nvPr/>
        </p:nvSpPr>
        <p:spPr>
          <a:xfrm>
            <a:off x="777240" y="4178045"/>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Gail model · 5-yr AUC</a:t>
            </a:r>
          </a:p>
        </p:txBody>
      </p:sp>
      <p:sp>
        <p:nvSpPr>
          <p:cNvPr id="10" name="TextBox 9"/>
          <p:cNvSpPr txBox="1"/>
          <p:nvPr/>
        </p:nvSpPr>
        <p:spPr>
          <a:xfrm>
            <a:off x="777240" y="4524501"/>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Coin flip is 0.50.</a:t>
            </a:r>
          </a:p>
          <a:p>
            <a:pPr algn="l">
              <a:lnSpc>
                <a:spcPct val="128000"/>
              </a:lnSpc>
              <a:spcAft>
                <a:spcPts val="400"/>
              </a:spcAft>
            </a:pPr>
            <a:r>
              <a:rPr sz="1400" b="0">
                <a:solidFill>
                  <a:srgbClr val="9DA9B5"/>
                </a:solidFill>
                <a:latin typeface="Arial"/>
              </a:rPr>
              <a:t>For the woman in front of you, barely above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2378964"/>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7AC51"/>
                </a:solidFill>
                <a:latin typeface="Arial"/>
              </a:rPr>
              <a:t>Image-based risk</a:t>
            </a:r>
            <a:r>
              <a:rPr sz="2600" b="0">
                <a:solidFill>
                  <a:srgbClr val="ECEFF3"/>
                </a:solidFill>
                <a:latin typeface="Arial"/>
              </a:rPr>
              <a:t> — Mirai and a de novo FDA clearance.</a:t>
            </a:r>
          </a:p>
        </p:txBody>
      </p:sp>
      <p:sp>
        <p:nvSpPr>
          <p:cNvPr id="5" name="TextBox 4"/>
          <p:cNvSpPr txBox="1"/>
          <p:nvPr/>
        </p:nvSpPr>
        <p:spPr>
          <a:xfrm>
            <a:off x="777240" y="3283204"/>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0.76–0.81</a:t>
            </a:r>
          </a:p>
        </p:txBody>
      </p:sp>
      <p:sp>
        <p:nvSpPr>
          <p:cNvPr id="6" name="TextBox 5"/>
          <p:cNvSpPr txBox="1"/>
          <p:nvPr/>
        </p:nvSpPr>
        <p:spPr>
          <a:xfrm>
            <a:off x="777240" y="3808984"/>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Mirai C-index · 3 countries</a:t>
            </a:r>
          </a:p>
        </p:txBody>
      </p:sp>
      <p:sp>
        <p:nvSpPr>
          <p:cNvPr id="7" name="TextBox 6"/>
          <p:cNvSpPr txBox="1"/>
          <p:nvPr/>
        </p:nvSpPr>
        <p:spPr>
          <a:xfrm>
            <a:off x="777240" y="4155440"/>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&lt; 5 yr</a:t>
            </a:r>
          </a:p>
        </p:txBody>
      </p:sp>
      <p:sp>
        <p:nvSpPr>
          <p:cNvPr id="8" name="TextBox 7"/>
          <p:cNvSpPr txBox="1"/>
          <p:nvPr/>
        </p:nvSpPr>
        <p:spPr>
          <a:xfrm>
            <a:off x="777240" y="4681220"/>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research → cleared → guideline</a:t>
            </a:r>
          </a:p>
        </p:txBody>
      </p:sp>
      <p:pic>
        <p:nvPicPr>
          <p:cNvPr id="9" name="Picture 8" descr="s_39113bbbe0.png"/>
          <p:cNvPicPr>
            <a:picLocks noChangeAspect="1"/>
          </p:cNvPicPr>
          <p:nvPr/>
        </p:nvPicPr>
        <p:blipFill>
          <a:blip r:embed="rId3"/>
          <a:stretch>
            <a:fillRect/>
          </a:stretch>
        </p:blipFill>
        <p:spPr>
          <a:xfrm>
            <a:off x="6995160" y="1697355"/>
            <a:ext cx="4617720" cy="346329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3401822"/>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AsymMirai — </a:t>
            </a:r>
            <a:r>
              <a:rPr sz="1400" b="0">
                <a:solidFill>
                  <a:srgbClr val="E7AC51"/>
                </a:solidFill>
                <a:latin typeface="Arial"/>
              </a:rPr>
              <a:t>an explainable risk model.</a:t>
            </a:r>
          </a:p>
        </p:txBody>
      </p:sp>
      <p:sp>
        <p:nvSpPr>
          <p:cNvPr id="5" name="TextBox 4"/>
          <p:cNvSpPr txBox="1"/>
          <p:nvPr/>
        </p:nvSpPr>
        <p:spPr>
          <a:xfrm>
            <a:off x="777240" y="3748277"/>
            <a:ext cx="5989320" cy="256540"/>
          </a:xfrm>
          <a:prstGeom prst="rect">
            <a:avLst/>
          </a:prstGeom>
          <a:noFill/>
        </p:spPr>
        <p:txBody>
          <a:bodyPr wrap="square" lIns="25400" rIns="25400" tIns="12700" bIns="12700">
            <a:noAutofit/>
          </a:bodyPr>
          <a:lstStyle/>
          <a:p>
            <a:pPr algn="l">
              <a:lnSpc>
                <a:spcPct val="130000"/>
              </a:lnSpc>
              <a:spcAft>
                <a:spcPts val="400"/>
              </a:spcAft>
            </a:pPr>
            <a:r>
              <a:rPr sz="1000" b="1">
                <a:solidFill>
                  <a:srgbClr val="E7AC51"/>
                </a:solidFill>
                <a:latin typeface="Consolas"/>
              </a:rPr>
              <a:t>1-yr AUC 0.79</a:t>
            </a:r>
            <a:r>
              <a:rPr sz="1000" b="0">
                <a:solidFill>
                  <a:srgbClr val="5C6975"/>
                </a:solidFill>
                <a:latin typeface="Consolas"/>
              </a:rPr>
              <a:t> vs Mirai 0.84 · </a:t>
            </a:r>
            <a:r>
              <a:rPr sz="1000" b="1">
                <a:solidFill>
                  <a:srgbClr val="E7AC51"/>
                </a:solidFill>
                <a:latin typeface="Consolas"/>
              </a:rPr>
              <a:t>3-yr AUC 0.92</a:t>
            </a:r>
            <a:r>
              <a:rPr sz="1000" b="0">
                <a:solidFill>
                  <a:srgbClr val="5C6975"/>
                </a:solidFill>
                <a:latin typeface="Consolas"/>
              </a:rPr>
              <a:t> (stable tissue)</a:t>
            </a:r>
          </a:p>
        </p:txBody>
      </p:sp>
      <p:sp>
        <p:nvSpPr>
          <p:cNvPr id="6" name="Rounded Rectangle 5"/>
          <p:cNvSpPr/>
          <p:nvPr/>
        </p:nvSpPr>
        <p:spPr>
          <a:xfrm>
            <a:off x="6912864" y="2004434"/>
            <a:ext cx="4782312" cy="2849130"/>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_a5bc477317.jpg"/>
          <p:cNvPicPr>
            <a:picLocks noChangeAspect="1"/>
          </p:cNvPicPr>
          <p:nvPr/>
        </p:nvPicPr>
        <p:blipFill>
          <a:blip r:embed="rId3"/>
          <a:stretch>
            <a:fillRect/>
          </a:stretch>
        </p:blipFill>
        <p:spPr>
          <a:xfrm>
            <a:off x="6995160" y="2086730"/>
            <a:ext cx="4617720" cy="268453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2454656"/>
            <a:ext cx="5989320" cy="1274064"/>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Breast Arterial Calcification (BAC) as a </a:t>
            </a:r>
            <a:r>
              <a:rPr sz="2600" b="0">
                <a:solidFill>
                  <a:srgbClr val="E7AC51"/>
                </a:solidFill>
                <a:latin typeface="Arial"/>
              </a:rPr>
              <a:t>continuous measurement (mm²).</a:t>
            </a:r>
          </a:p>
        </p:txBody>
      </p:sp>
      <p:sp>
        <p:nvSpPr>
          <p:cNvPr id="5" name="TextBox 4"/>
          <p:cNvSpPr txBox="1"/>
          <p:nvPr/>
        </p:nvSpPr>
        <p:spPr>
          <a:xfrm>
            <a:off x="777240" y="3728719"/>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 transformer segments breast arterial calcification on the routine mammogram and quantifies its area — turning an incidental finding into a </a:t>
            </a:r>
            <a:r>
              <a:rPr sz="1400" b="1">
                <a:solidFill>
                  <a:srgbClr val="ECEFF3"/>
                </a:solidFill>
                <a:latin typeface="Arial"/>
              </a:rPr>
              <a:t>graded, quantitative risk marker.</a:t>
            </a:r>
          </a:p>
        </p:txBody>
      </p:sp>
      <p:sp>
        <p:nvSpPr>
          <p:cNvPr id="6" name="TextBox 5"/>
          <p:cNvSpPr txBox="1"/>
          <p:nvPr/>
        </p:nvSpPr>
        <p:spPr>
          <a:xfrm>
            <a:off x="777240" y="4530344"/>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Segmentation: SCU-Net (your group). Dapamede et al., Eur Heart J 2026;47(18):2206–2220.</a:t>
            </a:r>
          </a:p>
        </p:txBody>
      </p:sp>
      <p:sp>
        <p:nvSpPr>
          <p:cNvPr id="7" name="Rounded Rectangle 6"/>
          <p:cNvSpPr/>
          <p:nvPr/>
        </p:nvSpPr>
        <p:spPr>
          <a:xfrm>
            <a:off x="7819391" y="832104"/>
            <a:ext cx="2969257" cy="5193792"/>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_ebbc2d2c9e.jpg"/>
          <p:cNvPicPr>
            <a:picLocks noChangeAspect="1"/>
          </p:cNvPicPr>
          <p:nvPr/>
        </p:nvPicPr>
        <p:blipFill>
          <a:blip r:embed="rId3"/>
          <a:stretch>
            <a:fillRect/>
          </a:stretch>
        </p:blipFill>
        <p:spPr>
          <a:xfrm>
            <a:off x="7901687" y="914400"/>
            <a:ext cx="2804665" cy="50292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3032251"/>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BAC predicts MACE — </a:t>
            </a:r>
            <a:r>
              <a:rPr sz="1400" b="0">
                <a:solidFill>
                  <a:srgbClr val="E7AC51"/>
                </a:solidFill>
                <a:latin typeface="Arial"/>
              </a:rPr>
              <a:t>more calcium, more risk.</a:t>
            </a:r>
          </a:p>
        </p:txBody>
      </p:sp>
      <p:sp>
        <p:nvSpPr>
          <p:cNvPr id="5" name="TextBox 4"/>
          <p:cNvSpPr txBox="1"/>
          <p:nvPr/>
        </p:nvSpPr>
        <p:spPr>
          <a:xfrm>
            <a:off x="777240" y="3378708"/>
            <a:ext cx="5989320" cy="574040"/>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~120,000 women</a:t>
            </a:r>
            <a:r>
              <a:rPr sz="1400" b="0">
                <a:solidFill>
                  <a:srgbClr val="9DA9B5"/>
                </a:solidFill>
                <a:latin typeface="Arial"/>
              </a:rPr>
              <a:t>, two sites, racially diverse. Dose-response: </a:t>
            </a:r>
            <a:r>
              <a:rPr sz="1400" b="1">
                <a:solidFill>
                  <a:srgbClr val="ECEFF3"/>
                </a:solidFill>
                <a:latin typeface="Arial"/>
              </a:rPr>
              <a:t>mild HR 1.18–1.22 · moderate 1.38–1.47 · severe 2.03–2.22</a:t>
            </a:r>
            <a:r>
              <a:rPr sz="1400" b="0">
                <a:solidFill>
                  <a:srgbClr val="9DA9B5"/>
                </a:solidFill>
                <a:latin typeface="Arial"/>
              </a:rPr>
              <a:t>.</a:t>
            </a:r>
          </a:p>
        </p:txBody>
      </p:sp>
      <p:sp>
        <p:nvSpPr>
          <p:cNvPr id="6" name="TextBox 5"/>
          <p:cNvSpPr txBox="1"/>
          <p:nvPr/>
        </p:nvSpPr>
        <p:spPr>
          <a:xfrm>
            <a:off x="777240" y="3952748"/>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Event-free survival by BAC severity — Any MACE, AMI, stroke, HF, death. </a:t>
            </a:r>
            <a:r>
              <a:rPr sz="1000" b="1">
                <a:solidFill>
                  <a:srgbClr val="ECEFF3"/>
                </a:solidFill>
                <a:latin typeface="Consolas"/>
              </a:rPr>
              <a:t>Dapamede et al., Eur Heart J Open 2025.</a:t>
            </a:r>
          </a:p>
        </p:txBody>
      </p:sp>
      <p:sp>
        <p:nvSpPr>
          <p:cNvPr id="7" name="Rounded Rectangle 6"/>
          <p:cNvSpPr/>
          <p:nvPr/>
        </p:nvSpPr>
        <p:spPr>
          <a:xfrm>
            <a:off x="6912864" y="2931891"/>
            <a:ext cx="4782312" cy="994216"/>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_06d0d2a955.jpg"/>
          <p:cNvPicPr>
            <a:picLocks noChangeAspect="1"/>
          </p:cNvPicPr>
          <p:nvPr/>
        </p:nvPicPr>
        <p:blipFill>
          <a:blip r:embed="rId3"/>
          <a:stretch>
            <a:fillRect/>
          </a:stretch>
        </p:blipFill>
        <p:spPr>
          <a:xfrm>
            <a:off x="6995160" y="3014187"/>
            <a:ext cx="4617720" cy="82962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2620010"/>
            <a:ext cx="598932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BAC and </a:t>
            </a:r>
            <a:r>
              <a:rPr sz="2600" b="0">
                <a:solidFill>
                  <a:srgbClr val="E7AC51"/>
                </a:solidFill>
                <a:latin typeface="Arial"/>
              </a:rPr>
              <a:t>PAD.</a:t>
            </a:r>
          </a:p>
        </p:txBody>
      </p:sp>
      <p:sp>
        <p:nvSpPr>
          <p:cNvPr id="5" name="TextBox 4"/>
          <p:cNvSpPr txBox="1"/>
          <p:nvPr/>
        </p:nvSpPr>
        <p:spPr>
          <a:xfrm>
            <a:off x="777240" y="3154426"/>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BAC is </a:t>
            </a:r>
            <a:r>
              <a:rPr sz="1400" b="1">
                <a:solidFill>
                  <a:srgbClr val="ECEFF3"/>
                </a:solidFill>
                <a:latin typeface="Arial"/>
              </a:rPr>
              <a:t>medial</a:t>
            </a:r>
            <a:r>
              <a:rPr sz="1400" b="0">
                <a:solidFill>
                  <a:srgbClr val="9DA9B5"/>
                </a:solidFill>
                <a:latin typeface="Arial"/>
              </a:rPr>
              <a:t> calcification (Mönckeberg's) — the pattern that dominates PAD. In </a:t>
            </a:r>
            <a:r>
              <a:rPr sz="1400" b="1">
                <a:solidFill>
                  <a:srgbClr val="ECEFF3"/>
                </a:solidFill>
                <a:latin typeface="Arial"/>
              </a:rPr>
              <a:t>59,854 women</a:t>
            </a:r>
            <a:r>
              <a:rPr sz="1400" b="0">
                <a:solidFill>
                  <a:srgbClr val="9DA9B5"/>
                </a:solidFill>
                <a:latin typeface="Arial"/>
              </a:rPr>
              <a:t> (~8-yr follow-up), it graded the risk of </a:t>
            </a:r>
            <a:r>
              <a:rPr sz="1400" b="1">
                <a:solidFill>
                  <a:srgbClr val="ECEFF3"/>
                </a:solidFill>
                <a:latin typeface="Arial"/>
              </a:rPr>
              <a:t>vascular intervention</a:t>
            </a:r>
            <a:r>
              <a:rPr sz="1400" b="0">
                <a:solidFill>
                  <a:srgbClr val="9DA9B5"/>
                </a:solidFill>
                <a:latin typeface="Arial"/>
              </a:rPr>
              <a:t> — overall and within every high-risk subgroup (severe BAC vs zero).</a:t>
            </a:r>
          </a:p>
        </p:txBody>
      </p:sp>
      <p:sp>
        <p:nvSpPr>
          <p:cNvPr id="6" name="TextBox 5"/>
          <p:cNvSpPr txBox="1"/>
          <p:nvPr/>
        </p:nvSpPr>
        <p:spPr>
          <a:xfrm>
            <a:off x="777240" y="4183634"/>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[your group], abstract — adj. age, DM, HTN, HLD, CKD, smoking.</a:t>
            </a:r>
          </a:p>
        </p:txBody>
      </p:sp>
      <p:sp>
        <p:nvSpPr>
          <p:cNvPr id="7" name="TextBox 6"/>
          <p:cNvSpPr txBox="1"/>
          <p:nvPr/>
        </p:nvSpPr>
        <p:spPr>
          <a:xfrm>
            <a:off x="777240" y="4530090"/>
            <a:ext cx="598932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Peripheral angiogram (PAD). Source: Radiopaedia.org (CC).</a:t>
            </a:r>
          </a:p>
        </p:txBody>
      </p:sp>
      <p:sp>
        <p:nvSpPr>
          <p:cNvPr id="8" name="Rounded Rectangle 7"/>
          <p:cNvSpPr/>
          <p:nvPr/>
        </p:nvSpPr>
        <p:spPr>
          <a:xfrm>
            <a:off x="7301774" y="832104"/>
            <a:ext cx="4004490" cy="5193792"/>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_72dc4dd0ee.jpg"/>
          <p:cNvPicPr>
            <a:picLocks noChangeAspect="1"/>
          </p:cNvPicPr>
          <p:nvPr/>
        </p:nvPicPr>
        <p:blipFill>
          <a:blip r:embed="rId3"/>
          <a:stretch>
            <a:fillRect/>
          </a:stretch>
        </p:blipFill>
        <p:spPr>
          <a:xfrm>
            <a:off x="7384070" y="914400"/>
            <a:ext cx="3839898" cy="50292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2790190"/>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BAC and </a:t>
            </a:r>
            <a:r>
              <a:rPr sz="1400" b="0">
                <a:solidFill>
                  <a:srgbClr val="E7AC51"/>
                </a:solidFill>
                <a:latin typeface="Arial"/>
              </a:rPr>
              <a:t>valvular disease.</a:t>
            </a:r>
          </a:p>
        </p:txBody>
      </p:sp>
      <p:sp>
        <p:nvSpPr>
          <p:cNvPr id="5" name="TextBox 4"/>
          <p:cNvSpPr txBox="1"/>
          <p:nvPr/>
        </p:nvSpPr>
        <p:spPr>
          <a:xfrm>
            <a:off x="777240" y="3136646"/>
            <a:ext cx="5989320" cy="801623"/>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122,011 women.</a:t>
            </a:r>
            <a:r>
              <a:rPr sz="1400" b="0">
                <a:solidFill>
                  <a:srgbClr val="9DA9B5"/>
                </a:solidFill>
                <a:latin typeface="Arial"/>
              </a:rPr>
              <a:t> Severe BAC vs none — </a:t>
            </a:r>
            <a:r>
              <a:rPr sz="1400" b="1">
                <a:solidFill>
                  <a:srgbClr val="ECEFF3"/>
                </a:solidFill>
                <a:latin typeface="Arial"/>
              </a:rPr>
              <a:t>AS 11.4 · AR 3.1 · MR 2.6 · TR 2.3</a:t>
            </a:r>
            <a:r>
              <a:rPr sz="1400" b="0">
                <a:solidFill>
                  <a:srgbClr val="9DA9B5"/>
                </a:solidFill>
                <a:latin typeface="Arial"/>
              </a:rPr>
              <a:t>; </a:t>
            </a:r>
            <a:r>
              <a:rPr sz="1400" b="1">
                <a:solidFill>
                  <a:srgbClr val="ECEFF3"/>
                </a:solidFill>
                <a:latin typeface="Arial"/>
              </a:rPr>
              <a:t>mitral stenosis null</a:t>
            </a:r>
            <a:r>
              <a:rPr sz="1400" b="0">
                <a:solidFill>
                  <a:srgbClr val="9DA9B5"/>
                </a:solidFill>
                <a:latin typeface="Arial"/>
              </a:rPr>
              <a:t> (negative control). 5-yr any-VHD </a:t>
            </a:r>
            <a:r>
              <a:rPr sz="1400" b="1">
                <a:solidFill>
                  <a:srgbClr val="ECEFF3"/>
                </a:solidFill>
                <a:latin typeface="Arial"/>
              </a:rPr>
              <a:t>19.3% vs 4.6%</a:t>
            </a:r>
            <a:r>
              <a:rPr sz="1400" b="0">
                <a:solidFill>
                  <a:srgbClr val="9DA9B5"/>
                </a:solidFill>
                <a:latin typeface="Arial"/>
              </a:rPr>
              <a:t> (NNS 7).</a:t>
            </a:r>
          </a:p>
        </p:txBody>
      </p:sp>
      <p:sp>
        <p:nvSpPr>
          <p:cNvPr id="6" name="TextBox 5"/>
          <p:cNvSpPr txBox="1"/>
          <p:nvPr/>
        </p:nvSpPr>
        <p:spPr>
          <a:xfrm>
            <a:off x="777240" y="3938270"/>
            <a:ext cx="598932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Any VHD by BAC severity. </a:t>
            </a:r>
            <a:r>
              <a:rPr sz="1000" b="1">
                <a:solidFill>
                  <a:srgbClr val="ECEFF3"/>
                </a:solidFill>
                <a:latin typeface="Consolas"/>
              </a:rPr>
              <a:t>Dapamede et al., Fig. 1.</a:t>
            </a:r>
          </a:p>
        </p:txBody>
      </p:sp>
      <p:sp>
        <p:nvSpPr>
          <p:cNvPr id="7" name="TextBox 6"/>
          <p:cNvSpPr txBox="1"/>
          <p:nvPr/>
        </p:nvSpPr>
        <p:spPr>
          <a:xfrm>
            <a:off x="777240" y="4194810"/>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Calcific valve disease, cardiac MRI. Source: ECR 2024 EPOS #166904 (used with permission).</a:t>
            </a:r>
          </a:p>
        </p:txBody>
      </p:sp>
      <p:sp>
        <p:nvSpPr>
          <p:cNvPr id="8" name="Rounded Rectangle 7"/>
          <p:cNvSpPr/>
          <p:nvPr/>
        </p:nvSpPr>
        <p:spPr>
          <a:xfrm>
            <a:off x="6912864" y="1654939"/>
            <a:ext cx="4782312" cy="3548121"/>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_748c07e4e3.jpg"/>
          <p:cNvPicPr>
            <a:picLocks noChangeAspect="1"/>
          </p:cNvPicPr>
          <p:nvPr/>
        </p:nvPicPr>
        <p:blipFill>
          <a:blip r:embed="rId3"/>
          <a:stretch>
            <a:fillRect/>
          </a:stretch>
        </p:blipFill>
        <p:spPr>
          <a:xfrm>
            <a:off x="6995160" y="1737235"/>
            <a:ext cx="4617720" cy="3383529"/>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2560574"/>
            <a:ext cx="598932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BAC and </a:t>
            </a:r>
            <a:r>
              <a:rPr sz="2600" b="0">
                <a:solidFill>
                  <a:srgbClr val="E7AC51"/>
                </a:solidFill>
                <a:latin typeface="Arial"/>
              </a:rPr>
              <a:t>CAC.</a:t>
            </a:r>
          </a:p>
        </p:txBody>
      </p:sp>
      <p:sp>
        <p:nvSpPr>
          <p:cNvPr id="5" name="TextBox 4"/>
          <p:cNvSpPr txBox="1"/>
          <p:nvPr/>
        </p:nvSpPr>
        <p:spPr>
          <a:xfrm>
            <a:off x="777240" y="3094989"/>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In </a:t>
            </a:r>
            <a:r>
              <a:rPr sz="1400" b="1">
                <a:solidFill>
                  <a:srgbClr val="ECEFF3"/>
                </a:solidFill>
                <a:latin typeface="Arial"/>
              </a:rPr>
              <a:t>2,079 women</a:t>
            </a:r>
            <a:r>
              <a:rPr sz="1400" b="0">
                <a:solidFill>
                  <a:srgbClr val="9DA9B5"/>
                </a:solidFill>
                <a:latin typeface="Arial"/>
              </a:rPr>
              <a:t> who later had a cardiac CT, detectable </a:t>
            </a:r>
            <a:r>
              <a:rPr sz="1400" b="1">
                <a:solidFill>
                  <a:srgbClr val="ECEFF3"/>
                </a:solidFill>
                <a:latin typeface="Arial"/>
              </a:rPr>
              <a:t>coronary calcium rose 38% → 67%</a:t>
            </a:r>
            <a:r>
              <a:rPr sz="1400" b="0">
                <a:solidFill>
                  <a:srgbClr val="9DA9B5"/>
                </a:solidFill>
                <a:latin typeface="Arial"/>
              </a:rPr>
              <a:t> across BAC tiers; CAC&gt;100 up </a:t>
            </a:r>
            <a:r>
              <a:rPr sz="1400" b="1">
                <a:solidFill>
                  <a:srgbClr val="ECEFF3"/>
                </a:solidFill>
                <a:latin typeface="Arial"/>
              </a:rPr>
              <a:t>2.5×</a:t>
            </a:r>
            <a:r>
              <a:rPr sz="1400" b="0">
                <a:solidFill>
                  <a:srgbClr val="9DA9B5"/>
                </a:solidFill>
                <a:latin typeface="Arial"/>
              </a:rPr>
              <a:t>. BAC independently predicted CAC, age-adjusted (</a:t>
            </a:r>
            <a:r>
              <a:rPr sz="1400" b="1">
                <a:solidFill>
                  <a:srgbClr val="ECEFF3"/>
                </a:solidFill>
                <a:latin typeface="Arial"/>
              </a:rPr>
              <a:t>OR 1.32 / SD</a:t>
            </a:r>
            <a:r>
              <a:rPr sz="1400" b="0">
                <a:solidFill>
                  <a:srgbClr val="9DA9B5"/>
                </a:solidFill>
                <a:latin typeface="Arial"/>
              </a:rPr>
              <a:t>).</a:t>
            </a:r>
          </a:p>
        </p:txBody>
      </p:sp>
      <p:sp>
        <p:nvSpPr>
          <p:cNvPr id="6" name="TextBox 5"/>
          <p:cNvSpPr txBox="1"/>
          <p:nvPr/>
        </p:nvSpPr>
        <p:spPr>
          <a:xfrm>
            <a:off x="777240" y="3896614"/>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The mammogram previews the coronary CT.</a:t>
            </a:r>
          </a:p>
        </p:txBody>
      </p:sp>
      <p:sp>
        <p:nvSpPr>
          <p:cNvPr id="7" name="TextBox 6"/>
          <p:cNvSpPr txBox="1"/>
          <p:nvPr/>
        </p:nvSpPr>
        <p:spPr>
          <a:xfrm>
            <a:off x="777240" y="4243070"/>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[your group], RSNA 2026 abstract (BAC–CAC).</a:t>
            </a:r>
          </a:p>
        </p:txBody>
      </p:sp>
      <p:sp>
        <p:nvSpPr>
          <p:cNvPr id="8" name="TextBox 7"/>
          <p:cNvSpPr txBox="1"/>
          <p:nvPr/>
        </p:nvSpPr>
        <p:spPr>
          <a:xfrm>
            <a:off x="777240" y="4589525"/>
            <a:ext cx="598932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CAC detection by BAC tier (n=2,079).</a:t>
            </a:r>
          </a:p>
        </p:txBody>
      </p:sp>
      <p:sp>
        <p:nvSpPr>
          <p:cNvPr id="9" name="Rounded Rectangle 8"/>
          <p:cNvSpPr/>
          <p:nvPr/>
        </p:nvSpPr>
        <p:spPr>
          <a:xfrm>
            <a:off x="6912864" y="1967801"/>
            <a:ext cx="4782312" cy="2922397"/>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_3e559c34cb.jpg"/>
          <p:cNvPicPr>
            <a:picLocks noChangeAspect="1"/>
          </p:cNvPicPr>
          <p:nvPr/>
        </p:nvPicPr>
        <p:blipFill>
          <a:blip r:embed="rId3"/>
          <a:stretch>
            <a:fillRect/>
          </a:stretch>
        </p:blipFill>
        <p:spPr>
          <a:xfrm>
            <a:off x="6995160" y="2050097"/>
            <a:ext cx="4617720" cy="275780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1288541"/>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BAC and </a:t>
            </a:r>
            <a:r>
              <a:rPr sz="2600" b="0">
                <a:solidFill>
                  <a:srgbClr val="E7AC51"/>
                </a:solidFill>
                <a:latin typeface="Arial"/>
              </a:rPr>
              <a:t>costochondral calcification.</a:t>
            </a:r>
          </a:p>
        </p:txBody>
      </p:sp>
      <p:sp>
        <p:nvSpPr>
          <p:cNvPr id="5" name="TextBox 4"/>
          <p:cNvSpPr txBox="1"/>
          <p:nvPr/>
        </p:nvSpPr>
        <p:spPr>
          <a:xfrm>
            <a:off x="777240" y="182295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 </a:t>
            </a:r>
            <a:r>
              <a:rPr sz="1400" b="1">
                <a:solidFill>
                  <a:srgbClr val="ECEFF3"/>
                </a:solidFill>
                <a:latin typeface="Arial"/>
              </a:rPr>
              <a:t>non-vascular</a:t>
            </a:r>
            <a:r>
              <a:rPr sz="1400" b="0">
                <a:solidFill>
                  <a:srgbClr val="9DA9B5"/>
                </a:solidFill>
                <a:latin typeface="Arial"/>
              </a:rPr>
              <a:t> marker — calcification in the costal cartilage on chest CT (</a:t>
            </a:r>
            <a:r>
              <a:rPr sz="1400" b="1">
                <a:solidFill>
                  <a:srgbClr val="ECEFF3"/>
                </a:solidFill>
                <a:latin typeface="Arial"/>
              </a:rPr>
              <a:t>n=1,311</a:t>
            </a:r>
            <a:r>
              <a:rPr sz="1400" b="0">
                <a:solidFill>
                  <a:srgbClr val="9DA9B5"/>
                </a:solidFill>
                <a:latin typeface="Arial"/>
              </a:rPr>
              <a:t>). Correlated with BAC (ρ=0.089, p=0.001).</a:t>
            </a:r>
          </a:p>
        </p:txBody>
      </p:sp>
      <p:sp>
        <p:nvSpPr>
          <p:cNvPr id="6" name="TextBox 5"/>
          <p:cNvSpPr txBox="1"/>
          <p:nvPr/>
        </p:nvSpPr>
        <p:spPr>
          <a:xfrm>
            <a:off x="777240" y="2396998"/>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High BAC vs zero (ΔCCC)</a:t>
            </a:r>
          </a:p>
        </p:txBody>
      </p:sp>
      <p:sp>
        <p:nvSpPr>
          <p:cNvPr id="7" name="TextBox 6"/>
          <p:cNvSpPr txBox="1"/>
          <p:nvPr/>
        </p:nvSpPr>
        <p:spPr>
          <a:xfrm>
            <a:off x="777240" y="274345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adj. p</a:t>
            </a:r>
          </a:p>
        </p:txBody>
      </p:sp>
      <p:sp>
        <p:nvSpPr>
          <p:cNvPr id="8" name="TextBox 7"/>
          <p:cNvSpPr txBox="1"/>
          <p:nvPr/>
        </p:nvSpPr>
        <p:spPr>
          <a:xfrm>
            <a:off x="777240" y="308991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Median (q0.50)</a:t>
            </a:r>
          </a:p>
        </p:txBody>
      </p:sp>
      <p:sp>
        <p:nvSpPr>
          <p:cNvPr id="9" name="TextBox 8"/>
          <p:cNvSpPr txBox="1"/>
          <p:nvPr/>
        </p:nvSpPr>
        <p:spPr>
          <a:xfrm>
            <a:off x="777240" y="3436366"/>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NS · 0.47</a:t>
            </a:r>
          </a:p>
        </p:txBody>
      </p:sp>
      <p:sp>
        <p:nvSpPr>
          <p:cNvPr id="10" name="TextBox 9"/>
          <p:cNvSpPr txBox="1"/>
          <p:nvPr/>
        </p:nvSpPr>
        <p:spPr>
          <a:xfrm>
            <a:off x="777240" y="3782822"/>
            <a:ext cx="10607040" cy="346456"/>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75th pct (q0.75)</a:t>
            </a:r>
            <a:r>
              <a:rPr sz="1400" b="0">
                <a:solidFill>
                  <a:srgbClr val="9DA9B5"/>
                </a:solidFill>
                <a:latin typeface="Arial"/>
              </a:rPr>
              <a:t> </a:t>
            </a:r>
            <a:r>
              <a:rPr sz="1400" b="0">
                <a:solidFill>
                  <a:srgbClr val="E7AC51"/>
                </a:solidFill>
                <a:latin typeface="Arial"/>
              </a:rPr>
              <a:t>+3,408 mm³</a:t>
            </a:r>
          </a:p>
        </p:txBody>
      </p:sp>
      <p:sp>
        <p:nvSpPr>
          <p:cNvPr id="11" name="TextBox 10"/>
          <p:cNvSpPr txBox="1"/>
          <p:nvPr/>
        </p:nvSpPr>
        <p:spPr>
          <a:xfrm>
            <a:off x="777240" y="4129278"/>
            <a:ext cx="10607040" cy="346456"/>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&lt;0.001</a:t>
            </a:r>
          </a:p>
        </p:txBody>
      </p:sp>
      <p:sp>
        <p:nvSpPr>
          <p:cNvPr id="12" name="TextBox 11"/>
          <p:cNvSpPr txBox="1"/>
          <p:nvPr/>
        </p:nvSpPr>
        <p:spPr>
          <a:xfrm>
            <a:off x="777240" y="447573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Vascular + valvular + skeletal — one free mammographic finding.</a:t>
            </a:r>
          </a:p>
        </p:txBody>
      </p:sp>
      <p:sp>
        <p:nvSpPr>
          <p:cNvPr id="13" name="TextBox 12"/>
          <p:cNvSpPr txBox="1"/>
          <p:nvPr/>
        </p:nvSpPr>
        <p:spPr>
          <a:xfrm>
            <a:off x="777240" y="4822189"/>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[your group], RSNA 2026 abstract (BAC–CCC) · quantile regression, adj. age + DM.</a:t>
            </a:r>
          </a:p>
        </p:txBody>
      </p:sp>
      <p:sp>
        <p:nvSpPr>
          <p:cNvPr id="14" name="TextBox 13"/>
          <p:cNvSpPr txBox="1"/>
          <p:nvPr/>
        </p:nvSpPr>
        <p:spPr>
          <a:xfrm>
            <a:off x="777240" y="5168645"/>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Costochondral calcification</a:t>
            </a:r>
          </a:p>
        </p:txBody>
      </p:sp>
      <p:sp>
        <p:nvSpPr>
          <p:cNvPr id="15" name="TextBox 14"/>
          <p:cNvSpPr txBox="1"/>
          <p:nvPr/>
        </p:nvSpPr>
        <p:spPr>
          <a:xfrm>
            <a:off x="777240" y="5515101"/>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drop in — confirm reuse rights ]</a:t>
            </a:r>
          </a:p>
        </p:txBody>
      </p:sp>
      <p:sp>
        <p:nvSpPr>
          <p:cNvPr id="16" name="TextBox 15"/>
          <p:cNvSpPr txBox="1"/>
          <p:nvPr/>
        </p:nvSpPr>
        <p:spPr>
          <a:xfrm>
            <a:off x="777240" y="5861557"/>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Illustrative. Source: Sariyıldız et al., via ResearchGate.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1928622"/>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Closing the loop: the </a:t>
            </a:r>
            <a:r>
              <a:rPr sz="2600" b="0">
                <a:solidFill>
                  <a:srgbClr val="E7AC51"/>
                </a:solidFill>
                <a:latin typeface="Arial"/>
              </a:rPr>
              <a:t>I-BAC pragmatic trial.</a:t>
            </a:r>
          </a:p>
        </p:txBody>
      </p:sp>
      <p:sp>
        <p:nvSpPr>
          <p:cNvPr id="5" name="TextBox 4"/>
          <p:cNvSpPr txBox="1"/>
          <p:nvPr/>
        </p:nvSpPr>
        <p:spPr>
          <a:xfrm>
            <a:off x="777240" y="2832862"/>
            <a:ext cx="5989320" cy="1256792"/>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gap: </a:t>
            </a:r>
            <a:r>
              <a:rPr sz="1400" b="1">
                <a:solidFill>
                  <a:srgbClr val="ECEFF3"/>
                </a:solidFill>
                <a:latin typeface="Arial"/>
              </a:rPr>
              <a:t>&lt;7% (Emory) / 15% (Mayo)</a:t>
            </a:r>
            <a:r>
              <a:rPr sz="1400" b="0">
                <a:solidFill>
                  <a:srgbClr val="9DA9B5"/>
                </a:solidFill>
                <a:latin typeface="Arial"/>
              </a:rPr>
              <a:t> of women had the chart data to even compute a PREVENT/ASCVD score — including women with severe BAC. </a:t>
            </a:r>
            <a:r>
              <a:rPr sz="1400" b="1">
                <a:solidFill>
                  <a:srgbClr val="ECEFF3"/>
                </a:solidFill>
                <a:latin typeface="Arial"/>
              </a:rPr>
              <a:t>I-BAC</a:t>
            </a:r>
            <a:r>
              <a:rPr sz="1400" b="0">
                <a:solidFill>
                  <a:srgbClr val="9DA9B5"/>
                </a:solidFill>
                <a:latin typeface="Arial"/>
              </a:rPr>
              <a:t> (R01HL167811) is a Hybrid Type 1 pragmatic RCT across Emory + Mayo AZ (~225,000 mammograms/yr).</a:t>
            </a:r>
          </a:p>
        </p:txBody>
      </p:sp>
      <p:sp>
        <p:nvSpPr>
          <p:cNvPr id="6" name="TextBox 5"/>
          <p:cNvSpPr txBox="1"/>
          <p:nvPr/>
        </p:nvSpPr>
        <p:spPr>
          <a:xfrm>
            <a:off x="777240" y="4089654"/>
            <a:ext cx="5989320" cy="5867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Deployment + pragmatic-trial structure (Aim 2): PACS BAC model → Epic/CareBricks auto-review → randomize → I-BAC notification vs usual care → RE-AIM.</a:t>
            </a:r>
          </a:p>
        </p:txBody>
      </p:sp>
      <p:sp>
        <p:nvSpPr>
          <p:cNvPr id="7" name="TextBox 6"/>
          <p:cNvSpPr txBox="1"/>
          <p:nvPr/>
        </p:nvSpPr>
        <p:spPr>
          <a:xfrm>
            <a:off x="777240" y="4676394"/>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Primary endpoint: 6-month composite of </a:t>
            </a:r>
            <a:r>
              <a:rPr sz="1400" b="1">
                <a:solidFill>
                  <a:srgbClr val="ECEFF3"/>
                </a:solidFill>
                <a:latin typeface="Arial"/>
              </a:rPr>
              <a:t>lipid panel · preventive-med change · CAC testing.</a:t>
            </a:r>
            <a:r>
              <a:rPr sz="1400" b="0">
                <a:solidFill>
                  <a:srgbClr val="9DA9B5"/>
                </a:solidFill>
                <a:latin typeface="Arial"/>
              </a:rPr>
              <a:t> Precedent: NOTIFY-PICTURE — but BAC has no management guideline yet.</a:t>
            </a:r>
          </a:p>
        </p:txBody>
      </p:sp>
      <p:sp>
        <p:nvSpPr>
          <p:cNvPr id="8" name="Rounded Rectangle 7"/>
          <p:cNvSpPr/>
          <p:nvPr/>
        </p:nvSpPr>
        <p:spPr>
          <a:xfrm>
            <a:off x="6912864" y="2707327"/>
            <a:ext cx="4782312" cy="1443345"/>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_955cf64bac.jpg"/>
          <p:cNvPicPr>
            <a:picLocks noChangeAspect="1"/>
          </p:cNvPicPr>
          <p:nvPr/>
        </p:nvPicPr>
        <p:blipFill>
          <a:blip r:embed="rId3"/>
          <a:stretch>
            <a:fillRect/>
          </a:stretch>
        </p:blipFill>
        <p:spPr>
          <a:xfrm>
            <a:off x="6995160" y="2789623"/>
            <a:ext cx="4617720" cy="1278753"/>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 → 2035</a:t>
            </a:r>
          </a:p>
        </p:txBody>
      </p:sp>
      <p:sp>
        <p:nvSpPr>
          <p:cNvPr id="4" name="TextBox 3"/>
          <p:cNvSpPr txBox="1"/>
          <p:nvPr/>
        </p:nvSpPr>
        <p:spPr>
          <a:xfrm>
            <a:off x="777240" y="2520442"/>
            <a:ext cx="10607040" cy="1018032"/>
          </a:xfrm>
          <a:prstGeom prst="rect">
            <a:avLst/>
          </a:prstGeom>
          <a:noFill/>
        </p:spPr>
        <p:txBody>
          <a:bodyPr wrap="square" lIns="25400" rIns="25400" tIns="12700" bIns="12700">
            <a:noAutofit/>
          </a:bodyPr>
          <a:lstStyle/>
          <a:p>
            <a:pPr algn="l">
              <a:lnSpc>
                <a:spcPct val="106000"/>
              </a:lnSpc>
              <a:spcAft>
                <a:spcPts val="400"/>
              </a:spcAft>
            </a:pPr>
            <a:r>
              <a:rPr sz="3000" b="0">
                <a:solidFill>
                  <a:srgbClr val="ECEFF3"/>
                </a:solidFill>
                <a:latin typeface="Arial"/>
              </a:rPr>
              <a:t>And we are on the verge of </a:t>
            </a:r>
            <a:r>
              <a:rPr sz="3000" b="0">
                <a:solidFill>
                  <a:srgbClr val="E7AC51"/>
                </a:solidFill>
                <a:latin typeface="Arial"/>
              </a:rPr>
              <a:t>multimodal, multi-omics.</a:t>
            </a:r>
          </a:p>
        </p:txBody>
      </p:sp>
      <p:sp>
        <p:nvSpPr>
          <p:cNvPr id="5" name="TextBox 4"/>
          <p:cNvSpPr txBox="1"/>
          <p:nvPr/>
        </p:nvSpPr>
        <p:spPr>
          <a:xfrm>
            <a:off x="777240" y="3538474"/>
            <a:ext cx="10607040" cy="773684"/>
          </a:xfrm>
          <a:prstGeom prst="rect">
            <a:avLst/>
          </a:prstGeom>
          <a:noFill/>
        </p:spPr>
        <p:txBody>
          <a:bodyPr wrap="square" lIns="25400" rIns="25400" tIns="12700" bIns="12700">
            <a:noAutofit/>
          </a:bodyPr>
          <a:lstStyle/>
          <a:p>
            <a:pPr algn="l">
              <a:lnSpc>
                <a:spcPct val="130000"/>
              </a:lnSpc>
              <a:spcAft>
                <a:spcPts val="400"/>
              </a:spcAft>
            </a:pPr>
            <a:r>
              <a:rPr sz="1900" b="0">
                <a:solidFill>
                  <a:srgbClr val="ECEFF3"/>
                </a:solidFill>
                <a:latin typeface="Arial"/>
              </a:rPr>
              <a:t>Everything so far is still </a:t>
            </a:r>
            <a:r>
              <a:rPr sz="1900" b="1">
                <a:solidFill>
                  <a:srgbClr val="ECEFF3"/>
                </a:solidFill>
                <a:latin typeface="Arial"/>
              </a:rPr>
              <a:t>one model, one modality</a:t>
            </a:r>
            <a:r>
              <a:rPr sz="1900" b="0">
                <a:solidFill>
                  <a:srgbClr val="ECEFF3"/>
                </a:solidFill>
                <a:latin typeface="Arial"/>
              </a:rPr>
              <a:t> — the image, or the calcium, or the tissue, read separately.</a:t>
            </a:r>
          </a:p>
        </p:txBody>
      </p:sp>
      <p:sp>
        <p:nvSpPr>
          <p:cNvPr id="6" name="TextBox 5"/>
          <p:cNvSpPr txBox="1"/>
          <p:nvPr/>
        </p:nvSpPr>
        <p:spPr>
          <a:xfrm>
            <a:off x="777240" y="431215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frontier is to combine them — </a:t>
            </a:r>
            <a:r>
              <a:rPr sz="1400" b="1">
                <a:solidFill>
                  <a:srgbClr val="ECEFF3"/>
                </a:solidFill>
                <a:latin typeface="Arial"/>
              </a:rPr>
              <a:t>imaging + pathology + genomics + the clinical record</a:t>
            </a:r>
            <a:r>
              <a:rPr sz="1400" b="0">
                <a:solidFill>
                  <a:srgbClr val="9DA9B5"/>
                </a:solidFill>
                <a:latin typeface="Arial"/>
              </a:rPr>
              <a:t> — into a single model of the patient. To see where that goes, we have to leave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42616"/>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Era III · 2035</a:t>
            </a:r>
          </a:p>
        </p:txBody>
      </p:sp>
      <p:sp>
        <p:nvSpPr>
          <p:cNvPr id="4" name="TextBox 3"/>
          <p:cNvSpPr txBox="1"/>
          <p:nvPr/>
        </p:nvSpPr>
        <p:spPr>
          <a:xfrm>
            <a:off x="777240" y="2989072"/>
            <a:ext cx="5989320" cy="790447"/>
          </a:xfrm>
          <a:prstGeom prst="rect">
            <a:avLst/>
          </a:prstGeom>
          <a:noFill/>
        </p:spPr>
        <p:txBody>
          <a:bodyPr wrap="square" lIns="25400" rIns="25400" tIns="12700" bIns="12700">
            <a:noAutofit/>
          </a:bodyPr>
          <a:lstStyle/>
          <a:p>
            <a:pPr algn="l">
              <a:lnSpc>
                <a:spcPct val="106000"/>
              </a:lnSpc>
              <a:spcAft>
                <a:spcPts val="400"/>
              </a:spcAft>
            </a:pPr>
            <a:r>
              <a:rPr sz="4400" b="0">
                <a:solidFill>
                  <a:srgbClr val="ECEFF3"/>
                </a:solidFill>
                <a:latin typeface="Arial"/>
              </a:rPr>
              <a:t>The year is </a:t>
            </a:r>
            <a:r>
              <a:rPr sz="4400" b="0">
                <a:solidFill>
                  <a:srgbClr val="E7AC51"/>
                </a:solidFill>
                <a:latin typeface="Arial"/>
              </a:rPr>
              <a:t>2035.</a:t>
            </a:r>
          </a:p>
        </p:txBody>
      </p:sp>
      <p:sp>
        <p:nvSpPr>
          <p:cNvPr id="5" name="TextBox 4"/>
          <p:cNvSpPr txBox="1"/>
          <p:nvPr/>
        </p:nvSpPr>
        <p:spPr>
          <a:xfrm>
            <a:off x="777240" y="3779520"/>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From here, today's models are a decade old. The real question: what happens when imaging, pathology, and omics finally converge — </a:t>
            </a:r>
            <a:r>
              <a:rPr sz="1400" b="1">
                <a:solidFill>
                  <a:srgbClr val="ECEFF3"/>
                </a:solidFill>
                <a:latin typeface="Arial"/>
              </a:rPr>
              <a:t>on one patient.</a:t>
            </a:r>
          </a:p>
        </p:txBody>
      </p:sp>
      <p:pic>
        <p:nvPicPr>
          <p:cNvPr id="6" name="Picture 5" descr="s_49b2a1b734.png"/>
          <p:cNvPicPr>
            <a:picLocks noChangeAspect="1"/>
          </p:cNvPicPr>
          <p:nvPr/>
        </p:nvPicPr>
        <p:blipFill>
          <a:blip r:embed="rId3"/>
          <a:stretch>
            <a:fillRect/>
          </a:stretch>
        </p:blipFill>
        <p:spPr>
          <a:xfrm>
            <a:off x="6995160" y="2109651"/>
            <a:ext cx="4617720" cy="263869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