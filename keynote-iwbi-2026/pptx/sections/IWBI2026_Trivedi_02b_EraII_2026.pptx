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organs beyond breast, same story. On head CT, a commercial intracranial-hemorrhage detector looked strong overall at 82.2 percent — but by the age of the bleed it collapsed: subacute 45.5 percent, chronic 54.8 percent, and in the outpatient setting 72.2 percent. On chest CT, an FDA-cleared pulmonary-embolism model cleared at 94.9 percent reached 86.8 percent overall across two years of real-world CT angiograms, then fell apart on the hard cases — non-acute 65.3 percent, subsegmental 72.9 percent, left-sided 70.5 percent, and incidental PE on routine scans just 73.5 percent (354 of 538). Same shape as breast: a strong average, weak exactly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13.png"/><Relationship Id="rId5"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5.jpg"/><Relationship Id="rId5"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8229600" cy="310896"/>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2606040"/>
            <a:ext cx="6309360" cy="868680"/>
          </a:xfrm>
          <a:prstGeom prst="rect">
            <a:avLst/>
          </a:prstGeom>
          <a:noFill/>
        </p:spPr>
        <p:txBody>
          <a:bodyPr wrap="square" anchor="t" lIns="0" rIns="0" tIns="0" bIns="0">
            <a:spAutoFit/>
          </a:bodyPr>
          <a:lstStyle/>
          <a:p>
            <a:pPr algn="l">
              <a:lnSpc>
                <a:spcPct val="100000"/>
              </a:lnSpc>
            </a:pPr>
            <a:r>
              <a:rPr sz="4400" b="1" i="0">
                <a:solidFill>
                  <a:srgbClr val="ECEFF3"/>
                </a:solidFill>
                <a:latin typeface="Arial"/>
              </a:rPr>
              <a:t>The year is </a:t>
            </a:r>
            <a:r>
              <a:rPr sz="4400" b="1" i="0">
                <a:solidFill>
                  <a:srgbClr val="E7AC51"/>
                </a:solidFill>
                <a:latin typeface="Arial"/>
              </a:rPr>
              <a:t>2026.</a:t>
            </a:r>
          </a:p>
        </p:txBody>
      </p:sp>
      <p:sp>
        <p:nvSpPr>
          <p:cNvPr id="6" name="TextBox 5"/>
          <p:cNvSpPr txBox="1"/>
          <p:nvPr/>
        </p:nvSpPr>
        <p:spPr>
          <a:xfrm>
            <a:off x="777240" y="3611880"/>
            <a:ext cx="5760720" cy="1188720"/>
          </a:xfrm>
          <a:prstGeom prst="rect">
            <a:avLst/>
          </a:prstGeom>
          <a:noFill/>
        </p:spPr>
        <p:txBody>
          <a:bodyPr wrap="square" anchor="t" lIns="0" rIns="0" tIns="0" bIns="0">
            <a:spAutoFit/>
          </a:bodyPr>
          <a:lstStyle/>
          <a:p>
            <a:pPr algn="l">
              <a:lnSpc>
                <a:spcPct val="140000"/>
              </a:lnSpc>
            </a:pPr>
            <a:r>
              <a:rPr sz="1700" b="0" i="0">
                <a:solidFill>
                  <a:srgbClr val="9DA9B5"/>
                </a:solidFill>
                <a:latin typeface="Arial"/>
              </a:rPr>
              <a:t>Ten years on, the early promise has been put to the test — </a:t>
            </a:r>
            <a:r>
              <a:rPr sz="1700" b="1" i="0">
                <a:solidFill>
                  <a:srgbClr val="ECEFF3"/>
                </a:solidFill>
                <a:latin typeface="Arial"/>
              </a:rPr>
              <a:t>prospectively, in real screening programs.</a:t>
            </a:r>
          </a:p>
        </p:txBody>
      </p:sp>
      <p:pic>
        <p:nvPicPr>
          <p:cNvPr id="7" name="Picture 6" descr="svg_fc1c61fe68.png"/>
          <p:cNvPicPr>
            <a:picLocks noChangeAspect="1"/>
          </p:cNvPicPr>
          <p:nvPr/>
        </p:nvPicPr>
        <p:blipFill>
          <a:blip r:embed="rId4"/>
          <a:stretch>
            <a:fillRect/>
          </a:stretch>
        </p:blipFill>
        <p:spPr>
          <a:xfrm>
            <a:off x="7132320" y="1828800"/>
            <a:ext cx="448056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960120"/>
            <a:ext cx="10607040" cy="128016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2026: two prospective studies show </a:t>
            </a:r>
            <a:r>
              <a:rPr sz="2700" b="1" i="0">
                <a:solidFill>
                  <a:srgbClr val="E7AC51"/>
                </a:solidFill>
                <a:latin typeface="Arial"/>
              </a:rPr>
              <a:t>AI screening works.</a:t>
            </a:r>
          </a:p>
        </p:txBody>
      </p:sp>
      <p:sp>
        <p:nvSpPr>
          <p:cNvPr id="6" name="Rounded Rectangle 5"/>
          <p:cNvSpPr/>
          <p:nvPr/>
        </p:nvSpPr>
        <p:spPr>
          <a:xfrm>
            <a:off x="77724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MASAI · SWEDEN · RCT (~105,000)</a:t>
            </a:r>
          </a:p>
          <a:p>
            <a:pPr algn="l">
              <a:lnSpc>
                <a:spcPct val="118000"/>
              </a:lnSpc>
              <a:spcBef>
                <a:spcPts val="800"/>
              </a:spcBef>
            </a:pPr>
            <a:r>
              <a:rPr sz="1600" b="1" i="0">
                <a:solidFill>
                  <a:srgbClr val="ECEFF3"/>
                </a:solidFill>
                <a:latin typeface="Arial"/>
              </a:rPr>
              <a:t>Interval cancers non-inferior</a:t>
            </a:r>
            <a:r>
              <a:rPr sz="1600" b="0" i="0">
                <a:solidFill>
                  <a:srgbClr val="5C6975"/>
                </a:solidFill>
                <a:latin typeface="Arial"/>
              </a:rPr>
              <a:t> (ratio 0.88)</a:t>
            </a:r>
          </a:p>
          <a:p>
            <a:pPr algn="l">
              <a:lnSpc>
                <a:spcPct val="130000"/>
              </a:lnSpc>
              <a:spcBef>
                <a:spcPts val="700"/>
              </a:spcBef>
            </a:pPr>
            <a:r>
              <a:rPr sz="1300" b="0" i="0">
                <a:solidFill>
                  <a:srgbClr val="9DA9B5"/>
                </a:solidFill>
                <a:latin typeface="Arial"/>
              </a:rPr>
              <a:t>Sensitivity </a:t>
            </a:r>
            <a:r>
              <a:rPr sz="1300" b="1" i="0">
                <a:solidFill>
                  <a:srgbClr val="ECEFF3"/>
                </a:solidFill>
                <a:latin typeface="Arial"/>
              </a:rPr>
              <a:t>80.5%</a:t>
            </a:r>
            <a:r>
              <a:rPr sz="1300" b="0" i="0">
                <a:solidFill>
                  <a:srgbClr val="9DA9B5"/>
                </a:solidFill>
                <a:latin typeface="Arial"/>
              </a:rPr>
              <a:t> vs 73.8% at matched specificity · </a:t>
            </a:r>
            <a:r>
              <a:rPr sz="1300" b="1" i="0">
                <a:solidFill>
                  <a:srgbClr val="ECEFF3"/>
                </a:solidFill>
                <a:latin typeface="Arial"/>
              </a:rPr>
              <a:t>~44%</a:t>
            </a:r>
            <a:r>
              <a:rPr sz="1300" b="0" i="0">
                <a:solidFill>
                  <a:srgbClr val="9DA9B5"/>
                </a:solidFill>
                <a:latin typeface="Arial"/>
              </a:rPr>
              <a:t> less reading workload.</a:t>
            </a:r>
          </a:p>
          <a:p>
            <a:pPr algn="l">
              <a:lnSpc>
                <a:spcPct val="100000"/>
              </a:lnSpc>
              <a:spcBef>
                <a:spcPts val="900"/>
              </a:spcBef>
            </a:pPr>
            <a:r>
              <a:rPr sz="900" b="0" i="0">
                <a:solidFill>
                  <a:srgbClr val="5C6975"/>
                </a:solidFill>
                <a:latin typeface="Consolas"/>
              </a:rPr>
              <a:t>Gommers/Lång et al., Lancet 2026;407:505–514</a:t>
            </a:r>
          </a:p>
        </p:txBody>
      </p:sp>
      <p:sp>
        <p:nvSpPr>
          <p:cNvPr id="7" name="Rectangle 6"/>
          <p:cNvSpPr/>
          <p:nvPr/>
        </p:nvSpPr>
        <p:spPr>
          <a:xfrm>
            <a:off x="77724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7220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PRAIM · GERMANY · REAL-WORLD (463,000)</a:t>
            </a:r>
          </a:p>
          <a:p>
            <a:pPr algn="l">
              <a:lnSpc>
                <a:spcPct val="118000"/>
              </a:lnSpc>
              <a:spcBef>
                <a:spcPts val="800"/>
              </a:spcBef>
            </a:pPr>
            <a:r>
              <a:rPr sz="1600" b="1" i="0">
                <a:solidFill>
                  <a:srgbClr val="E7AC51"/>
                </a:solidFill>
                <a:latin typeface="Arial"/>
              </a:rPr>
              <a:t>+17.6%</a:t>
            </a:r>
            <a:r>
              <a:rPr sz="1600" b="1" i="0">
                <a:solidFill>
                  <a:srgbClr val="ECEFF3"/>
                </a:solidFill>
                <a:latin typeface="Arial"/>
              </a:rPr>
              <a:t> cancers detected</a:t>
            </a:r>
          </a:p>
          <a:p>
            <a:pPr algn="l">
              <a:lnSpc>
                <a:spcPct val="130000"/>
              </a:lnSpc>
              <a:spcBef>
                <a:spcPts val="700"/>
              </a:spcBef>
            </a:pPr>
            <a:r>
              <a:rPr sz="1300" b="0" i="0">
                <a:solidFill>
                  <a:srgbClr val="9DA9B5"/>
                </a:solidFill>
                <a:latin typeface="Arial"/>
              </a:rPr>
              <a:t>Recall </a:t>
            </a:r>
            <a:r>
              <a:rPr sz="1300" b="1" i="0">
                <a:solidFill>
                  <a:srgbClr val="ECEFF3"/>
                </a:solidFill>
                <a:latin typeface="Arial"/>
              </a:rPr>
              <a:t>non-inferior</a:t>
            </a:r>
            <a:r>
              <a:rPr sz="1300" b="0" i="0">
                <a:solidFill>
                  <a:srgbClr val="9DA9B5"/>
                </a:solidFill>
                <a:latin typeface="Arial"/>
              </a:rPr>
              <a:t> · 6.7 vs 5.7 CDR / 1,000 · 12 sites, 119 radiologists.</a:t>
            </a:r>
          </a:p>
          <a:p>
            <a:pPr algn="l">
              <a:lnSpc>
                <a:spcPct val="100000"/>
              </a:lnSpc>
              <a:spcBef>
                <a:spcPts val="900"/>
              </a:spcBef>
            </a:pPr>
            <a:r>
              <a:rPr sz="900" b="0" i="0">
                <a:solidFill>
                  <a:srgbClr val="5C6975"/>
                </a:solidFill>
                <a:latin typeface="Consolas"/>
              </a:rPr>
              <a:t>Eisemann et al., Nature Medicine 2025</a:t>
            </a:r>
          </a:p>
        </p:txBody>
      </p:sp>
      <p:sp>
        <p:nvSpPr>
          <p:cNvPr id="9" name="Rectangle 8"/>
          <p:cNvSpPr/>
          <p:nvPr/>
        </p:nvSpPr>
        <p:spPr>
          <a:xfrm>
            <a:off x="617220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92040"/>
            <a:ext cx="27432" cy="118872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92040"/>
            <a:ext cx="10424160" cy="1188720"/>
          </a:xfrm>
          <a:prstGeom prst="rect">
            <a:avLst/>
          </a:prstGeom>
          <a:noFill/>
        </p:spPr>
        <p:txBody>
          <a:bodyPr wrap="square" anchor="t" lIns="0" rIns="0" tIns="0" bIns="0">
            <a:spAutoFit/>
          </a:bodyPr>
          <a:lstStyle/>
          <a:p>
            <a:pPr algn="l">
              <a:lnSpc>
                <a:spcPct val="135000"/>
              </a:lnSpc>
            </a:pPr>
            <a:r>
              <a:rPr sz="1350" b="0" i="0">
                <a:solidFill>
                  <a:srgbClr val="9DA9B5"/>
                </a:solidFill>
                <a:latin typeface="Arial"/>
              </a:rPr>
              <a:t>A third is underway: </a:t>
            </a:r>
            <a:r>
              <a:rPr sz="1350" b="1" i="0">
                <a:solidFill>
                  <a:srgbClr val="ECEFF3"/>
                </a:solidFill>
                <a:latin typeface="Arial"/>
              </a:rPr>
              <a:t>PRISM</a:t>
            </a:r>
            <a:r>
              <a:rPr sz="1350" b="0" i="0">
                <a:solidFill>
                  <a:srgbClr val="9DA9B5"/>
                </a:solidFill>
                <a:latin typeface="Arial"/>
              </a:rPr>
              <a:t> — the first large randomized trial of screening AI in the United States (Transpara; $16M PCORI; 7 sites; announced Sept 2025, recruiting). It tests the </a:t>
            </a:r>
            <a:r>
              <a:rPr sz="1350" b="1" i="0">
                <a:solidFill>
                  <a:srgbClr val="ECEFF3"/>
                </a:solidFill>
                <a:latin typeface="Arial"/>
              </a:rPr>
              <a:t>US single-reader workflow</a:t>
            </a:r>
            <a:r>
              <a:rPr sz="1350" b="0" i="0">
                <a:solidFill>
                  <a:srgbClr val="9DA9B5"/>
                </a:solidFill>
                <a:latin typeface="Arial"/>
              </a:rPr>
              <a:t> directly.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The averages look strong — but </a:t>
            </a:r>
            <a:r>
              <a:rPr sz="2400" b="1" i="0">
                <a:solidFill>
                  <a:srgbClr val="E7AC51"/>
                </a:solidFill>
                <a:latin typeface="Arial"/>
              </a:rPr>
              <a:t>what counts as the truth?</a:t>
            </a:r>
          </a:p>
        </p:txBody>
      </p:sp>
      <p:sp>
        <p:nvSpPr>
          <p:cNvPr id="6" name="TextBox 5"/>
          <p:cNvSpPr txBox="1"/>
          <p:nvPr/>
        </p:nvSpPr>
        <p:spPr>
          <a:xfrm>
            <a:off x="777240" y="2834640"/>
            <a:ext cx="5852160" cy="23774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label is not in the image — it comes from follow-up and pathology. Assigning it is a cascade of judgment calls (~163,000 EMBED exams, </a:t>
            </a:r>
            <a:r>
              <a:rPr sz="1450" b="1" i="0">
                <a:solidFill>
                  <a:srgbClr val="ECEFF3"/>
                </a:solidFill>
                <a:latin typeface="Arial"/>
              </a:rPr>
              <a:t>AUC 0.91</a:t>
            </a:r>
            <a:r>
              <a:rPr sz="1450" b="0" i="0">
                <a:solidFill>
                  <a:srgbClr val="9DA9B5"/>
                </a:solidFill>
                <a:latin typeface="Arial"/>
              </a:rPr>
              <a:t>), and it sets the denominator for </a:t>
            </a:r>
            <a:r>
              <a:rPr sz="1450" b="1" i="0">
                <a:solidFill>
                  <a:srgbClr val="ECEFF3"/>
                </a:solidFill>
                <a:latin typeface="Arial"/>
              </a:rPr>
              <a:t>every downstream number.</a:t>
            </a:r>
          </a:p>
        </p:txBody>
      </p:sp>
      <p:sp>
        <p:nvSpPr>
          <p:cNvPr id="7" name="Rounded Rectangle 6"/>
          <p:cNvSpPr/>
          <p:nvPr/>
        </p:nvSpPr>
        <p:spPr>
          <a:xfrm>
            <a:off x="7061981" y="1005839"/>
            <a:ext cx="4529796" cy="530352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bee5b46b67.png"/>
          <p:cNvPicPr>
            <a:picLocks noChangeAspect="1"/>
          </p:cNvPicPr>
          <p:nvPr/>
        </p:nvPicPr>
        <p:blipFill>
          <a:blip r:embed="rId4"/>
          <a:stretch>
            <a:fillRect/>
          </a:stretch>
        </p:blipFill>
        <p:spPr>
          <a:xfrm>
            <a:off x="7153421" y="1097280"/>
            <a:ext cx="4346916"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outcomes and cancer types.</a:t>
            </a:r>
          </a:p>
        </p:txBody>
      </p:sp>
      <p:sp>
        <p:nvSpPr>
          <p:cNvPr id="6" name="Rounded Rectangle 5"/>
          <p:cNvSpPr/>
          <p:nvPr/>
        </p:nvSpPr>
        <p:spPr>
          <a:xfrm>
            <a:off x="1591592" y="2057400"/>
            <a:ext cx="3583374"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f7c7ba6b41.png"/>
          <p:cNvPicPr>
            <a:picLocks noChangeAspect="1"/>
          </p:cNvPicPr>
          <p:nvPr/>
        </p:nvPicPr>
        <p:blipFill>
          <a:blip r:embed="rId4"/>
          <a:stretch>
            <a:fillRect/>
          </a:stretch>
        </p:blipFill>
        <p:spPr>
          <a:xfrm>
            <a:off x="1683032" y="2148840"/>
            <a:ext cx="3400494" cy="3566160"/>
          </a:xfrm>
          <a:prstGeom prst="rect">
            <a:avLst/>
          </a:prstGeom>
        </p:spPr>
      </p:pic>
      <p:sp>
        <p:nvSpPr>
          <p:cNvPr id="8" name="Rounded Rectangle 7"/>
          <p:cNvSpPr/>
          <p:nvPr/>
        </p:nvSpPr>
        <p:spPr>
          <a:xfrm>
            <a:off x="6980293" y="2057400"/>
            <a:ext cx="3595892"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a3661e0c29.png"/>
          <p:cNvPicPr>
            <a:picLocks noChangeAspect="1"/>
          </p:cNvPicPr>
          <p:nvPr/>
        </p:nvPicPr>
        <p:blipFill>
          <a:blip r:embed="rId5"/>
          <a:stretch>
            <a:fillRect/>
          </a:stretch>
        </p:blipFill>
        <p:spPr>
          <a:xfrm>
            <a:off x="7071733" y="2148840"/>
            <a:ext cx="3413012" cy="3566160"/>
          </a:xfrm>
          <a:prstGeom prst="rect">
            <a:avLst/>
          </a:prstGeom>
        </p:spPr>
      </p:pic>
      <p:sp>
        <p:nvSpPr>
          <p:cNvPr id="10" name="TextBox 9"/>
          <p:cNvSpPr txBox="1"/>
          <p:nvPr/>
        </p:nvSpPr>
        <p:spPr>
          <a:xfrm>
            <a:off x="77724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clinical outcome (Fig. 2)</a:t>
            </a:r>
          </a:p>
        </p:txBody>
      </p:sp>
      <p:sp>
        <p:nvSpPr>
          <p:cNvPr id="11" name="TextBox 10"/>
          <p:cNvSpPr txBox="1"/>
          <p:nvPr/>
        </p:nvSpPr>
        <p:spPr>
          <a:xfrm>
            <a:off x="617220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pathology (Fig. 3)</a:t>
            </a:r>
          </a:p>
        </p:txBody>
      </p:sp>
      <p:sp>
        <p:nvSpPr>
          <p:cNvPr id="12" name="TextBox 11"/>
          <p:cNvSpPr txBox="1"/>
          <p:nvPr/>
        </p:nvSpPr>
        <p:spPr>
          <a:xfrm>
            <a:off x="777240" y="6199632"/>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Figs.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imaging findings.</a:t>
            </a:r>
          </a:p>
        </p:txBody>
      </p:sp>
      <p:sp>
        <p:nvSpPr>
          <p:cNvPr id="6" name="TextBox 5"/>
          <p:cNvSpPr txBox="1"/>
          <p:nvPr/>
        </p:nvSpPr>
        <p:spPr>
          <a:xfrm>
            <a:off x="777240" y="2148840"/>
            <a:ext cx="10607040" cy="54864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Exam-level model-score distributions by imaging feature, across clinical outcome.</a:t>
            </a:r>
          </a:p>
        </p:txBody>
      </p:sp>
      <p:sp>
        <p:nvSpPr>
          <p:cNvPr id="7" name="Rounded Rectangle 6"/>
          <p:cNvSpPr/>
          <p:nvPr/>
        </p:nvSpPr>
        <p:spPr>
          <a:xfrm>
            <a:off x="3780739" y="2651760"/>
            <a:ext cx="4600040" cy="320040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59aec28596.png"/>
          <p:cNvPicPr>
            <a:picLocks noChangeAspect="1"/>
          </p:cNvPicPr>
          <p:nvPr/>
        </p:nvPicPr>
        <p:blipFill>
          <a:blip r:embed="rId4"/>
          <a:stretch>
            <a:fillRect/>
          </a:stretch>
        </p:blipFill>
        <p:spPr>
          <a:xfrm>
            <a:off x="3872179" y="2743200"/>
            <a:ext cx="4417160" cy="3017520"/>
          </a:xfrm>
          <a:prstGeom prst="rect">
            <a:avLst/>
          </a:prstGeom>
        </p:spPr>
      </p:pic>
      <p:sp>
        <p:nvSpPr>
          <p:cNvPr id="9" name="TextBox 8"/>
          <p:cNvSpPr txBox="1"/>
          <p:nvPr/>
        </p:nvSpPr>
        <p:spPr>
          <a:xfrm>
            <a:off x="777240" y="594360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96012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The same fragility — </a:t>
            </a:r>
            <a:r>
              <a:rPr sz="2600" b="1" i="0">
                <a:solidFill>
                  <a:srgbClr val="E7AC51"/>
                </a:solidFill>
                <a:latin typeface="Arial"/>
              </a:rPr>
              <a:t>beyond breast.</a:t>
            </a:r>
          </a:p>
        </p:txBody>
      </p:sp>
      <p:sp>
        <p:nvSpPr>
          <p:cNvPr id="6" name="TextBox 5"/>
          <p:cNvSpPr txBox="1"/>
          <p:nvPr/>
        </p:nvSpPr>
        <p:spPr>
          <a:xfrm>
            <a:off x="777240" y="2103120"/>
            <a:ext cx="10607040" cy="64008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Two FDA-relevant tools, two organs: overall sensitivity looks strong — then it </a:t>
            </a:r>
            <a:r>
              <a:rPr sz="1400" b="1" i="0">
                <a:solidFill>
                  <a:srgbClr val="ECEFF3"/>
                </a:solidFill>
                <a:latin typeface="Arial"/>
              </a:rPr>
              <a:t>collapses in the hard subgroups.</a:t>
            </a:r>
          </a:p>
        </p:txBody>
      </p:sp>
      <p:sp>
        <p:nvSpPr>
          <p:cNvPr id="7" name="TextBox 6"/>
          <p:cNvSpPr txBox="1"/>
          <p:nvPr/>
        </p:nvSpPr>
        <p:spPr>
          <a:xfrm>
            <a:off x="777240" y="2926080"/>
            <a:ext cx="5303520" cy="274320"/>
          </a:xfrm>
          <a:prstGeom prst="rect">
            <a:avLst/>
          </a:prstGeom>
          <a:noFill/>
        </p:spPr>
        <p:txBody>
          <a:bodyPr wrap="square" anchor="t" lIns="0" rIns="0" tIns="0" bIns="0">
            <a:spAutoFit/>
          </a:bodyPr>
          <a:lstStyle/>
          <a:p>
            <a:pPr algn="l">
              <a:lnSpc>
                <a:spcPct val="100000"/>
              </a:lnSpc>
            </a:pPr>
            <a:r>
              <a:rPr sz="1000" b="0" i="0">
                <a:solidFill>
                  <a:srgbClr val="E7AC51"/>
                </a:solidFill>
                <a:latin typeface="Consolas"/>
              </a:rPr>
              <a:t>HEAD CT · INTRACRANIAL HEMORRHAGE</a:t>
            </a:r>
          </a:p>
        </p:txBody>
      </p:sp>
      <p:sp>
        <p:nvSpPr>
          <p:cNvPr id="8" name="TextBox 7"/>
          <p:cNvSpPr txBox="1"/>
          <p:nvPr/>
        </p:nvSpPr>
        <p:spPr>
          <a:xfrm>
            <a:off x="6263640" y="2926080"/>
            <a:ext cx="5303520" cy="274320"/>
          </a:xfrm>
          <a:prstGeom prst="rect">
            <a:avLst/>
          </a:prstGeom>
          <a:noFill/>
        </p:spPr>
        <p:txBody>
          <a:bodyPr wrap="square" anchor="t" lIns="0" rIns="0" tIns="0" bIns="0">
            <a:spAutoFit/>
          </a:bodyPr>
          <a:lstStyle/>
          <a:p>
            <a:pPr algn="l">
              <a:lnSpc>
                <a:spcPct val="100000"/>
              </a:lnSpc>
            </a:pPr>
            <a:r>
              <a:rPr sz="1000" b="0" i="0">
                <a:solidFill>
                  <a:srgbClr val="E7AC51"/>
                </a:solidFill>
                <a:latin typeface="Consolas"/>
              </a:rPr>
              <a:t>CHEST CT · PULMONARY EMBOLISM</a:t>
            </a:r>
          </a:p>
        </p:txBody>
      </p:sp>
      <p:pic>
        <p:nvPicPr>
          <p:cNvPr id="9" name="Picture 8" descr="svg_6bc7266e59.png"/>
          <p:cNvPicPr>
            <a:picLocks noChangeAspect="1"/>
          </p:cNvPicPr>
          <p:nvPr/>
        </p:nvPicPr>
        <p:blipFill>
          <a:blip r:embed="rId4"/>
          <a:stretch>
            <a:fillRect/>
          </a:stretch>
        </p:blipFill>
        <p:spPr>
          <a:xfrm>
            <a:off x="956462" y="3337560"/>
            <a:ext cx="4945075" cy="2377440"/>
          </a:xfrm>
          <a:prstGeom prst="rect">
            <a:avLst/>
          </a:prstGeom>
        </p:spPr>
      </p:pic>
      <p:pic>
        <p:nvPicPr>
          <p:cNvPr id="10" name="Picture 9" descr="svg_f751375401.png"/>
          <p:cNvPicPr>
            <a:picLocks noChangeAspect="1"/>
          </p:cNvPicPr>
          <p:nvPr/>
        </p:nvPicPr>
        <p:blipFill>
          <a:blip r:embed="rId5"/>
          <a:stretch>
            <a:fillRect/>
          </a:stretch>
        </p:blipFill>
        <p:spPr>
          <a:xfrm>
            <a:off x="6263640" y="3457021"/>
            <a:ext cx="5303520" cy="2138516"/>
          </a:xfrm>
          <a:prstGeom prst="rect">
            <a:avLst/>
          </a:prstGeom>
        </p:spPr>
      </p:pic>
      <p:sp>
        <p:nvSpPr>
          <p:cNvPr id="11" name="TextBox 10"/>
          <p:cNvSpPr txBox="1"/>
          <p:nvPr/>
        </p:nvSpPr>
        <p:spPr>
          <a:xfrm>
            <a:off x="777240" y="598932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ICH: [your group], npj Digital Medicine 2025 · PE: [your group], unpublished (Aidoc PE/iPE, 30,678 CTPA).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OPEN DATA</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Emory Breast Imaging Dataset </a:t>
            </a:r>
            <a:r>
              <a:rPr sz="2600" b="1" i="0">
                <a:solidFill>
                  <a:srgbClr val="E7AC51"/>
                </a:solidFill>
                <a:latin typeface="Arial"/>
              </a:rPr>
              <a:t>(EMBED).</a:t>
            </a:r>
          </a:p>
        </p:txBody>
      </p:sp>
      <p:sp>
        <p:nvSpPr>
          <p:cNvPr id="6" name="TextBox 5"/>
          <p:cNvSpPr txBox="1"/>
          <p:nvPr/>
        </p:nvSpPr>
        <p:spPr>
          <a:xfrm>
            <a:off x="777240" y="2103120"/>
            <a:ext cx="5669280" cy="64008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Free to researchers through the </a:t>
            </a:r>
            <a:r>
              <a:rPr sz="1500" b="1" i="0">
                <a:solidFill>
                  <a:srgbClr val="ECEFF3"/>
                </a:solidFill>
                <a:latin typeface="Arial"/>
              </a:rPr>
              <a:t>AWS Open Data Program.</a:t>
            </a:r>
          </a:p>
        </p:txBody>
      </p:sp>
      <p:sp>
        <p:nvSpPr>
          <p:cNvPr id="7" name="TextBox 6"/>
          <p:cNvSpPr txBox="1"/>
          <p:nvPr/>
        </p:nvSpPr>
        <p:spPr>
          <a:xfrm>
            <a:off x="777240" y="2788920"/>
            <a:ext cx="5852160" cy="320040"/>
          </a:xfrm>
          <a:prstGeom prst="rect">
            <a:avLst/>
          </a:prstGeom>
          <a:noFill/>
        </p:spPr>
        <p:txBody>
          <a:bodyPr wrap="square" anchor="t" lIns="0" rIns="0" tIns="0" bIns="0">
            <a:spAutoFit/>
          </a:bodyPr>
          <a:lstStyle/>
          <a:p>
            <a:pPr algn="l">
              <a:lnSpc>
                <a:spcPct val="100000"/>
              </a:lnSpc>
            </a:pPr>
            <a:r>
              <a:rPr sz="1150" b="1" i="0">
                <a:solidFill>
                  <a:srgbClr val="E7AC51"/>
                </a:solidFill>
                <a:latin typeface="Consolas"/>
              </a:rPr>
              <a:t>EMBED V2 — IN PROGRESS</a:t>
            </a:r>
          </a:p>
        </p:txBody>
      </p:sp>
      <p:sp>
        <p:nvSpPr>
          <p:cNvPr id="8" name="Rounded Rectangle 7"/>
          <p:cNvSpPr/>
          <p:nvPr/>
        </p:nvSpPr>
        <p:spPr>
          <a:xfrm>
            <a:off x="777240" y="3246120"/>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~300,000 </a:t>
            </a:r>
            <a:r>
              <a:rPr sz="1050" b="1" i="0">
                <a:solidFill>
                  <a:srgbClr val="5FB7C9"/>
                </a:solidFill>
                <a:latin typeface="Consolas"/>
              </a:rPr>
              <a:t>patients</a:t>
            </a:r>
          </a:p>
        </p:txBody>
      </p:sp>
      <p:sp>
        <p:nvSpPr>
          <p:cNvPr id="9" name="Rectangle 8"/>
          <p:cNvSpPr/>
          <p:nvPr/>
        </p:nvSpPr>
        <p:spPr>
          <a:xfrm>
            <a:off x="777240"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45999" y="3246120"/>
            <a:ext cx="282467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~1M </a:t>
            </a:r>
            <a:r>
              <a:rPr sz="1050" b="1" i="0">
                <a:solidFill>
                  <a:srgbClr val="5FB7C9"/>
                </a:solidFill>
                <a:latin typeface="Consolas"/>
              </a:rPr>
              <a:t>exams</a:t>
            </a:r>
            <a:r>
              <a:rPr sz="1050" b="0" i="0">
                <a:solidFill>
                  <a:srgbClr val="ECEFF3"/>
                </a:solidFill>
                <a:latin typeface="Consolas"/>
              </a:rPr>
              <a:t> (2D · DBT · US · MRI)</a:t>
            </a:r>
          </a:p>
        </p:txBody>
      </p:sp>
      <p:sp>
        <p:nvSpPr>
          <p:cNvPr id="11" name="Rectangle 10"/>
          <p:cNvSpPr/>
          <p:nvPr/>
        </p:nvSpPr>
        <p:spPr>
          <a:xfrm>
            <a:off x="2645999"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Free-text </a:t>
            </a:r>
            <a:r>
              <a:rPr sz="1050" b="1" i="0">
                <a:solidFill>
                  <a:srgbClr val="5FB7C9"/>
                </a:solidFill>
                <a:latin typeface="Consolas"/>
              </a:rPr>
              <a:t>reports</a:t>
            </a:r>
          </a:p>
        </p:txBody>
      </p:sp>
      <p:sp>
        <p:nvSpPr>
          <p:cNvPr id="13" name="Rectangle 12"/>
          <p:cNvSpPr/>
          <p:nvPr/>
        </p:nvSpPr>
        <p:spPr>
          <a:xfrm>
            <a:off x="777240"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45999"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Patient </a:t>
            </a:r>
            <a:r>
              <a:rPr sz="1050" b="1" i="0">
                <a:solidFill>
                  <a:srgbClr val="5FB7C9"/>
                </a:solidFill>
                <a:latin typeface="Consolas"/>
              </a:rPr>
              <a:t>risk data</a:t>
            </a:r>
          </a:p>
        </p:txBody>
      </p:sp>
      <p:sp>
        <p:nvSpPr>
          <p:cNvPr id="15" name="Rectangle 14"/>
          <p:cNvSpPr/>
          <p:nvPr/>
        </p:nvSpPr>
        <p:spPr>
          <a:xfrm>
            <a:off x="2645999"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251959"/>
            <a:ext cx="258848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Outcomes </a:t>
            </a:r>
            <a:r>
              <a:rPr sz="1050" b="1" i="0">
                <a:solidFill>
                  <a:srgbClr val="5FB7C9"/>
                </a:solidFill>
                <a:latin typeface="Consolas"/>
              </a:rPr>
              <a:t>registry-harmonized</a:t>
            </a:r>
          </a:p>
        </p:txBody>
      </p:sp>
      <p:sp>
        <p:nvSpPr>
          <p:cNvPr id="17" name="Rectangle 16"/>
          <p:cNvSpPr/>
          <p:nvPr/>
        </p:nvSpPr>
        <p:spPr>
          <a:xfrm>
            <a:off x="777240" y="425195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89788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v1: [your group], Radiology: Artificial Intelligence 2023 (Fig. 1) · aws.amazon.com/opendata</a:t>
            </a:r>
          </a:p>
        </p:txBody>
      </p:sp>
      <p:sp>
        <p:nvSpPr>
          <p:cNvPr id="19" name="Rounded Rectangle 18"/>
          <p:cNvSpPr/>
          <p:nvPr/>
        </p:nvSpPr>
        <p:spPr>
          <a:xfrm>
            <a:off x="6583680" y="1188720"/>
            <a:ext cx="5120640" cy="448056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MAP — EMBED USERS BY COUNTRY</a:t>
            </a:r>
          </a:p>
          <a:p>
            <a:pPr algn="ctr">
              <a:lnSpc>
                <a:spcPct val="100000"/>
              </a:lnSpc>
              <a:spcBef>
                <a:spcPts val="300"/>
              </a:spcBef>
            </a:pPr>
            <a:r>
              <a:rPr sz="900" b="0" i="0">
                <a:solidFill>
                  <a:srgbClr val="5C6975"/>
                </a:solidFill>
                <a:latin typeface="Consolas"/>
              </a:rPr>
              <a:t>[ drop in PNG ]</a:t>
            </a:r>
          </a:p>
        </p:txBody>
      </p:sp>
      <p:sp>
        <p:nvSpPr>
          <p:cNvPr id="20" name="TextBox 19"/>
          <p:cNvSpPr txBox="1"/>
          <p:nvPr/>
        </p:nvSpPr>
        <p:spPr>
          <a:xfrm>
            <a:off x="6583680" y="5760720"/>
            <a:ext cx="512064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opt: EMBED v1 schematic — Radiology: AI,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ERA III</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200" b="1" i="0">
                <a:solidFill>
                  <a:srgbClr val="ECEFF3"/>
                </a:solidFill>
                <a:latin typeface="Arial"/>
              </a:rPr>
              <a:t>We are at the </a:t>
            </a:r>
            <a:r>
              <a:rPr sz="3200" b="1" i="0">
                <a:solidFill>
                  <a:srgbClr val="E7AC51"/>
                </a:solidFill>
                <a:latin typeface="Arial"/>
              </a:rPr>
              <a:t>brink of Era III.</a:t>
            </a:r>
          </a:p>
        </p:txBody>
      </p:sp>
      <p:sp>
        <p:nvSpPr>
          <p:cNvPr id="6" name="TextBox 5"/>
          <p:cNvSpPr txBox="1"/>
          <p:nvPr/>
        </p:nvSpPr>
        <p:spPr>
          <a:xfrm>
            <a:off x="777240" y="2926080"/>
            <a:ext cx="10424160" cy="274320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Detection is proven. But the same 2026 image — and the tissue that follows it — already tells us more than </a:t>
            </a:r>
            <a:r>
              <a:rPr sz="1700" b="1" i="0">
                <a:solidFill>
                  <a:srgbClr val="ECEFF3"/>
                </a:solidFill>
                <a:latin typeface="Arial"/>
              </a:rPr>
              <a:t>“is there cancer today?”</a:t>
            </a:r>
            <a:r>
              <a:rPr sz="1700" b="0" i="0">
                <a:solidFill>
                  <a:srgbClr val="9DA9B5"/>
                </a:solidFill>
                <a:latin typeface="Arial"/>
              </a:rPr>
              <a:t> From one screening mammogram and its biopsy: a </a:t>
            </a:r>
            <a:r>
              <a:rPr sz="1700" b="1" i="0">
                <a:solidFill>
                  <a:srgbClr val="E7AC51"/>
                </a:solidFill>
                <a:latin typeface="Arial"/>
              </a:rPr>
              <a:t>future-risk</a:t>
            </a:r>
            <a:r>
              <a:rPr sz="1700" b="0" i="0">
                <a:solidFill>
                  <a:srgbClr val="9DA9B5"/>
                </a:solidFill>
                <a:latin typeface="Arial"/>
              </a:rPr>
              <a:t> estimate, a </a:t>
            </a:r>
            <a:r>
              <a:rPr sz="1700" b="1" i="0">
                <a:solidFill>
                  <a:srgbClr val="E7AC51"/>
                </a:solidFill>
                <a:latin typeface="Arial"/>
              </a:rPr>
              <a:t>cardiovascular</a:t>
            </a:r>
            <a:r>
              <a:rPr sz="1700" b="0" i="0">
                <a:solidFill>
                  <a:srgbClr val="9DA9B5"/>
                </a:solidFill>
                <a:latin typeface="Arial"/>
              </a:rPr>
              <a:t> signal, and a </a:t>
            </a:r>
            <a:r>
              <a:rPr sz="1700" b="1" i="0">
                <a:solidFill>
                  <a:srgbClr val="E7AC51"/>
                </a:solidFill>
                <a:latin typeface="Arial"/>
              </a:rPr>
              <a:t>molecular recurrence</a:t>
            </a:r>
            <a:r>
              <a:rPr sz="1700" b="0" i="0">
                <a:solidFill>
                  <a:srgbClr val="9DA9B5"/>
                </a:solidFill>
                <a:latin typeface="Arial"/>
              </a:rPr>
              <a:t> score — the shift from finding the lesion to </a:t>
            </a:r>
            <a:r>
              <a:rPr sz="1700" b="1" i="0">
                <a:solidFill>
                  <a:srgbClr val="ECEFF3"/>
                </a:solidFill>
                <a:latin typeface="Arial"/>
              </a:rPr>
              <a:t>characterizing the patient.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828800"/>
            <a:ext cx="6126480" cy="2926080"/>
          </a:xfrm>
          <a:prstGeom prst="rect">
            <a:avLst/>
          </a:prstGeom>
          <a:noFill/>
        </p:spPr>
        <p:txBody>
          <a:bodyPr wrap="square" anchor="t" lIns="0" rIns="0" tIns="0" bIns="0">
            <a:spAutoFit/>
          </a:bodyPr>
          <a:lstStyle/>
          <a:p>
            <a:pPr algn="l">
              <a:lnSpc>
                <a:spcPct val="132000"/>
              </a:lnSpc>
            </a:pPr>
            <a:r>
              <a:rPr sz="2400" b="0" i="0">
                <a:solidFill>
                  <a:srgbClr val="9DA9B5"/>
                </a:solidFill>
                <a:latin typeface="Arial"/>
              </a:rPr>
              <a:t>For 40 years, the only risk signal we could read off the image was </a:t>
            </a:r>
            <a:r>
              <a:rPr sz="2400" b="0" i="0">
                <a:solidFill>
                  <a:srgbClr val="E7AC51"/>
                </a:solidFill>
                <a:latin typeface="Arial"/>
              </a:rPr>
              <a:t>density</a:t>
            </a:r>
            <a:r>
              <a:rPr sz="2400" b="0" i="0">
                <a:solidFill>
                  <a:srgbClr val="9DA9B5"/>
                </a:solidFill>
                <a:latin typeface="Arial"/>
              </a:rPr>
              <a:t>. The clinical models layered on top — </a:t>
            </a:r>
            <a:r>
              <a:rPr sz="2400" b="0" i="0">
                <a:solidFill>
                  <a:srgbClr val="E7AC51"/>
                </a:solidFill>
                <a:latin typeface="Arial"/>
              </a:rPr>
              <a:t>Gail</a:t>
            </a:r>
            <a:r>
              <a:rPr sz="2400" b="0" i="0">
                <a:solidFill>
                  <a:srgbClr val="9DA9B5"/>
                </a:solidFill>
                <a:latin typeface="Arial"/>
              </a:rPr>
              <a:t> and </a:t>
            </a:r>
            <a:r>
              <a:rPr sz="2400" b="0" i="0">
                <a:solidFill>
                  <a:srgbClr val="E7AC51"/>
                </a:solidFill>
                <a:latin typeface="Arial"/>
              </a:rPr>
              <a:t>Tyrer-Cuzick</a:t>
            </a:r>
            <a:r>
              <a:rPr sz="2400" b="0" i="0">
                <a:solidFill>
                  <a:srgbClr val="9DA9B5"/>
                </a:solidFill>
                <a:latin typeface="Arial"/>
              </a:rPr>
              <a:t> — were hardly better than a coin flip.</a:t>
            </a:r>
          </a:p>
        </p:txBody>
      </p:sp>
      <p:sp>
        <p:nvSpPr>
          <p:cNvPr id="6" name="TextBox 5"/>
          <p:cNvSpPr txBox="1"/>
          <p:nvPr/>
        </p:nvSpPr>
        <p:spPr>
          <a:xfrm>
            <a:off x="777240" y="5120640"/>
            <a:ext cx="61264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Gail · Tyrer-Cuzick · BCSC — questionnaire + density models</a:t>
            </a:r>
          </a:p>
        </p:txBody>
      </p:sp>
      <p:sp>
        <p:nvSpPr>
          <p:cNvPr id="7" name="Rectangle 6"/>
          <p:cNvSpPr/>
          <p:nvPr/>
        </p:nvSpPr>
        <p:spPr>
          <a:xfrm>
            <a:off x="7315200" y="2011680"/>
            <a:ext cx="12700" cy="219456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~0.62</a:t>
            </a:r>
          </a:p>
        </p:txBody>
      </p:sp>
      <p:sp>
        <p:nvSpPr>
          <p:cNvPr id="9" name="TextBox 8"/>
          <p:cNvSpPr txBox="1"/>
          <p:nvPr/>
        </p:nvSpPr>
        <p:spPr>
          <a:xfrm>
            <a:off x="7680960" y="244144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Tyrer-Cuzick v8 · 5-yr AUC</a:t>
            </a:r>
          </a:p>
        </p:txBody>
      </p:sp>
      <p:sp>
        <p:nvSpPr>
          <p:cNvPr id="10" name="TextBox 9"/>
          <p:cNvSpPr txBox="1"/>
          <p:nvPr/>
        </p:nvSpPr>
        <p:spPr>
          <a:xfrm>
            <a:off x="7680960" y="297180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~0.55–0.58</a:t>
            </a:r>
          </a:p>
        </p:txBody>
      </p:sp>
      <p:sp>
        <p:nvSpPr>
          <p:cNvPr id="11" name="TextBox 10"/>
          <p:cNvSpPr txBox="1"/>
          <p:nvPr/>
        </p:nvSpPr>
        <p:spPr>
          <a:xfrm>
            <a:off x="7680960" y="326440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Gail model · 5-yr AUC</a:t>
            </a:r>
          </a:p>
        </p:txBody>
      </p:sp>
      <p:sp>
        <p:nvSpPr>
          <p:cNvPr id="12" name="TextBox 11"/>
          <p:cNvSpPr txBox="1"/>
          <p:nvPr/>
        </p:nvSpPr>
        <p:spPr>
          <a:xfrm>
            <a:off x="7680960" y="3886200"/>
            <a:ext cx="4206240" cy="822960"/>
          </a:xfrm>
          <a:prstGeom prst="rect">
            <a:avLst/>
          </a:prstGeom>
          <a:noFill/>
        </p:spPr>
        <p:txBody>
          <a:bodyPr wrap="square" anchor="t" lIns="0" rIns="0" tIns="0" bIns="0">
            <a:spAutoFit/>
          </a:bodyPr>
          <a:lstStyle/>
          <a:p>
            <a:pPr algn="l">
              <a:lnSpc>
                <a:spcPct val="135000"/>
              </a:lnSpc>
            </a:pPr>
            <a:r>
              <a:rPr sz="1300" b="0" i="0">
                <a:solidFill>
                  <a:srgbClr val="ECEFF3"/>
                </a:solidFill>
                <a:latin typeface="Arial"/>
              </a:rPr>
              <a:t>Coin flip is 0.50. </a:t>
            </a:r>
            <a:r>
              <a:rPr sz="1300" b="0" i="0">
                <a:solidFill>
                  <a:srgbClr val="9DA9B5"/>
                </a:solidFill>
                <a:latin typeface="Arial"/>
              </a:rPr>
              <a:t>For the woman in front of you, barely above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Image-based risk</a:t>
            </a:r>
            <a:r>
              <a:rPr sz="2600" b="1" i="0">
                <a:solidFill>
                  <a:srgbClr val="ECEFF3"/>
                </a:solidFill>
                <a:latin typeface="Arial"/>
              </a:rPr>
              <a:t> — Mirai and a de novo FDA clearance.</a:t>
            </a:r>
          </a:p>
        </p:txBody>
      </p:sp>
      <p:sp>
        <p:nvSpPr>
          <p:cNvPr id="6" name="TextBox 5"/>
          <p:cNvSpPr txBox="1"/>
          <p:nvPr/>
        </p:nvSpPr>
        <p:spPr>
          <a:xfrm>
            <a:off x="777240" y="27432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0.76–0.81</a:t>
            </a:r>
          </a:p>
        </p:txBody>
      </p:sp>
      <p:sp>
        <p:nvSpPr>
          <p:cNvPr id="7" name="TextBox 6"/>
          <p:cNvSpPr txBox="1"/>
          <p:nvPr/>
        </p:nvSpPr>
        <p:spPr>
          <a:xfrm>
            <a:off x="777240" y="32004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Mirai C-index · 3 countries</a:t>
            </a:r>
          </a:p>
        </p:txBody>
      </p:sp>
      <p:sp>
        <p:nvSpPr>
          <p:cNvPr id="8" name="TextBox 7"/>
          <p:cNvSpPr txBox="1"/>
          <p:nvPr/>
        </p:nvSpPr>
        <p:spPr>
          <a:xfrm>
            <a:off x="777240" y="41148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&lt; 5 yr</a:t>
            </a:r>
          </a:p>
        </p:txBody>
      </p:sp>
      <p:sp>
        <p:nvSpPr>
          <p:cNvPr id="9" name="TextBox 8"/>
          <p:cNvSpPr txBox="1"/>
          <p:nvPr/>
        </p:nvSpPr>
        <p:spPr>
          <a:xfrm>
            <a:off x="777240" y="45720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research → cleared → guideline</a:t>
            </a:r>
          </a:p>
        </p:txBody>
      </p:sp>
      <p:pic>
        <p:nvPicPr>
          <p:cNvPr id="10" name="Picture 9" descr="svg_39113bbbe0.png"/>
          <p:cNvPicPr>
            <a:picLocks noChangeAspect="1"/>
          </p:cNvPicPr>
          <p:nvPr/>
        </p:nvPicPr>
        <p:blipFill>
          <a:blip r:embed="rId4"/>
          <a:stretch>
            <a:fillRect/>
          </a:stretch>
        </p:blipFill>
        <p:spPr>
          <a:xfrm>
            <a:off x="6400800" y="1577339"/>
            <a:ext cx="5303520" cy="39776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76072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AsymMirai</a:t>
            </a:r>
            <a:r>
              <a:rPr sz="2600" b="1" i="0">
                <a:solidFill>
                  <a:srgbClr val="ECEFF3"/>
                </a:solidFill>
                <a:latin typeface="Arial"/>
              </a:rPr>
              <a:t> — an explainable risk model.</a:t>
            </a:r>
          </a:p>
        </p:txBody>
      </p:sp>
      <p:sp>
        <p:nvSpPr>
          <p:cNvPr id="6" name="TextBox 5"/>
          <p:cNvSpPr txBox="1"/>
          <p:nvPr/>
        </p:nvSpPr>
        <p:spPr>
          <a:xfrm>
            <a:off x="777240" y="2651760"/>
            <a:ext cx="5669280" cy="91440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1-yr AUC </a:t>
            </a:r>
            <a:r>
              <a:rPr sz="1500" b="1" i="0">
                <a:solidFill>
                  <a:srgbClr val="ECEFF3"/>
                </a:solidFill>
                <a:latin typeface="Arial"/>
              </a:rPr>
              <a:t>0.79</a:t>
            </a:r>
            <a:r>
              <a:rPr sz="1500" b="0" i="0">
                <a:solidFill>
                  <a:srgbClr val="9DA9B5"/>
                </a:solidFill>
                <a:latin typeface="Arial"/>
              </a:rPr>
              <a:t> vs Mirai 0.84  ·  3-yr AUC </a:t>
            </a:r>
            <a:r>
              <a:rPr sz="1500" b="1" i="0">
                <a:solidFill>
                  <a:srgbClr val="ECEFF3"/>
                </a:solidFill>
                <a:latin typeface="Arial"/>
              </a:rPr>
              <a:t>0.92</a:t>
            </a:r>
            <a:r>
              <a:rPr sz="1500" b="0" i="0">
                <a:solidFill>
                  <a:srgbClr val="9DA9B5"/>
                </a:solidFill>
                <a:latin typeface="Arial"/>
              </a:rPr>
              <a:t> (stable tissue)</a:t>
            </a:r>
          </a:p>
        </p:txBody>
      </p:sp>
      <p:sp>
        <p:nvSpPr>
          <p:cNvPr id="7" name="Rounded Rectangle 6"/>
          <p:cNvSpPr/>
          <p:nvPr/>
        </p:nvSpPr>
        <p:spPr>
          <a:xfrm>
            <a:off x="6309360" y="1933103"/>
            <a:ext cx="5486400" cy="32661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a5bc477317.jpg"/>
          <p:cNvPicPr>
            <a:picLocks noChangeAspect="1"/>
          </p:cNvPicPr>
          <p:nvPr/>
        </p:nvPicPr>
        <p:blipFill>
          <a:blip r:embed="rId4"/>
          <a:stretch>
            <a:fillRect/>
          </a:stretch>
        </p:blipFill>
        <p:spPr>
          <a:xfrm>
            <a:off x="6400800" y="2024543"/>
            <a:ext cx="5303520" cy="30832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300" b="1" i="0">
                <a:solidFill>
                  <a:srgbClr val="ECEFF3"/>
                </a:solidFill>
                <a:latin typeface="Arial"/>
              </a:rPr>
              <a:t>Breast Arterial Calcification (BAC) as a </a:t>
            </a:r>
            <a:r>
              <a:rPr sz="2300" b="1" i="0">
                <a:solidFill>
                  <a:srgbClr val="E7AC51"/>
                </a:solidFill>
                <a:latin typeface="Arial"/>
              </a:rPr>
              <a:t>continuous measurement (mm²).</a:t>
            </a:r>
          </a:p>
        </p:txBody>
      </p:sp>
      <p:sp>
        <p:nvSpPr>
          <p:cNvPr id="6" name="TextBox 5"/>
          <p:cNvSpPr txBox="1"/>
          <p:nvPr/>
        </p:nvSpPr>
        <p:spPr>
          <a:xfrm>
            <a:off x="777240" y="2743200"/>
            <a:ext cx="5852160" cy="201168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 transformer segments breast arterial calcification on the routine mammogram and quantifies its area — turning an incidental finding into a </a:t>
            </a:r>
            <a:r>
              <a:rPr sz="1450" b="1" i="0">
                <a:solidFill>
                  <a:srgbClr val="ECEFF3"/>
                </a:solidFill>
                <a:latin typeface="Arial"/>
              </a:rPr>
              <a:t>graded, quantitative risk marker.</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Segmentation: SCU-Net (your group). Dapamede et al., Eur Heart J 2026;47(18):2206–2220.</a:t>
            </a:r>
          </a:p>
        </p:txBody>
      </p:sp>
      <p:sp>
        <p:nvSpPr>
          <p:cNvPr id="8" name="Rounded Rectangle 7"/>
          <p:cNvSpPr/>
          <p:nvPr/>
        </p:nvSpPr>
        <p:spPr>
          <a:xfrm>
            <a:off x="7584284" y="1097280"/>
            <a:ext cx="2936551" cy="512064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ebbc2d2c9e.jpg"/>
          <p:cNvPicPr>
            <a:picLocks noChangeAspect="1"/>
          </p:cNvPicPr>
          <p:nvPr/>
        </p:nvPicPr>
        <p:blipFill>
          <a:blip r:embed="rId4"/>
          <a:stretch>
            <a:fillRect/>
          </a:stretch>
        </p:blipFill>
        <p:spPr>
          <a:xfrm>
            <a:off x="7675724" y="1188720"/>
            <a:ext cx="2753671" cy="49377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BAC predicts MACE — </a:t>
            </a:r>
            <a:r>
              <a:rPr sz="2400" b="1" i="0">
                <a:solidFill>
                  <a:srgbClr val="E7AC51"/>
                </a:solidFill>
                <a:latin typeface="Arial"/>
              </a:rPr>
              <a:t>more calcium, more risk.</a:t>
            </a:r>
          </a:p>
        </p:txBody>
      </p:sp>
      <p:sp>
        <p:nvSpPr>
          <p:cNvPr id="6" name="TextBox 5"/>
          <p:cNvSpPr txBox="1"/>
          <p:nvPr/>
        </p:nvSpPr>
        <p:spPr>
          <a:xfrm>
            <a:off x="777240" y="2468880"/>
            <a:ext cx="5852160" cy="1828800"/>
          </a:xfrm>
          <a:prstGeom prst="rect">
            <a:avLst/>
          </a:prstGeom>
          <a:noFill/>
        </p:spPr>
        <p:txBody>
          <a:bodyPr wrap="square" anchor="t" lIns="0" rIns="0" tIns="0" bIns="0">
            <a:spAutoFit/>
          </a:bodyPr>
          <a:lstStyle/>
          <a:p>
            <a:pPr algn="l">
              <a:lnSpc>
                <a:spcPct val="140000"/>
              </a:lnSpc>
            </a:pPr>
            <a:r>
              <a:rPr sz="1450" b="1" i="0">
                <a:solidFill>
                  <a:srgbClr val="ECEFF3"/>
                </a:solidFill>
                <a:latin typeface="Arial"/>
              </a:rPr>
              <a:t>~120,000 women</a:t>
            </a:r>
            <a:r>
              <a:rPr sz="1450" b="0" i="0">
                <a:solidFill>
                  <a:srgbClr val="9DA9B5"/>
                </a:solidFill>
                <a:latin typeface="Arial"/>
              </a:rPr>
              <a:t>, two sites, racially diverse. Dose-response: </a:t>
            </a:r>
            <a:r>
              <a:rPr sz="1450" b="1" i="0">
                <a:solidFill>
                  <a:srgbClr val="ECEFF3"/>
                </a:solidFill>
                <a:latin typeface="Arial"/>
              </a:rPr>
              <a:t>mild HR 1.18–1.22 · moderate 1.38–1.47 · severe 2.03–2.22.</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Event-free survival by BAC severity — MACE, AMI, stroke, HF, death. Dapamede et al., Eur Heart J Open 2025.</a:t>
            </a:r>
          </a:p>
        </p:txBody>
      </p:sp>
      <p:sp>
        <p:nvSpPr>
          <p:cNvPr id="8" name="Rounded Rectangle 7"/>
          <p:cNvSpPr/>
          <p:nvPr/>
        </p:nvSpPr>
        <p:spPr>
          <a:xfrm>
            <a:off x="6309360" y="2998302"/>
            <a:ext cx="5486400" cy="113571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06d0d2a955.jpg"/>
          <p:cNvPicPr>
            <a:picLocks noChangeAspect="1"/>
          </p:cNvPicPr>
          <p:nvPr/>
        </p:nvPicPr>
        <p:blipFill>
          <a:blip r:embed="rId4"/>
          <a:stretch>
            <a:fillRect/>
          </a:stretch>
        </p:blipFill>
        <p:spPr>
          <a:xfrm>
            <a:off x="6400800" y="3089742"/>
            <a:ext cx="5303520" cy="95283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48640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PAD.</a:t>
            </a:r>
          </a:p>
        </p:txBody>
      </p:sp>
      <p:sp>
        <p:nvSpPr>
          <p:cNvPr id="6" name="TextBox 5"/>
          <p:cNvSpPr txBox="1"/>
          <p:nvPr/>
        </p:nvSpPr>
        <p:spPr>
          <a:xfrm>
            <a:off x="777240" y="2103120"/>
            <a:ext cx="5486400" cy="219456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BAC is </a:t>
            </a:r>
            <a:r>
              <a:rPr sz="1350" b="1" i="0">
                <a:solidFill>
                  <a:srgbClr val="ECEFF3"/>
                </a:solidFill>
                <a:latin typeface="Arial"/>
              </a:rPr>
              <a:t>medial</a:t>
            </a:r>
            <a:r>
              <a:rPr sz="1350" b="0" i="0">
                <a:solidFill>
                  <a:srgbClr val="9DA9B5"/>
                </a:solidFill>
                <a:latin typeface="Arial"/>
              </a:rPr>
              <a:t> calcification (Mönckeberg's) — the pattern that dominates PAD. In </a:t>
            </a:r>
            <a:r>
              <a:rPr sz="1350" b="1" i="0">
                <a:solidFill>
                  <a:srgbClr val="ECEFF3"/>
                </a:solidFill>
                <a:latin typeface="Arial"/>
              </a:rPr>
              <a:t>59,854 women</a:t>
            </a:r>
            <a:r>
              <a:rPr sz="1350" b="0" i="0">
                <a:solidFill>
                  <a:srgbClr val="9DA9B5"/>
                </a:solidFill>
                <a:latin typeface="Arial"/>
              </a:rPr>
              <a:t> (~8-yr follow-up), it graded the risk of </a:t>
            </a:r>
            <a:r>
              <a:rPr sz="1350" b="1" i="0">
                <a:solidFill>
                  <a:srgbClr val="ECEFF3"/>
                </a:solidFill>
                <a:latin typeface="Arial"/>
              </a:rPr>
              <a:t>vascular intervention</a:t>
            </a:r>
            <a:r>
              <a:rPr sz="1350" b="0" i="0">
                <a:solidFill>
                  <a:srgbClr val="9DA9B5"/>
                </a:solidFill>
                <a:latin typeface="Arial"/>
              </a:rPr>
              <a:t> overall and within every high-risk subgroup.</a:t>
            </a:r>
          </a:p>
        </p:txBody>
      </p:sp>
      <p:sp>
        <p:nvSpPr>
          <p:cNvPr id="7" name="TextBox 6"/>
          <p:cNvSpPr txBox="1"/>
          <p:nvPr/>
        </p:nvSpPr>
        <p:spPr>
          <a:xfrm>
            <a:off x="777240" y="59436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abstract — adj. age, DM, HTN, HLD, CKD, smoking. Angiogram: Radiopaedia.org (CC).</a:t>
            </a:r>
          </a:p>
        </p:txBody>
      </p:sp>
      <p:pic>
        <p:nvPicPr>
          <p:cNvPr id="8" name="Picture 7" descr="svg_552f3c5534.png"/>
          <p:cNvPicPr>
            <a:picLocks noChangeAspect="1"/>
          </p:cNvPicPr>
          <p:nvPr/>
        </p:nvPicPr>
        <p:blipFill>
          <a:blip r:embed="rId4"/>
          <a:stretch>
            <a:fillRect/>
          </a:stretch>
        </p:blipFill>
        <p:spPr>
          <a:xfrm>
            <a:off x="6263640" y="2564891"/>
            <a:ext cx="3840480" cy="2002536"/>
          </a:xfrm>
          <a:prstGeom prst="rect">
            <a:avLst/>
          </a:prstGeom>
        </p:spPr>
      </p:pic>
      <p:sp>
        <p:nvSpPr>
          <p:cNvPr id="9" name="Rounded Rectangle 8"/>
          <p:cNvSpPr/>
          <p:nvPr/>
        </p:nvSpPr>
        <p:spPr>
          <a:xfrm>
            <a:off x="10012680" y="2154110"/>
            <a:ext cx="1920240" cy="2458339"/>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72dc4dd0ee.jpg"/>
          <p:cNvPicPr>
            <a:picLocks noChangeAspect="1"/>
          </p:cNvPicPr>
          <p:nvPr/>
        </p:nvPicPr>
        <p:blipFill>
          <a:blip r:embed="rId5"/>
          <a:stretch>
            <a:fillRect/>
          </a:stretch>
        </p:blipFill>
        <p:spPr>
          <a:xfrm>
            <a:off x="10104120" y="2245550"/>
            <a:ext cx="1737360" cy="227545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valvular disease.</a:t>
            </a:r>
          </a:p>
        </p:txBody>
      </p:sp>
      <p:sp>
        <p:nvSpPr>
          <p:cNvPr id="6" name="TextBox 5"/>
          <p:cNvSpPr txBox="1"/>
          <p:nvPr/>
        </p:nvSpPr>
        <p:spPr>
          <a:xfrm>
            <a:off x="777240" y="2103120"/>
            <a:ext cx="5669280" cy="2377440"/>
          </a:xfrm>
          <a:prstGeom prst="rect">
            <a:avLst/>
          </a:prstGeom>
          <a:noFill/>
        </p:spPr>
        <p:txBody>
          <a:bodyPr wrap="square" anchor="t" lIns="0" rIns="0" tIns="0" bIns="0">
            <a:spAutoFit/>
          </a:bodyPr>
          <a:lstStyle/>
          <a:p>
            <a:pPr algn="l">
              <a:lnSpc>
                <a:spcPct val="140000"/>
              </a:lnSpc>
            </a:pPr>
            <a:r>
              <a:rPr sz="1400" b="1" i="0">
                <a:solidFill>
                  <a:srgbClr val="ECEFF3"/>
                </a:solidFill>
                <a:latin typeface="Arial"/>
              </a:rPr>
              <a:t>122,011 women.</a:t>
            </a:r>
            <a:r>
              <a:rPr sz="1400" b="0" i="0">
                <a:solidFill>
                  <a:srgbClr val="9DA9B5"/>
                </a:solidFill>
                <a:latin typeface="Arial"/>
              </a:rPr>
              <a:t> Severe BAC vs none — </a:t>
            </a:r>
            <a:r>
              <a:rPr sz="1400" b="1" i="0">
                <a:solidFill>
                  <a:srgbClr val="ECEFF3"/>
                </a:solidFill>
                <a:latin typeface="Arial"/>
              </a:rPr>
              <a:t>AS 11.4 · AR 3.1 · MR 2.6 · TR 2.3</a:t>
            </a:r>
            <a:r>
              <a:rPr sz="1400" b="0" i="0">
                <a:solidFill>
                  <a:srgbClr val="9DA9B5"/>
                </a:solidFill>
                <a:latin typeface="Arial"/>
              </a:rPr>
              <a:t>; mitral stenosis null (negative control). 5-yr any-VHD </a:t>
            </a:r>
            <a:r>
              <a:rPr sz="1400" b="1" i="0">
                <a:solidFill>
                  <a:srgbClr val="E7AC51"/>
                </a:solidFill>
                <a:latin typeface="Arial"/>
              </a:rPr>
              <a:t>19.3% vs 4.6%</a:t>
            </a:r>
            <a:r>
              <a:rPr sz="1400" b="0" i="0">
                <a:solidFill>
                  <a:srgbClr val="9DA9B5"/>
                </a:solidFill>
                <a:latin typeface="Arial"/>
              </a:rPr>
              <a:t> (NNS 7).</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Any VHD by BAC severity. Dapamede et al., Fig. 1. Valve MRI: ECR 2024 EPOS #166904 (used w/ permission).</a:t>
            </a:r>
          </a:p>
        </p:txBody>
      </p:sp>
      <p:sp>
        <p:nvSpPr>
          <p:cNvPr id="8" name="Rounded Rectangle 7"/>
          <p:cNvSpPr/>
          <p:nvPr/>
        </p:nvSpPr>
        <p:spPr>
          <a:xfrm>
            <a:off x="6885341" y="1188719"/>
            <a:ext cx="4425877" cy="329184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48c07e4e3.jpg"/>
          <p:cNvPicPr>
            <a:picLocks noChangeAspect="1"/>
          </p:cNvPicPr>
          <p:nvPr/>
        </p:nvPicPr>
        <p:blipFill>
          <a:blip r:embed="rId4"/>
          <a:stretch>
            <a:fillRect/>
          </a:stretch>
        </p:blipFill>
        <p:spPr>
          <a:xfrm>
            <a:off x="6976781" y="1280160"/>
            <a:ext cx="4242997" cy="3108960"/>
          </a:xfrm>
          <a:prstGeom prst="rect">
            <a:avLst/>
          </a:prstGeom>
        </p:spPr>
      </p:pic>
      <p:sp>
        <p:nvSpPr>
          <p:cNvPr id="10" name="Rounded Rectangle 9"/>
          <p:cNvSpPr/>
          <p:nvPr/>
        </p:nvSpPr>
        <p:spPr>
          <a:xfrm>
            <a:off x="7909560" y="4434840"/>
            <a:ext cx="2377440" cy="182880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0396664eba.jpg"/>
          <p:cNvPicPr>
            <a:picLocks noChangeAspect="1"/>
          </p:cNvPicPr>
          <p:nvPr/>
        </p:nvPicPr>
        <p:blipFill>
          <a:blip r:embed="rId5"/>
          <a:stretch>
            <a:fillRect/>
          </a:stretch>
        </p:blipFill>
        <p:spPr>
          <a:xfrm>
            <a:off x="8001000" y="4526280"/>
            <a:ext cx="2194560" cy="1645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CAC.</a:t>
            </a:r>
          </a:p>
        </p:txBody>
      </p:sp>
      <p:sp>
        <p:nvSpPr>
          <p:cNvPr id="6" name="TextBox 5"/>
          <p:cNvSpPr txBox="1"/>
          <p:nvPr/>
        </p:nvSpPr>
        <p:spPr>
          <a:xfrm>
            <a:off x="777240" y="2103120"/>
            <a:ext cx="5669280" cy="256032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In </a:t>
            </a:r>
            <a:r>
              <a:rPr sz="1400" b="1" i="0">
                <a:solidFill>
                  <a:srgbClr val="ECEFF3"/>
                </a:solidFill>
                <a:latin typeface="Arial"/>
              </a:rPr>
              <a:t>2,079 women</a:t>
            </a:r>
            <a:r>
              <a:rPr sz="1400" b="0" i="0">
                <a:solidFill>
                  <a:srgbClr val="9DA9B5"/>
                </a:solidFill>
                <a:latin typeface="Arial"/>
              </a:rPr>
              <a:t> who later had a cardiac CT, detectable </a:t>
            </a:r>
            <a:r>
              <a:rPr sz="1400" b="1" i="0">
                <a:solidFill>
                  <a:srgbClr val="ECEFF3"/>
                </a:solidFill>
                <a:latin typeface="Arial"/>
              </a:rPr>
              <a:t>coronary calcium rose 38% → 67%</a:t>
            </a:r>
            <a:r>
              <a:rPr sz="1400" b="0" i="0">
                <a:solidFill>
                  <a:srgbClr val="9DA9B5"/>
                </a:solidFill>
                <a:latin typeface="Arial"/>
              </a:rPr>
              <a:t> across BAC tiers; CAC&gt;100 up </a:t>
            </a:r>
            <a:r>
              <a:rPr sz="1400" b="1" i="0">
                <a:solidFill>
                  <a:srgbClr val="E7AC51"/>
                </a:solidFill>
                <a:latin typeface="Arial"/>
              </a:rPr>
              <a:t>2.5×</a:t>
            </a:r>
            <a:r>
              <a:rPr sz="1400" b="0" i="0">
                <a:solidFill>
                  <a:srgbClr val="9DA9B5"/>
                </a:solidFill>
                <a:latin typeface="Arial"/>
              </a:rPr>
              <a:t>. BAC independently predicted CAC (OR 1.32 / SD). </a:t>
            </a:r>
            <a:r>
              <a:rPr sz="1400" b="1" i="0">
                <a:solidFill>
                  <a:srgbClr val="ECEFF3"/>
                </a:solidFill>
                <a:latin typeface="Arial"/>
              </a:rPr>
              <a:t>The mammogram previews the coronary CT.</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(BAC–CAC). CAC detection by BAC tier (n=2,079).</a:t>
            </a:r>
          </a:p>
        </p:txBody>
      </p:sp>
      <p:sp>
        <p:nvSpPr>
          <p:cNvPr id="8" name="Rounded Rectangle 7"/>
          <p:cNvSpPr/>
          <p:nvPr/>
        </p:nvSpPr>
        <p:spPr>
          <a:xfrm>
            <a:off x="6400800" y="1826894"/>
            <a:ext cx="5394960" cy="329565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3e559c34cb.jpg"/>
          <p:cNvPicPr>
            <a:picLocks noChangeAspect="1"/>
          </p:cNvPicPr>
          <p:nvPr/>
        </p:nvPicPr>
        <p:blipFill>
          <a:blip r:embed="rId4"/>
          <a:stretch>
            <a:fillRect/>
          </a:stretch>
        </p:blipFill>
        <p:spPr>
          <a:xfrm>
            <a:off x="6492240" y="1918334"/>
            <a:ext cx="5212080" cy="311277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costochondral calcification.</a:t>
            </a:r>
          </a:p>
        </p:txBody>
      </p:sp>
      <p:sp>
        <p:nvSpPr>
          <p:cNvPr id="6" name="TextBox 5"/>
          <p:cNvSpPr txBox="1"/>
          <p:nvPr/>
        </p:nvSpPr>
        <p:spPr>
          <a:xfrm>
            <a:off x="777240" y="2148840"/>
            <a:ext cx="5669280" cy="128016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A </a:t>
            </a:r>
            <a:r>
              <a:rPr sz="1400" b="1" i="0">
                <a:solidFill>
                  <a:srgbClr val="ECEFF3"/>
                </a:solidFill>
                <a:latin typeface="Arial"/>
              </a:rPr>
              <a:t>non-vascular</a:t>
            </a:r>
            <a:r>
              <a:rPr sz="1400" b="0" i="0">
                <a:solidFill>
                  <a:srgbClr val="9DA9B5"/>
                </a:solidFill>
                <a:latin typeface="Arial"/>
              </a:rPr>
              <a:t> marker — calcification in the costal cartilage on chest CT (</a:t>
            </a:r>
            <a:r>
              <a:rPr sz="1400" b="1" i="0">
                <a:solidFill>
                  <a:srgbClr val="ECEFF3"/>
                </a:solidFill>
                <a:latin typeface="Arial"/>
              </a:rPr>
              <a:t>n=1,311</a:t>
            </a:r>
            <a:r>
              <a:rPr sz="1400" b="0" i="0">
                <a:solidFill>
                  <a:srgbClr val="9DA9B5"/>
                </a:solidFill>
                <a:latin typeface="Arial"/>
              </a:rPr>
              <a:t>). Correlated with BAC (ρ=0.089, p=0.001).</a:t>
            </a:r>
          </a:p>
        </p:txBody>
      </p:sp>
      <p:sp>
        <p:nvSpPr>
          <p:cNvPr id="7" name="Rectangle 6"/>
          <p:cNvSpPr/>
          <p:nvPr/>
        </p:nvSpPr>
        <p:spPr>
          <a:xfrm>
            <a:off x="777240" y="3611880"/>
            <a:ext cx="5120640" cy="457200"/>
          </a:xfrm>
          <a:prstGeom prst="rect">
            <a:avLst/>
          </a:prstGeom>
          <a:solidFill>
            <a:srgbClr val="1B2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3611880"/>
            <a:ext cx="3566160" cy="457200"/>
          </a:xfrm>
          <a:prstGeom prst="rect">
            <a:avLst/>
          </a:prstGeom>
          <a:noFill/>
        </p:spPr>
        <p:txBody>
          <a:bodyPr wrap="square" anchor="ctr" lIns="0" rIns="0" tIns="0" bIns="0">
            <a:spAutoFit/>
          </a:bodyPr>
          <a:lstStyle/>
          <a:p>
            <a:pPr algn="l">
              <a:lnSpc>
                <a:spcPct val="100000"/>
              </a:lnSpc>
            </a:pPr>
            <a:r>
              <a:rPr sz="1000" b="0" i="0">
                <a:solidFill>
                  <a:srgbClr val="9DA9B5"/>
                </a:solidFill>
                <a:latin typeface="Consolas"/>
              </a:rPr>
              <a:t>HIGH BAC VS ZERO (ΔCCC)</a:t>
            </a:r>
          </a:p>
        </p:txBody>
      </p:sp>
      <p:sp>
        <p:nvSpPr>
          <p:cNvPr id="9" name="TextBox 8"/>
          <p:cNvSpPr txBox="1"/>
          <p:nvPr/>
        </p:nvSpPr>
        <p:spPr>
          <a:xfrm>
            <a:off x="4343400" y="3611880"/>
            <a:ext cx="1444751" cy="457200"/>
          </a:xfrm>
          <a:prstGeom prst="rect">
            <a:avLst/>
          </a:prstGeom>
          <a:noFill/>
        </p:spPr>
        <p:txBody>
          <a:bodyPr wrap="square" anchor="ctr" lIns="0" rIns="0" tIns="0" bIns="0">
            <a:spAutoFit/>
          </a:bodyPr>
          <a:lstStyle/>
          <a:p>
            <a:pPr algn="r">
              <a:lnSpc>
                <a:spcPct val="100000"/>
              </a:lnSpc>
            </a:pPr>
            <a:r>
              <a:rPr sz="1000" b="0" i="0">
                <a:solidFill>
                  <a:srgbClr val="9DA9B5"/>
                </a:solidFill>
                <a:latin typeface="Consolas"/>
              </a:rPr>
              <a:t>ADJ. P</a:t>
            </a:r>
          </a:p>
        </p:txBody>
      </p:sp>
      <p:sp>
        <p:nvSpPr>
          <p:cNvPr id="10" name="TextBox 9"/>
          <p:cNvSpPr txBox="1"/>
          <p:nvPr/>
        </p:nvSpPr>
        <p:spPr>
          <a:xfrm>
            <a:off x="886968" y="4069080"/>
            <a:ext cx="3566160" cy="457200"/>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Median (q0.50)</a:t>
            </a:r>
          </a:p>
        </p:txBody>
      </p:sp>
      <p:sp>
        <p:nvSpPr>
          <p:cNvPr id="11" name="TextBox 10"/>
          <p:cNvSpPr txBox="1"/>
          <p:nvPr/>
        </p:nvSpPr>
        <p:spPr>
          <a:xfrm>
            <a:off x="4343400" y="4069080"/>
            <a:ext cx="1444751" cy="457200"/>
          </a:xfrm>
          <a:prstGeom prst="rect">
            <a:avLst/>
          </a:prstGeom>
          <a:noFill/>
        </p:spPr>
        <p:txBody>
          <a:bodyPr wrap="square" anchor="ctr" lIns="0" rIns="0" tIns="0" bIns="0">
            <a:spAutoFit/>
          </a:bodyPr>
          <a:lstStyle/>
          <a:p>
            <a:pPr algn="r">
              <a:lnSpc>
                <a:spcPct val="100000"/>
              </a:lnSpc>
            </a:pPr>
            <a:r>
              <a:rPr sz="1300" b="0" i="0">
                <a:solidFill>
                  <a:srgbClr val="9DA9B5"/>
                </a:solidFill>
                <a:latin typeface="Arial"/>
              </a:rPr>
              <a:t>NS · 0.47</a:t>
            </a:r>
          </a:p>
        </p:txBody>
      </p:sp>
      <p:sp>
        <p:nvSpPr>
          <p:cNvPr id="12" name="Rectangle 11"/>
          <p:cNvSpPr/>
          <p:nvPr/>
        </p:nvSpPr>
        <p:spPr>
          <a:xfrm>
            <a:off x="777240" y="4526280"/>
            <a:ext cx="5120640" cy="457200"/>
          </a:xfrm>
          <a:prstGeom prst="rect">
            <a:avLst/>
          </a:prstGeom>
          <a:solidFill>
            <a:srgbClr val="22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26280"/>
            <a:ext cx="3566160" cy="457200"/>
          </a:xfrm>
          <a:prstGeom prst="rect">
            <a:avLst/>
          </a:prstGeom>
          <a:noFill/>
        </p:spPr>
        <p:txBody>
          <a:bodyPr wrap="square" anchor="ctr" lIns="0" rIns="0" tIns="0" bIns="0">
            <a:spAutoFit/>
          </a:bodyPr>
          <a:lstStyle/>
          <a:p>
            <a:pPr algn="l">
              <a:lnSpc>
                <a:spcPct val="100000"/>
              </a:lnSpc>
            </a:pPr>
            <a:r>
              <a:rPr sz="1300" b="1" i="0">
                <a:solidFill>
                  <a:srgbClr val="ECEFF3"/>
                </a:solidFill>
                <a:latin typeface="Arial"/>
              </a:rPr>
              <a:t>75th pct (q0.75)  </a:t>
            </a:r>
            <a:r>
              <a:rPr sz="1300" b="1" i="0">
                <a:solidFill>
                  <a:srgbClr val="E7AC51"/>
                </a:solidFill>
                <a:latin typeface="Arial"/>
              </a:rPr>
              <a:t>+3,408 mm³</a:t>
            </a:r>
          </a:p>
        </p:txBody>
      </p:sp>
      <p:sp>
        <p:nvSpPr>
          <p:cNvPr id="14" name="TextBox 13"/>
          <p:cNvSpPr txBox="1"/>
          <p:nvPr/>
        </p:nvSpPr>
        <p:spPr>
          <a:xfrm>
            <a:off x="4343400" y="4526280"/>
            <a:ext cx="1444751" cy="457200"/>
          </a:xfrm>
          <a:prstGeom prst="rect">
            <a:avLst/>
          </a:prstGeom>
          <a:noFill/>
        </p:spPr>
        <p:txBody>
          <a:bodyPr wrap="square" anchor="ctr" lIns="0" rIns="0" tIns="0" bIns="0">
            <a:spAutoFit/>
          </a:bodyPr>
          <a:lstStyle/>
          <a:p>
            <a:pPr algn="r">
              <a:lnSpc>
                <a:spcPct val="100000"/>
              </a:lnSpc>
            </a:pPr>
            <a:r>
              <a:rPr sz="1300" b="1" i="0">
                <a:solidFill>
                  <a:srgbClr val="ECEFF3"/>
                </a:solidFill>
                <a:latin typeface="Arial"/>
              </a:rPr>
              <a:t>&lt;0.001</a:t>
            </a:r>
          </a:p>
        </p:txBody>
      </p:sp>
      <p:sp>
        <p:nvSpPr>
          <p:cNvPr id="15" name="Rectangle 14"/>
          <p:cNvSpPr/>
          <p:nvPr/>
        </p:nvSpPr>
        <p:spPr>
          <a:xfrm>
            <a:off x="777240" y="5212080"/>
            <a:ext cx="27432" cy="64008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12080"/>
            <a:ext cx="5486400" cy="640080"/>
          </a:xfrm>
          <a:prstGeom prst="rect">
            <a:avLst/>
          </a:prstGeom>
          <a:noFill/>
        </p:spPr>
        <p:txBody>
          <a:bodyPr wrap="square" anchor="t" lIns="0" rIns="0" tIns="0" bIns="0">
            <a:spAutoFit/>
          </a:bodyPr>
          <a:lstStyle/>
          <a:p>
            <a:pPr algn="l">
              <a:lnSpc>
                <a:spcPct val="135000"/>
              </a:lnSpc>
            </a:pPr>
            <a:r>
              <a:rPr sz="1350" b="0" i="0">
                <a:solidFill>
                  <a:srgbClr val="ECEFF3"/>
                </a:solidFill>
                <a:latin typeface="Arial"/>
              </a:rPr>
              <a:t>Vascular + valvular + skeletal — one free mammographic finding.</a:t>
            </a:r>
          </a:p>
        </p:txBody>
      </p:sp>
      <p:sp>
        <p:nvSpPr>
          <p:cNvPr id="17" name="TextBox 16"/>
          <p:cNvSpPr txBox="1"/>
          <p:nvPr/>
        </p:nvSpPr>
        <p:spPr>
          <a:xfrm>
            <a:off x="777240" y="598932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(BAC–CCC) · quantile regression, adj. age + DM.</a:t>
            </a:r>
          </a:p>
        </p:txBody>
      </p:sp>
      <p:sp>
        <p:nvSpPr>
          <p:cNvPr id="18" name="Rounded Rectangle 17"/>
          <p:cNvSpPr/>
          <p:nvPr/>
        </p:nvSpPr>
        <p:spPr>
          <a:xfrm>
            <a:off x="6858000" y="1188720"/>
            <a:ext cx="4846320" cy="457200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COSTOCHONDRAL CALCIFICATION</a:t>
            </a:r>
          </a:p>
          <a:p>
            <a:pPr algn="ctr">
              <a:lnSpc>
                <a:spcPct val="100000"/>
              </a:lnSpc>
              <a:spcBef>
                <a:spcPts val="300"/>
              </a:spcBef>
            </a:pPr>
            <a:r>
              <a:rPr sz="900" b="0" i="0">
                <a:solidFill>
                  <a:srgbClr val="5C6975"/>
                </a:solidFill>
                <a:latin typeface="Consolas"/>
              </a:rPr>
              <a:t>[ drop in — confirm reuse rights ]</a:t>
            </a:r>
          </a:p>
        </p:txBody>
      </p:sp>
      <p:sp>
        <p:nvSpPr>
          <p:cNvPr id="19" name="TextBox 18"/>
          <p:cNvSpPr txBox="1"/>
          <p:nvPr/>
        </p:nvSpPr>
        <p:spPr>
          <a:xfrm>
            <a:off x="6858000" y="5852160"/>
            <a:ext cx="484632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Illustrative. Source: Sarıyıldız et al., via ResearchGate.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Closing the loop: the </a:t>
            </a:r>
            <a:r>
              <a:rPr sz="2400" b="1" i="0">
                <a:solidFill>
                  <a:srgbClr val="E7AC51"/>
                </a:solidFill>
                <a:latin typeface="Arial"/>
              </a:rPr>
              <a:t>I-BAC pragmatic trial.</a:t>
            </a:r>
          </a:p>
        </p:txBody>
      </p:sp>
      <p:sp>
        <p:nvSpPr>
          <p:cNvPr id="6" name="TextBox 5"/>
          <p:cNvSpPr txBox="1"/>
          <p:nvPr/>
        </p:nvSpPr>
        <p:spPr>
          <a:xfrm>
            <a:off x="777240" y="2468880"/>
            <a:ext cx="5852160" cy="274320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The gap: </a:t>
            </a:r>
            <a:r>
              <a:rPr sz="1350" b="1" i="0">
                <a:solidFill>
                  <a:srgbClr val="ECEFF3"/>
                </a:solidFill>
                <a:latin typeface="Arial"/>
              </a:rPr>
              <a:t>&lt;7% (Emory) / 15% (Mayo)</a:t>
            </a:r>
            <a:r>
              <a:rPr sz="1350" b="0" i="0">
                <a:solidFill>
                  <a:srgbClr val="9DA9B5"/>
                </a:solidFill>
                <a:latin typeface="Arial"/>
              </a:rPr>
              <a:t> of women had the chart data to even compute a PREVENT/ASCVD score. </a:t>
            </a:r>
            <a:r>
              <a:rPr sz="1350" b="1" i="0">
                <a:solidFill>
                  <a:srgbClr val="E7AC51"/>
                </a:solidFill>
                <a:latin typeface="Arial"/>
              </a:rPr>
              <a:t>I-BAC</a:t>
            </a:r>
            <a:r>
              <a:rPr sz="1350" b="0" i="0">
                <a:solidFill>
                  <a:srgbClr val="9DA9B5"/>
                </a:solidFill>
                <a:latin typeface="Arial"/>
              </a:rPr>
              <a:t> (R01HL167811) is a Hybrid Type 1 pragmatic RCT across Emory + Mayo AZ. Primary endpoint: 6-mo composite of </a:t>
            </a:r>
            <a:r>
              <a:rPr sz="1350" b="1" i="0">
                <a:solidFill>
                  <a:srgbClr val="ECEFF3"/>
                </a:solidFill>
                <a:latin typeface="Arial"/>
              </a:rPr>
              <a:t>lipid panel · preventive-med change · CAC testing.</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Deployment + pragmatic-trial structure (Aim 2). Precedent: NOTIFY-PICTURE — BAC has no guideline yet.</a:t>
            </a:r>
          </a:p>
        </p:txBody>
      </p:sp>
      <p:sp>
        <p:nvSpPr>
          <p:cNvPr id="8" name="Rounded Rectangle 7"/>
          <p:cNvSpPr/>
          <p:nvPr/>
        </p:nvSpPr>
        <p:spPr>
          <a:xfrm>
            <a:off x="6309360" y="2544845"/>
            <a:ext cx="5577840" cy="1676868"/>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955cf64bac.jpg"/>
          <p:cNvPicPr>
            <a:picLocks noChangeAspect="1"/>
          </p:cNvPicPr>
          <p:nvPr/>
        </p:nvPicPr>
        <p:blipFill>
          <a:blip r:embed="rId4"/>
          <a:stretch>
            <a:fillRect/>
          </a:stretch>
        </p:blipFill>
        <p:spPr>
          <a:xfrm>
            <a:off x="6400800" y="2636285"/>
            <a:ext cx="5394960" cy="149398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 → 2035</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And we are on the verge of </a:t>
            </a:r>
            <a:r>
              <a:rPr sz="3000" b="1" i="0">
                <a:solidFill>
                  <a:srgbClr val="E7AC51"/>
                </a:solidFill>
                <a:latin typeface="Arial"/>
              </a:rPr>
              <a:t>multimodal, multi-omics.</a:t>
            </a:r>
          </a:p>
        </p:txBody>
      </p:sp>
      <p:sp>
        <p:nvSpPr>
          <p:cNvPr id="6" name="TextBox 5"/>
          <p:cNvSpPr txBox="1"/>
          <p:nvPr/>
        </p:nvSpPr>
        <p:spPr>
          <a:xfrm>
            <a:off x="777240" y="2926080"/>
            <a:ext cx="10424160" cy="256032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Everything so far is still </a:t>
            </a:r>
            <a:r>
              <a:rPr sz="1700" b="1" i="0">
                <a:solidFill>
                  <a:srgbClr val="ECEFF3"/>
                </a:solidFill>
                <a:latin typeface="Arial"/>
              </a:rPr>
              <a:t>one model, one modality</a:t>
            </a:r>
            <a:r>
              <a:rPr sz="1700" b="0" i="0">
                <a:solidFill>
                  <a:srgbClr val="9DA9B5"/>
                </a:solidFill>
                <a:latin typeface="Arial"/>
              </a:rPr>
              <a:t> — the image, or the calcium, or the tissue, read separately. The frontier is to combine them — </a:t>
            </a:r>
            <a:r>
              <a:rPr sz="1700" b="1" i="0">
                <a:solidFill>
                  <a:srgbClr val="E7AC51"/>
                </a:solidFill>
                <a:latin typeface="Arial"/>
              </a:rPr>
              <a:t>imaging + pathology + genomics + the clinical record</a:t>
            </a:r>
            <a:r>
              <a:rPr sz="1700" b="0" i="0">
                <a:solidFill>
                  <a:srgbClr val="9DA9B5"/>
                </a:solidFill>
                <a:latin typeface="Arial"/>
              </a:rPr>
              <a:t> — into a single model of the patient. To see where that goes, we have to leave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8229600" cy="310896"/>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a:t>
            </a:r>
          </a:p>
        </p:txBody>
      </p:sp>
      <p:sp>
        <p:nvSpPr>
          <p:cNvPr id="5" name="TextBox 4"/>
          <p:cNvSpPr txBox="1"/>
          <p:nvPr/>
        </p:nvSpPr>
        <p:spPr>
          <a:xfrm>
            <a:off x="777240" y="2606040"/>
            <a:ext cx="6309360" cy="868680"/>
          </a:xfrm>
          <a:prstGeom prst="rect">
            <a:avLst/>
          </a:prstGeom>
          <a:noFill/>
        </p:spPr>
        <p:txBody>
          <a:bodyPr wrap="square" anchor="t" lIns="0" rIns="0" tIns="0" bIns="0">
            <a:spAutoFit/>
          </a:bodyPr>
          <a:lstStyle/>
          <a:p>
            <a:pPr algn="l">
              <a:lnSpc>
                <a:spcPct val="100000"/>
              </a:lnSpc>
            </a:pPr>
            <a:r>
              <a:rPr sz="4400" b="1" i="0">
                <a:solidFill>
                  <a:srgbClr val="ECEFF3"/>
                </a:solidFill>
                <a:latin typeface="Arial"/>
              </a:rPr>
              <a:t>The year is </a:t>
            </a:r>
            <a:r>
              <a:rPr sz="4400" b="1" i="0">
                <a:solidFill>
                  <a:srgbClr val="E7AC51"/>
                </a:solidFill>
                <a:latin typeface="Arial"/>
              </a:rPr>
              <a:t>2035.</a:t>
            </a:r>
          </a:p>
        </p:txBody>
      </p:sp>
      <p:sp>
        <p:nvSpPr>
          <p:cNvPr id="6" name="TextBox 5"/>
          <p:cNvSpPr txBox="1"/>
          <p:nvPr/>
        </p:nvSpPr>
        <p:spPr>
          <a:xfrm>
            <a:off x="777240" y="3611880"/>
            <a:ext cx="5760720" cy="1188720"/>
          </a:xfrm>
          <a:prstGeom prst="rect">
            <a:avLst/>
          </a:prstGeom>
          <a:noFill/>
        </p:spPr>
        <p:txBody>
          <a:bodyPr wrap="square" anchor="t" lIns="0" rIns="0" tIns="0" bIns="0">
            <a:spAutoFit/>
          </a:bodyPr>
          <a:lstStyle/>
          <a:p>
            <a:pPr algn="l">
              <a:lnSpc>
                <a:spcPct val="140000"/>
              </a:lnSpc>
            </a:pPr>
            <a:r>
              <a:rPr sz="1700" b="0" i="0">
                <a:solidFill>
                  <a:srgbClr val="9DA9B5"/>
                </a:solidFill>
                <a:latin typeface="Arial"/>
              </a:rPr>
              <a:t>From here, today's models are a decade old. The real question: what happens when imaging, pathology, and omics finally converge — </a:t>
            </a:r>
            <a:r>
              <a:rPr sz="1700" b="1" i="0">
                <a:solidFill>
                  <a:srgbClr val="ECEFF3"/>
                </a:solidFill>
                <a:latin typeface="Arial"/>
              </a:rPr>
              <a:t>on one patient.</a:t>
            </a:r>
          </a:p>
        </p:txBody>
      </p:sp>
      <p:pic>
        <p:nvPicPr>
          <p:cNvPr id="7" name="Picture 6" descr="svg_49b2a1b734.png"/>
          <p:cNvPicPr>
            <a:picLocks noChangeAspect="1"/>
          </p:cNvPicPr>
          <p:nvPr/>
        </p:nvPicPr>
        <p:blipFill>
          <a:blip r:embed="rId4"/>
          <a:stretch>
            <a:fillRect/>
          </a:stretch>
        </p:blipFill>
        <p:spPr>
          <a:xfrm>
            <a:off x="7132320" y="1828800"/>
            <a:ext cx="4480560" cy="25603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