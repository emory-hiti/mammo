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what have thirty years taught us? First, that the technology is fallible — CAD cost us two decades learning it. Second, that we are getting genuinely better at looking ahead: reading a woman's risk, her cardiovascular signal, her tumor biology years before they would declare themselves. And third, a hard-won humility — the consequences of what we deploy are not always the ones we foresee. Hold those together, and the arc of the field comes into focus: lesion, image, patient.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 at the arc through the spine of this talk — lesion, image, patient — across the decades. For most of these years the goal was the lesion: find the spot. CAD failed at it, and only later did whole-image detection earn randomized evidence. Then we learned to read the whole image, beyond the lesion — a woman's future risk, and a cardiovascular signal, from the same mammogram. And now the patient: image, tissue, gene, and history combined, with risk known before she enters the scanner. Lesion, image, patient — that is how the field 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 did not fail because the math was bad. It failed for a lack of evidence, monitoring, and discipline. That is the through-line from the first slide to this one. So if you take one thing away, take the discipline that turns clinical intelligence into better outcomes. First: prove it before you scale it — prospective, randomized evidence; MASAI is the bar, not a retrospective AUC, and this time we have it. Second: audit the blind spots — explainability and subgroup performance are release criteria, not afterthoughts; a headline AUC is a sales number. Third: preserve clinical judgment and guard against de-skilling — design against automation bias; the clinician should stay a clinician, not a rubber stamp.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normal mammogram we opened with — the one I said was full of hidden signals. The image has not changed — what we read from it will. Twenty-five years ago we could barely mark a suspicious spot. Today, from that same image, we can forecast a woman's cancer years ahead, flag her cardiovascular risk, and connect it to her tissue and her genome.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975"/>
                </a:solidFill>
                <a:latin typeface="Consolas"/>
              </a:rPr>
              <a:t>LESION </a:t>
            </a:r>
            <a:r>
              <a:rPr sz="1100" b="0" i="0">
                <a:solidFill>
                  <a:srgbClr val="E7AC51"/>
                </a:solidFill>
                <a:latin typeface="Consolas"/>
              </a:rPr>
              <a:t>→ </a:t>
            </a:r>
            <a:r>
              <a:rPr sz="1100" b="0" i="0">
                <a:solidFill>
                  <a:srgbClr val="5C6975"/>
                </a:solidFill>
                <a:latin typeface="Consolas"/>
              </a:rPr>
              <a:t>IMAGE </a:t>
            </a:r>
            <a:r>
              <a:rPr sz="1100" b="0" i="0">
                <a:solidFill>
                  <a:srgbClr val="E7AC51"/>
                </a:solidFill>
                <a:latin typeface="Consolas"/>
              </a:rPr>
              <a:t>→ </a:t>
            </a:r>
            <a:r>
              <a:rPr sz="1100" b="0" i="0">
                <a:solidFill>
                  <a:srgbClr val="5C6975"/>
                </a:solidFill>
                <a:latin typeface="Consolas"/>
              </a:rPr>
              <a:t>PATIENT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ECEFF3"/>
                </a:solidFill>
                <a:latin typeface="Arial"/>
              </a:rPr>
              <a:t>What thirty years </a:t>
            </a:r>
            <a:r>
              <a:rPr sz="4400" b="1" i="0">
                <a:solidFill>
                  <a:srgbClr val="E7AC51"/>
                </a:solidFill>
                <a:latin typeface="Arial"/>
              </a:rPr>
              <a:t>taught 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1" i="0">
                <a:solidFill>
                  <a:srgbClr val="ECEFF3"/>
                </a:solidFill>
                <a:latin typeface="Arial"/>
              </a:rPr>
              <a:t>Technology is fallible.</a:t>
            </a:r>
            <a:r>
              <a:rPr sz="1800" b="0" i="0">
                <a:solidFill>
                  <a:srgbClr val="9DA9B5"/>
                </a:solidFill>
                <a:latin typeface="Arial"/>
              </a:rPr>
              <a:t> We keep getting better at looking ahead — but the consequences of what we deploy are not always ones we foresee.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ECEFF3"/>
                </a:solidFill>
                <a:latin typeface="Arial"/>
              </a:rPr>
              <a:t>Lesion, image, </a:t>
            </a:r>
            <a:r>
              <a:rPr sz="2800" b="1" i="0">
                <a:solidFill>
                  <a:srgbClr val="E7AC51"/>
                </a:solidFill>
                <a:latin typeface="Arial"/>
              </a:rPr>
              <a:t>patient.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41448"/>
            <a:ext cx="1417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LESION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423160"/>
            <a:ext cx="9052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ECEFF3"/>
                </a:solidFill>
                <a:latin typeface="Arial"/>
              </a:rPr>
              <a:t>Find the spot.  </a:t>
            </a:r>
            <a:r>
              <a:rPr sz="1400" b="0" i="0">
                <a:solidFill>
                  <a:srgbClr val="9DA9B5"/>
                </a:solidFill>
                <a:latin typeface="Arial"/>
              </a:rPr>
              <a:t>CAD failed at it; whole-image detection later earned the randomized evidence CAD never had.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01568"/>
            <a:ext cx="1417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383280"/>
            <a:ext cx="9052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ECEFF3"/>
                </a:solidFill>
                <a:latin typeface="Arial"/>
              </a:rPr>
              <a:t>Beyond the lesion.  </a:t>
            </a:r>
            <a:r>
              <a:rPr sz="1400" b="0" i="0">
                <a:solidFill>
                  <a:srgbClr val="9DA9B5"/>
                </a:solidFill>
                <a:latin typeface="Arial"/>
              </a:rPr>
              <a:t>The whole image reads a woman's future </a:t>
            </a:r>
            <a:r>
              <a:rPr sz="1400" b="1" i="0">
                <a:solidFill>
                  <a:srgbClr val="E7AC51"/>
                </a:solidFill>
                <a:latin typeface="Arial"/>
              </a:rPr>
              <a:t>risk</a:t>
            </a:r>
            <a:r>
              <a:rPr sz="1400" b="0" i="0">
                <a:solidFill>
                  <a:srgbClr val="9DA9B5"/>
                </a:solidFill>
                <a:latin typeface="Arial"/>
              </a:rPr>
              <a:t> and a </a:t>
            </a:r>
            <a:r>
              <a:rPr sz="1400" b="1" i="0">
                <a:solidFill>
                  <a:srgbClr val="E7AC51"/>
                </a:solidFill>
                <a:latin typeface="Arial"/>
              </a:rPr>
              <a:t>cardiovascular</a:t>
            </a:r>
            <a:r>
              <a:rPr sz="1400" b="0" i="0">
                <a:solidFill>
                  <a:srgbClr val="9DA9B5"/>
                </a:solidFill>
                <a:latin typeface="Arial"/>
              </a:rPr>
              <a:t> signal — from the same mammogram.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61688"/>
            <a:ext cx="1417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4343400"/>
            <a:ext cx="9052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ECEFF3"/>
                </a:solidFill>
                <a:latin typeface="Arial"/>
              </a:rPr>
              <a:t>The whole person.  </a:t>
            </a:r>
            <a:r>
              <a:rPr sz="1400" b="0" i="0">
                <a:solidFill>
                  <a:srgbClr val="9DA9B5"/>
                </a:solidFill>
                <a:latin typeface="Arial"/>
              </a:rPr>
              <a:t>Image, tissue, gene, and history together — risk known </a:t>
            </a:r>
            <a:r>
              <a:rPr sz="1400" b="1" i="0">
                <a:solidFill>
                  <a:srgbClr val="ECEFF3"/>
                </a:solidFill>
                <a:latin typeface="Arial"/>
              </a:rPr>
              <a:t>before she enters the scanner.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ECEFF3"/>
                </a:solidFill>
                <a:latin typeface="Arial"/>
              </a:rPr>
              <a:t>The discipline, </a:t>
            </a:r>
            <a:r>
              <a:rPr sz="2800" b="1" i="0">
                <a:solidFill>
                  <a:srgbClr val="E7AC51"/>
                </a:solidFill>
                <a:latin typeface="Arial"/>
              </a:rPr>
              <a:t>in three 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502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7AC51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468880"/>
            <a:ext cx="10058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ECEFF3"/>
                </a:solidFill>
                <a:latin typeface="Arial"/>
              </a:rPr>
              <a:t>Prove it before you scale it.  </a:t>
            </a:r>
            <a:r>
              <a:rPr sz="1350" b="0" i="0">
                <a:solidFill>
                  <a:srgbClr val="9DA9B5"/>
                </a:solidFill>
                <a:latin typeface="Arial"/>
              </a:rPr>
              <a:t>Prospective, randomized evidence — MASAI is the bar, not a retrospective AUC.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502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7AC51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474720"/>
            <a:ext cx="10058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ECEFF3"/>
                </a:solidFill>
                <a:latin typeface="Arial"/>
              </a:rPr>
              <a:t>Audit the blind spots.  </a:t>
            </a:r>
            <a:r>
              <a:rPr sz="1350" b="0" i="0">
                <a:solidFill>
                  <a:srgbClr val="9DA9B5"/>
                </a:solidFill>
                <a:latin typeface="Arial"/>
              </a:rPr>
              <a:t>Explainability and subgroup performance are release criteria — a headline AUC is a sales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80560"/>
            <a:ext cx="502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7AC51"/>
                </a:solidFill>
                <a:latin typeface="Consola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480560"/>
            <a:ext cx="10058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ECEFF3"/>
                </a:solidFill>
                <a:latin typeface="Arial"/>
              </a:rPr>
              <a:t>Preserve clinical judgment; guard against de-skilling.  </a:t>
            </a:r>
            <a:r>
              <a:rPr sz="1350" b="0" i="0">
                <a:solidFill>
                  <a:srgbClr val="9DA9B5"/>
                </a:solidFill>
                <a:latin typeface="Arial"/>
              </a:rPr>
              <a:t>Design against automation bias — the clinician should stay a clinician, not a rubber stamp.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7AC51"/>
                </a:solidFill>
                <a:latin typeface="Consolas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ECEFF3"/>
                </a:solidFill>
                <a:latin typeface="Arial"/>
              </a:rPr>
              <a:t>The image hasn't changed — </a:t>
            </a:r>
            <a:r>
              <a:rPr sz="3000" b="1" i="0">
                <a:solidFill>
                  <a:srgbClr val="E7AC51"/>
                </a:solidFill>
                <a:latin typeface="Arial"/>
              </a:rPr>
              <a:t>what we read from it will.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9DA9B5"/>
                </a:solidFill>
                <a:latin typeface="Arial"/>
              </a:rPr>
              <a:t>Twenty-five years ago we could barely mark a suspicious spot. From that same image today: a woman's </a:t>
            </a:r>
            <a:r>
              <a:rPr sz="1800" b="1" i="0">
                <a:solidFill>
                  <a:srgbClr val="ECEFF3"/>
                </a:solidFill>
                <a:latin typeface="Arial"/>
              </a:rPr>
              <a:t>cancer risk</a:t>
            </a:r>
            <a:r>
              <a:rPr sz="1800" b="0" i="0">
                <a:solidFill>
                  <a:srgbClr val="9DA9B5"/>
                </a:solidFill>
                <a:latin typeface="Arial"/>
              </a:rPr>
              <a:t> years ahead, her </a:t>
            </a:r>
            <a:r>
              <a:rPr sz="1800" b="1" i="0">
                <a:solidFill>
                  <a:srgbClr val="ECEFF3"/>
                </a:solidFill>
                <a:latin typeface="Arial"/>
              </a:rPr>
              <a:t>cardiovascular risk</a:t>
            </a:r>
            <a:r>
              <a:rPr sz="1800" b="0" i="0">
                <a:solidFill>
                  <a:srgbClr val="9DA9B5"/>
                </a:solidFill>
                <a:latin typeface="Arial"/>
              </a:rPr>
              <a:t>, and a link to her </a:t>
            </a:r>
            <a:r>
              <a:rPr sz="1800" b="1" i="0">
                <a:solidFill>
                  <a:srgbClr val="E7AC51"/>
                </a:solidFill>
                <a:latin typeface="Arial"/>
              </a:rPr>
              <a:t>tissue and genome.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CEFF3"/>
                </a:solidFill>
                <a:latin typeface="Arial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832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7AC51"/>
                </a:solidFill>
                <a:latin typeface="Consolas"/>
              </a:rPr>
              <a:t>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86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DA9B5"/>
                </a:solidFill>
                <a:latin typeface="Arial"/>
              </a:rPr>
              <a:t>Radiology &amp; Imaging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519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7AC51"/>
                </a:solidFill>
                <a:latin typeface="Consolas"/>
              </a:rPr>
              <a:t>HITI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C6975"/>
                </a:solidFill>
                <a:latin typeface="Consolas"/>
              </a:rPr>
              <a:t>Hari Trivedi, MD  ·  Emory University  ·  IWBI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