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9955" y="2097194"/>
            <a:ext cx="11368859" cy="18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56" b="0" i="0">
                <a:solidFill>
                  <a:srgbClr val="5C6975"/>
                </a:solidFill>
                <a:latin typeface="Consolas"/>
              </a:rPr>
              <a:t>LESION</a:t>
            </a:r>
            <a:r>
              <a:rPr sz="956" b="0" i="0">
                <a:solidFill>
                  <a:srgbClr val="5C6975"/>
                </a:solidFill>
                <a:latin typeface="Consolas"/>
              </a:rPr>
              <a:t>→</a:t>
            </a:r>
            <a:r>
              <a:rPr sz="956" b="0" i="0">
                <a:solidFill>
                  <a:srgbClr val="5C6975"/>
                </a:solidFill>
                <a:latin typeface="Consolas"/>
              </a:rPr>
              <a:t>IMAGE</a:t>
            </a:r>
            <a:r>
              <a:rPr sz="956" b="0" i="0">
                <a:solidFill>
                  <a:srgbClr val="5C6975"/>
                </a:solidFill>
                <a:latin typeface="Consolas"/>
              </a:rPr>
              <a:t>→</a:t>
            </a:r>
            <a:r>
              <a:rPr sz="956" b="0" i="0">
                <a:solidFill>
                  <a:srgbClr val="E7AC51"/>
                </a:solidFill>
                <a:latin typeface="Consolas"/>
              </a:rPr>
              <a:t>PATIENT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9955" y="2433451"/>
            <a:ext cx="11368859" cy="1225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3000"/>
              </a:lnSpc>
            </a:pPr>
            <a:r>
              <a:rPr sz="4509" b="1" i="0">
                <a:solidFill>
                  <a:srgbClr val="ECEFF3"/>
                </a:solidFill>
                <a:latin typeface="Arial"/>
              </a:rPr>
              <a:t>What thirty years </a:t>
            </a:r>
            <a:r>
              <a:rPr sz="4509" b="1" i="0">
                <a:solidFill>
                  <a:srgbClr val="E7AC51"/>
                </a:solidFill>
                <a:latin typeface="Arial"/>
              </a:rPr>
              <a:t>taught 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955" y="3808305"/>
            <a:ext cx="5650793" cy="998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667" b="1" i="0">
                <a:solidFill>
                  <a:srgbClr val="ECEFF3"/>
                </a:solidFill>
                <a:latin typeface="Arial"/>
              </a:rPr>
              <a:t>Technology is fallible.</a:t>
            </a:r>
            <a:r>
              <a:rPr sz="1667" b="0" i="0">
                <a:solidFill>
                  <a:srgbClr val="9DA9B5"/>
                </a:solidFill>
                <a:latin typeface="Arial"/>
              </a:rPr>
              <a:t> We keep getting better at looking ahead — but the consequences of what we deploy are not always ones we foresee.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9955" y="379644"/>
            <a:ext cx="1707056" cy="17588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74" b="1" i="0">
                <a:solidFill>
                  <a:srgbClr val="E7AC51"/>
                </a:solidFill>
                <a:latin typeface="Consolas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9955" y="2068552"/>
            <a:ext cx="11368859" cy="4440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2801" b="1" i="0">
                <a:solidFill>
                  <a:srgbClr val="ECEFF3"/>
                </a:solidFill>
                <a:latin typeface="Arial"/>
              </a:rPr>
              <a:t>Lesion, image, </a:t>
            </a:r>
            <a:r>
              <a:rPr sz="2801" b="1" i="0">
                <a:solidFill>
                  <a:srgbClr val="E7AC51"/>
                </a:solidFill>
                <a:latin typeface="Arial"/>
              </a:rPr>
              <a:t>patient.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955" y="2835636"/>
            <a:ext cx="1955683" cy="1975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83" b="0" i="0">
                <a:solidFill>
                  <a:srgbClr val="7C8893"/>
                </a:solidFill>
                <a:latin typeface="Consolas"/>
              </a:rPr>
              <a:t>LESION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54786" y="2748860"/>
            <a:ext cx="6506666" cy="6246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571" b="1" i="0">
                <a:solidFill>
                  <a:srgbClr val="ECEFF3"/>
                </a:solidFill>
                <a:latin typeface="Arial"/>
              </a:rPr>
              <a:t>Find the spot.</a:t>
            </a:r>
            <a:r>
              <a:rPr sz="1571" b="0" i="0">
                <a:solidFill>
                  <a:srgbClr val="9DA9B5"/>
                </a:solidFill>
                <a:latin typeface="Arial"/>
              </a:rPr>
              <a:t> CAD failed at it; whole-image detection later earned the randomized evidence CAD never had.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9955" y="3566451"/>
            <a:ext cx="1955683" cy="1975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83" b="0" i="0">
                <a:solidFill>
                  <a:srgbClr val="5FB7C9"/>
                </a:solidFill>
                <a:latin typeface="Consolas"/>
              </a:rPr>
              <a:t>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4786" y="3479675"/>
            <a:ext cx="6506666" cy="6246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571" b="1" i="0">
                <a:solidFill>
                  <a:srgbClr val="ECEFF3"/>
                </a:solidFill>
                <a:latin typeface="Arial"/>
              </a:rPr>
              <a:t>Beyond the lesion.</a:t>
            </a:r>
            <a:r>
              <a:rPr sz="1571" b="0" i="0">
                <a:solidFill>
                  <a:srgbClr val="9DA9B5"/>
                </a:solidFill>
                <a:latin typeface="Arial"/>
              </a:rPr>
              <a:t> The whole image reads a woman's future </a:t>
            </a:r>
            <a:r>
              <a:rPr sz="1571" b="1" i="0">
                <a:solidFill>
                  <a:srgbClr val="5FB7C9"/>
                </a:solidFill>
                <a:latin typeface="Arial"/>
              </a:rPr>
              <a:t>risk</a:t>
            </a:r>
            <a:r>
              <a:rPr sz="1571" b="0" i="0">
                <a:solidFill>
                  <a:srgbClr val="9DA9B5"/>
                </a:solidFill>
                <a:latin typeface="Arial"/>
              </a:rPr>
              <a:t> and a </a:t>
            </a:r>
            <a:r>
              <a:rPr sz="1571" b="1" i="0">
                <a:solidFill>
                  <a:srgbClr val="5FB7C9"/>
                </a:solidFill>
                <a:latin typeface="Arial"/>
              </a:rPr>
              <a:t>cardiovascular</a:t>
            </a:r>
            <a:r>
              <a:rPr sz="1571" b="0" i="0">
                <a:solidFill>
                  <a:srgbClr val="9DA9B5"/>
                </a:solidFill>
                <a:latin typeface="Arial"/>
              </a:rPr>
              <a:t> signal — from the same mammogram.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955" y="4297266"/>
            <a:ext cx="1955683" cy="1975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83" b="0" i="0">
                <a:solidFill>
                  <a:srgbClr val="E7AC51"/>
                </a:solidFill>
                <a:latin typeface="Consolas"/>
              </a:rPr>
              <a:t>PATIENT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4786" y="4210490"/>
            <a:ext cx="6506666" cy="6246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571" b="1" i="0">
                <a:solidFill>
                  <a:srgbClr val="ECEFF3"/>
                </a:solidFill>
                <a:latin typeface="Arial"/>
              </a:rPr>
              <a:t>The whole person.</a:t>
            </a:r>
            <a:r>
              <a:rPr sz="1571" b="0" i="0">
                <a:solidFill>
                  <a:srgbClr val="9DA9B5"/>
                </a:solidFill>
                <a:latin typeface="Arial"/>
              </a:rPr>
              <a:t> Image, tissue, gene, and history together — risk known </a:t>
            </a:r>
            <a:r>
              <a:rPr sz="1571" b="1" i="0">
                <a:solidFill>
                  <a:srgbClr val="E7AC51"/>
                </a:solidFill>
                <a:latin typeface="Arial"/>
              </a:rPr>
              <a:t>before she enters the scanner.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9955" y="379644"/>
            <a:ext cx="1707056" cy="17588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74" b="1" i="0">
                <a:solidFill>
                  <a:srgbClr val="E7AC51"/>
                </a:solidFill>
                <a:latin typeface="Consolas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9955" y="2164310"/>
            <a:ext cx="11368859" cy="4440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2801" b="1" i="0">
                <a:solidFill>
                  <a:srgbClr val="ECEFF3"/>
                </a:solidFill>
                <a:latin typeface="Arial"/>
              </a:rPr>
              <a:t>The discipline, </a:t>
            </a:r>
            <a:r>
              <a:rPr sz="2801" b="1" i="0">
                <a:solidFill>
                  <a:srgbClr val="E7AC51"/>
                </a:solidFill>
                <a:latin typeface="Arial"/>
              </a:rPr>
              <a:t>in three lines.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955" y="2822925"/>
            <a:ext cx="7528459" cy="5897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66" b="1" i="0">
                <a:solidFill>
                  <a:srgbClr val="E7AC51"/>
                </a:solidFill>
                <a:latin typeface="Arial"/>
              </a:rPr>
              <a:t>01</a:t>
            </a:r>
            <a:r>
              <a:rPr sz="1366" b="1" i="0">
                <a:solidFill>
                  <a:srgbClr val="ECEFF3"/>
                </a:solidFill>
                <a:latin typeface="Arial"/>
              </a:rPr>
              <a:t>Prove it before you scale it.</a:t>
            </a:r>
            <a:r>
              <a:rPr sz="1366" b="0" i="0">
                <a:solidFill>
                  <a:srgbClr val="9DA9B5"/>
                </a:solidFill>
                <a:latin typeface="Arial"/>
              </a:rPr>
              <a:t> Prospective, randomized evidence — MASAI is the bar, not a retrospective AUC.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9955" y="3486285"/>
            <a:ext cx="7528459" cy="5897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66" b="1" i="0">
                <a:solidFill>
                  <a:srgbClr val="E7AC51"/>
                </a:solidFill>
                <a:latin typeface="Arial"/>
              </a:rPr>
              <a:t>02</a:t>
            </a:r>
            <a:r>
              <a:rPr sz="1366" b="1" i="0">
                <a:solidFill>
                  <a:srgbClr val="ECEFF3"/>
                </a:solidFill>
                <a:latin typeface="Arial"/>
              </a:rPr>
              <a:t>Audit the blind spots.</a:t>
            </a:r>
            <a:r>
              <a:rPr sz="1366" b="0" i="0">
                <a:solidFill>
                  <a:srgbClr val="9DA9B5"/>
                </a:solidFill>
                <a:latin typeface="Arial"/>
              </a:rPr>
              <a:t> Explainability and subgroup performance are release criteria — a headline AUC is a sales number.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9955" y="4149645"/>
            <a:ext cx="7528459" cy="5897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66" b="1" i="0">
                <a:solidFill>
                  <a:srgbClr val="E7AC51"/>
                </a:solidFill>
                <a:latin typeface="Arial"/>
              </a:rPr>
              <a:t>03</a:t>
            </a:r>
            <a:r>
              <a:rPr sz="1366" b="1" i="0">
                <a:solidFill>
                  <a:srgbClr val="ECEFF3"/>
                </a:solidFill>
                <a:latin typeface="Arial"/>
              </a:rPr>
              <a:t>Preserve clinical judgment; guard against de-skilling.</a:t>
            </a:r>
            <a:r>
              <a:rPr sz="1366" b="0" i="0">
                <a:solidFill>
                  <a:srgbClr val="9DA9B5"/>
                </a:solidFill>
                <a:latin typeface="Arial"/>
              </a:rPr>
              <a:t> Design against automation bias — the clinician should stay a clinician, not a rubber stamp.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9955" y="379644"/>
            <a:ext cx="1707056" cy="17588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74" b="1" i="0">
                <a:solidFill>
                  <a:srgbClr val="E7AC51"/>
                </a:solidFill>
                <a:latin typeface="Consolas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9955" y="2607850"/>
            <a:ext cx="11368859" cy="48468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143" b="1" i="0">
                <a:solidFill>
                  <a:srgbClr val="ECEFF3"/>
                </a:solidFill>
                <a:latin typeface="Arial"/>
              </a:rPr>
              <a:t>The image hasn't changed — </a:t>
            </a:r>
            <a:r>
              <a:rPr sz="3143" b="1" i="0">
                <a:solidFill>
                  <a:srgbClr val="E7AC51"/>
                </a:solidFill>
                <a:latin typeface="Arial"/>
              </a:rPr>
              <a:t>what we read from it will.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9955" y="3328834"/>
            <a:ext cx="27432" cy="921314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5196" y="3328834"/>
            <a:ext cx="7085778" cy="96703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612" b="0" i="0">
                <a:solidFill>
                  <a:srgbClr val="9DA9B5"/>
                </a:solidFill>
                <a:latin typeface="Arial"/>
              </a:rPr>
              <a:t>Twenty-five years ago we could barely mark a suspicious spot. From that same image today: a woman's </a:t>
            </a:r>
            <a:r>
              <a:rPr sz="1612" b="1" i="0">
                <a:solidFill>
                  <a:srgbClr val="ECEFF3"/>
                </a:solidFill>
                <a:latin typeface="Arial"/>
              </a:rPr>
              <a:t>cancer risk</a:t>
            </a:r>
            <a:r>
              <a:rPr sz="1612" b="0" i="0">
                <a:solidFill>
                  <a:srgbClr val="9DA9B5"/>
                </a:solidFill>
                <a:latin typeface="Arial"/>
              </a:rPr>
              <a:t> years ahead, her </a:t>
            </a:r>
            <a:r>
              <a:rPr sz="1612" b="1" i="0">
                <a:solidFill>
                  <a:srgbClr val="ECEFF3"/>
                </a:solidFill>
                <a:latin typeface="Arial"/>
              </a:rPr>
              <a:t>cardiovascular risk</a:t>
            </a:r>
            <a:r>
              <a:rPr sz="1612" b="0" i="0">
                <a:solidFill>
                  <a:srgbClr val="9DA9B5"/>
                </a:solidFill>
                <a:latin typeface="Arial"/>
              </a:rPr>
              <a:t>, and a link to her </a:t>
            </a:r>
            <a:r>
              <a:rPr sz="1612" b="1" i="0">
                <a:solidFill>
                  <a:srgbClr val="ECEFF3"/>
                </a:solidFill>
                <a:latin typeface="Arial"/>
              </a:rPr>
              <a:t>tissue and genome.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63297" y="1978725"/>
            <a:ext cx="8245517" cy="9829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7379" b="1" i="0">
                <a:solidFill>
                  <a:srgbClr val="ECEFF3"/>
                </a:solidFill>
                <a:latin typeface="Arial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29374" y="3523402"/>
            <a:ext cx="7879441" cy="4579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869" b="1" i="0">
                <a:solidFill>
                  <a:srgbClr val="012169"/>
                </a:solidFill>
                <a:latin typeface="Arial"/>
              </a:rPr>
              <a:t>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2289" y="3989822"/>
            <a:ext cx="3326774" cy="1650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901" b="0" i="0">
                <a:solidFill>
                  <a:srgbClr val="012169"/>
                </a:solidFill>
                <a:latin typeface="Arial"/>
              </a:rPr>
              <a:t>RADIOLOGY &amp; IMAGING SCIENCES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3886" y="3642719"/>
            <a:ext cx="1635197" cy="1975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1011" b="0" i="0">
                <a:solidFill>
                  <a:srgbClr val="E7AC51"/>
                </a:solidFill>
                <a:latin typeface="Consolas"/>
              </a:rPr>
              <a:t>HITI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7296" y="3870505"/>
            <a:ext cx="2208377" cy="1650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847" b="0" i="0">
                <a:solidFill>
                  <a:srgbClr val="5C6975"/>
                </a:solidFill>
                <a:latin typeface="Consolas"/>
              </a:rPr>
              <a:t>[ logo to be added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5001" y="4716569"/>
            <a:ext cx="5835922" cy="2084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1147" b="0" i="0">
                <a:solidFill>
                  <a:srgbClr val="5C6975"/>
                </a:solidFill>
                <a:latin typeface="Consolas"/>
              </a:rPr>
              <a:t>Hari Trivedi, MD  ·  Emory University  ·  IWBI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