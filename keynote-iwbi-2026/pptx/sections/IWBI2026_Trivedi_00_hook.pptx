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Thirty Years, Three Eras: AI in Breast Imaging, from CAD to Clinical Intelligence. — Hari Trivedi, Emory University.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Quickly, my disclosures. I'm a founder of Avera AI and Lightbox AI, Associate CMIO at HOPPR, and I advise croviz.ai, Solis Mammography, Sirona Medical, Flatiron Health, Coefficient, Verily Life Sciences, and the Biodata Consortium. My research and the work in this talk have received industry and foundation support from the organizations listed on the right. None of these relationships dictated the content of this talk.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you all know, this is a screening mammogram. In fact, a normal one — and it was read as normal. This is a real, de-identified exam from Emory. This is what we do today.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radiologists read this and were right — there is no cancer to see today. So the question I want to pose is: what are we not seeing? What I want to describe by the end of this talk is how AI models — past, present, and future — read this same mammogram, and her eventual biopsy slide, and extract information that is not visible to us. The first estimates a high probability of breast cancer within about five years — which she did develop. The second quantifies calcification in her breast arteries — an independent cardiovascular risk marker, with a measurable dose-response. The third, applied to the slide from her eventual biopsy, estimates a recurrence score we currently send to a genomics lab for about four thousand dollars. None of these is hypothetical. Each is published and externally validated, and one is already in this year's screening guidelines.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over the next thirty minutes or so, I want to take you on a short journey of how we got here and where we can expect to go: from the lesion, to the image, to the patient. And I'll start with a cautionary tale, because this field has overpromised before.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where this is going, we have to start with where it has been — because this field has overpromised before. So let's step into a time machine and go back to the beginning, to 1998.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 Id="rId4"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pic>
        <p:nvPicPr>
          <p:cNvPr id="2" name="Picture 1" descr="bg_motif.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868680"/>
            <a:ext cx="10607040" cy="365760"/>
          </a:xfrm>
          <a:prstGeom prst="rect">
            <a:avLst/>
          </a:prstGeom>
          <a:noFill/>
        </p:spPr>
        <p:txBody>
          <a:bodyPr wrap="square" anchor="t" lIns="0" rIns="0" tIns="0" bIns="0">
            <a:spAutoFit/>
          </a:bodyPr>
          <a:lstStyle/>
          <a:p>
            <a:pPr algn="l">
              <a:lnSpc>
                <a:spcPct val="100000"/>
              </a:lnSpc>
            </a:pPr>
            <a:r>
              <a:rPr sz="1200" b="1" i="0">
                <a:solidFill>
                  <a:srgbClr val="5FB7C9"/>
                </a:solidFill>
                <a:latin typeface="Consolas"/>
              </a:rPr>
              <a:t>International Workshop on Breast Imaging · 2026</a:t>
            </a:r>
          </a:p>
        </p:txBody>
      </p:sp>
      <p:sp>
        <p:nvSpPr>
          <p:cNvPr id="5" name="TextBox 4"/>
          <p:cNvSpPr txBox="1"/>
          <p:nvPr/>
        </p:nvSpPr>
        <p:spPr>
          <a:xfrm>
            <a:off x="777240" y="2148840"/>
            <a:ext cx="10607040" cy="2011680"/>
          </a:xfrm>
          <a:prstGeom prst="rect">
            <a:avLst/>
          </a:prstGeom>
          <a:noFill/>
        </p:spPr>
        <p:txBody>
          <a:bodyPr wrap="square" anchor="t" lIns="0" rIns="0" tIns="0" bIns="0">
            <a:spAutoFit/>
          </a:bodyPr>
          <a:lstStyle/>
          <a:p>
            <a:pPr algn="l">
              <a:lnSpc>
                <a:spcPct val="98000"/>
              </a:lnSpc>
            </a:pPr>
            <a:r>
              <a:rPr sz="5400" b="1" i="0">
                <a:solidFill>
                  <a:srgbClr val="ECEFF3"/>
                </a:solidFill>
                <a:latin typeface="Arial"/>
              </a:rPr>
              <a:t>Thirty Years,</a:t>
            </a:r>
          </a:p>
          <a:p>
            <a:pPr algn="l">
              <a:lnSpc>
                <a:spcPct val="98000"/>
              </a:lnSpc>
            </a:pPr>
            <a:r>
              <a:rPr sz="5400" b="1" i="0">
                <a:solidFill>
                  <a:srgbClr val="E7AC51"/>
                </a:solidFill>
                <a:latin typeface="Arial"/>
              </a:rPr>
              <a:t>Three Eras.</a:t>
            </a:r>
          </a:p>
        </p:txBody>
      </p:sp>
      <p:sp>
        <p:nvSpPr>
          <p:cNvPr id="6" name="TextBox 5"/>
          <p:cNvSpPr txBox="1"/>
          <p:nvPr/>
        </p:nvSpPr>
        <p:spPr>
          <a:xfrm>
            <a:off x="777240" y="4526280"/>
            <a:ext cx="8686800" cy="822960"/>
          </a:xfrm>
          <a:prstGeom prst="rect">
            <a:avLst/>
          </a:prstGeom>
          <a:noFill/>
        </p:spPr>
        <p:txBody>
          <a:bodyPr wrap="square" anchor="t" lIns="0" rIns="0" tIns="0" bIns="0">
            <a:spAutoFit/>
          </a:bodyPr>
          <a:lstStyle/>
          <a:p>
            <a:pPr algn="l">
              <a:lnSpc>
                <a:spcPct val="130000"/>
              </a:lnSpc>
            </a:pPr>
            <a:r>
              <a:rPr sz="2200" b="0" i="0">
                <a:solidFill>
                  <a:srgbClr val="9DA9B5"/>
                </a:solidFill>
                <a:latin typeface="Arial"/>
              </a:rPr>
              <a:t>AI in Breast Imaging — from CAD to Clinical Intelligence</a:t>
            </a:r>
          </a:p>
        </p:txBody>
      </p:sp>
      <p:sp>
        <p:nvSpPr>
          <p:cNvPr id="7" name="TextBox 6"/>
          <p:cNvSpPr txBox="1"/>
          <p:nvPr/>
        </p:nvSpPr>
        <p:spPr>
          <a:xfrm>
            <a:off x="777240" y="5577840"/>
            <a:ext cx="10607040" cy="457200"/>
          </a:xfrm>
          <a:prstGeom prst="rect">
            <a:avLst/>
          </a:prstGeom>
          <a:noFill/>
        </p:spPr>
        <p:txBody>
          <a:bodyPr wrap="square" anchor="t" lIns="0" rIns="0" tIns="0" bIns="0">
            <a:spAutoFit/>
          </a:bodyPr>
          <a:lstStyle/>
          <a:p>
            <a:pPr algn="l">
              <a:lnSpc>
                <a:spcPct val="100000"/>
              </a:lnSpc>
            </a:pPr>
            <a:r>
              <a:rPr sz="1400" b="1" i="0">
                <a:solidFill>
                  <a:srgbClr val="ECEFF3"/>
                </a:solidFill>
                <a:latin typeface="Consolas"/>
              </a:rPr>
              <a:t>Hari Trivedi, MD</a:t>
            </a:r>
            <a:r>
              <a:rPr sz="1400" b="0" i="0">
                <a:solidFill>
                  <a:srgbClr val="5C6975"/>
                </a:solidFill>
                <a:latin typeface="Consolas"/>
              </a:rPr>
              <a:t>  ·  Emory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pic>
        <p:nvPicPr>
          <p:cNvPr id="2" name="Picture 1" descr="bg_motif.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502920"/>
            <a:ext cx="8229600" cy="320040"/>
          </a:xfrm>
          <a:prstGeom prst="rect">
            <a:avLst/>
          </a:prstGeom>
          <a:noFill/>
        </p:spPr>
        <p:txBody>
          <a:bodyPr wrap="square" anchor="t" lIns="0" rIns="0" tIns="0" bIns="0">
            <a:spAutoFit/>
          </a:bodyPr>
          <a:lstStyle/>
          <a:p>
            <a:pPr algn="l">
              <a:lnSpc>
                <a:spcPct val="100000"/>
              </a:lnSpc>
            </a:pPr>
            <a:r>
              <a:rPr sz="1100" b="1" i="0">
                <a:solidFill>
                  <a:srgbClr val="E7AC51"/>
                </a:solidFill>
                <a:latin typeface="Consolas"/>
              </a:rPr>
              <a:t>DISCLOSURES</a:t>
            </a:r>
          </a:p>
        </p:txBody>
      </p:sp>
      <p:sp>
        <p:nvSpPr>
          <p:cNvPr id="5" name="TextBox 4"/>
          <p:cNvSpPr txBox="1"/>
          <p:nvPr/>
        </p:nvSpPr>
        <p:spPr>
          <a:xfrm>
            <a:off x="777240" y="1078992"/>
            <a:ext cx="10607040" cy="731520"/>
          </a:xfrm>
          <a:prstGeom prst="rect">
            <a:avLst/>
          </a:prstGeom>
          <a:noFill/>
        </p:spPr>
        <p:txBody>
          <a:bodyPr wrap="square" anchor="t" lIns="0" rIns="0" tIns="0" bIns="0">
            <a:spAutoFit/>
          </a:bodyPr>
          <a:lstStyle/>
          <a:p>
            <a:pPr algn="l">
              <a:lnSpc>
                <a:spcPct val="100000"/>
              </a:lnSpc>
            </a:pPr>
            <a:r>
              <a:rPr sz="3800" b="1" i="0">
                <a:solidFill>
                  <a:srgbClr val="ECEFF3"/>
                </a:solidFill>
                <a:latin typeface="Arial"/>
              </a:rPr>
              <a:t>Disclosures</a:t>
            </a:r>
          </a:p>
        </p:txBody>
      </p:sp>
      <p:sp>
        <p:nvSpPr>
          <p:cNvPr id="6" name="TextBox 5"/>
          <p:cNvSpPr txBox="1"/>
          <p:nvPr/>
        </p:nvSpPr>
        <p:spPr>
          <a:xfrm>
            <a:off x="777240" y="2331720"/>
            <a:ext cx="10607040" cy="237744"/>
          </a:xfrm>
          <a:prstGeom prst="rect">
            <a:avLst/>
          </a:prstGeom>
          <a:noFill/>
        </p:spPr>
        <p:txBody>
          <a:bodyPr wrap="square" anchor="t" lIns="0" rIns="0" tIns="0" bIns="0">
            <a:spAutoFit/>
          </a:bodyPr>
          <a:lstStyle/>
          <a:p>
            <a:pPr algn="l">
              <a:lnSpc>
                <a:spcPct val="100000"/>
              </a:lnSpc>
            </a:pPr>
            <a:r>
              <a:rPr sz="1200" b="1" i="0">
                <a:solidFill>
                  <a:srgbClr val="E7AC51"/>
                </a:solidFill>
                <a:latin typeface="Consolas"/>
              </a:rPr>
              <a:t>FOUNDER</a:t>
            </a:r>
          </a:p>
        </p:txBody>
      </p:sp>
      <p:sp>
        <p:nvSpPr>
          <p:cNvPr id="7" name="Rounded Rectangle 6"/>
          <p:cNvSpPr/>
          <p:nvPr/>
        </p:nvSpPr>
        <p:spPr>
          <a:xfrm>
            <a:off x="777240" y="2642615"/>
            <a:ext cx="889000" cy="365760"/>
          </a:xfrm>
          <a:prstGeom prst="roundRect">
            <a:avLst/>
          </a:prstGeom>
          <a:solidFill>
            <a:srgbClr val="1B232D"/>
          </a:solidFill>
          <a:ln w="9525">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ctr" wrap="none" lIns="128016" tIns="0" bIns="0"/>
          <a:lstStyle/>
          <a:p>
            <a:pPr algn="l">
              <a:lnSpc>
                <a:spcPct val="100000"/>
              </a:lnSpc>
            </a:pPr>
            <a:r>
              <a:rPr sz="1100" b="0" i="0">
                <a:solidFill>
                  <a:srgbClr val="ECEFF3"/>
                </a:solidFill>
                <a:latin typeface="Consolas"/>
              </a:rPr>
              <a:t>Avera AI</a:t>
            </a:r>
          </a:p>
        </p:txBody>
      </p:sp>
      <p:sp>
        <p:nvSpPr>
          <p:cNvPr id="8" name="Rectangle 7"/>
          <p:cNvSpPr/>
          <p:nvPr/>
        </p:nvSpPr>
        <p:spPr>
          <a:xfrm>
            <a:off x="777240" y="2642615"/>
            <a:ext cx="41148"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775968" y="2642615"/>
            <a:ext cx="1119505" cy="365760"/>
          </a:xfrm>
          <a:prstGeom prst="roundRect">
            <a:avLst/>
          </a:prstGeom>
          <a:solidFill>
            <a:srgbClr val="1B232D"/>
          </a:solidFill>
          <a:ln w="9525">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ctr" wrap="none" lIns="128016" tIns="0" bIns="0"/>
          <a:lstStyle/>
          <a:p>
            <a:pPr algn="l">
              <a:lnSpc>
                <a:spcPct val="100000"/>
              </a:lnSpc>
            </a:pPr>
            <a:r>
              <a:rPr sz="1100" b="0" i="0">
                <a:solidFill>
                  <a:srgbClr val="ECEFF3"/>
                </a:solidFill>
                <a:latin typeface="Consolas"/>
              </a:rPr>
              <a:t>Lightbox AI</a:t>
            </a:r>
          </a:p>
        </p:txBody>
      </p:sp>
      <p:sp>
        <p:nvSpPr>
          <p:cNvPr id="10" name="Rectangle 9"/>
          <p:cNvSpPr/>
          <p:nvPr/>
        </p:nvSpPr>
        <p:spPr>
          <a:xfrm>
            <a:off x="1775968" y="2642615"/>
            <a:ext cx="41148"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191256"/>
            <a:ext cx="10607040" cy="237744"/>
          </a:xfrm>
          <a:prstGeom prst="rect">
            <a:avLst/>
          </a:prstGeom>
          <a:noFill/>
        </p:spPr>
        <p:txBody>
          <a:bodyPr wrap="square" anchor="t" lIns="0" rIns="0" tIns="0" bIns="0">
            <a:spAutoFit/>
          </a:bodyPr>
          <a:lstStyle/>
          <a:p>
            <a:pPr algn="l">
              <a:lnSpc>
                <a:spcPct val="100000"/>
              </a:lnSpc>
            </a:pPr>
            <a:r>
              <a:rPr sz="1200" b="1" i="0">
                <a:solidFill>
                  <a:srgbClr val="E7AC51"/>
                </a:solidFill>
                <a:latin typeface="Consolas"/>
              </a:rPr>
              <a:t>ASSOCIATE CMIO</a:t>
            </a:r>
          </a:p>
        </p:txBody>
      </p:sp>
      <p:sp>
        <p:nvSpPr>
          <p:cNvPr id="12" name="Rounded Rectangle 11"/>
          <p:cNvSpPr/>
          <p:nvPr/>
        </p:nvSpPr>
        <p:spPr>
          <a:xfrm>
            <a:off x="777240" y="3502151"/>
            <a:ext cx="658495" cy="365760"/>
          </a:xfrm>
          <a:prstGeom prst="roundRect">
            <a:avLst/>
          </a:prstGeom>
          <a:solidFill>
            <a:srgbClr val="1B232D"/>
          </a:solidFill>
          <a:ln w="9525">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ctr" wrap="none" lIns="128016" tIns="0" bIns="0"/>
          <a:lstStyle/>
          <a:p>
            <a:pPr algn="l">
              <a:lnSpc>
                <a:spcPct val="100000"/>
              </a:lnSpc>
            </a:pPr>
            <a:r>
              <a:rPr sz="1100" b="0" i="0">
                <a:solidFill>
                  <a:srgbClr val="ECEFF3"/>
                </a:solidFill>
                <a:latin typeface="Consolas"/>
              </a:rPr>
              <a:t>HOPPR</a:t>
            </a:r>
          </a:p>
        </p:txBody>
      </p:sp>
      <p:sp>
        <p:nvSpPr>
          <p:cNvPr id="13" name="Rectangle 12"/>
          <p:cNvSpPr/>
          <p:nvPr/>
        </p:nvSpPr>
        <p:spPr>
          <a:xfrm>
            <a:off x="777240" y="3502151"/>
            <a:ext cx="41148"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050791"/>
            <a:ext cx="10607040" cy="237744"/>
          </a:xfrm>
          <a:prstGeom prst="rect">
            <a:avLst/>
          </a:prstGeom>
          <a:noFill/>
        </p:spPr>
        <p:txBody>
          <a:bodyPr wrap="square" anchor="t" lIns="0" rIns="0" tIns="0" bIns="0">
            <a:spAutoFit/>
          </a:bodyPr>
          <a:lstStyle/>
          <a:p>
            <a:pPr algn="l">
              <a:lnSpc>
                <a:spcPct val="100000"/>
              </a:lnSpc>
            </a:pPr>
            <a:r>
              <a:rPr sz="1200" b="1" i="0">
                <a:solidFill>
                  <a:srgbClr val="E7AC51"/>
                </a:solidFill>
                <a:latin typeface="Consolas"/>
              </a:rPr>
              <a:t>ADVISOR</a:t>
            </a:r>
          </a:p>
        </p:txBody>
      </p:sp>
      <p:sp>
        <p:nvSpPr>
          <p:cNvPr id="15" name="Rounded Rectangle 14"/>
          <p:cNvSpPr/>
          <p:nvPr/>
        </p:nvSpPr>
        <p:spPr>
          <a:xfrm>
            <a:off x="777240" y="4361688"/>
            <a:ext cx="965835" cy="365760"/>
          </a:xfrm>
          <a:prstGeom prst="roundRect">
            <a:avLst/>
          </a:prstGeom>
          <a:solidFill>
            <a:srgbClr val="1B232D"/>
          </a:solidFill>
          <a:ln w="9525">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ctr" wrap="none" lIns="128016" tIns="0" bIns="0"/>
          <a:lstStyle/>
          <a:p>
            <a:pPr algn="l">
              <a:lnSpc>
                <a:spcPct val="100000"/>
              </a:lnSpc>
            </a:pPr>
            <a:r>
              <a:rPr sz="1100" b="0" i="0">
                <a:solidFill>
                  <a:srgbClr val="ECEFF3"/>
                </a:solidFill>
                <a:latin typeface="Consolas"/>
              </a:rPr>
              <a:t>croviz.ai</a:t>
            </a:r>
          </a:p>
        </p:txBody>
      </p:sp>
      <p:sp>
        <p:nvSpPr>
          <p:cNvPr id="16" name="Rectangle 15"/>
          <p:cNvSpPr/>
          <p:nvPr/>
        </p:nvSpPr>
        <p:spPr>
          <a:xfrm>
            <a:off x="777240" y="4361688"/>
            <a:ext cx="41148"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852803" y="4361688"/>
            <a:ext cx="1580515" cy="365760"/>
          </a:xfrm>
          <a:prstGeom prst="roundRect">
            <a:avLst/>
          </a:prstGeom>
          <a:solidFill>
            <a:srgbClr val="1B232D"/>
          </a:solidFill>
          <a:ln w="9525">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ctr" wrap="none" lIns="128016" tIns="0" bIns="0"/>
          <a:lstStyle/>
          <a:p>
            <a:pPr algn="l">
              <a:lnSpc>
                <a:spcPct val="100000"/>
              </a:lnSpc>
            </a:pPr>
            <a:r>
              <a:rPr sz="1100" b="0" i="0">
                <a:solidFill>
                  <a:srgbClr val="ECEFF3"/>
                </a:solidFill>
                <a:latin typeface="Consolas"/>
              </a:rPr>
              <a:t>Solis Mammography</a:t>
            </a:r>
          </a:p>
        </p:txBody>
      </p:sp>
      <p:sp>
        <p:nvSpPr>
          <p:cNvPr id="18" name="Rectangle 17"/>
          <p:cNvSpPr/>
          <p:nvPr/>
        </p:nvSpPr>
        <p:spPr>
          <a:xfrm>
            <a:off x="1852803" y="4361688"/>
            <a:ext cx="41148"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543046" y="4361688"/>
            <a:ext cx="1350010" cy="365760"/>
          </a:xfrm>
          <a:prstGeom prst="roundRect">
            <a:avLst/>
          </a:prstGeom>
          <a:solidFill>
            <a:srgbClr val="1B232D"/>
          </a:solidFill>
          <a:ln w="9525">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ctr" wrap="none" lIns="128016" tIns="0" bIns="0"/>
          <a:lstStyle/>
          <a:p>
            <a:pPr algn="l">
              <a:lnSpc>
                <a:spcPct val="100000"/>
              </a:lnSpc>
            </a:pPr>
            <a:r>
              <a:rPr sz="1100" b="0" i="0">
                <a:solidFill>
                  <a:srgbClr val="ECEFF3"/>
                </a:solidFill>
                <a:latin typeface="Consolas"/>
              </a:rPr>
              <a:t>Sirona Medical</a:t>
            </a:r>
          </a:p>
        </p:txBody>
      </p:sp>
      <p:sp>
        <p:nvSpPr>
          <p:cNvPr id="20" name="Rectangle 19"/>
          <p:cNvSpPr/>
          <p:nvPr/>
        </p:nvSpPr>
        <p:spPr>
          <a:xfrm>
            <a:off x="3543046" y="4361688"/>
            <a:ext cx="41148"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002784" y="4361688"/>
            <a:ext cx="1426845" cy="365760"/>
          </a:xfrm>
          <a:prstGeom prst="roundRect">
            <a:avLst/>
          </a:prstGeom>
          <a:solidFill>
            <a:srgbClr val="1B232D"/>
          </a:solidFill>
          <a:ln w="9525">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ctr" wrap="none" lIns="128016" tIns="0" bIns="0"/>
          <a:lstStyle/>
          <a:p>
            <a:pPr algn="l">
              <a:lnSpc>
                <a:spcPct val="100000"/>
              </a:lnSpc>
            </a:pPr>
            <a:r>
              <a:rPr sz="1100" b="0" i="0">
                <a:solidFill>
                  <a:srgbClr val="ECEFF3"/>
                </a:solidFill>
                <a:latin typeface="Consolas"/>
              </a:rPr>
              <a:t>Flatiron Health</a:t>
            </a:r>
          </a:p>
        </p:txBody>
      </p:sp>
      <p:sp>
        <p:nvSpPr>
          <p:cNvPr id="22" name="Rectangle 21"/>
          <p:cNvSpPr/>
          <p:nvPr/>
        </p:nvSpPr>
        <p:spPr>
          <a:xfrm>
            <a:off x="5002784" y="4361688"/>
            <a:ext cx="41148"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539357" y="4361688"/>
            <a:ext cx="1119505" cy="365760"/>
          </a:xfrm>
          <a:prstGeom prst="roundRect">
            <a:avLst/>
          </a:prstGeom>
          <a:solidFill>
            <a:srgbClr val="1B232D"/>
          </a:solidFill>
          <a:ln w="9525">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ctr" wrap="none" lIns="128016" tIns="0" bIns="0"/>
          <a:lstStyle/>
          <a:p>
            <a:pPr algn="l">
              <a:lnSpc>
                <a:spcPct val="100000"/>
              </a:lnSpc>
            </a:pPr>
            <a:r>
              <a:rPr sz="1100" b="0" i="0">
                <a:solidFill>
                  <a:srgbClr val="ECEFF3"/>
                </a:solidFill>
                <a:latin typeface="Consolas"/>
              </a:rPr>
              <a:t>Coefficient</a:t>
            </a:r>
          </a:p>
        </p:txBody>
      </p:sp>
      <p:sp>
        <p:nvSpPr>
          <p:cNvPr id="24" name="Rectangle 23"/>
          <p:cNvSpPr/>
          <p:nvPr/>
        </p:nvSpPr>
        <p:spPr>
          <a:xfrm>
            <a:off x="6539357" y="4361688"/>
            <a:ext cx="41148"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768590" y="4361688"/>
            <a:ext cx="1811020" cy="365760"/>
          </a:xfrm>
          <a:prstGeom prst="roundRect">
            <a:avLst/>
          </a:prstGeom>
          <a:solidFill>
            <a:srgbClr val="1B232D"/>
          </a:solidFill>
          <a:ln w="9525">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ctr" wrap="none" lIns="128016" tIns="0" bIns="0"/>
          <a:lstStyle/>
          <a:p>
            <a:pPr algn="l">
              <a:lnSpc>
                <a:spcPct val="100000"/>
              </a:lnSpc>
            </a:pPr>
            <a:r>
              <a:rPr sz="1100" b="0" i="0">
                <a:solidFill>
                  <a:srgbClr val="ECEFF3"/>
                </a:solidFill>
                <a:latin typeface="Consolas"/>
              </a:rPr>
              <a:t>Verily Life Sciences</a:t>
            </a:r>
          </a:p>
        </p:txBody>
      </p:sp>
      <p:sp>
        <p:nvSpPr>
          <p:cNvPr id="26" name="Rectangle 25"/>
          <p:cNvSpPr/>
          <p:nvPr/>
        </p:nvSpPr>
        <p:spPr>
          <a:xfrm>
            <a:off x="7768590" y="4361688"/>
            <a:ext cx="41148"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689338" y="4361688"/>
            <a:ext cx="1657350" cy="365760"/>
          </a:xfrm>
          <a:prstGeom prst="roundRect">
            <a:avLst/>
          </a:prstGeom>
          <a:solidFill>
            <a:srgbClr val="1B232D"/>
          </a:solidFill>
          <a:ln w="9525">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ctr" wrap="none" lIns="128016" tIns="0" bIns="0"/>
          <a:lstStyle/>
          <a:p>
            <a:pPr algn="l">
              <a:lnSpc>
                <a:spcPct val="100000"/>
              </a:lnSpc>
            </a:pPr>
            <a:r>
              <a:rPr sz="1100" b="0" i="0">
                <a:solidFill>
                  <a:srgbClr val="ECEFF3"/>
                </a:solidFill>
                <a:latin typeface="Consolas"/>
              </a:rPr>
              <a:t>Biodata Consortium</a:t>
            </a:r>
          </a:p>
        </p:txBody>
      </p:sp>
      <p:sp>
        <p:nvSpPr>
          <p:cNvPr id="28" name="Rectangle 27"/>
          <p:cNvSpPr/>
          <p:nvPr/>
        </p:nvSpPr>
        <p:spPr>
          <a:xfrm>
            <a:off x="9689338" y="4361688"/>
            <a:ext cx="41148"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910327"/>
            <a:ext cx="10607040" cy="237744"/>
          </a:xfrm>
          <a:prstGeom prst="rect">
            <a:avLst/>
          </a:prstGeom>
          <a:noFill/>
        </p:spPr>
        <p:txBody>
          <a:bodyPr wrap="square" anchor="t" lIns="0" rIns="0" tIns="0" bIns="0">
            <a:spAutoFit/>
          </a:bodyPr>
          <a:lstStyle/>
          <a:p>
            <a:pPr algn="l">
              <a:lnSpc>
                <a:spcPct val="100000"/>
              </a:lnSpc>
            </a:pPr>
            <a:r>
              <a:rPr sz="1200" b="1" i="0">
                <a:solidFill>
                  <a:srgbClr val="E7AC51"/>
                </a:solidFill>
                <a:latin typeface="Consolas"/>
              </a:rPr>
              <a:t>INDUSTRY / FOUNDATION SUPPORT</a:t>
            </a:r>
          </a:p>
        </p:txBody>
      </p:sp>
      <p:sp>
        <p:nvSpPr>
          <p:cNvPr id="30" name="Rounded Rectangle 29"/>
          <p:cNvSpPr/>
          <p:nvPr/>
        </p:nvSpPr>
        <p:spPr>
          <a:xfrm>
            <a:off x="777240" y="5221223"/>
            <a:ext cx="965835" cy="365760"/>
          </a:xfrm>
          <a:prstGeom prst="roundRect">
            <a:avLst/>
          </a:prstGeom>
          <a:solidFill>
            <a:srgbClr val="1B232D"/>
          </a:solidFill>
          <a:ln w="9525">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ctr" wrap="none" lIns="128016" tIns="0" bIns="0"/>
          <a:lstStyle/>
          <a:p>
            <a:pPr algn="l">
              <a:lnSpc>
                <a:spcPct val="100000"/>
              </a:lnSpc>
            </a:pPr>
            <a:r>
              <a:rPr sz="1100" b="0" i="0">
                <a:solidFill>
                  <a:srgbClr val="ECEFF3"/>
                </a:solidFill>
                <a:latin typeface="Consolas"/>
              </a:rPr>
              <a:t>Simbiosys</a:t>
            </a:r>
          </a:p>
        </p:txBody>
      </p:sp>
      <p:sp>
        <p:nvSpPr>
          <p:cNvPr id="31" name="Rectangle 30"/>
          <p:cNvSpPr/>
          <p:nvPr/>
        </p:nvSpPr>
        <p:spPr>
          <a:xfrm>
            <a:off x="777240" y="5221223"/>
            <a:ext cx="41148"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852803" y="5221223"/>
            <a:ext cx="658495" cy="365760"/>
          </a:xfrm>
          <a:prstGeom prst="roundRect">
            <a:avLst/>
          </a:prstGeom>
          <a:solidFill>
            <a:srgbClr val="1B232D"/>
          </a:solidFill>
          <a:ln w="9525">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ctr" wrap="none" lIns="128016" tIns="0" bIns="0"/>
          <a:lstStyle/>
          <a:p>
            <a:pPr algn="l">
              <a:lnSpc>
                <a:spcPct val="100000"/>
              </a:lnSpc>
            </a:pPr>
            <a:r>
              <a:rPr sz="1100" b="0" i="0">
                <a:solidFill>
                  <a:srgbClr val="ECEFF3"/>
                </a:solidFill>
                <a:latin typeface="Consolas"/>
              </a:rPr>
              <a:t>HOPPR</a:t>
            </a:r>
          </a:p>
        </p:txBody>
      </p:sp>
      <p:sp>
        <p:nvSpPr>
          <p:cNvPr id="33" name="Rectangle 32"/>
          <p:cNvSpPr/>
          <p:nvPr/>
        </p:nvSpPr>
        <p:spPr>
          <a:xfrm>
            <a:off x="1852803" y="5221223"/>
            <a:ext cx="41148"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2621026" y="5221223"/>
            <a:ext cx="889000" cy="365760"/>
          </a:xfrm>
          <a:prstGeom prst="roundRect">
            <a:avLst/>
          </a:prstGeom>
          <a:solidFill>
            <a:srgbClr val="1B232D"/>
          </a:solidFill>
          <a:ln w="9525">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ctr" wrap="none" lIns="128016" tIns="0" bIns="0"/>
          <a:lstStyle/>
          <a:p>
            <a:pPr algn="l">
              <a:lnSpc>
                <a:spcPct val="100000"/>
              </a:lnSpc>
            </a:pPr>
            <a:r>
              <a:rPr sz="1100" b="0" i="0">
                <a:solidFill>
                  <a:srgbClr val="ECEFF3"/>
                </a:solidFill>
                <a:latin typeface="Consolas"/>
              </a:rPr>
              <a:t>Clairity</a:t>
            </a:r>
          </a:p>
        </p:txBody>
      </p:sp>
      <p:sp>
        <p:nvSpPr>
          <p:cNvPr id="35" name="Rectangle 34"/>
          <p:cNvSpPr/>
          <p:nvPr/>
        </p:nvSpPr>
        <p:spPr>
          <a:xfrm>
            <a:off x="2621026" y="5221223"/>
            <a:ext cx="41148"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3619754" y="5221223"/>
            <a:ext cx="658495" cy="365760"/>
          </a:xfrm>
          <a:prstGeom prst="roundRect">
            <a:avLst/>
          </a:prstGeom>
          <a:solidFill>
            <a:srgbClr val="1B232D"/>
          </a:solidFill>
          <a:ln w="9525">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ctr" wrap="none" lIns="128016" tIns="0" bIns="0"/>
          <a:lstStyle/>
          <a:p>
            <a:pPr algn="l">
              <a:lnSpc>
                <a:spcPct val="100000"/>
              </a:lnSpc>
            </a:pPr>
            <a:r>
              <a:rPr sz="1100" b="0" i="0">
                <a:solidFill>
                  <a:srgbClr val="ECEFF3"/>
                </a:solidFill>
                <a:latin typeface="Consolas"/>
              </a:rPr>
              <a:t>Lunit</a:t>
            </a:r>
          </a:p>
        </p:txBody>
      </p:sp>
      <p:sp>
        <p:nvSpPr>
          <p:cNvPr id="37" name="Rectangle 36"/>
          <p:cNvSpPr/>
          <p:nvPr/>
        </p:nvSpPr>
        <p:spPr>
          <a:xfrm>
            <a:off x="3619754" y="5221223"/>
            <a:ext cx="41148"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4387977" y="5221223"/>
            <a:ext cx="1503680" cy="365760"/>
          </a:xfrm>
          <a:prstGeom prst="roundRect">
            <a:avLst/>
          </a:prstGeom>
          <a:solidFill>
            <a:srgbClr val="1B232D"/>
          </a:solidFill>
          <a:ln w="9525">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ctr" wrap="none" lIns="128016" tIns="0" bIns="0"/>
          <a:lstStyle/>
          <a:p>
            <a:pPr algn="l">
              <a:lnSpc>
                <a:spcPct val="100000"/>
              </a:lnSpc>
            </a:pPr>
            <a:r>
              <a:rPr sz="1100" b="0" i="0">
                <a:solidFill>
                  <a:srgbClr val="ECEFF3"/>
                </a:solidFill>
                <a:latin typeface="Consolas"/>
              </a:rPr>
              <a:t>DeepLook Medical</a:t>
            </a:r>
          </a:p>
        </p:txBody>
      </p:sp>
      <p:sp>
        <p:nvSpPr>
          <p:cNvPr id="39" name="Rectangle 38"/>
          <p:cNvSpPr/>
          <p:nvPr/>
        </p:nvSpPr>
        <p:spPr>
          <a:xfrm>
            <a:off x="4387977" y="5221223"/>
            <a:ext cx="41148"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001385" y="5221223"/>
            <a:ext cx="1426845" cy="365760"/>
          </a:xfrm>
          <a:prstGeom prst="roundRect">
            <a:avLst/>
          </a:prstGeom>
          <a:solidFill>
            <a:srgbClr val="1B232D"/>
          </a:solidFill>
          <a:ln w="9525">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ctr" wrap="none" lIns="128016" tIns="0" bIns="0"/>
          <a:lstStyle/>
          <a:p>
            <a:pPr algn="l">
              <a:lnSpc>
                <a:spcPct val="100000"/>
              </a:lnSpc>
            </a:pPr>
            <a:r>
              <a:rPr sz="1100" b="0" i="0">
                <a:solidFill>
                  <a:srgbClr val="ECEFF3"/>
                </a:solidFill>
                <a:latin typeface="Consolas"/>
              </a:rPr>
              <a:t>Kheiron Medical</a:t>
            </a:r>
          </a:p>
        </p:txBody>
      </p:sp>
      <p:sp>
        <p:nvSpPr>
          <p:cNvPr id="41" name="Rectangle 40"/>
          <p:cNvSpPr/>
          <p:nvPr/>
        </p:nvSpPr>
        <p:spPr>
          <a:xfrm>
            <a:off x="6001385" y="5221223"/>
            <a:ext cx="41148"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7537958" y="5221223"/>
            <a:ext cx="427990" cy="365760"/>
          </a:xfrm>
          <a:prstGeom prst="roundRect">
            <a:avLst/>
          </a:prstGeom>
          <a:solidFill>
            <a:srgbClr val="1B232D"/>
          </a:solidFill>
          <a:ln w="9525">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ctr" wrap="none" lIns="128016" tIns="0" bIns="0"/>
          <a:lstStyle/>
          <a:p>
            <a:pPr algn="l">
              <a:lnSpc>
                <a:spcPct val="100000"/>
              </a:lnSpc>
            </a:pPr>
            <a:r>
              <a:rPr sz="1100" b="0" i="0">
                <a:solidFill>
                  <a:srgbClr val="ECEFF3"/>
                </a:solidFill>
                <a:latin typeface="Consolas"/>
              </a:rPr>
              <a:t>GE</a:t>
            </a:r>
          </a:p>
        </p:txBody>
      </p:sp>
      <p:sp>
        <p:nvSpPr>
          <p:cNvPr id="43" name="Rectangle 42"/>
          <p:cNvSpPr/>
          <p:nvPr/>
        </p:nvSpPr>
        <p:spPr>
          <a:xfrm>
            <a:off x="7537958" y="5221223"/>
            <a:ext cx="41148"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8075676" y="5221223"/>
            <a:ext cx="581660" cy="365760"/>
          </a:xfrm>
          <a:prstGeom prst="roundRect">
            <a:avLst/>
          </a:prstGeom>
          <a:solidFill>
            <a:srgbClr val="1B232D"/>
          </a:solidFill>
          <a:ln w="9525">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ctr" wrap="none" lIns="128016" tIns="0" bIns="0"/>
          <a:lstStyle/>
          <a:p>
            <a:pPr algn="l">
              <a:lnSpc>
                <a:spcPct val="100000"/>
              </a:lnSpc>
            </a:pPr>
            <a:r>
              <a:rPr sz="1100" b="0" i="0">
                <a:solidFill>
                  <a:srgbClr val="ECEFF3"/>
                </a:solidFill>
                <a:latin typeface="Consolas"/>
              </a:rPr>
              <a:t>IBIS</a:t>
            </a:r>
          </a:p>
        </p:txBody>
      </p:sp>
      <p:sp>
        <p:nvSpPr>
          <p:cNvPr id="45" name="Rectangle 44"/>
          <p:cNvSpPr/>
          <p:nvPr/>
        </p:nvSpPr>
        <p:spPr>
          <a:xfrm>
            <a:off x="8075676" y="5221223"/>
            <a:ext cx="41148"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8767064" y="5221223"/>
            <a:ext cx="889000" cy="365760"/>
          </a:xfrm>
          <a:prstGeom prst="roundRect">
            <a:avLst/>
          </a:prstGeom>
          <a:solidFill>
            <a:srgbClr val="1B232D"/>
          </a:solidFill>
          <a:ln w="9525">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ctr" wrap="none" lIns="128016" tIns="0" bIns="0"/>
          <a:lstStyle/>
          <a:p>
            <a:pPr algn="l">
              <a:lnSpc>
                <a:spcPct val="100000"/>
              </a:lnSpc>
            </a:pPr>
            <a:r>
              <a:rPr sz="1100" b="0" i="0">
                <a:solidFill>
                  <a:srgbClr val="ECEFF3"/>
                </a:solidFill>
                <a:latin typeface="Consolas"/>
              </a:rPr>
              <a:t>Radicait</a:t>
            </a:r>
          </a:p>
        </p:txBody>
      </p:sp>
      <p:sp>
        <p:nvSpPr>
          <p:cNvPr id="47" name="Rectangle 46"/>
          <p:cNvSpPr/>
          <p:nvPr/>
        </p:nvSpPr>
        <p:spPr>
          <a:xfrm>
            <a:off x="8767064" y="5221223"/>
            <a:ext cx="41148"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9765792" y="5221223"/>
            <a:ext cx="581660" cy="365760"/>
          </a:xfrm>
          <a:prstGeom prst="roundRect">
            <a:avLst/>
          </a:prstGeom>
          <a:solidFill>
            <a:srgbClr val="1B232D"/>
          </a:solidFill>
          <a:ln w="9525">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ctr" wrap="none" lIns="128016" tIns="0" bIns="0"/>
          <a:lstStyle/>
          <a:p>
            <a:pPr algn="l">
              <a:lnSpc>
                <a:spcPct val="100000"/>
              </a:lnSpc>
            </a:pPr>
            <a:r>
              <a:rPr sz="1100" b="0" i="0">
                <a:solidFill>
                  <a:srgbClr val="ECEFF3"/>
                </a:solidFill>
                <a:latin typeface="Consolas"/>
              </a:rPr>
              <a:t>Voio</a:t>
            </a:r>
          </a:p>
        </p:txBody>
      </p:sp>
      <p:sp>
        <p:nvSpPr>
          <p:cNvPr id="49" name="Rectangle 48"/>
          <p:cNvSpPr/>
          <p:nvPr/>
        </p:nvSpPr>
        <p:spPr>
          <a:xfrm>
            <a:off x="9765792" y="5221223"/>
            <a:ext cx="41148"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10457179" y="5221223"/>
            <a:ext cx="812165" cy="365760"/>
          </a:xfrm>
          <a:prstGeom prst="roundRect">
            <a:avLst/>
          </a:prstGeom>
          <a:solidFill>
            <a:srgbClr val="1B232D"/>
          </a:solidFill>
          <a:ln w="9525">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ctr" wrap="none" lIns="128016" tIns="0" bIns="0"/>
          <a:lstStyle/>
          <a:p>
            <a:pPr algn="l">
              <a:lnSpc>
                <a:spcPct val="100000"/>
              </a:lnSpc>
            </a:pPr>
            <a:r>
              <a:rPr sz="1100" b="0" i="0">
                <a:solidFill>
                  <a:srgbClr val="ECEFF3"/>
                </a:solidFill>
                <a:latin typeface="Consolas"/>
              </a:rPr>
              <a:t>Appelai</a:t>
            </a:r>
          </a:p>
        </p:txBody>
      </p:sp>
      <p:sp>
        <p:nvSpPr>
          <p:cNvPr id="51" name="Rectangle 50"/>
          <p:cNvSpPr/>
          <p:nvPr/>
        </p:nvSpPr>
        <p:spPr>
          <a:xfrm>
            <a:off x="10457179" y="5221223"/>
            <a:ext cx="41148"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777240" y="5678423"/>
            <a:ext cx="1196340" cy="365760"/>
          </a:xfrm>
          <a:prstGeom prst="roundRect">
            <a:avLst/>
          </a:prstGeom>
          <a:solidFill>
            <a:srgbClr val="1B232D"/>
          </a:solidFill>
          <a:ln w="9525">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ctr" wrap="none" lIns="128016" tIns="0" bIns="0"/>
          <a:lstStyle/>
          <a:p>
            <a:pPr algn="l">
              <a:lnSpc>
                <a:spcPct val="100000"/>
              </a:lnSpc>
            </a:pPr>
            <a:r>
              <a:rPr sz="1100" b="0" i="0">
                <a:solidFill>
                  <a:srgbClr val="ECEFF3"/>
                </a:solidFill>
                <a:latin typeface="Consolas"/>
              </a:rPr>
              <a:t>Georgia CTSA</a:t>
            </a:r>
          </a:p>
        </p:txBody>
      </p:sp>
      <p:sp>
        <p:nvSpPr>
          <p:cNvPr id="53" name="Rectangle 52"/>
          <p:cNvSpPr/>
          <p:nvPr/>
        </p:nvSpPr>
        <p:spPr>
          <a:xfrm>
            <a:off x="777240" y="5678423"/>
            <a:ext cx="41148"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2083308" y="5678423"/>
            <a:ext cx="581660" cy="365760"/>
          </a:xfrm>
          <a:prstGeom prst="roundRect">
            <a:avLst/>
          </a:prstGeom>
          <a:solidFill>
            <a:srgbClr val="1B232D"/>
          </a:solidFill>
          <a:ln w="9525">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ctr" wrap="none" lIns="128016" tIns="0" bIns="0"/>
          <a:lstStyle/>
          <a:p>
            <a:pPr algn="l">
              <a:lnSpc>
                <a:spcPct val="100000"/>
              </a:lnSpc>
            </a:pPr>
            <a:r>
              <a:rPr sz="1100" b="0" i="0">
                <a:solidFill>
                  <a:srgbClr val="ECEFF3"/>
                </a:solidFill>
                <a:latin typeface="Consolas"/>
              </a:rPr>
              <a:t>RSNA</a:t>
            </a:r>
          </a:p>
        </p:txBody>
      </p:sp>
      <p:sp>
        <p:nvSpPr>
          <p:cNvPr id="55" name="Rectangle 54"/>
          <p:cNvSpPr/>
          <p:nvPr/>
        </p:nvSpPr>
        <p:spPr>
          <a:xfrm>
            <a:off x="2083308" y="5678423"/>
            <a:ext cx="41148"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2774696" y="5678423"/>
            <a:ext cx="504825" cy="365760"/>
          </a:xfrm>
          <a:prstGeom prst="roundRect">
            <a:avLst/>
          </a:prstGeom>
          <a:solidFill>
            <a:srgbClr val="1B232D"/>
          </a:solidFill>
          <a:ln w="9525">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ctr" wrap="none" lIns="128016" tIns="0" bIns="0"/>
          <a:lstStyle/>
          <a:p>
            <a:pPr algn="l">
              <a:lnSpc>
                <a:spcPct val="100000"/>
              </a:lnSpc>
            </a:pPr>
            <a:r>
              <a:rPr sz="1100" b="0" i="0">
                <a:solidFill>
                  <a:srgbClr val="ECEFF3"/>
                </a:solidFill>
                <a:latin typeface="Consolas"/>
              </a:rPr>
              <a:t>SIR</a:t>
            </a:r>
          </a:p>
        </p:txBody>
      </p:sp>
      <p:sp>
        <p:nvSpPr>
          <p:cNvPr id="57" name="Rectangle 56"/>
          <p:cNvSpPr/>
          <p:nvPr/>
        </p:nvSpPr>
        <p:spPr>
          <a:xfrm>
            <a:off x="2774696" y="5678423"/>
            <a:ext cx="41148"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3389249" y="5678423"/>
            <a:ext cx="2118360" cy="365760"/>
          </a:xfrm>
          <a:prstGeom prst="roundRect">
            <a:avLst/>
          </a:prstGeom>
          <a:solidFill>
            <a:srgbClr val="1B232D"/>
          </a:solidFill>
          <a:ln w="9525">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ctr" wrap="none" lIns="128016" tIns="0" bIns="0"/>
          <a:lstStyle/>
          <a:p>
            <a:pPr algn="l">
              <a:lnSpc>
                <a:spcPct val="100000"/>
              </a:lnSpc>
            </a:pPr>
            <a:r>
              <a:rPr sz="1100" b="0" i="0">
                <a:solidFill>
                  <a:srgbClr val="ECEFF3"/>
                </a:solidFill>
                <a:latin typeface="Consolas"/>
              </a:rPr>
              <a:t>Nightingale Open Science</a:t>
            </a:r>
          </a:p>
        </p:txBody>
      </p:sp>
      <p:sp>
        <p:nvSpPr>
          <p:cNvPr id="59" name="Rectangle 58"/>
          <p:cNvSpPr/>
          <p:nvPr/>
        </p:nvSpPr>
        <p:spPr>
          <a:xfrm>
            <a:off x="3389249" y="5678423"/>
            <a:ext cx="41148"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5617337" y="5678423"/>
            <a:ext cx="1119505" cy="365760"/>
          </a:xfrm>
          <a:prstGeom prst="roundRect">
            <a:avLst/>
          </a:prstGeom>
          <a:solidFill>
            <a:srgbClr val="1B232D"/>
          </a:solidFill>
          <a:ln w="9525">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ctr" wrap="none" lIns="128016" tIns="0" bIns="0"/>
          <a:lstStyle/>
          <a:p>
            <a:pPr algn="l">
              <a:lnSpc>
                <a:spcPct val="100000"/>
              </a:lnSpc>
            </a:pPr>
            <a:r>
              <a:rPr sz="1100" b="0" i="0">
                <a:solidFill>
                  <a:srgbClr val="ECEFF3"/>
                </a:solidFill>
                <a:latin typeface="Consolas"/>
              </a:rPr>
              <a:t>Lacuna Fund</a:t>
            </a:r>
          </a:p>
        </p:txBody>
      </p:sp>
      <p:sp>
        <p:nvSpPr>
          <p:cNvPr id="61" name="Rectangle 60"/>
          <p:cNvSpPr/>
          <p:nvPr/>
        </p:nvSpPr>
        <p:spPr>
          <a:xfrm>
            <a:off x="5617337" y="5678423"/>
            <a:ext cx="41148"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6846570" y="5678423"/>
            <a:ext cx="1734185" cy="365760"/>
          </a:xfrm>
          <a:prstGeom prst="roundRect">
            <a:avLst/>
          </a:prstGeom>
          <a:solidFill>
            <a:srgbClr val="1B232D"/>
          </a:solidFill>
          <a:ln w="9525">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ctr" wrap="none" lIns="128016" tIns="0" bIns="0"/>
          <a:lstStyle/>
          <a:p>
            <a:pPr algn="l">
              <a:lnSpc>
                <a:spcPct val="100000"/>
              </a:lnSpc>
            </a:pPr>
            <a:r>
              <a:rPr sz="1100" b="0" i="0">
                <a:solidFill>
                  <a:srgbClr val="ECEFF3"/>
                </a:solidFill>
                <a:latin typeface="Consolas"/>
              </a:rPr>
              <a:t>Meridian Foundation</a:t>
            </a:r>
          </a:p>
        </p:txBody>
      </p:sp>
      <p:sp>
        <p:nvSpPr>
          <p:cNvPr id="63" name="Rectangle 62"/>
          <p:cNvSpPr/>
          <p:nvPr/>
        </p:nvSpPr>
        <p:spPr>
          <a:xfrm>
            <a:off x="6846570" y="5678423"/>
            <a:ext cx="41148"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8690483" y="5678423"/>
            <a:ext cx="1350010" cy="365760"/>
          </a:xfrm>
          <a:prstGeom prst="roundRect">
            <a:avLst/>
          </a:prstGeom>
          <a:solidFill>
            <a:srgbClr val="1B232D"/>
          </a:solidFill>
          <a:ln w="9525">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ctr" wrap="none" lIns="128016" tIns="0" bIns="0"/>
          <a:lstStyle/>
          <a:p>
            <a:pPr algn="l">
              <a:lnSpc>
                <a:spcPct val="100000"/>
              </a:lnSpc>
            </a:pPr>
            <a:r>
              <a:rPr sz="1100" b="0" i="0">
                <a:solidFill>
                  <a:srgbClr val="ECEFF3"/>
                </a:solidFill>
                <a:latin typeface="Consolas"/>
              </a:rPr>
              <a:t>Gates Ventures</a:t>
            </a:r>
          </a:p>
        </p:txBody>
      </p:sp>
      <p:sp>
        <p:nvSpPr>
          <p:cNvPr id="65" name="Rectangle 64"/>
          <p:cNvSpPr/>
          <p:nvPr/>
        </p:nvSpPr>
        <p:spPr>
          <a:xfrm>
            <a:off x="8690483" y="5678423"/>
            <a:ext cx="41148"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pic>
        <p:nvPicPr>
          <p:cNvPr id="2" name="Picture 1" descr="bg_motif.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 y="1051560"/>
            <a:ext cx="3749039" cy="5029200"/>
          </a:xfrm>
          <a:prstGeom prst="roundRect">
            <a:avLst/>
          </a:prstGeom>
          <a:solidFill>
            <a:srgbClr val="06090C"/>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6968" y="1106424"/>
            <a:ext cx="3529583" cy="256032"/>
          </a:xfrm>
          <a:prstGeom prst="rect">
            <a:avLst/>
          </a:prstGeom>
          <a:noFill/>
        </p:spPr>
        <p:txBody>
          <a:bodyPr wrap="square" anchor="ctr" lIns="0" rIns="0" tIns="0" bIns="0">
            <a:spAutoFit/>
          </a:bodyPr>
          <a:lstStyle/>
          <a:p>
            <a:pPr algn="l">
              <a:lnSpc>
                <a:spcPct val="100000"/>
              </a:lnSpc>
            </a:pPr>
            <a:r>
              <a:rPr sz="900" b="0" i="0">
                <a:solidFill>
                  <a:srgbClr val="9DA9B5"/>
                </a:solidFill>
                <a:latin typeface="Consolas"/>
              </a:rPr>
              <a:t>R MLO · screening</a:t>
            </a:r>
          </a:p>
        </p:txBody>
      </p:sp>
      <p:sp>
        <p:nvSpPr>
          <p:cNvPr id="6" name="TextBox 5"/>
          <p:cNvSpPr txBox="1"/>
          <p:nvPr/>
        </p:nvSpPr>
        <p:spPr>
          <a:xfrm>
            <a:off x="886968" y="1106424"/>
            <a:ext cx="3529583" cy="256032"/>
          </a:xfrm>
          <a:prstGeom prst="rect">
            <a:avLst/>
          </a:prstGeom>
          <a:noFill/>
        </p:spPr>
        <p:txBody>
          <a:bodyPr wrap="square" anchor="ctr" lIns="0" rIns="0" tIns="0" bIns="0">
            <a:spAutoFit/>
          </a:bodyPr>
          <a:lstStyle/>
          <a:p>
            <a:pPr algn="r">
              <a:lnSpc>
                <a:spcPct val="100000"/>
              </a:lnSpc>
            </a:pPr>
            <a:r>
              <a:rPr sz="900" b="0" i="0">
                <a:solidFill>
                  <a:srgbClr val="5FB7C9"/>
                </a:solidFill>
                <a:latin typeface="Consolas"/>
              </a:rPr>
              <a:t>AI —</a:t>
            </a:r>
          </a:p>
        </p:txBody>
      </p:sp>
      <p:sp>
        <p:nvSpPr>
          <p:cNvPr id="7" name="Rectangle 6"/>
          <p:cNvSpPr/>
          <p:nvPr/>
        </p:nvSpPr>
        <p:spPr>
          <a:xfrm>
            <a:off x="850392" y="1435607"/>
            <a:ext cx="3602735" cy="12700"/>
          </a:xfrm>
          <a:prstGeom prst="rect">
            <a:avLst/>
          </a:prstGeom>
          <a:solidFill>
            <a:srgbClr val="2A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86968" y="1527048"/>
            <a:ext cx="3529583" cy="442569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5696712"/>
            <a:ext cx="3419856" cy="274320"/>
          </a:xfrm>
          <a:prstGeom prst="rect">
            <a:avLst/>
          </a:prstGeom>
          <a:noFill/>
        </p:spPr>
        <p:txBody>
          <a:bodyPr wrap="square" anchor="t" lIns="0" rIns="0" tIns="0" bIns="0">
            <a:spAutoFit/>
          </a:bodyPr>
          <a:lstStyle/>
          <a:p>
            <a:pPr algn="l">
              <a:lnSpc>
                <a:spcPct val="100000"/>
              </a:lnSpc>
            </a:pPr>
            <a:r>
              <a:rPr sz="800" b="0" i="0">
                <a:solidFill>
                  <a:srgbClr val="5C6975"/>
                </a:solidFill>
                <a:latin typeface="Consolas"/>
              </a:rPr>
              <a:t>[ de-identified Emory screening case ]</a:t>
            </a:r>
          </a:p>
        </p:txBody>
      </p:sp>
      <p:sp>
        <p:nvSpPr>
          <p:cNvPr id="10" name="TextBox 9"/>
          <p:cNvSpPr txBox="1"/>
          <p:nvPr/>
        </p:nvSpPr>
        <p:spPr>
          <a:xfrm>
            <a:off x="5074920" y="2286000"/>
            <a:ext cx="6400800" cy="2194560"/>
          </a:xfrm>
          <a:prstGeom prst="rect">
            <a:avLst/>
          </a:prstGeom>
          <a:noFill/>
        </p:spPr>
        <p:txBody>
          <a:bodyPr wrap="square" anchor="t" lIns="0" rIns="0" tIns="0" bIns="0">
            <a:spAutoFit/>
          </a:bodyPr>
          <a:lstStyle/>
          <a:p>
            <a:pPr algn="l">
              <a:lnSpc>
                <a:spcPct val="112000"/>
              </a:lnSpc>
            </a:pPr>
            <a:r>
              <a:rPr sz="3400" b="1" i="0">
                <a:solidFill>
                  <a:srgbClr val="ECEFF3"/>
                </a:solidFill>
                <a:latin typeface="Arial"/>
              </a:rPr>
              <a:t>A normal screening mammogram — read as normal.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pic>
        <p:nvPicPr>
          <p:cNvPr id="2" name="Picture 1" descr="bg_motif.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 y="914400"/>
            <a:ext cx="3246120" cy="5120640"/>
          </a:xfrm>
          <a:prstGeom prst="roundRect">
            <a:avLst/>
          </a:prstGeom>
          <a:solidFill>
            <a:srgbClr val="06090C"/>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6968" y="969264"/>
            <a:ext cx="3026663" cy="256032"/>
          </a:xfrm>
          <a:prstGeom prst="rect">
            <a:avLst/>
          </a:prstGeom>
          <a:noFill/>
        </p:spPr>
        <p:txBody>
          <a:bodyPr wrap="square" anchor="ctr" lIns="0" rIns="0" tIns="0" bIns="0">
            <a:spAutoFit/>
          </a:bodyPr>
          <a:lstStyle/>
          <a:p>
            <a:pPr algn="l">
              <a:lnSpc>
                <a:spcPct val="100000"/>
              </a:lnSpc>
            </a:pPr>
            <a:r>
              <a:rPr sz="900" b="0" i="0">
                <a:solidFill>
                  <a:srgbClr val="9DA9B5"/>
                </a:solidFill>
                <a:latin typeface="Consolas"/>
              </a:rPr>
              <a:t>R MLO · screening</a:t>
            </a:r>
          </a:p>
        </p:txBody>
      </p:sp>
      <p:sp>
        <p:nvSpPr>
          <p:cNvPr id="6" name="TextBox 5"/>
          <p:cNvSpPr txBox="1"/>
          <p:nvPr/>
        </p:nvSpPr>
        <p:spPr>
          <a:xfrm>
            <a:off x="886968" y="969264"/>
            <a:ext cx="3026663" cy="256032"/>
          </a:xfrm>
          <a:prstGeom prst="rect">
            <a:avLst/>
          </a:prstGeom>
          <a:noFill/>
        </p:spPr>
        <p:txBody>
          <a:bodyPr wrap="square" anchor="ctr" lIns="0" rIns="0" tIns="0" bIns="0">
            <a:spAutoFit/>
          </a:bodyPr>
          <a:lstStyle/>
          <a:p>
            <a:pPr algn="r">
              <a:lnSpc>
                <a:spcPct val="100000"/>
              </a:lnSpc>
            </a:pPr>
            <a:r>
              <a:rPr sz="900" b="0" i="0">
                <a:solidFill>
                  <a:srgbClr val="5FB7C9"/>
                </a:solidFill>
                <a:latin typeface="Consolas"/>
              </a:rPr>
              <a:t>AI ✓✓✓</a:t>
            </a:r>
          </a:p>
        </p:txBody>
      </p:sp>
      <p:sp>
        <p:nvSpPr>
          <p:cNvPr id="7" name="Rectangle 6"/>
          <p:cNvSpPr/>
          <p:nvPr/>
        </p:nvSpPr>
        <p:spPr>
          <a:xfrm>
            <a:off x="850392" y="1298448"/>
            <a:ext cx="3099815" cy="12700"/>
          </a:xfrm>
          <a:prstGeom prst="rect">
            <a:avLst/>
          </a:prstGeom>
          <a:solidFill>
            <a:srgbClr val="2A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86968" y="1389888"/>
            <a:ext cx="3026663" cy="451713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5650992"/>
            <a:ext cx="2916936" cy="274320"/>
          </a:xfrm>
          <a:prstGeom prst="rect">
            <a:avLst/>
          </a:prstGeom>
          <a:noFill/>
        </p:spPr>
        <p:txBody>
          <a:bodyPr wrap="square" anchor="t" lIns="0" rIns="0" tIns="0" bIns="0">
            <a:spAutoFit/>
          </a:bodyPr>
          <a:lstStyle/>
          <a:p>
            <a:pPr algn="l">
              <a:lnSpc>
                <a:spcPct val="100000"/>
              </a:lnSpc>
            </a:pPr>
            <a:r>
              <a:rPr sz="800" b="0" i="0">
                <a:solidFill>
                  <a:srgbClr val="5C6975"/>
                </a:solidFill>
                <a:latin typeface="Consolas"/>
              </a:rPr>
              <a:t>[ de-identified Emory screening case ]</a:t>
            </a:r>
          </a:p>
        </p:txBody>
      </p:sp>
      <p:sp>
        <p:nvSpPr>
          <p:cNvPr id="10" name="TextBox 9"/>
          <p:cNvSpPr txBox="1"/>
          <p:nvPr/>
        </p:nvSpPr>
        <p:spPr>
          <a:xfrm>
            <a:off x="4526280" y="1828800"/>
            <a:ext cx="6903720" cy="1280160"/>
          </a:xfrm>
          <a:prstGeom prst="rect">
            <a:avLst/>
          </a:prstGeom>
          <a:noFill/>
        </p:spPr>
        <p:txBody>
          <a:bodyPr wrap="square" anchor="t" lIns="0" rIns="0" tIns="0" bIns="0">
            <a:spAutoFit/>
          </a:bodyPr>
          <a:lstStyle/>
          <a:p>
            <a:pPr algn="l">
              <a:lnSpc>
                <a:spcPct val="105000"/>
              </a:lnSpc>
            </a:pPr>
            <a:r>
              <a:rPr sz="4000" b="1" i="0">
                <a:solidFill>
                  <a:srgbClr val="ECEFF3"/>
                </a:solidFill>
                <a:latin typeface="Arial"/>
              </a:rPr>
              <a:t>What are we </a:t>
            </a:r>
            <a:r>
              <a:rPr sz="4000" b="1" i="0">
                <a:solidFill>
                  <a:srgbClr val="E7AC51"/>
                </a:solidFill>
                <a:latin typeface="Arial"/>
              </a:rPr>
              <a:t>not seeing?</a:t>
            </a:r>
          </a:p>
        </p:txBody>
      </p:sp>
      <p:sp>
        <p:nvSpPr>
          <p:cNvPr id="11" name="TextBox 10"/>
          <p:cNvSpPr txBox="1"/>
          <p:nvPr/>
        </p:nvSpPr>
        <p:spPr>
          <a:xfrm>
            <a:off x="4526280" y="3246120"/>
            <a:ext cx="6903720" cy="1463040"/>
          </a:xfrm>
          <a:prstGeom prst="rect">
            <a:avLst/>
          </a:prstGeom>
          <a:noFill/>
        </p:spPr>
        <p:txBody>
          <a:bodyPr wrap="square" anchor="t" lIns="0" rIns="0" tIns="0" bIns="0">
            <a:spAutoFit/>
          </a:bodyPr>
          <a:lstStyle/>
          <a:p>
            <a:pPr algn="l">
              <a:lnSpc>
                <a:spcPct val="132000"/>
              </a:lnSpc>
            </a:pPr>
            <a:r>
              <a:rPr sz="1800" b="0" i="0">
                <a:solidFill>
                  <a:srgbClr val="ECEFF3"/>
                </a:solidFill>
                <a:latin typeface="Arial"/>
              </a:rPr>
              <a:t>AI reads this </a:t>
            </a:r>
            <a:r>
              <a:rPr sz="1800" b="1" i="0">
                <a:solidFill>
                  <a:srgbClr val="E7AC51"/>
                </a:solidFill>
                <a:latin typeface="Arial"/>
              </a:rPr>
              <a:t>same mammogram</a:t>
            </a:r>
            <a:r>
              <a:rPr sz="1800" b="0" i="0">
                <a:solidFill>
                  <a:srgbClr val="ECEFF3"/>
                </a:solidFill>
                <a:latin typeface="Arial"/>
              </a:rPr>
              <a:t> and her biopsy slide — not just the </a:t>
            </a:r>
            <a:r>
              <a:rPr sz="1800" b="1" i="0">
                <a:solidFill>
                  <a:srgbClr val="ECEFF3"/>
                </a:solidFill>
                <a:latin typeface="Arial"/>
              </a:rPr>
              <a:t>lesion</a:t>
            </a:r>
            <a:r>
              <a:rPr sz="1800" b="0" i="0">
                <a:solidFill>
                  <a:srgbClr val="ECEFF3"/>
                </a:solidFill>
                <a:latin typeface="Arial"/>
              </a:rPr>
              <a:t>, but the </a:t>
            </a:r>
            <a:r>
              <a:rPr sz="1800" b="1" i="0">
                <a:solidFill>
                  <a:srgbClr val="E7AC51"/>
                </a:solidFill>
                <a:latin typeface="Arial"/>
              </a:rPr>
              <a:t>patient.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pic>
        <p:nvPicPr>
          <p:cNvPr id="2" name="Picture 1" descr="bg_motif.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71600"/>
            <a:ext cx="10607040" cy="1097280"/>
          </a:xfrm>
          <a:prstGeom prst="rect">
            <a:avLst/>
          </a:prstGeom>
          <a:noFill/>
        </p:spPr>
        <p:txBody>
          <a:bodyPr wrap="square" anchor="t" lIns="0" rIns="0" tIns="0" bIns="0">
            <a:spAutoFit/>
          </a:bodyPr>
          <a:lstStyle/>
          <a:p>
            <a:pPr algn="l">
              <a:lnSpc>
                <a:spcPct val="104000"/>
              </a:lnSpc>
            </a:pPr>
            <a:r>
              <a:rPr sz="4400" b="1" i="0">
                <a:solidFill>
                  <a:srgbClr val="ECEFF3"/>
                </a:solidFill>
                <a:latin typeface="Arial"/>
              </a:rPr>
              <a:t>From lesions to </a:t>
            </a:r>
            <a:r>
              <a:rPr sz="4400" b="1" i="0">
                <a:solidFill>
                  <a:srgbClr val="E7AC51"/>
                </a:solidFill>
                <a:latin typeface="Arial"/>
              </a:rPr>
              <a:t>patients.</a:t>
            </a:r>
          </a:p>
        </p:txBody>
      </p:sp>
      <p:sp>
        <p:nvSpPr>
          <p:cNvPr id="5" name="Rounded Rectangle 4"/>
          <p:cNvSpPr/>
          <p:nvPr/>
        </p:nvSpPr>
        <p:spPr>
          <a:xfrm>
            <a:off x="777240" y="3017520"/>
            <a:ext cx="3429000" cy="2286000"/>
          </a:xfrm>
          <a:prstGeom prst="roundRect">
            <a:avLst/>
          </a:prstGeom>
          <a:solidFill>
            <a:srgbClr val="1B232D"/>
          </a:solidFill>
          <a:ln w="15875">
            <a:solidFill>
              <a:srgbClr val="2A333D"/>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19456" tIns="411480" bIns="182880"/>
          <a:lstStyle/>
          <a:p>
            <a:pPr algn="l">
              <a:lnSpc>
                <a:spcPct val="100000"/>
              </a:lnSpc>
            </a:pPr>
            <a:r>
              <a:rPr sz="1100" b="0" i="0">
                <a:solidFill>
                  <a:srgbClr val="5C6975"/>
                </a:solidFill>
                <a:latin typeface="Consolas"/>
              </a:rPr>
              <a:t>01</a:t>
            </a:r>
          </a:p>
          <a:p>
            <a:pPr algn="l">
              <a:lnSpc>
                <a:spcPct val="100000"/>
              </a:lnSpc>
              <a:spcBef>
                <a:spcPts val="400"/>
              </a:spcBef>
            </a:pPr>
            <a:r>
              <a:rPr sz="1000" b="1" i="0">
                <a:solidFill>
                  <a:srgbClr val="E7AC51"/>
                </a:solidFill>
                <a:latin typeface="Consolas"/>
              </a:rPr>
              <a:t>PAST</a:t>
            </a:r>
          </a:p>
          <a:p>
            <a:pPr algn="l">
              <a:lnSpc>
                <a:spcPct val="100000"/>
              </a:lnSpc>
              <a:spcBef>
                <a:spcPts val="600"/>
              </a:spcBef>
            </a:pPr>
            <a:r>
              <a:rPr sz="2600" b="1" i="0">
                <a:solidFill>
                  <a:srgbClr val="ECEFF3"/>
                </a:solidFill>
                <a:latin typeface="Arial"/>
              </a:rPr>
              <a:t>Lesion</a:t>
            </a:r>
          </a:p>
          <a:p>
            <a:pPr algn="l">
              <a:lnSpc>
                <a:spcPct val="125000"/>
              </a:lnSpc>
              <a:spcBef>
                <a:spcPts val="600"/>
              </a:spcBef>
            </a:pPr>
            <a:r>
              <a:rPr sz="1250" b="0" i="0">
                <a:solidFill>
                  <a:srgbClr val="9DA9B5"/>
                </a:solidFill>
                <a:latin typeface="Arial"/>
              </a:rPr>
              <a:t>find &amp; characterize</a:t>
            </a:r>
          </a:p>
        </p:txBody>
      </p:sp>
      <p:sp>
        <p:nvSpPr>
          <p:cNvPr id="6" name="Rectangle 5"/>
          <p:cNvSpPr/>
          <p:nvPr/>
        </p:nvSpPr>
        <p:spPr>
          <a:xfrm>
            <a:off x="1005840" y="3218688"/>
            <a:ext cx="411480" cy="32004"/>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457700" y="3017520"/>
            <a:ext cx="3429000" cy="2286000"/>
          </a:xfrm>
          <a:prstGeom prst="roundRect">
            <a:avLst/>
          </a:prstGeom>
          <a:solidFill>
            <a:srgbClr val="3A2E16"/>
          </a:solidFill>
          <a:ln w="1587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19456" tIns="411480" bIns="182880"/>
          <a:lstStyle/>
          <a:p>
            <a:pPr algn="l">
              <a:lnSpc>
                <a:spcPct val="100000"/>
              </a:lnSpc>
            </a:pPr>
            <a:r>
              <a:rPr sz="1100" b="0" i="0">
                <a:solidFill>
                  <a:srgbClr val="5C6975"/>
                </a:solidFill>
                <a:latin typeface="Consolas"/>
              </a:rPr>
              <a:t>02</a:t>
            </a:r>
          </a:p>
          <a:p>
            <a:pPr algn="l">
              <a:lnSpc>
                <a:spcPct val="100000"/>
              </a:lnSpc>
              <a:spcBef>
                <a:spcPts val="400"/>
              </a:spcBef>
            </a:pPr>
            <a:r>
              <a:rPr sz="1000" b="1" i="0">
                <a:solidFill>
                  <a:srgbClr val="E7AC51"/>
                </a:solidFill>
                <a:latin typeface="Consolas"/>
              </a:rPr>
              <a:t>PRESENT</a:t>
            </a:r>
          </a:p>
          <a:p>
            <a:pPr algn="l">
              <a:lnSpc>
                <a:spcPct val="100000"/>
              </a:lnSpc>
              <a:spcBef>
                <a:spcPts val="600"/>
              </a:spcBef>
            </a:pPr>
            <a:r>
              <a:rPr sz="2600" b="1" i="0">
                <a:solidFill>
                  <a:srgbClr val="ECEFF3"/>
                </a:solidFill>
                <a:latin typeface="Arial"/>
              </a:rPr>
              <a:t>Image</a:t>
            </a:r>
          </a:p>
          <a:p>
            <a:pPr algn="l">
              <a:lnSpc>
                <a:spcPct val="125000"/>
              </a:lnSpc>
              <a:spcBef>
                <a:spcPts val="600"/>
              </a:spcBef>
            </a:pPr>
            <a:r>
              <a:rPr sz="1250" b="0" i="0">
                <a:solidFill>
                  <a:srgbClr val="9DA9B5"/>
                </a:solidFill>
                <a:latin typeface="Arial"/>
              </a:rPr>
              <a:t>risk &amp; opportunistic signal</a:t>
            </a:r>
          </a:p>
        </p:txBody>
      </p:sp>
      <p:sp>
        <p:nvSpPr>
          <p:cNvPr id="8" name="Rectangle 7"/>
          <p:cNvSpPr/>
          <p:nvPr/>
        </p:nvSpPr>
        <p:spPr>
          <a:xfrm>
            <a:off x="4686300" y="3218688"/>
            <a:ext cx="411480" cy="32004"/>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138160" y="3017520"/>
            <a:ext cx="3429000" cy="2286000"/>
          </a:xfrm>
          <a:prstGeom prst="roundRect">
            <a:avLst/>
          </a:prstGeom>
          <a:solidFill>
            <a:srgbClr val="E7AC51"/>
          </a:solidFill>
          <a:ln w="1587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19456" tIns="411480" bIns="182880"/>
          <a:lstStyle/>
          <a:p>
            <a:pPr algn="l">
              <a:lnSpc>
                <a:spcPct val="100000"/>
              </a:lnSpc>
            </a:pPr>
            <a:r>
              <a:rPr sz="1100" b="0" i="0">
                <a:solidFill>
                  <a:srgbClr val="403014"/>
                </a:solidFill>
                <a:latin typeface="Consolas"/>
              </a:rPr>
              <a:t>03</a:t>
            </a:r>
          </a:p>
          <a:p>
            <a:pPr algn="l">
              <a:lnSpc>
                <a:spcPct val="100000"/>
              </a:lnSpc>
              <a:spcBef>
                <a:spcPts val="400"/>
              </a:spcBef>
            </a:pPr>
            <a:r>
              <a:rPr sz="1000" b="1" i="0">
                <a:solidFill>
                  <a:srgbClr val="1A1206"/>
                </a:solidFill>
                <a:latin typeface="Consolas"/>
              </a:rPr>
              <a:t>FUTURE</a:t>
            </a:r>
          </a:p>
          <a:p>
            <a:pPr algn="l">
              <a:lnSpc>
                <a:spcPct val="100000"/>
              </a:lnSpc>
              <a:spcBef>
                <a:spcPts val="600"/>
              </a:spcBef>
            </a:pPr>
            <a:r>
              <a:rPr sz="2600" b="1" i="0">
                <a:solidFill>
                  <a:srgbClr val="1A1206"/>
                </a:solidFill>
                <a:latin typeface="Arial"/>
              </a:rPr>
              <a:t>Patient</a:t>
            </a:r>
          </a:p>
          <a:p>
            <a:pPr algn="l">
              <a:lnSpc>
                <a:spcPct val="125000"/>
              </a:lnSpc>
              <a:spcBef>
                <a:spcPts val="600"/>
              </a:spcBef>
            </a:pPr>
            <a:r>
              <a:rPr sz="1250" b="0" i="0">
                <a:solidFill>
                  <a:srgbClr val="2A1E0A"/>
                </a:solidFill>
                <a:latin typeface="Arial"/>
              </a:rPr>
              <a:t>pathology + integration</a:t>
            </a:r>
          </a:p>
        </p:txBody>
      </p:sp>
      <p:sp>
        <p:nvSpPr>
          <p:cNvPr id="10" name="Rectangle 9"/>
          <p:cNvSpPr/>
          <p:nvPr/>
        </p:nvSpPr>
        <p:spPr>
          <a:xfrm>
            <a:off x="8366760" y="3218688"/>
            <a:ext cx="411480" cy="3200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pic>
        <p:nvPicPr>
          <p:cNvPr id="2" name="Picture 1" descr="bg_motif.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143000"/>
            <a:ext cx="10332720" cy="1005840"/>
          </a:xfrm>
          <a:prstGeom prst="rect">
            <a:avLst/>
          </a:prstGeom>
          <a:noFill/>
        </p:spPr>
        <p:txBody>
          <a:bodyPr wrap="square" anchor="t" lIns="0" rIns="0" tIns="0" bIns="0">
            <a:spAutoFit/>
          </a:bodyPr>
          <a:lstStyle/>
          <a:p>
            <a:pPr algn="ctr">
              <a:lnSpc>
                <a:spcPct val="100000"/>
              </a:lnSpc>
            </a:pPr>
            <a:r>
              <a:rPr sz="4000" b="1" i="0">
                <a:solidFill>
                  <a:srgbClr val="ECEFF3"/>
                </a:solidFill>
                <a:latin typeface="Arial"/>
              </a:rPr>
              <a:t>Let's step into a </a:t>
            </a:r>
            <a:r>
              <a:rPr sz="4000" b="1" i="0">
                <a:solidFill>
                  <a:srgbClr val="E7AC51"/>
                </a:solidFill>
                <a:latin typeface="Arial"/>
              </a:rPr>
              <a:t>time machine.</a:t>
            </a:r>
          </a:p>
        </p:txBody>
      </p:sp>
      <p:pic>
        <p:nvPicPr>
          <p:cNvPr id="5" name="Picture 4" descr="svg_9646a542a0.png"/>
          <p:cNvPicPr>
            <a:picLocks noChangeAspect="1"/>
          </p:cNvPicPr>
          <p:nvPr/>
        </p:nvPicPr>
        <p:blipFill>
          <a:blip r:embed="rId4"/>
          <a:stretch>
            <a:fillRect/>
          </a:stretch>
        </p:blipFill>
        <p:spPr>
          <a:xfrm>
            <a:off x="3794760" y="2717074"/>
            <a:ext cx="4572000" cy="2612571"/>
          </a:xfrm>
          <a:prstGeom prst="rect">
            <a:avLst/>
          </a:prstGeom>
        </p:spPr>
      </p:pic>
      <p:sp>
        <p:nvSpPr>
          <p:cNvPr id="6" name="TextBox 5"/>
          <p:cNvSpPr txBox="1"/>
          <p:nvPr/>
        </p:nvSpPr>
        <p:spPr>
          <a:xfrm>
            <a:off x="914400" y="5989320"/>
            <a:ext cx="10332720" cy="457200"/>
          </a:xfrm>
          <a:prstGeom prst="rect">
            <a:avLst/>
          </a:prstGeom>
          <a:noFill/>
        </p:spPr>
        <p:txBody>
          <a:bodyPr wrap="square" anchor="t" lIns="0" rIns="0" tIns="0" bIns="0">
            <a:spAutoFit/>
          </a:bodyPr>
          <a:lstStyle/>
          <a:p>
            <a:pPr algn="ctr">
              <a:lnSpc>
                <a:spcPct val="100000"/>
              </a:lnSpc>
            </a:pPr>
            <a:r>
              <a:rPr sz="1400" b="0" i="0">
                <a:solidFill>
                  <a:srgbClr val="9DA9B5"/>
                </a:solidFill>
                <a:latin typeface="Arial"/>
              </a:rPr>
              <a:t>This field has overpromised before. Let's start there — in 1998.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