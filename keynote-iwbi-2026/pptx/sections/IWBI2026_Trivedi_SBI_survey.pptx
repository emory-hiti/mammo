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8262" y="440864"/>
            <a:ext cx="238627" cy="18288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8262" y="379644"/>
            <a:ext cx="3988762" cy="1758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74" b="1" i="0">
                <a:solidFill>
                  <a:srgbClr val="E7AC51"/>
                </a:solidFill>
                <a:latin typeface="Consolas"/>
              </a:rPr>
              <a:t>ADOPTION · THE FIELD WEIGHS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262" y="856911"/>
            <a:ext cx="5094222" cy="8856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006" b="1" i="0">
                <a:solidFill>
                  <a:srgbClr val="ECEFF3"/>
                </a:solidFill>
                <a:latin typeface="Arial"/>
              </a:rPr>
              <a:t>What breast radiologists </a:t>
            </a:r>
            <a:r>
              <a:rPr sz="3006" b="1" i="0">
                <a:solidFill>
                  <a:srgbClr val="E7AC51"/>
                </a:solidFill>
                <a:latin typeface="Arial"/>
              </a:rPr>
              <a:t>actually say about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262" y="1935507"/>
            <a:ext cx="6888165" cy="4579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93" b="0" i="0">
                <a:solidFill>
                  <a:srgbClr val="9DA9B5"/>
                </a:solidFill>
                <a:latin typeface="Arial"/>
              </a:rPr>
              <a:t>Society of Breast Imaging survey of </a:t>
            </a:r>
            <a:r>
              <a:rPr sz="1393" b="1" i="0">
                <a:solidFill>
                  <a:srgbClr val="ECEFF3"/>
                </a:solidFill>
                <a:latin typeface="Arial"/>
              </a:rPr>
              <a:t>162 members</a:t>
            </a:r>
            <a:r>
              <a:rPr sz="1393" b="0" i="0">
                <a:solidFill>
                  <a:srgbClr val="9DA9B5"/>
                </a:solidFill>
                <a:latin typeface="Arial"/>
              </a:rPr>
              <a:t> (2024) — where AI-CAD stands in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262" y="2629713"/>
            <a:ext cx="11390553" cy="622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4782" b="1" i="0">
                <a:solidFill>
                  <a:srgbClr val="E7AC51"/>
                </a:solidFill>
                <a:latin typeface="Arial"/>
              </a:rPr>
              <a:t>55.6%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262" y="3304259"/>
            <a:ext cx="1377361" cy="3779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01" b="0" i="0">
                <a:solidFill>
                  <a:srgbClr val="9DA9B5"/>
                </a:solidFill>
                <a:latin typeface="Consolas"/>
              </a:rPr>
              <a:t>ALREADY </a:t>
            </a:r>
            <a:r>
              <a:rPr sz="901" b="1" i="0">
                <a:solidFill>
                  <a:srgbClr val="ECEFF3"/>
                </a:solidFill>
                <a:latin typeface="Consolas"/>
              </a:rPr>
              <a:t>USE AI-CAD</a:t>
            </a:r>
            <a:r>
              <a:rPr sz="901" b="0" i="0">
                <a:solidFill>
                  <a:srgbClr val="9DA9B5"/>
                </a:solidFill>
                <a:latin typeface="Consolas"/>
              </a:rPr>
              <a:t>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3870" y="2629713"/>
            <a:ext cx="9164945" cy="622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4782" b="1" i="0">
                <a:solidFill>
                  <a:srgbClr val="E7AC51"/>
                </a:solidFill>
                <a:latin typeface="Arial"/>
              </a:rPr>
              <a:t>71%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870" y="3304259"/>
            <a:ext cx="1377361" cy="3779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01" b="0" i="0">
                <a:solidFill>
                  <a:srgbClr val="9DA9B5"/>
                </a:solidFill>
                <a:latin typeface="Consolas"/>
              </a:rPr>
              <a:t>REPORT </a:t>
            </a:r>
            <a:r>
              <a:rPr sz="901" b="1" i="0">
                <a:solidFill>
                  <a:srgbClr val="ECEFF3"/>
                </a:solidFill>
                <a:latin typeface="Consolas"/>
              </a:rPr>
              <a:t>IMPROVED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5260" y="2629713"/>
            <a:ext cx="7223554" cy="6226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4782" b="1" i="0">
                <a:solidFill>
                  <a:srgbClr val="E7AC51"/>
                </a:solidFill>
                <a:latin typeface="Arial"/>
              </a:rPr>
              <a:t>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260" y="3304259"/>
            <a:ext cx="1377361" cy="3779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901" b="1" i="0">
                <a:solidFill>
                  <a:srgbClr val="ECEFF3"/>
                </a:solidFill>
                <a:latin typeface="Consolas"/>
              </a:rPr>
              <a:t>MORE CANCERS</a:t>
            </a:r>
            <a:r>
              <a:rPr sz="901" b="0" i="0">
                <a:solidFill>
                  <a:srgbClr val="9DA9B5"/>
                </a:solidFill>
                <a:latin typeface="Consolas"/>
              </a:rPr>
              <a:t> 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262" y="4254725"/>
            <a:ext cx="6088277" cy="1650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b="1" i="0">
                <a:solidFill>
                  <a:srgbClr val="5FB7C9"/>
                </a:solidFill>
                <a:latin typeface="Consolas"/>
              </a:rPr>
              <a:t>TOP REPORTED 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262" y="4590982"/>
            <a:ext cx="2393280" cy="2409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66" b="0" i="0">
                <a:solidFill>
                  <a:srgbClr val="9DA9B5"/>
                </a:solidFill>
                <a:latin typeface="Arial"/>
              </a:rPr>
              <a:t>Workflow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8775" y="4558441"/>
            <a:ext cx="1277764" cy="2735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85" b="1" i="0">
                <a:solidFill>
                  <a:srgbClr val="5FB7C9"/>
                </a:solidFill>
                <a:latin typeface="Consolas"/>
              </a:rPr>
              <a:t>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262" y="4959779"/>
            <a:ext cx="1840606" cy="2409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66" b="0" i="0">
                <a:solidFill>
                  <a:srgbClr val="9DA9B5"/>
                </a:solidFill>
                <a:latin typeface="Arial"/>
              </a:rPr>
              <a:t>Patient 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8775" y="4927238"/>
            <a:ext cx="1277764" cy="2735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85" b="1" i="0">
                <a:solidFill>
                  <a:srgbClr val="5FB7C9"/>
                </a:solidFill>
                <a:latin typeface="Consolas"/>
              </a:rPr>
              <a:t>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262" y="5328576"/>
            <a:ext cx="2246002" cy="2409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66" b="0" i="0">
                <a:solidFill>
                  <a:srgbClr val="9DA9B5"/>
                </a:solidFill>
                <a:latin typeface="Arial"/>
              </a:rPr>
              <a:t>Reduced burnout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8775" y="5296035"/>
            <a:ext cx="1277764" cy="2735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85" b="1" i="0">
                <a:solidFill>
                  <a:srgbClr val="5FB7C9"/>
                </a:solidFill>
                <a:latin typeface="Consolas"/>
              </a:rPr>
              <a:t>47%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9555" y="4254725"/>
            <a:ext cx="5609259" cy="1650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b="1" i="0">
                <a:solidFill>
                  <a:srgbClr val="D9785B"/>
                </a:solidFill>
                <a:latin typeface="Consolas"/>
              </a:rPr>
              <a:t>TOP BARRIERS TO ADOPTION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9555" y="4590982"/>
            <a:ext cx="1271324" cy="2409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66" b="0" i="0">
                <a:solidFill>
                  <a:srgbClr val="9DA9B5"/>
                </a:solidFill>
                <a:latin typeface="Arial"/>
              </a:rPr>
              <a:t>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10068" y="4558441"/>
            <a:ext cx="798746" cy="2735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85" b="1" i="0">
                <a:solidFill>
                  <a:srgbClr val="D9785B"/>
                </a:solidFill>
                <a:latin typeface="Consolas"/>
              </a:rPr>
              <a:t>72%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9555" y="4959779"/>
            <a:ext cx="1859758" cy="2409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66" b="0" i="0">
                <a:solidFill>
                  <a:srgbClr val="9DA9B5"/>
                </a:solidFill>
                <a:latin typeface="Arial"/>
              </a:rPr>
              <a:t>Lack of trust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10068" y="4927238"/>
            <a:ext cx="798746" cy="2735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85" b="1" i="0">
                <a:solidFill>
                  <a:srgbClr val="D9785B"/>
                </a:solidFill>
                <a:latin typeface="Consolas"/>
              </a:rPr>
              <a:t>63%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9555" y="5328576"/>
            <a:ext cx="2458021" cy="2409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366" b="0" i="0">
                <a:solidFill>
                  <a:srgbClr val="9DA9B5"/>
                </a:solidFill>
                <a:latin typeface="Arial"/>
              </a:rPr>
              <a:t>Software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10068" y="5296035"/>
            <a:ext cx="798746" cy="2735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85" b="1" i="0">
                <a:solidFill>
                  <a:srgbClr val="D9785B"/>
                </a:solidFill>
                <a:latin typeface="Consolas"/>
              </a:rPr>
              <a:t>62%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262" y="5860078"/>
            <a:ext cx="11390553" cy="1867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56" b="0" i="0">
                <a:solidFill>
                  <a:srgbClr val="5C6975"/>
                </a:solidFill>
                <a:latin typeface="Consolas"/>
              </a:rPr>
              <a:t>Only </a:t>
            </a:r>
            <a:r>
              <a:rPr sz="956" b="1" i="0">
                <a:solidFill>
                  <a:srgbClr val="9DA9B5"/>
                </a:solidFill>
                <a:latin typeface="Consolas"/>
              </a:rPr>
              <a:t>27.5%</a:t>
            </a:r>
            <a:r>
              <a:rPr sz="956" b="0" i="0">
                <a:solidFill>
                  <a:srgbClr val="5C6975"/>
                </a:solidFill>
                <a:latin typeface="Consolas"/>
              </a:rPr>
              <a:t> felt AI might threaten job security · </a:t>
            </a:r>
            <a:r>
              <a:rPr sz="956" b="1" i="0">
                <a:solidFill>
                  <a:srgbClr val="9DA9B5"/>
                </a:solidFill>
                <a:latin typeface="Consolas"/>
              </a:rPr>
              <a:t>35%</a:t>
            </a:r>
            <a:r>
              <a:rPr sz="956" b="0" i="0">
                <a:solidFill>
                  <a:srgbClr val="5C6975"/>
                </a:solidFill>
                <a:latin typeface="Consolas"/>
              </a:rPr>
              <a:t> thought it could reduce reimbursement.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262" y="6445814"/>
            <a:ext cx="6607224" cy="1650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b="0" i="0">
                <a:solidFill>
                  <a:srgbClr val="5C6975"/>
                </a:solidFill>
                <a:latin typeface="Consolas"/>
              </a:rPr>
              <a:t>Nenow et al., J Breast Imaging 2025 (SBI member survey, n=162) · DOI 10.1093/jbi/wbaf079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