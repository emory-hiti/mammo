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year is 1998 — the year the FDA cleared the first CAD system for mammography. Computer-aided detection has just arrived: software that puts a mark on every mammogram to flag a possible cancer. A second set of eyes, automatically. It feels like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within a decade, it is everywhere. A reimbursement code in 2002 — not an outcomes trial — drove adoption from nothing to about 74% of US screening mammograms by 2008, and 92% by 2016. We adopted it on a billing code, not a clinical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reading room is not convinced — because conventional CAD produced false positives constantly. Across independent series, seventy to eighty-five percent of normal mammograms carried at least one false-positive mark: Kim seventy, Mahoney up to eighty-five, Watanabe eighty-three — versus fifty-two percent for an AI-based CAD. In per-image terms that is roughly half a mark to one and a half false marks on every image. Mahoney measured about two to three false marks on a normal case — and more on non-dense breasts, where there is more to flag. After enough false alarms, radiologists learned to tune the marks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data came in. The United States was spending over four hundred million dollars a year — roughly one dollar of every ten thousand in US healthcare. And among radiologists who read both with and without CAD, the odds of detecting a malignant lesion were 47 percent lower with CAD on — same readers, same images. That is quite remarkable. For the radiologists in the audience: every breast radiologist I have spoken with essentially ignores the CAD marks, or finds them disruptive — so this paper was not much of 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 is worth reading verbatim. It had been foreshadowed years earlier — Fenton, in the New England Journal in 2007, already showed CAD lowered accuracy and raised the biopsy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did it fail? Three reasons. First, it could only flag what we already know how to describe — the features were hand-tuned, so it was limited to what we could design, and it added marks rather than new information. Second, it marked most normal studies — 70 to 85 percent carried at least one false-positive mark — so readers learned to ignore it, and trust eroded. And third, the deeper problem: it was deployed at scale, reimbursed and run on nearly every screening mammogram in the country, before it was ever validated. The definitive accuracy study didn't arrive until 2015 — and found no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 from Era I is that CAD was reimbursed before it was proven, and was never shown to help. Around 2012 the technology changed. Traditional CAD was programmed — we wrote the rules. Modern deep learning is trained — it learns the patterns from the images. Traditional CAD pointed at spots; modern models can read the image. Sixteen years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42616"/>
            <a:ext cx="598932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Era I · 1998 · Lesion</a:t>
            </a:r>
            <a:r>
              <a:rPr sz="1400" b="0">
                <a:solidFill>
                  <a:srgbClr val="9DA9B5"/>
                </a:solidFill>
                <a:latin typeface="Arial"/>
              </a:rPr>
              <a:t>→</a:t>
            </a:r>
            <a:r>
              <a:rPr sz="1400" b="0">
                <a:solidFill>
                  <a:srgbClr val="9DA9B5"/>
                </a:solidFill>
                <a:latin typeface="Arial"/>
              </a:rPr>
              <a:t>Image</a:t>
            </a:r>
            <a:r>
              <a:rPr sz="1400" b="0">
                <a:solidFill>
                  <a:srgbClr val="9DA9B5"/>
                </a:solidFill>
                <a:latin typeface="Arial"/>
              </a:rPr>
              <a:t>→</a:t>
            </a:r>
            <a:r>
              <a:rPr sz="1400" b="0">
                <a:solidFill>
                  <a:srgbClr val="9DA9B5"/>
                </a:solidFill>
                <a:latin typeface="Arial"/>
              </a:rPr>
              <a:t>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89072"/>
            <a:ext cx="5989320" cy="790447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400" b="0">
                <a:solidFill>
                  <a:srgbClr val="ECEFF3"/>
                </a:solidFill>
                <a:latin typeface="Arial"/>
              </a:rPr>
              <a:t>The year is </a:t>
            </a:r>
            <a:r>
              <a:rPr sz="4400" b="0">
                <a:solidFill>
                  <a:srgbClr val="E7AC51"/>
                </a:solidFill>
                <a:latin typeface="Arial"/>
              </a:rPr>
              <a:t>1998.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79520"/>
            <a:ext cx="5989320" cy="801623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Computer-aided detection has just arrived — a mark on every mammogram flagging a possible cancer. A second set of eyes, automatically. It feels like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2864" y="1037844"/>
            <a:ext cx="4782312" cy="4782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_a5f0143e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20140"/>
            <a:ext cx="461772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19020"/>
            <a:ext cx="5989320" cy="1274064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600" b="0">
                <a:solidFill>
                  <a:srgbClr val="ECEFF3"/>
                </a:solidFill>
                <a:latin typeface="Arial"/>
              </a:rPr>
              <a:t>Within a decade, CAD was used on </a:t>
            </a:r>
            <a:r>
              <a:rPr sz="2600" b="0">
                <a:solidFill>
                  <a:srgbClr val="E7AC51"/>
                </a:solidFill>
                <a:latin typeface="Arial"/>
              </a:rPr>
              <a:t>most US mammograms.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93084"/>
            <a:ext cx="598932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 </a:t>
            </a:r>
            <a:r>
              <a:rPr sz="1400" b="0">
                <a:solidFill>
                  <a:srgbClr val="9DA9B5"/>
                </a:solidFill>
                <a:latin typeface="Arial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9540"/>
            <a:ext cx="598932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A 2002 reimbursement code drove adoption — not evidence of benefit.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13580"/>
            <a:ext cx="598932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1">
                <a:solidFill>
                  <a:srgbClr val="ECEFF3"/>
                </a:solidFill>
                <a:latin typeface="Arial"/>
              </a:rPr>
              <a:t>The definitive study landed in 2015</a:t>
            </a:r>
            <a:r>
              <a:rPr sz="1400" b="0">
                <a:solidFill>
                  <a:srgbClr val="9DA9B5"/>
                </a:solidFill>
                <a:latin typeface="Arial"/>
              </a:rPr>
              <a:t> — after CAD already ran on ~9 in 10 mammograms.</a:t>
            </a:r>
          </a:p>
        </p:txBody>
      </p:sp>
      <p:pic>
        <p:nvPicPr>
          <p:cNvPr id="8" name="Picture 7" descr="s_ba5c8d2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643987"/>
            <a:ext cx="4617720" cy="1570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64969"/>
            <a:ext cx="5989320" cy="1274064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600" b="0">
                <a:solidFill>
                  <a:srgbClr val="ECEFF3"/>
                </a:solidFill>
                <a:latin typeface="Arial"/>
              </a:rPr>
              <a:t>Conventional CAD put a </a:t>
            </a:r>
            <a:r>
              <a:rPr sz="2600" b="0">
                <a:solidFill>
                  <a:srgbClr val="D9785B"/>
                </a:solidFill>
                <a:latin typeface="Arial"/>
              </a:rPr>
              <a:t>false-positive mark</a:t>
            </a:r>
            <a:r>
              <a:rPr sz="2600" b="0">
                <a:solidFill>
                  <a:srgbClr val="ECEFF3"/>
                </a:solidFill>
                <a:latin typeface="Arial"/>
              </a:rPr>
              <a:t> on most normal exams.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39033"/>
            <a:ext cx="5989320" cy="52578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0">
                <a:solidFill>
                  <a:srgbClr val="E7AC51"/>
                </a:solidFill>
                <a:latin typeface="Arial"/>
              </a:rPr>
              <a:t>70–85%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64814"/>
            <a:ext cx="598932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of normal mammograms had </a:t>
            </a:r>
            <a:r>
              <a:rPr sz="1400" b="1">
                <a:solidFill>
                  <a:srgbClr val="D9785B"/>
                </a:solidFill>
                <a:latin typeface="Arial"/>
              </a:rPr>
              <a:t>≥1 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1269"/>
            <a:ext cx="5989320" cy="52578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0">
                <a:solidFill>
                  <a:srgbClr val="E7AC51"/>
                </a:solidFill>
                <a:latin typeface="Arial"/>
              </a:rPr>
              <a:t>0.5–1.5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37050"/>
            <a:ext cx="598932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1">
                <a:solidFill>
                  <a:srgbClr val="D9785B"/>
                </a:solidFill>
                <a:latin typeface="Arial"/>
              </a:rPr>
              <a:t>false positives per image</a:t>
            </a:r>
            <a:r>
              <a:rPr sz="1400" b="0">
                <a:solidFill>
                  <a:srgbClr val="9DA9B5"/>
                </a:solidFill>
                <a:latin typeface="Arial"/>
              </a:rPr>
              <a:t> — about 2–4 per 4-view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83506"/>
            <a:ext cx="5989320" cy="2565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5C6975"/>
                </a:solidFill>
                <a:latin typeface="Consolas"/>
              </a:rPr>
              <a:t>Kim 2009 · Mahoney 2011 · Watanabe 2019 · Leon 2009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40046"/>
            <a:ext cx="5989320" cy="801623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~2–3 false marks on a normal case; more on non-dense breasts. </a:t>
            </a:r>
            <a:r>
              <a:rPr sz="1400" b="0">
                <a:solidFill>
                  <a:srgbClr val="9DA9B5"/>
                </a:solidFill>
                <a:latin typeface="Arial"/>
              </a:rPr>
              <a:t>Mahoney &amp; Meganathan, J Digit Imaging 2011 (Table 4) · PMC3180536.</a:t>
            </a:r>
          </a:p>
        </p:txBody>
      </p:sp>
      <p:pic>
        <p:nvPicPr>
          <p:cNvPr id="11" name="Picture 10" descr="s_94f6a22e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10013"/>
            <a:ext cx="4617720" cy="3037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95118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$400M</a:t>
            </a:r>
            <a:r>
              <a:rPr sz="1400" b="0">
                <a:solidFill>
                  <a:srgbClr val="9DA9B5"/>
                </a:solidFill>
                <a:latin typeface="Arial"/>
              </a:rPr>
              <a:t>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41574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U.S. spend ≈ $1 of every $10,000 in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8030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−47%</a:t>
            </a:r>
            <a:r>
              <a:rPr sz="1400" b="0">
                <a:solidFill>
                  <a:srgbClr val="9DA9B5"/>
                </a:solidFill>
                <a:latin typeface="Arial"/>
              </a:rPr>
              <a:t> odds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4486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odds of detecting a malignant lesion — CAD on vs off, same readers (OR 0.53)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80942"/>
            <a:ext cx="1060704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When the definitive study finally ran, CAD added cost and, for the same readers, lowered the odds of catching a cancer.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54982"/>
            <a:ext cx="10607040" cy="2565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5C6975"/>
                </a:solidFill>
                <a:latin typeface="Consolas"/>
              </a:rPr>
              <a:t>Lehman et al., JAMA Internal Medicine 2015 · 323,973 women · 271 radiologists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8662"/>
            <a:ext cx="1060704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Computer-aided detection does not improve diagnostic accuracy of mammography. These results suggest that insurers pay more for CAD with no established benefit to women.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22702"/>
            <a:ext cx="10607040" cy="2565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5C6975"/>
                </a:solidFill>
                <a:latin typeface="Consolas"/>
              </a:rPr>
              <a:t>— Lehman et al., JAMA Internal Medicine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79241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85.3% </a:t>
            </a:r>
            <a:r>
              <a:rPr sz="1400" b="0">
                <a:solidFill>
                  <a:srgbClr val="9DA9B5"/>
                </a:solidFill>
                <a:latin typeface="Arial"/>
              </a:rPr>
              <a:t>vs</a:t>
            </a:r>
            <a:r>
              <a:rPr sz="1400" b="0">
                <a:solidFill>
                  <a:srgbClr val="9DA9B5"/>
                </a:solidFill>
                <a:latin typeface="Arial"/>
              </a:rPr>
              <a:t> 87.3%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5698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sensitivity — with vs without 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72154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4.1 = 4.1</a:t>
            </a:r>
            <a:r>
              <a:rPr sz="1400" b="0">
                <a:solidFill>
                  <a:srgbClr val="9DA9B5"/>
                </a:solidFill>
                <a:latin typeface="Arial"/>
              </a:rPr>
              <a:t> /1,000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8610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cancer detection — identical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65065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0.871 </a:t>
            </a:r>
            <a:r>
              <a:rPr sz="1400" b="0">
                <a:solidFill>
                  <a:srgbClr val="9DA9B5"/>
                </a:solidFill>
                <a:latin typeface="Arial"/>
              </a:rPr>
              <a:t>vs</a:t>
            </a:r>
            <a:r>
              <a:rPr sz="1400" b="0">
                <a:solidFill>
                  <a:srgbClr val="9DA9B5"/>
                </a:solidFill>
                <a:latin typeface="Arial"/>
              </a:rPr>
              <a:t> 0.919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11521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AUC — with vs without (Fenton, NEJM 2007)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574"/>
            <a:ext cx="10607040" cy="53441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600" b="0">
                <a:solidFill>
                  <a:srgbClr val="ECEFF3"/>
                </a:solidFill>
                <a:latin typeface="Arial"/>
              </a:rPr>
              <a:t>What went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94989"/>
            <a:ext cx="1060704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01</a:t>
            </a:r>
            <a:r>
              <a:rPr sz="1400" b="0">
                <a:solidFill>
                  <a:srgbClr val="9DA9B5"/>
                </a:solidFill>
                <a:latin typeface="Arial"/>
              </a:rPr>
              <a:t>It flagged only what we can already describe.</a:t>
            </a:r>
            <a:r>
              <a:rPr sz="1400" b="1">
                <a:solidFill>
                  <a:srgbClr val="ECEFF3"/>
                </a:solidFill>
                <a:latin typeface="Arial"/>
              </a:rPr>
              <a:t>Hand-tuned features</a:t>
            </a:r>
            <a:r>
              <a:rPr sz="1400" b="0">
                <a:solidFill>
                  <a:srgbClr val="9DA9B5"/>
                </a:solidFill>
                <a:latin typeface="Arial"/>
              </a:rPr>
              <a:t> are limited to what we can design — so it added marks, not new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69029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02</a:t>
            </a:r>
            <a:r>
              <a:rPr sz="1400" b="0">
                <a:solidFill>
                  <a:srgbClr val="9DA9B5"/>
                </a:solidFill>
                <a:latin typeface="Arial"/>
              </a:rPr>
              <a:t>Readers learned to ignore it.</a:t>
            </a:r>
            <a:r>
              <a:rPr sz="1400" b="1">
                <a:solidFill>
                  <a:srgbClr val="ECEFF3"/>
                </a:solidFill>
                <a:latin typeface="Arial"/>
              </a:rPr>
              <a:t>70–85% of normal exams</a:t>
            </a:r>
            <a:r>
              <a:rPr sz="1400" b="0">
                <a:solidFill>
                  <a:srgbClr val="9DA9B5"/>
                </a:solidFill>
                <a:latin typeface="Arial"/>
              </a:rPr>
              <a:t> carried at least one false-positive mark — eroding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15485"/>
            <a:ext cx="1060704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03</a:t>
            </a:r>
            <a:r>
              <a:rPr sz="1400" b="0">
                <a:solidFill>
                  <a:srgbClr val="9DA9B5"/>
                </a:solidFill>
                <a:latin typeface="Arial"/>
              </a:rPr>
              <a:t>It was deployed at scale before it was ever validated.</a:t>
            </a:r>
            <a:r>
              <a:rPr sz="1400" b="0">
                <a:solidFill>
                  <a:srgbClr val="9DA9B5"/>
                </a:solidFill>
                <a:latin typeface="Arial"/>
              </a:rPr>
              <a:t>Reimbursed in 2002 and run on </a:t>
            </a:r>
            <a:r>
              <a:rPr sz="1400" b="1">
                <a:solidFill>
                  <a:srgbClr val="ECEFF3"/>
                </a:solidFill>
                <a:latin typeface="Arial"/>
              </a:rPr>
              <a:t>~92% of US screening mammograms</a:t>
            </a:r>
            <a:r>
              <a:rPr sz="1400" b="0">
                <a:solidFill>
                  <a:srgbClr val="9DA9B5"/>
                </a:solidFill>
                <a:latin typeface="Arial"/>
              </a:rPr>
              <a:t> by 2016; the definitive accuracy study didn't arrive until 2015 — and found no benefit.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89525"/>
            <a:ext cx="10607040" cy="2565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5C6975"/>
                </a:solidFill>
                <a:latin typeface="Consolas"/>
              </a:rPr>
              <a:t>Lehman CD, et al. JAMA Intern Med 2015;175(11):1828–1837 · Keen JD, et al. J Am Coll Radiol 2018 (adoption ~92%)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1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81275"/>
            <a:ext cx="10607040" cy="591312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0">
                <a:solidFill>
                  <a:srgbClr val="ECEFF3"/>
                </a:solidFill>
                <a:latin typeface="Arial"/>
              </a:rPr>
              <a:t>A paradigm </a:t>
            </a:r>
            <a:r>
              <a:rPr sz="3000" b="0">
                <a:solidFill>
                  <a:srgbClr val="E7AC51"/>
                </a:solidFill>
                <a:latin typeface="Arial"/>
              </a:rPr>
              <a:t>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72587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Traditional 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9043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Programmed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65500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We wrote the rules for what cancer looks like. It </a:t>
            </a:r>
            <a:r>
              <a:rPr sz="1400" b="0">
                <a:solidFill>
                  <a:srgbClr val="9DA9B5"/>
                </a:solidFill>
                <a:latin typeface="Arial"/>
              </a:rPr>
              <a:t>pointed</a:t>
            </a:r>
            <a:r>
              <a:rPr sz="1400" b="0">
                <a:solidFill>
                  <a:srgbClr val="9DA9B5"/>
                </a:solidFill>
                <a:latin typeface="Arial"/>
              </a:rPr>
              <a:t> at spots for a human to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11955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58411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Modern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04867"/>
            <a:ext cx="10607040" cy="34645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Trained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1323"/>
            <a:ext cx="10607040" cy="57404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00" b="0">
                <a:solidFill>
                  <a:srgbClr val="9DA9B5"/>
                </a:solidFill>
                <a:latin typeface="Arial"/>
              </a:rPr>
              <a:t>The model learns the patterns from the images themselves. It can </a:t>
            </a:r>
            <a:r>
              <a:rPr sz="1400" b="0">
                <a:solidFill>
                  <a:srgbClr val="9DA9B5"/>
                </a:solidFill>
                <a:latin typeface="Arial"/>
              </a:rPr>
              <a:t>read</a:t>
            </a:r>
            <a:r>
              <a:rPr sz="1400" b="0">
                <a:solidFill>
                  <a:srgbClr val="9DA9B5"/>
                </a:solidFill>
                <a:latin typeface="Arial"/>
              </a:rPr>
              <a:t> the image — as a second reader, or on its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