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year is 1998 — the year the FDA cleared the first CAD system for mammography. Computer-aided detection has just arrived: software that puts a mark on every mammogram to flag a possible cancer. A second set of eyes, automatically. It feels like the future.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within a decade, it is everywhere. A reimbursement code in 2002 — not an outcomes trial — drove adoption from nothing to about 74% of US screening mammograms by 2008, and 92% by 2016. We adopted it on a billing code, not a clinical trial.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the reading room is not convinced — because conventional CAD produced false positives constantly. Across independent series, seventy to eighty-five percent of normal mammograms carried at least one false-positive mark: Kim seventy, Mahoney up to eighty-five, Watanabe eighty-three — versus fifty-two percent for an AI-based CAD. In per-image terms that is roughly half a mark to one and a half false marks on every image. Mahoney measured about two to three false marks on a normal case — and more on non-dense breasts, where there is more to flag. After enough false alarms, radiologists learned to tune the marks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the data came in. The United States was spending over four hundred million dollars a year — roughly one dollar of every ten thousand in US healthcare. And among radiologists who read both with and without CAD, the odds of detecting a malignant lesion were 47 percent lower with CAD on — same readers, same images. That is quite remarkable. For the radiologists in the audience: every breast radiologist I have spoken with essentially ignores the CAD marks, or finds them disruptive — so this paper was not much of a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conclusion is worth reading verbatim. It had been foreshadowed years earlier — Fenton, in the New England Journal in 2007, already showed CAD lowered accuracy and raised the biopsy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did it fail? Three reasons. First, it could only flag what we already know how to describe — the features were hand-tuned, so it was limited to what we could design, and it added marks rather than new information. Second, it marked most normal studies — 70 to 85 percent carried at least one false-positive mark — so readers learned to ignore it, and trust eroded. And third, the deeper problem: it was deployed at scale, reimbursed and run on nearly every screening mammogram in the country, before it was ever validated. The definitive accuracy study didn't arrive until 2015 — and found no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lesson from Era I is that CAD was reimbursed before it was proven, and was never shown to help. Around 2012 the technology changed. Traditional CAD was programmed — we wrote the rules. Modern deep learning is trained — it learns the patterns from the images. Traditional CAD pointed at spots; modern models can read the image. Sixteen years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 · 1998 · LESION</a:t>
            </a:r>
            <a:r>
              <a:rPr sz="1100" b="0" i="0">
                <a:solidFill>
                  <a:srgbClr val="5C6975"/>
                </a:solidFill>
                <a:latin typeface="Consolas"/>
              </a:rPr>
              <a:t>    →    IMAGE    →    PATIENT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6766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ECEFF3"/>
                </a:solidFill>
                <a:latin typeface="Arial"/>
              </a:rPr>
              <a:t>The year is </a:t>
            </a:r>
            <a:r>
              <a:rPr sz="5000" b="1" i="0">
                <a:solidFill>
                  <a:srgbClr val="E7AC51"/>
                </a:solidFill>
                <a:latin typeface="Arial"/>
              </a:rPr>
              <a:t>1998.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6583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DA9B5"/>
                </a:solidFill>
                <a:latin typeface="Arial"/>
              </a:rPr>
              <a:t>Computer-aided detection has just arrived — a mark on every mammogram flagging a possible cancer. A second set of eyes, automatically. It feels like the future.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26680" y="1554480"/>
            <a:ext cx="3840480" cy="3840480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g_a5f0143e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64592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CEFF3"/>
                </a:solidFill>
                <a:latin typeface="Arial"/>
              </a:rPr>
              <a:t>Within a decade, CAD was used on </a:t>
            </a:r>
            <a:r>
              <a:rPr sz="3000" b="1" i="0">
                <a:solidFill>
                  <a:srgbClr val="E7AC51"/>
                </a:solidFill>
                <a:latin typeface="Arial"/>
              </a:rPr>
              <a:t>most US mammograms.</a:t>
            </a:r>
          </a:p>
        </p:txBody>
      </p:sp>
      <p:pic>
        <p:nvPicPr>
          <p:cNvPr id="5" name="Picture 4" descr="svg_ba5c8d2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289" y="2240280"/>
            <a:ext cx="9412941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66928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9DA9B5"/>
                </a:solidFill>
                <a:latin typeface="Arial"/>
              </a:rPr>
              <a:t>A 2002 reimbursement code drove adoption — not evidence of benefit. </a:t>
            </a:r>
            <a:r>
              <a:rPr sz="1300" b="1" i="0">
                <a:solidFill>
                  <a:srgbClr val="ECEFF3"/>
                </a:solidFill>
                <a:latin typeface="Arial"/>
              </a:rPr>
              <a:t>The definitive study landed in 2015</a:t>
            </a:r>
            <a:r>
              <a:rPr sz="1300" b="0" i="0">
                <a:solidFill>
                  <a:srgbClr val="9DA9B5"/>
                </a:solidFill>
                <a:latin typeface="Arial"/>
              </a:rPr>
              <a:t> — after CAD already ran on ~9 in 10 mammograms.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CEFF3"/>
                </a:solidFill>
                <a:latin typeface="Arial"/>
              </a:rPr>
              <a:t>Conventional CAD put a </a:t>
            </a:r>
            <a:r>
              <a:rPr sz="2400" b="1" i="0">
                <a:solidFill>
                  <a:srgbClr val="D9785B"/>
                </a:solidFill>
                <a:latin typeface="Arial"/>
              </a:rPr>
              <a:t>false-positive mark</a:t>
            </a:r>
            <a:r>
              <a:rPr sz="2400" b="1" i="0">
                <a:solidFill>
                  <a:srgbClr val="ECEFF3"/>
                </a:solidFill>
                <a:latin typeface="Arial"/>
              </a:rPr>
              <a:t> on most normal exams.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E7AC51"/>
                </a:solidFill>
                <a:latin typeface="Arial"/>
              </a:rPr>
              <a:t>70–85%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39312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ECEFF3"/>
                </a:solidFill>
                <a:latin typeface="Arial"/>
              </a:rPr>
              <a:t>of normal mammograms had </a:t>
            </a:r>
            <a:r>
              <a:rPr sz="1200" b="1" i="0">
                <a:solidFill>
                  <a:srgbClr val="D9785B"/>
                </a:solidFill>
                <a:latin typeface="Arial"/>
              </a:rPr>
              <a:t>≥1 false positive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4340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E7AC51"/>
                </a:solidFill>
                <a:latin typeface="Arial"/>
              </a:rPr>
              <a:t>0.5–1.5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02352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D9785B"/>
                </a:solidFill>
                <a:latin typeface="Arial"/>
              </a:rPr>
              <a:t>false positives </a:t>
            </a:r>
            <a:r>
              <a:rPr sz="1200" b="0" i="0">
                <a:solidFill>
                  <a:srgbClr val="ECEFF3"/>
                </a:solidFill>
                <a:latin typeface="Arial"/>
              </a:rPr>
              <a:t>per image — about 2–4 per 4-view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943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6975"/>
                </a:solidFill>
                <a:latin typeface="Consolas"/>
              </a:rPr>
              <a:t>Kim 2009 · Mahoney 2011 · Watanabe 2019 · Leon 2009</a:t>
            </a:r>
          </a:p>
        </p:txBody>
      </p:sp>
      <p:pic>
        <p:nvPicPr>
          <p:cNvPr id="10" name="Picture 9" descr="svg_94f6a22e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487103"/>
            <a:ext cx="5486400" cy="36094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54406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5C6975"/>
                </a:solidFill>
                <a:latin typeface="Consolas"/>
              </a:rPr>
              <a:t>Mean false-positive marks per case · ImageChecker v7.2 — Mahoney &amp; Meganathan, J Digit Imaging 2011 (Table 4) · PMC3180536.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11680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E7AC51"/>
                </a:solidFill>
                <a:latin typeface="Arial"/>
              </a:rPr>
              <a:t>$400M</a:t>
            </a:r>
            <a:r>
              <a:rPr sz="2600" b="0" i="0">
                <a:solidFill>
                  <a:srgbClr val="9DA9B5"/>
                </a:solidFill>
                <a:latin typeface="Arial"/>
              </a:rPr>
              <a:t> /yr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290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CEFF3"/>
                </a:solidFill>
                <a:latin typeface="Consolas"/>
              </a:rPr>
              <a:t>U.S. spend ≈ $1 of every $10,000 in health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01168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E7AC51"/>
                </a:solidFill>
                <a:latin typeface="Arial"/>
              </a:rPr>
              <a:t>−47%</a:t>
            </a:r>
            <a:r>
              <a:rPr sz="2200" b="0" i="0">
                <a:solidFill>
                  <a:srgbClr val="5C6975"/>
                </a:solidFill>
                <a:latin typeface="Arial"/>
              </a:rPr>
              <a:t> odds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342900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CEFF3"/>
                </a:solidFill>
                <a:latin typeface="Consolas"/>
              </a:rPr>
              <a:t>odds of detecting a malignant lesion — CAD on vs off, same readers (OR 0.53)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66344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DA9B5"/>
                </a:solidFill>
                <a:latin typeface="Arial"/>
              </a:rPr>
              <a:t>When the definitive study finally ran, CAD added cost and, for the same readers, lowered the odds of catching a cancer.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557784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6975"/>
                </a:solidFill>
                <a:latin typeface="Consolas"/>
              </a:rPr>
              <a:t>Lehman et al., JAMA Internal Medicine 2015 · 323,973 women · 271 radiologists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 i="0">
                <a:solidFill>
                  <a:srgbClr val="ECEFF3"/>
                </a:solidFill>
                <a:latin typeface="Arial"/>
              </a:rPr>
              <a:t>“Computer-aided detection does not improve diagnostic accuracy of mammography. These results suggest that insurers pay more for CAD with no established benefit to women.”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0060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7AC51"/>
                </a:solidFill>
                <a:latin typeface="Consolas"/>
              </a:rPr>
              <a:t>— Lehman et al., JAMA Internal Medicine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FF3"/>
                </a:solidFill>
                <a:latin typeface="Arial"/>
              </a:rPr>
              <a:t>85.3% vs 87.3%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10312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975"/>
                </a:solidFill>
                <a:latin typeface="Consolas"/>
              </a:rPr>
              <a:t>sensitivity — with vs without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8803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FF3"/>
                </a:solidFill>
                <a:latin typeface="Arial"/>
              </a:rPr>
              <a:t>4.1 = 4.1 /1,000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975"/>
                </a:solidFill>
                <a:latin typeface="Consolas"/>
              </a:rPr>
              <a:t>cancer detection — identical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11480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FF3"/>
                </a:solidFill>
                <a:latin typeface="Arial"/>
              </a:rPr>
              <a:t>0.871 vs 0.919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57200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975"/>
                </a:solidFill>
                <a:latin typeface="Consolas"/>
              </a:rPr>
              <a:t>AUC — with vs without (Fenton, NEJM 2007)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CEFF3"/>
                </a:solidFill>
                <a:latin typeface="Arial"/>
              </a:rPr>
              <a:t>What went wrong.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10607040" cy="1097280"/>
          </a:xfrm>
          <a:prstGeom prst="roundRect">
            <a:avLst/>
          </a:prstGeom>
          <a:solidFill>
            <a:srgbClr val="1B232D"/>
          </a:solidFill>
          <a:ln w="12700">
            <a:solidFill>
              <a:srgbClr val="E7AC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7AC51"/>
                </a:solidFill>
                <a:latin typeface="Consolas"/>
              </a:rPr>
              <a:t>01   </a:t>
            </a:r>
            <a:r>
              <a:rPr sz="1700" b="1" i="0">
                <a:solidFill>
                  <a:srgbClr val="ECEFF3"/>
                </a:solidFill>
                <a:latin typeface="Arial"/>
              </a:rPr>
              <a:t>It flagged only what we can already describe.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</a:pPr>
            <a:r>
              <a:rPr sz="1250" b="1" i="0">
                <a:solidFill>
                  <a:srgbClr val="ECEFF3"/>
                </a:solidFill>
                <a:latin typeface="Arial"/>
              </a:rPr>
              <a:t>Hand-tuned features</a:t>
            </a:r>
            <a:r>
              <a:rPr sz="1250" b="0" i="0">
                <a:solidFill>
                  <a:srgbClr val="9DA9B5"/>
                </a:solidFill>
                <a:latin typeface="Arial"/>
              </a:rPr>
              <a:t> are limited to what we can design — so it added marks, not new information.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118104"/>
            <a:ext cx="10607040" cy="1097280"/>
          </a:xfrm>
          <a:prstGeom prst="roundRect">
            <a:avLst/>
          </a:prstGeom>
          <a:solidFill>
            <a:srgbClr val="1B232D"/>
          </a:solidFill>
          <a:ln w="12700">
            <a:solidFill>
              <a:srgbClr val="E7AC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7AC51"/>
                </a:solidFill>
                <a:latin typeface="Consolas"/>
              </a:rPr>
              <a:t>02   </a:t>
            </a:r>
            <a:r>
              <a:rPr sz="1700" b="1" i="0">
                <a:solidFill>
                  <a:srgbClr val="ECEFF3"/>
                </a:solidFill>
                <a:latin typeface="Arial"/>
              </a:rPr>
              <a:t>Readers learned to ignore it.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</a:pPr>
            <a:r>
              <a:rPr sz="1250" b="1" i="0">
                <a:solidFill>
                  <a:srgbClr val="ECEFF3"/>
                </a:solidFill>
                <a:latin typeface="Arial"/>
              </a:rPr>
              <a:t>70–85% of normal exams</a:t>
            </a:r>
            <a:r>
              <a:rPr sz="1250" b="0" i="0">
                <a:solidFill>
                  <a:srgbClr val="9DA9B5"/>
                </a:solidFill>
                <a:latin typeface="Arial"/>
              </a:rPr>
              <a:t> carried at least one false-positive mark — eroding trust.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361688"/>
            <a:ext cx="10607040" cy="1097280"/>
          </a:xfrm>
          <a:prstGeom prst="roundRect">
            <a:avLst/>
          </a:prstGeom>
          <a:solidFill>
            <a:srgbClr val="1B232D"/>
          </a:solidFill>
          <a:ln w="12700">
            <a:solidFill>
              <a:srgbClr val="E7AC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7AC51"/>
                </a:solidFill>
                <a:latin typeface="Consolas"/>
              </a:rPr>
              <a:t>03   </a:t>
            </a:r>
            <a:r>
              <a:rPr sz="1700" b="1" i="0">
                <a:solidFill>
                  <a:srgbClr val="ECEFF3"/>
                </a:solidFill>
                <a:latin typeface="Arial"/>
              </a:rPr>
              <a:t>It was deployed at scale before it was ever validated.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</a:pPr>
            <a:r>
              <a:rPr sz="1250" b="0" i="0">
                <a:solidFill>
                  <a:srgbClr val="9DA9B5"/>
                </a:solidFill>
                <a:latin typeface="Arial"/>
              </a:rPr>
              <a:t>Reimbursed in 2002 and run on </a:t>
            </a:r>
            <a:r>
              <a:rPr sz="1250" b="1" i="0">
                <a:solidFill>
                  <a:srgbClr val="ECEFF3"/>
                </a:solidFill>
                <a:latin typeface="Arial"/>
              </a:rPr>
              <a:t>~92% of US screening mammograms</a:t>
            </a:r>
            <a:r>
              <a:rPr sz="1250" b="0" i="0">
                <a:solidFill>
                  <a:srgbClr val="9DA9B5"/>
                </a:solidFill>
                <a:latin typeface="Arial"/>
              </a:rPr>
              <a:t> by 2016; the definitive accuracy study didn't arrive until 2015 — and found no benefit.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235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C6975"/>
                </a:solidFill>
                <a:latin typeface="Consolas"/>
              </a:rPr>
              <a:t>Lehman CD, et al. JAMA Intern Med 2015;175(11):1828–1837 · Keen JD, et al. J Am Coll Radiol 2018 (adoption ~92%)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CEFF3"/>
                </a:solidFill>
                <a:latin typeface="Arial"/>
              </a:rPr>
              <a:t>A paradigm </a:t>
            </a:r>
            <a:r>
              <a:rPr sz="3000" b="1" i="0">
                <a:solidFill>
                  <a:srgbClr val="E7AC51"/>
                </a:solidFill>
                <a:latin typeface="Arial"/>
              </a:rPr>
              <a:t>shift.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68880"/>
            <a:ext cx="4937760" cy="3291840"/>
          </a:xfrm>
          <a:prstGeom prst="roundRect">
            <a:avLst/>
          </a:prstGeom>
          <a:solidFill>
            <a:srgbClr val="1B232D"/>
          </a:solidFill>
          <a:ln w="12700">
            <a:solidFill>
              <a:srgbClr val="2A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37744" tIns="256032"/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C6975"/>
                </a:solidFill>
                <a:latin typeface="Consolas"/>
              </a:rPr>
              <a:t>TRADITIONAL CAD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2400" b="1" i="0">
                <a:solidFill>
                  <a:srgbClr val="9DA9B5"/>
                </a:solidFill>
                <a:latin typeface="Arial"/>
              </a:rPr>
              <a:t>Programmed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300" b="0" i="0">
                <a:solidFill>
                  <a:srgbClr val="9DA9B5"/>
                </a:solidFill>
                <a:latin typeface="Arial"/>
              </a:rPr>
              <a:t>We wrote the rules for what cancer looks like. It </a:t>
            </a:r>
            <a:r>
              <a:rPr sz="1300" b="0" i="1">
                <a:solidFill>
                  <a:srgbClr val="9DA9B5"/>
                </a:solidFill>
                <a:latin typeface="Arial"/>
              </a:rPr>
              <a:t>pointed</a:t>
            </a:r>
            <a:r>
              <a:rPr sz="1300" b="0" i="0">
                <a:solidFill>
                  <a:srgbClr val="9DA9B5"/>
                </a:solidFill>
                <a:latin typeface="Arial"/>
              </a:rPr>
              <a:t> at spots for a human to check.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68880"/>
            <a:ext cx="4937760" cy="3291840"/>
          </a:xfrm>
          <a:prstGeom prst="roundRect">
            <a:avLst/>
          </a:prstGeom>
          <a:solidFill>
            <a:srgbClr val="1B232D"/>
          </a:solidFill>
          <a:ln w="15875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37744" tIns="256032"/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MODERN DEEP LEARNING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2400" b="1" i="0">
                <a:solidFill>
                  <a:srgbClr val="ECEFF3"/>
                </a:solidFill>
                <a:latin typeface="Arial"/>
              </a:rPr>
              <a:t>Trained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300" b="0" i="0">
                <a:solidFill>
                  <a:srgbClr val="9DA9B5"/>
                </a:solidFill>
                <a:latin typeface="Arial"/>
              </a:rPr>
              <a:t>The model learns the patterns from the images themselves. It can </a:t>
            </a:r>
            <a:r>
              <a:rPr sz="1300" b="0" i="1">
                <a:solidFill>
                  <a:srgbClr val="ECEFF3"/>
                </a:solidFill>
                <a:latin typeface="Arial"/>
              </a:rPr>
              <a:t>read</a:t>
            </a:r>
            <a:r>
              <a:rPr sz="1300" b="0" i="0">
                <a:solidFill>
                  <a:srgbClr val="9DA9B5"/>
                </a:solidFill>
                <a:latin typeface="Arial"/>
              </a:rPr>
              <a:t> the image — as a second reader, or on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379476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0" i="0">
                <a:solidFill>
                  <a:srgbClr val="E7AC51"/>
                </a:solidFill>
                <a:latin typeface="Arial"/>
              </a:rPr>
              <a:t>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