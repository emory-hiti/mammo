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step back into the time machine and come forward ten years, to 2026. The early promise we just saw was retrospective and lab-based. By 2026 that has changed: AI screening has been tested where it counts — prospectively, in real screening programs — and the picture is much clearer.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 is where it stands in 2026: there are now two large prospective studies showing AI works in a real screening program. MASAI, the Swedish randomized trial of about 105,000 women, reported its interval-cancer result — non-inferior, with a ratio of 0.88, at a sensitivity of 80.5 versus 73.8 percent for the same specificity, and it cut reading workload by about 44 percent. PRAIM, a real-world German deployment of 463,000 women across twelve sites and 119 radiologists, found 17.6 percent more cancers detected with AI support and no increase in recall. Two prospective studies, two countries, the same direction. And a third is underway: PRISM, the first large randomized trial of screening AI in the United States — a sixteen-million-dollar PCORI-funded, seven-site study using Transpara, announced in September 2025 and recruiting now. Results are years away, but for the first time the US single-reader workflow will be tested directly.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it is 2026 — where do we actually stand? The averages look strong, but a single AUC says nothing about where a model fails. In our audit of a commercial DBT model across 163,000 exams from EMBED, the overall AUC was 0.91 — but look at how the scores break down by imaging feature. Masses, asymmetries, and calcifications are correctly predicted negative in 60 to 81 percent of exams. But architectural distortions behave very differently: even screen-detected cancers split into a bimodal high-and-low distribution, and many benign distortions score high — so the model both misses cancers and over-flags benign findings in that one category. Performance depends on what the finding looks like, not just the headline AUC. The two gaps that remain: subgroup performance, and explainability.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5486400"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8229600" cy="365760"/>
          </a:xfrm>
          <a:prstGeom prst="rect">
            <a:avLst/>
          </a:prstGeom>
          <a:noFill/>
        </p:spPr>
        <p:txBody>
          <a:bodyPr wrap="square" anchor="t" lIns="0" rIns="0" tIns="0" bIns="0">
            <a:spAutoFit/>
          </a:bodyPr>
          <a:lstStyle/>
          <a:p>
            <a:pPr algn="l">
              <a:lnSpc>
                <a:spcPct val="100000"/>
              </a:lnSpc>
            </a:pPr>
            <a:r>
              <a:rPr sz="1100" b="1" i="0">
                <a:solidFill>
                  <a:srgbClr val="E7AC51"/>
                </a:solidFill>
                <a:latin typeface="Consolas"/>
              </a:rPr>
              <a:t>ERA II · 2026</a:t>
            </a:r>
          </a:p>
        </p:txBody>
      </p:sp>
      <p:sp>
        <p:nvSpPr>
          <p:cNvPr id="4" name="TextBox 3"/>
          <p:cNvSpPr txBox="1"/>
          <p:nvPr/>
        </p:nvSpPr>
        <p:spPr>
          <a:xfrm>
            <a:off x="777240" y="2286000"/>
            <a:ext cx="6035040" cy="1371600"/>
          </a:xfrm>
          <a:prstGeom prst="rect">
            <a:avLst/>
          </a:prstGeom>
          <a:noFill/>
        </p:spPr>
        <p:txBody>
          <a:bodyPr wrap="square" anchor="t" lIns="0" rIns="0" tIns="0" bIns="0">
            <a:spAutoFit/>
          </a:bodyPr>
          <a:lstStyle/>
          <a:p>
            <a:pPr algn="l">
              <a:lnSpc>
                <a:spcPct val="100000"/>
              </a:lnSpc>
            </a:pPr>
            <a:r>
              <a:rPr sz="5000" b="1" i="0">
                <a:solidFill>
                  <a:srgbClr val="ECEFF3"/>
                </a:solidFill>
                <a:latin typeface="Arial"/>
              </a:rPr>
              <a:t>The year is </a:t>
            </a:r>
            <a:r>
              <a:rPr sz="5000" b="1" i="0">
                <a:solidFill>
                  <a:srgbClr val="E7AC51"/>
                </a:solidFill>
                <a:latin typeface="Arial"/>
              </a:rPr>
              <a:t>2026.</a:t>
            </a:r>
          </a:p>
        </p:txBody>
      </p:sp>
      <p:sp>
        <p:nvSpPr>
          <p:cNvPr id="5" name="TextBox 4"/>
          <p:cNvSpPr txBox="1"/>
          <p:nvPr/>
        </p:nvSpPr>
        <p:spPr>
          <a:xfrm>
            <a:off x="777240" y="3977639"/>
            <a:ext cx="5760720" cy="1645920"/>
          </a:xfrm>
          <a:prstGeom prst="rect">
            <a:avLst/>
          </a:prstGeom>
          <a:noFill/>
        </p:spPr>
        <p:txBody>
          <a:bodyPr wrap="square" anchor="t" lIns="0" rIns="0" tIns="0" bIns="0">
            <a:spAutoFit/>
          </a:bodyPr>
          <a:lstStyle/>
          <a:p>
            <a:pPr algn="l">
              <a:lnSpc>
                <a:spcPct val="130000"/>
              </a:lnSpc>
            </a:pPr>
            <a:r>
              <a:rPr sz="1900" b="0" i="0">
                <a:solidFill>
                  <a:srgbClr val="9DA9B5"/>
                </a:solidFill>
                <a:latin typeface="Arial"/>
              </a:rPr>
              <a:t>Ten years on, the early promise has been put to the test — </a:t>
            </a:r>
            <a:r>
              <a:rPr sz="1900" b="1" i="0">
                <a:solidFill>
                  <a:srgbClr val="ECEFF3"/>
                </a:solidFill>
                <a:latin typeface="Arial"/>
              </a:rPr>
              <a:t>prospectively, in real screening programs.</a:t>
            </a:r>
          </a:p>
        </p:txBody>
      </p:sp>
      <p:pic>
        <p:nvPicPr>
          <p:cNvPr id="6" name="Picture 5" descr="svg_e10217c538.png"/>
          <p:cNvPicPr>
            <a:picLocks noChangeAspect="1"/>
          </p:cNvPicPr>
          <p:nvPr/>
        </p:nvPicPr>
        <p:blipFill>
          <a:blip r:embed="rId3"/>
          <a:stretch>
            <a:fillRect/>
          </a:stretch>
        </p:blipFill>
        <p:spPr>
          <a:xfrm>
            <a:off x="6949440" y="2207622"/>
            <a:ext cx="4754880" cy="2717074"/>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5486400"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8229600" cy="320040"/>
          </a:xfrm>
          <a:prstGeom prst="rect">
            <a:avLst/>
          </a:prstGeom>
          <a:noFill/>
        </p:spPr>
        <p:txBody>
          <a:bodyPr wrap="square" anchor="t" lIns="0" rIns="0" tIns="0" bIns="0">
            <a:spAutoFit/>
          </a:bodyPr>
          <a:lstStyle/>
          <a:p>
            <a:pPr algn="l">
              <a:lnSpc>
                <a:spcPct val="100000"/>
              </a:lnSpc>
            </a:pPr>
            <a:r>
              <a:rPr sz="1100" b="1" i="0">
                <a:solidFill>
                  <a:srgbClr val="E7AC51"/>
                </a:solidFill>
                <a:latin typeface="Consolas"/>
              </a:rPr>
              <a:t>ERA II · 2026</a:t>
            </a:r>
          </a:p>
        </p:txBody>
      </p:sp>
      <p:sp>
        <p:nvSpPr>
          <p:cNvPr id="4" name="TextBox 3"/>
          <p:cNvSpPr txBox="1"/>
          <p:nvPr/>
        </p:nvSpPr>
        <p:spPr>
          <a:xfrm>
            <a:off x="777240" y="1051560"/>
            <a:ext cx="10698480" cy="1005840"/>
          </a:xfrm>
          <a:prstGeom prst="rect">
            <a:avLst/>
          </a:prstGeom>
          <a:noFill/>
        </p:spPr>
        <p:txBody>
          <a:bodyPr wrap="square" anchor="t" lIns="0" rIns="0" tIns="0" bIns="0">
            <a:spAutoFit/>
          </a:bodyPr>
          <a:lstStyle/>
          <a:p>
            <a:pPr algn="l">
              <a:lnSpc>
                <a:spcPct val="110000"/>
              </a:lnSpc>
            </a:pPr>
            <a:r>
              <a:rPr sz="2800" b="1" i="0">
                <a:solidFill>
                  <a:srgbClr val="ECEFF3"/>
                </a:solidFill>
                <a:latin typeface="Arial"/>
              </a:rPr>
              <a:t>2026: two prospective studies show </a:t>
            </a:r>
            <a:r>
              <a:rPr sz="2800" b="1" i="0">
                <a:solidFill>
                  <a:srgbClr val="E7AC51"/>
                </a:solidFill>
                <a:latin typeface="Arial"/>
              </a:rPr>
              <a:t>AI screening works.</a:t>
            </a:r>
          </a:p>
        </p:txBody>
      </p:sp>
      <p:sp>
        <p:nvSpPr>
          <p:cNvPr id="5" name="Rounded Rectangle 4"/>
          <p:cNvSpPr/>
          <p:nvPr/>
        </p:nvSpPr>
        <p:spPr>
          <a:xfrm>
            <a:off x="777240" y="2331720"/>
            <a:ext cx="5074920" cy="2286000"/>
          </a:xfrm>
          <a:prstGeom prst="roundRect">
            <a:avLst/>
          </a:prstGeom>
          <a:solidFill>
            <a:srgbClr val="1B232D"/>
          </a:solidFill>
          <a:ln w="12700">
            <a:solidFill>
              <a:srgbClr val="2A33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2331720"/>
            <a:ext cx="54864" cy="22860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2542032"/>
            <a:ext cx="4572000" cy="320040"/>
          </a:xfrm>
          <a:prstGeom prst="rect">
            <a:avLst/>
          </a:prstGeom>
          <a:noFill/>
        </p:spPr>
        <p:txBody>
          <a:bodyPr wrap="square" anchor="t" lIns="0" rIns="0" tIns="0" bIns="0">
            <a:spAutoFit/>
          </a:bodyPr>
          <a:lstStyle/>
          <a:p>
            <a:pPr algn="l">
              <a:lnSpc>
                <a:spcPct val="100000"/>
              </a:lnSpc>
            </a:pPr>
            <a:r>
              <a:rPr sz="1050" b="1" i="0">
                <a:solidFill>
                  <a:srgbClr val="E7AC51"/>
                </a:solidFill>
                <a:latin typeface="Consolas"/>
              </a:rPr>
              <a:t>MASAI · SWEDEN · RCT (~105,000)</a:t>
            </a:r>
          </a:p>
        </p:txBody>
      </p:sp>
      <p:sp>
        <p:nvSpPr>
          <p:cNvPr id="8" name="TextBox 7"/>
          <p:cNvSpPr txBox="1"/>
          <p:nvPr/>
        </p:nvSpPr>
        <p:spPr>
          <a:xfrm>
            <a:off x="1033271" y="2907792"/>
            <a:ext cx="4572000" cy="640080"/>
          </a:xfrm>
          <a:prstGeom prst="rect">
            <a:avLst/>
          </a:prstGeom>
          <a:noFill/>
        </p:spPr>
        <p:txBody>
          <a:bodyPr wrap="square" anchor="t" lIns="0" rIns="0" tIns="0" bIns="0">
            <a:spAutoFit/>
          </a:bodyPr>
          <a:lstStyle/>
          <a:p>
            <a:pPr algn="l">
              <a:lnSpc>
                <a:spcPct val="110000"/>
              </a:lnSpc>
            </a:pPr>
            <a:r>
              <a:rPr sz="1900" b="1" i="0">
                <a:solidFill>
                  <a:srgbClr val="ECEFF3"/>
                </a:solidFill>
                <a:latin typeface="Arial"/>
              </a:rPr>
              <a:t>Interval cancers non-inferior </a:t>
            </a:r>
            <a:r>
              <a:rPr sz="1900" b="0" i="0">
                <a:solidFill>
                  <a:srgbClr val="5C6975"/>
                </a:solidFill>
                <a:latin typeface="Arial"/>
              </a:rPr>
              <a:t>(ratio 0.88)</a:t>
            </a:r>
          </a:p>
        </p:txBody>
      </p:sp>
      <p:sp>
        <p:nvSpPr>
          <p:cNvPr id="9" name="TextBox 8"/>
          <p:cNvSpPr txBox="1"/>
          <p:nvPr/>
        </p:nvSpPr>
        <p:spPr>
          <a:xfrm>
            <a:off x="1033271" y="3611880"/>
            <a:ext cx="4572000" cy="868680"/>
          </a:xfrm>
          <a:prstGeom prst="rect">
            <a:avLst/>
          </a:prstGeom>
          <a:noFill/>
        </p:spPr>
        <p:txBody>
          <a:bodyPr wrap="square" anchor="t" lIns="0" rIns="0" tIns="0" bIns="0">
            <a:spAutoFit/>
          </a:bodyPr>
          <a:lstStyle/>
          <a:p>
            <a:pPr algn="l">
              <a:lnSpc>
                <a:spcPct val="135000"/>
              </a:lnSpc>
            </a:pPr>
            <a:r>
              <a:rPr sz="1250" b="0" i="0">
                <a:solidFill>
                  <a:srgbClr val="9DA9B5"/>
                </a:solidFill>
                <a:latin typeface="Arial"/>
              </a:rPr>
              <a:t>Sensitivity </a:t>
            </a:r>
            <a:r>
              <a:rPr sz="1250" b="1" i="0">
                <a:solidFill>
                  <a:srgbClr val="ECEFF3"/>
                </a:solidFill>
                <a:latin typeface="Arial"/>
              </a:rPr>
              <a:t>80.5%</a:t>
            </a:r>
            <a:r>
              <a:rPr sz="1250" b="0" i="0">
                <a:solidFill>
                  <a:srgbClr val="9DA9B5"/>
                </a:solidFill>
                <a:latin typeface="Arial"/>
              </a:rPr>
              <a:t> vs 73.8% at matched specificity · </a:t>
            </a:r>
            <a:r>
              <a:rPr sz="1250" b="1" i="0">
                <a:solidFill>
                  <a:srgbClr val="ECEFF3"/>
                </a:solidFill>
                <a:latin typeface="Arial"/>
              </a:rPr>
              <a:t>~44%</a:t>
            </a:r>
            <a:r>
              <a:rPr sz="1250" b="0" i="0">
                <a:solidFill>
                  <a:srgbClr val="9DA9B5"/>
                </a:solidFill>
                <a:latin typeface="Arial"/>
              </a:rPr>
              <a:t> less reading workload.</a:t>
            </a:r>
          </a:p>
        </p:txBody>
      </p:sp>
      <p:sp>
        <p:nvSpPr>
          <p:cNvPr id="10" name="TextBox 9"/>
          <p:cNvSpPr txBox="1"/>
          <p:nvPr/>
        </p:nvSpPr>
        <p:spPr>
          <a:xfrm>
            <a:off x="1033271" y="4315968"/>
            <a:ext cx="4572000" cy="274320"/>
          </a:xfrm>
          <a:prstGeom prst="rect">
            <a:avLst/>
          </a:prstGeom>
          <a:noFill/>
        </p:spPr>
        <p:txBody>
          <a:bodyPr wrap="square" anchor="t" lIns="0" rIns="0" tIns="0" bIns="0">
            <a:spAutoFit/>
          </a:bodyPr>
          <a:lstStyle/>
          <a:p>
            <a:pPr algn="l">
              <a:lnSpc>
                <a:spcPct val="100000"/>
              </a:lnSpc>
            </a:pPr>
            <a:r>
              <a:rPr sz="950" b="0" i="0">
                <a:solidFill>
                  <a:srgbClr val="5C6975"/>
                </a:solidFill>
                <a:latin typeface="Consolas"/>
              </a:rPr>
              <a:t>Gommers/Lång et al., Lancet 2026;407:505–514</a:t>
            </a:r>
          </a:p>
        </p:txBody>
      </p:sp>
      <p:sp>
        <p:nvSpPr>
          <p:cNvPr id="11" name="Rounded Rectangle 10"/>
          <p:cNvSpPr/>
          <p:nvPr/>
        </p:nvSpPr>
        <p:spPr>
          <a:xfrm>
            <a:off x="6355080" y="2331720"/>
            <a:ext cx="5074920" cy="2286000"/>
          </a:xfrm>
          <a:prstGeom prst="roundRect">
            <a:avLst/>
          </a:prstGeom>
          <a:solidFill>
            <a:srgbClr val="1B232D"/>
          </a:solidFill>
          <a:ln w="12700">
            <a:solidFill>
              <a:srgbClr val="2A33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55080" y="2331720"/>
            <a:ext cx="54864" cy="228600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11112" y="2542032"/>
            <a:ext cx="4572000" cy="320040"/>
          </a:xfrm>
          <a:prstGeom prst="rect">
            <a:avLst/>
          </a:prstGeom>
          <a:noFill/>
        </p:spPr>
        <p:txBody>
          <a:bodyPr wrap="square" anchor="t" lIns="0" rIns="0" tIns="0" bIns="0">
            <a:spAutoFit/>
          </a:bodyPr>
          <a:lstStyle/>
          <a:p>
            <a:pPr algn="l">
              <a:lnSpc>
                <a:spcPct val="100000"/>
              </a:lnSpc>
            </a:pPr>
            <a:r>
              <a:rPr sz="1050" b="1" i="0">
                <a:solidFill>
                  <a:srgbClr val="5FB7C9"/>
                </a:solidFill>
                <a:latin typeface="Consolas"/>
              </a:rPr>
              <a:t>PRAIM · GERMANY · REAL-WORLD (463,000)</a:t>
            </a:r>
          </a:p>
        </p:txBody>
      </p:sp>
      <p:sp>
        <p:nvSpPr>
          <p:cNvPr id="14" name="TextBox 13"/>
          <p:cNvSpPr txBox="1"/>
          <p:nvPr/>
        </p:nvSpPr>
        <p:spPr>
          <a:xfrm>
            <a:off x="6611112" y="2907792"/>
            <a:ext cx="4572000" cy="640080"/>
          </a:xfrm>
          <a:prstGeom prst="rect">
            <a:avLst/>
          </a:prstGeom>
          <a:noFill/>
        </p:spPr>
        <p:txBody>
          <a:bodyPr wrap="square" anchor="t" lIns="0" rIns="0" tIns="0" bIns="0">
            <a:spAutoFit/>
          </a:bodyPr>
          <a:lstStyle/>
          <a:p>
            <a:pPr algn="l">
              <a:lnSpc>
                <a:spcPct val="110000"/>
              </a:lnSpc>
            </a:pPr>
            <a:r>
              <a:rPr sz="1900" b="1" i="0">
                <a:solidFill>
                  <a:srgbClr val="E7AC51"/>
                </a:solidFill>
                <a:latin typeface="Arial"/>
              </a:rPr>
              <a:t>+17.6%</a:t>
            </a:r>
            <a:r>
              <a:rPr sz="1900" b="1" i="0">
                <a:solidFill>
                  <a:srgbClr val="ECEFF3"/>
                </a:solidFill>
                <a:latin typeface="Arial"/>
              </a:rPr>
              <a:t> cancers detected</a:t>
            </a:r>
          </a:p>
        </p:txBody>
      </p:sp>
      <p:sp>
        <p:nvSpPr>
          <p:cNvPr id="15" name="TextBox 14"/>
          <p:cNvSpPr txBox="1"/>
          <p:nvPr/>
        </p:nvSpPr>
        <p:spPr>
          <a:xfrm>
            <a:off x="6611112" y="3611880"/>
            <a:ext cx="4572000" cy="868680"/>
          </a:xfrm>
          <a:prstGeom prst="rect">
            <a:avLst/>
          </a:prstGeom>
          <a:noFill/>
        </p:spPr>
        <p:txBody>
          <a:bodyPr wrap="square" anchor="t" lIns="0" rIns="0" tIns="0" bIns="0">
            <a:spAutoFit/>
          </a:bodyPr>
          <a:lstStyle/>
          <a:p>
            <a:pPr algn="l">
              <a:lnSpc>
                <a:spcPct val="135000"/>
              </a:lnSpc>
            </a:pPr>
            <a:r>
              <a:rPr sz="1250" b="0" i="0">
                <a:solidFill>
                  <a:srgbClr val="9DA9B5"/>
                </a:solidFill>
                <a:latin typeface="Arial"/>
              </a:rPr>
              <a:t>Recall </a:t>
            </a:r>
            <a:r>
              <a:rPr sz="1250" b="1" i="0">
                <a:solidFill>
                  <a:srgbClr val="ECEFF3"/>
                </a:solidFill>
                <a:latin typeface="Arial"/>
              </a:rPr>
              <a:t>non-inferior</a:t>
            </a:r>
            <a:r>
              <a:rPr sz="1250" b="0" i="0">
                <a:solidFill>
                  <a:srgbClr val="9DA9B5"/>
                </a:solidFill>
                <a:latin typeface="Arial"/>
              </a:rPr>
              <a:t> · 6.7 vs 5.7 CDR per 1,000 · 12 sites, 119 radiologists.</a:t>
            </a:r>
          </a:p>
        </p:txBody>
      </p:sp>
      <p:sp>
        <p:nvSpPr>
          <p:cNvPr id="16" name="TextBox 15"/>
          <p:cNvSpPr txBox="1"/>
          <p:nvPr/>
        </p:nvSpPr>
        <p:spPr>
          <a:xfrm>
            <a:off x="6611112" y="4315968"/>
            <a:ext cx="4572000" cy="274320"/>
          </a:xfrm>
          <a:prstGeom prst="rect">
            <a:avLst/>
          </a:prstGeom>
          <a:noFill/>
        </p:spPr>
        <p:txBody>
          <a:bodyPr wrap="square" anchor="t" lIns="0" rIns="0" tIns="0" bIns="0">
            <a:spAutoFit/>
          </a:bodyPr>
          <a:lstStyle/>
          <a:p>
            <a:pPr algn="l">
              <a:lnSpc>
                <a:spcPct val="100000"/>
              </a:lnSpc>
            </a:pPr>
            <a:r>
              <a:rPr sz="950" b="0" i="0">
                <a:solidFill>
                  <a:srgbClr val="5C6975"/>
                </a:solidFill>
                <a:latin typeface="Consolas"/>
              </a:rPr>
              <a:t>Eisemann et al., Nature Medicine 2025</a:t>
            </a:r>
          </a:p>
        </p:txBody>
      </p:sp>
      <p:sp>
        <p:nvSpPr>
          <p:cNvPr id="17" name="TextBox 16"/>
          <p:cNvSpPr txBox="1"/>
          <p:nvPr/>
        </p:nvSpPr>
        <p:spPr>
          <a:xfrm>
            <a:off x="777240" y="4892040"/>
            <a:ext cx="10698480" cy="1371600"/>
          </a:xfrm>
          <a:prstGeom prst="rect">
            <a:avLst/>
          </a:prstGeom>
          <a:noFill/>
        </p:spPr>
        <p:txBody>
          <a:bodyPr wrap="square" anchor="t" lIns="0" rIns="0" tIns="0" bIns="0">
            <a:spAutoFit/>
          </a:bodyPr>
          <a:lstStyle/>
          <a:p>
            <a:pPr algn="l">
              <a:lnSpc>
                <a:spcPct val="135000"/>
              </a:lnSpc>
            </a:pPr>
            <a:r>
              <a:rPr sz="1500" b="0" i="0">
                <a:solidFill>
                  <a:srgbClr val="9DA9B5"/>
                </a:solidFill>
                <a:latin typeface="Arial"/>
              </a:rPr>
              <a:t>A third is underway: </a:t>
            </a:r>
            <a:r>
              <a:rPr sz="1500" b="1" i="0">
                <a:solidFill>
                  <a:srgbClr val="E7AC51"/>
                </a:solidFill>
                <a:latin typeface="Arial"/>
              </a:rPr>
              <a:t>PRISM</a:t>
            </a:r>
            <a:r>
              <a:rPr sz="1500" b="0" i="0">
                <a:solidFill>
                  <a:srgbClr val="9DA9B5"/>
                </a:solidFill>
                <a:latin typeface="Arial"/>
              </a:rPr>
              <a:t> — the first large randomized trial of screening AI in the United States (Transpara; $16M PCORI; 7 sites; announced Sept 2025, recruiting). Results are years away, but it tests the </a:t>
            </a:r>
            <a:r>
              <a:rPr sz="1500" b="1" i="0">
                <a:solidFill>
                  <a:srgbClr val="ECEFF3"/>
                </a:solidFill>
                <a:latin typeface="Arial"/>
              </a:rPr>
              <a:t>US single-reader workflow</a:t>
            </a:r>
            <a:r>
              <a:rPr sz="1500" b="0" i="0">
                <a:solidFill>
                  <a:srgbClr val="9DA9B5"/>
                </a:solidFill>
                <a:latin typeface="Arial"/>
              </a:rPr>
              <a:t> directly.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5486400"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8229600" cy="320040"/>
          </a:xfrm>
          <a:prstGeom prst="rect">
            <a:avLst/>
          </a:prstGeom>
          <a:noFill/>
        </p:spPr>
        <p:txBody>
          <a:bodyPr wrap="square" anchor="t" lIns="0" rIns="0" tIns="0" bIns="0">
            <a:spAutoFit/>
          </a:bodyPr>
          <a:lstStyle/>
          <a:p>
            <a:pPr algn="l">
              <a:lnSpc>
                <a:spcPct val="100000"/>
              </a:lnSpc>
            </a:pPr>
            <a:r>
              <a:rPr sz="1100" b="1" i="0">
                <a:solidFill>
                  <a:srgbClr val="E7AC51"/>
                </a:solidFill>
                <a:latin typeface="Consolas"/>
              </a:rPr>
              <a:t>ERA II · 2026</a:t>
            </a:r>
          </a:p>
        </p:txBody>
      </p:sp>
      <p:sp>
        <p:nvSpPr>
          <p:cNvPr id="4" name="TextBox 3"/>
          <p:cNvSpPr txBox="1"/>
          <p:nvPr/>
        </p:nvSpPr>
        <p:spPr>
          <a:xfrm>
            <a:off x="777240" y="1005840"/>
            <a:ext cx="10698480" cy="822960"/>
          </a:xfrm>
          <a:prstGeom prst="rect">
            <a:avLst/>
          </a:prstGeom>
          <a:noFill/>
        </p:spPr>
        <p:txBody>
          <a:bodyPr wrap="square" anchor="t" lIns="0" rIns="0" tIns="0" bIns="0">
            <a:spAutoFit/>
          </a:bodyPr>
          <a:lstStyle/>
          <a:p>
            <a:pPr algn="l">
              <a:lnSpc>
                <a:spcPct val="110000"/>
              </a:lnSpc>
            </a:pPr>
            <a:r>
              <a:rPr sz="2400" b="1" i="0">
                <a:solidFill>
                  <a:srgbClr val="ECEFF3"/>
                </a:solidFill>
                <a:latin typeface="Arial"/>
              </a:rPr>
              <a:t>The averages look strong — so where do these models </a:t>
            </a:r>
            <a:r>
              <a:rPr sz="2400" b="1" i="0">
                <a:solidFill>
                  <a:srgbClr val="E7AC51"/>
                </a:solidFill>
                <a:latin typeface="Arial"/>
              </a:rPr>
              <a:t>still fail?</a:t>
            </a:r>
          </a:p>
        </p:txBody>
      </p:sp>
      <p:sp>
        <p:nvSpPr>
          <p:cNvPr id="5" name="TextBox 4"/>
          <p:cNvSpPr txBox="1"/>
          <p:nvPr/>
        </p:nvSpPr>
        <p:spPr>
          <a:xfrm>
            <a:off x="777240" y="1874519"/>
            <a:ext cx="10698480" cy="731520"/>
          </a:xfrm>
          <a:prstGeom prst="rect">
            <a:avLst/>
          </a:prstGeom>
          <a:noFill/>
        </p:spPr>
        <p:txBody>
          <a:bodyPr wrap="square" anchor="t" lIns="0" rIns="0" tIns="0" bIns="0">
            <a:spAutoFit/>
          </a:bodyPr>
          <a:lstStyle/>
          <a:p>
            <a:pPr algn="l">
              <a:lnSpc>
                <a:spcPct val="135000"/>
              </a:lnSpc>
            </a:pPr>
            <a:r>
              <a:rPr sz="1350" b="0" i="0">
                <a:solidFill>
                  <a:srgbClr val="9DA9B5"/>
                </a:solidFill>
                <a:latin typeface="Arial"/>
              </a:rPr>
              <a:t>Overall AUC </a:t>
            </a:r>
            <a:r>
              <a:rPr sz="1350" b="1" i="0">
                <a:solidFill>
                  <a:srgbClr val="ECEFF3"/>
                </a:solidFill>
                <a:latin typeface="Arial"/>
              </a:rPr>
              <a:t>0.91</a:t>
            </a:r>
            <a:r>
              <a:rPr sz="1350" b="0" i="0">
                <a:solidFill>
                  <a:srgbClr val="9DA9B5"/>
                </a:solidFill>
                <a:latin typeface="Arial"/>
              </a:rPr>
              <a:t> — but performance depends on the </a:t>
            </a:r>
            <a:r>
              <a:rPr sz="1350" b="1" i="0">
                <a:solidFill>
                  <a:srgbClr val="ECEFF3"/>
                </a:solidFill>
                <a:latin typeface="Arial"/>
              </a:rPr>
              <a:t>imaging feature</a:t>
            </a:r>
            <a:r>
              <a:rPr sz="1350" b="0" i="0">
                <a:solidFill>
                  <a:srgbClr val="9DA9B5"/>
                </a:solidFill>
                <a:latin typeface="Arial"/>
              </a:rPr>
              <a:t>. Masses, asymmetries, calcifications are called negative in 60–81% of exams; </a:t>
            </a:r>
            <a:r>
              <a:rPr sz="1350" b="1" i="0">
                <a:solidFill>
                  <a:srgbClr val="ECEFF3"/>
                </a:solidFill>
                <a:latin typeface="Arial"/>
              </a:rPr>
              <a:t>architectural distortions behave erratically.</a:t>
            </a:r>
          </a:p>
        </p:txBody>
      </p:sp>
      <p:sp>
        <p:nvSpPr>
          <p:cNvPr id="6" name="Rounded Rectangle 5"/>
          <p:cNvSpPr/>
          <p:nvPr/>
        </p:nvSpPr>
        <p:spPr>
          <a:xfrm>
            <a:off x="3312253" y="2606040"/>
            <a:ext cx="5537013" cy="3840480"/>
          </a:xfrm>
          <a:prstGeom prst="roundRect">
            <a:avLst/>
          </a:prstGeom>
          <a:solidFill>
            <a:srgbClr val="FFFFFF"/>
          </a:solidFill>
          <a:ln w="9525">
            <a:solidFill>
              <a:srgbClr val="C98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59aec28596.png"/>
          <p:cNvPicPr>
            <a:picLocks noChangeAspect="1"/>
          </p:cNvPicPr>
          <p:nvPr/>
        </p:nvPicPr>
        <p:blipFill>
          <a:blip r:embed="rId3"/>
          <a:stretch>
            <a:fillRect/>
          </a:stretch>
        </p:blipFill>
        <p:spPr>
          <a:xfrm>
            <a:off x="3403693" y="2697480"/>
            <a:ext cx="5354133" cy="3657600"/>
          </a:xfrm>
          <a:prstGeom prst="rect">
            <a:avLst/>
          </a:prstGeom>
        </p:spPr>
      </p:pic>
      <p:sp>
        <p:nvSpPr>
          <p:cNvPr id="8" name="TextBox 7"/>
          <p:cNvSpPr txBox="1"/>
          <p:nvPr/>
        </p:nvSpPr>
        <p:spPr>
          <a:xfrm>
            <a:off x="777240" y="6355080"/>
            <a:ext cx="10698480" cy="365760"/>
          </a:xfrm>
          <a:prstGeom prst="rect">
            <a:avLst/>
          </a:prstGeom>
          <a:noFill/>
        </p:spPr>
        <p:txBody>
          <a:bodyPr wrap="square" anchor="t" lIns="0" rIns="0" tIns="0" bIns="0">
            <a:spAutoFit/>
          </a:bodyPr>
          <a:lstStyle/>
          <a:p>
            <a:pPr algn="ctr">
              <a:lnSpc>
                <a:spcPct val="100000"/>
              </a:lnSpc>
            </a:pPr>
            <a:r>
              <a:rPr sz="900" b="0" i="0">
                <a:solidFill>
                  <a:srgbClr val="5C6975"/>
                </a:solidFill>
                <a:latin typeface="Consolas"/>
              </a:rPr>
              <a:t>Exam-level model-score distributions by imaging feature · [your group], Nat Commun 2026 (DOI 10.1038/s41467-026-70637-3), Fig.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