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Thirty Years, Three Eras: AI in Breast Imaging, from CAD to Clinical Intelligence. — Hari Trivedi, Emory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my disclosures. I'm a founder of Avera AI and Lightbox AI, Associate CMIO at HOPPR, and I advise croviz.ai, Solis Mammography, Sirona Medical, Flatiron Health, Coefficient, Verily Life Sciences, and the Biodata Consortium. My research and the work in this talk have received industry and foundation support from the organizations listed on the right. None of these relationships dictated the content of this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you all know, this is a screening mammogram. In fact, a normal one — and it was read as normal. This is a real, de-identified exam from Emory. This is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radiologists read this and were right — there is no cancer to see today. So the question I want to pose is: what are we not seeing? What I want to describe by the end of this talk is how AI models — past, present, and future — read this same mammogram, and her eventual biopsy slide, and extract information that is not visible to us. The first estimates a high probability of breast cancer within about five years — which she did develop. The second quantifies calcification in her breast arteries — an independent cardiovascular risk marker, with a measurable dose-response. The third, applied to the slide from her eventual biopsy, estimates a recurrence score we currently send to a genomics lab for about four thousand dollars. None of these is hypothetical. Each is published and externally validated, and one is already in this year's screening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over the next thirty minutes or so, I want to take you on a short journey of how we got here and where we can expect to go: from the lesion, to the image, to the patient. And I'll start with a cautionary tale, because this field has overpromised before.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where this is going, we have to start with where it has been — because this field has overpromised before. So let's step into a time machine and go back to the beginning, to 1998.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1998 — the year the FDA cleared the first CAD system for mammography. Computer-aided detection has just arrived: software that puts a mark on every mammogram to flag a possible cancer. A second set of eyes, automatically. It feels like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within a decade, it is everywhere. A reimbursement code in 2002 — not an outcomes trial — drove adoption from nothing to about 74% of US screening mammograms by 2008, and 92% by 2016. We adopted it on a billing code, not a clinical trial.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reading room is not convinced — because conventional CAD produced false positives constantly. Across independent series, seventy to eighty-five percent of normal mammograms carried at least one false-positive mark: Kim seventy, Mahoney up to eighty-five, Watanabe eighty-three — versus fifty-two percent for an AI-based CAD. In per-image terms that is roughly half a mark to one and a half false marks on every image. Mahoney measured about two to three false marks on a normal case — and more on non-dense breasts, where there is more to flag. After enough false alarms, radiologists learned to tune the marks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data came in. The United States was spending over four hundred million dollars a year — roughly one dollar of every ten thousand in US healthcare. And among radiologists who read both with and without CAD, the odds of detecting a malignant lesion were 47 percent lower with CAD on — same readers, same images. That is quite remarkable. For the radiologists in the audience: every breast radiologist I have spoken with essentially ignores the CAD marks, or finds them disruptive — so this paper was not much of a surprise.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is worth reading verbatim. It had been foreshadowed years earlier — Fenton, in the New England Journal in 2007, already showed CAD lowered accuracy and raised the biopsy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fail? Three reasons. First, it could only flag what we already know how to describe — the features were hand-tuned, so it was limited to what we could design, and it added marks rather than new information. Second, it marked most normal studies — 70 to 85 percent carried at least one false-positive mark — so readers learned to ignore it, and trust eroded. And third, the deeper problem: it was deployed at scale, reimbursed and run on nearly every screening mammogram in the country, before it was ever validated. The definitive accuracy study didn't arrive until 2015 — and found no benefit.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Era I is that CAD was reimbursed before it was proven, and was never shown to help. Around 2012 the technology changed. Traditional CAD was programmed — we wrote the rules. Modern deep learning is trained — it learns the patterns from the images. Traditional CAD pointed at spots; modern models can read the image. Sixteen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PRS alone is not enough, and the evidence is now unambiguous. The PRS313 score established the genomic baseline, and women in the top PRS decile reach the average 50-year-old's five-year risk by their mid-thirties — so a uniform age-40 start is biologically indefensible. But PRS and germline testing measure almost entirely different populations: in a WISDOM secondary analysis (Shieh, JAMA Oncology 2026), only 0.9 percent of high-penetrance pathogenic-variant carriers — BRCA1, BRCA2, PALB2 — would have been correctly assigned to high-risk screening by clinical risk plus PRS alone. PRS catches one population, germline another, clinical risk a third — all three layers are non-negotiable. The PRS architecture itself is being rebuilt: PRS-Net (Li, Genome Research 2025) is a graph neural network modeling gene-gene interactions and epistasis, a fundamental shift from the additive PRS313. And imaging and genomics update each other: Rothwell (Br J Cancer 2026) showed Mirai plus PRS313 beats either alone. WISDOM (JAMA 2025, 46,000 women) was non-inferior on advanced cancers with a one-third reduction in Stage IIB in the personalized arm, and PERSPECTIVE I&amp;I showed risk communication did not raise anxiety. Extrapolated to 2035: at 30, one workup returns a non-linear genomic score, a germline panel, and a clinical integration; at every mammogram the imaging engine updates the genomic baseline and sets the next appointment — 7 months for top-quintile risk, longer for persistently low risk. Never again driven by a calendar. And imaging itself is a fourth, largely independent axis: a deep network reading the mammogram — Mirai, externally validated across three countries at a C-index of 0.76 to 0.81 — flags about 41.5 percent of the women who go on to develop cancer within five years as high-risk, versus 22.9 percent for Tyrer-Cuzick, and Clairity took image-based five-year risk to FDA clearance in 2025. So a woman's prior mammograms and imaging history feed the same risk engine.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 reading has been replaced by convergent evidence across health systems on four continents. MASAI (Sweden, 105,934 women, Lancet 2026): 44 percent workload reduction, 29 percent more cancers, 12 percent fewer interval cancers. PRAIM (Germany, 463,094, Nature Medicine 2025): 17.6 percent higher detection, lower recall. Elías-Cabot (Spain, 31,301, Nature Medicine 2026): partially autonomous triage, CDR up 15.2 percent, workload down 63.6 percent. Plus AI-STREAM (Korea), GEMINI (Scotland), ScreenTrustCAD (Sweden/Denmark) — independent programs, vendors, and reading cultures, same conclusion. The mechanism: AI triages about two-thirds of cases away from the queue automatically; at a background prevalence near 6 per 1,000 the negative predictive value of AI-normal triage is about 99.9 percent. Combined with Mirai-class risk, high-risk women come back sooner — in a UK triennial program the top 20 percent of Mirai scores captured 42.4 percent of interval cancers. What this gives back to the radiologist is time and focus: she reviews the third the AI flagged, biopsies what AI localized, and consults the high-risk women the system has watched for years. The endgame was never replacement — it was practising at the top of her licence.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On the left, the inputs, each with real 2025 evidence and a 2035 trajectory. Genomics is now an always-on layer: germline polygenic risk as a standing prior, and post-treatment ctDNA detecting molecular recurrence about fifteen months before imaging — by 2035 that triggers pre-emptive therapy, not watchful waiting. Clinical context selects the modality. Mammography is the entry point. Ultrasound is conditional; BMU-Net fuses B-mode, Doppler, and elastography. MRI is AI-gated — ScreenTrustMRI used an AI score, not density, to pick the top seven percent of negative mammograms for MRI and found 64 cancers per thousand versus 16.5. Pathology enters at biopsy, on foundation models like UNI pretrained on a hundred thousand slides. In the center, one multimodal foundation model — BINDS, 27,048 participants across eight centres, where every fusion beat any single modality — and by 2035 it decides which modality to acquire next. On the right, three outputs: detection, where MASAI is the first randomized trial — sensitivity 80.5 versus 73.8 percent, 29 percent more cancers, 44 percent less workload; recurrence, a continuously updated risk fusing imaging, ctDNA, and clinical, with Oncotype-class information coming off routine images; and treatment, with pathologic-complete-response predicted before the first cycle and ctDNA-guided escalation or de-escalation standard. The rule for 2035: no single image makes the call, and no modality is acquired unless the model already expects it to change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cancer-screening system and discovered a window into the entire body — and we are not the only ones. The cardiovascular signal was there all along: AI-quantified breast arterial calcification predicts cardiac events and mortality beyond the PREVENT score across 123,762 women at Emory and Mayo, severe BAC carrying a 2.8-fold higher five-year risk of death; and Barraclough predicted cardiovascular events from mammographic features alone in 49,196 women, rivaling the Pooled Cohort Equations. By 2035 a cardiovascular estimate is an automatic, reimbursed output of every mammogram, routing high-risk women into prevention. The image also encodes biological age — Mammo-AGE estimates breast age to within four to six years and the age gap stratifies risk independent of density; by 2035 it personalizes screening intervals. And the mammogram is not alone: the chest X-ray estimates ten-year cardiovascular risk, the abdominal CT yields a longevity model, a retinal photo reads cardiovascular, renal, and neurodegenerative risk. By 2035 the modality stops mattering: one multimodal foundation model ingests whatever images a patient already has and returns one longitudinal systemic-risk profile — Merlin on 3D CT, OCTCube-M predicting seven systemic diseases from an eye scan, MOSCARD fusing chest X-ray and ECG. Metabolic and renal risk are the next frontier — BAC correlates with diabetes, hypertension, and cholesterol, peripheral-artery and kidney disease named as the next targets, but these remain associations, not yet validated. And the equity implication is why it matters: about forty million US mammograms a year, plus mobile units, make it often the only preventive touchpoint a woman reliably gets — so this can close access gaps rather than widen them, if we engineer against demographic shortcuts.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past the leaderboard. From 2024 to 2026, frontier models posted spectacular exam scores — and then degraded the moment they touched real clinical data. The gap was structural, not cosmetic. A systematic review of 39 medical LLM benchmarks found knowledge-based exam tasks held 85 to 93 percent accuracy, but practice-based real-world tasks collapsed to 45 to 69 percent, and safety-critical scenarios sat at 40 to 50 percent — Wu and colleagues, JMIR 2025; 'it's time to bench the medical exam benchmark' became the field's refrain. Hallucination did not go away — it hid in the findings: about 22 percent of vision-language-model imaging reports still carried factual errors, and high-performing report generators hallucinated findings in roughly 40 percent of sentences, because text-heavy pretraining made them pattern-match priors instead of reading the image. Across 12,197 diagnostic outputs, frontier models omitted relevant clinical guidelines in up to 46 percent of cases and invented non-existent ones up to 9 percent — and the error rate shifted with patient sex, ethnicity, and location. Citation accuracy stayed the worst task family: the models pitched to generate the labels couldn't reliably cite them. So the generalist bubble burst. The one-model-for-everything assumption never survived a health system's budget or a reading room's latency, and a leaner generation of smaller, cheaper, medically-focused models replaced the giants. That shift never made the generalists better doctors — it made them better librarians. Their lasting contribution was turning decades of unstructured reports into clean, structured, model-ready labels at a scale expert annotation could never reach, with a human in the loop holding the floor on quality. The two-tier architecture that won: medical LLMs do the data work — extract, harmonize, and label the archive, reaching average F1 0.90 across 14 thoracic pathologies, human-validated; domain foundation models do the disease work, trained on those labels to understand one disease end to end. The virtuous cycle — ScaleMAI's EM loop, Mammo-CLIP for mammography — trains on current labels, flags divergence for targeted human review, retrains. What we extrapolate to 2035: the benchmark-practice gap never closed by scaling generalists, because the failure was architectural — a model trained on the whole internet reasons from text priors, not from the pixels in front of it. So the labor split hardened. Generalists won the data tier, where retrieval cut their citation errors 75 to 90 percent and a human still signs off. The disease tier went to domain foundation models that genuinely reason over one disease. None of the datasets behind the prior slides — BINDS 27,048; BMU-Net 5,025; Mammo-AGE 95,826; Barraclough 49,196 — existed as clean training sets before the teams built them from archives and the reports that accompanied them; EMBED, 3.5 million exams, is the local example. In 2035, every mammogram ever performed is in the training set — we just needed the medical LLMs to read the labels that were always there.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what purpose-built models can do — across risk, detection, tissue, and the heart. There is one question left before we close. I have shown you a dozen specialist models — Mirai for risk, Transpara for detection, Virchow for tissue, the breast arterial calcium model. Each was built for one job. The general-purpose frontier models from the large labs — GPT, Gemini, Claude — were not built for radiology, yet they improve faster than any medical model, and each generation handles tasks we assumed required a custom build. So the question to end the body of the talk on: in five years, do we still build our own models, or do we ask the general one? And if it is the latter, who owns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generalists already perform well? On medical knowledge and text reasoning: frontier models score above ninety percent on USMLE-style exams — Med-Gemini at 91.1 — across the breadth of medicine. On report drafting in two dimensions: domain-adapted frontier models do well. Med-Gemini-2D chest-X-ray reports were rated equivalent to or better than the original radiologist's report in 43 to 96 percent of cases, depending on whether the film was abnormal or normal, and exceeded prior state of the art on 17 of 20 chest-X-ray tasks, in Google's 2024 work. And they adapt rapidly: fine-tuned on a small labeled set, foundation models often exceed bespoke task-specific models, and generalize better across sites, scanners, and populations — which is exactly the brittleness problem that limits the narrow models. I'll frame the current generation by trajectory, not by specific unpublished benchmark numbers.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they still fall short, for now? Their strength is text, not image content — the general vision-language models' edge comes from text knowledge rather than from actually reading the image. On radiology interpretation, diagnostic accuracy across general vision-language models ranges only about 8 to 29 percent, in a systematic evaluation published in Life this year, and roughly 22 percent of the AI-generated reports contain factual errors or hallucinations. Specialists still perform better on the image itself: the purpose-built RadFM model outperforms GPT-4V on radiology tasks. And three dimensions and localization lag: Med-Gemini-3D CT reports were only 53 percent clinically acceptable — adequate for a 2D chest film, much less so for a CT volume.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counterintuitive result that complicates the procurement instinct. First, note that medical hallucination is not a single failure mode — this taxonomy, from Kim, Jeong and colleagues at MIT and Harvard this year, sorts it into five clusters: plain factual errors, outdated references, spurious correlations, fabricated sources or guidelines, and incomplete chains of reasoning — playing out across diagnostic, procedural, and research tasks. Now the counterintuitive part: fine-tuning on medical data does not automatically reduce any of this. On a hallucination benchmark, Med-HALT, in 2025, general-purpose models were hallucination-free 76.6 percent of the time, versus only 51.3 percent for the medically specialized models. Narrowing a model can erode its calibration. So the specialist-versus-generalist question is genuinely unsettled, and the procurement instinct — to buy the medical one — may be wrong.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thesis to pose, Rich Sutton's bitter lesson, from his 2019 essay — and I attribute it as an argument, not a study. Sutton argues that over decades, general methods that scale with data and compute have repeatedly outperformed systems built on handcrafted domain knowledge — in chess, in computer vision, in language. Radiology AI has spent fifteen years handcrafting. The trajectory of those other fields suggests the generalists eventually take over perception as well. The open question is when, and what we should build in the meantime.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likely answer is orchestration. The probable future is not a generalist simply replacing the specialist. It is a stack: a frontier model as the reasoning and orchestration layer — it reads the EHR, talks to the patient, writes the report, decides the next step — and the specialist models as the instruments it calls: the detector, the risk model, the breast-arterial-calcium quantifier, the tissue model. Because measurement still rewards purpose-built precision and calibration. Call it agentic radiology: the generalist conducts, and the specialists play. And increasingly the generalists are themselves domain-adapted, like Med-Gemini, rather than raw.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this mean for this room? Three things. First, the locus of value moves. If the model becomes a commodity, durable value shifts to what the frontier labs do not have: proprietary, diverse, well-labeled data; rigorous validation; clinical integration; and the care pathway. Compete on data and evidence, not architecture. Second, concentration is a governance problem. A handful of US tech companies controlling the frontier raises issues of cost, dependence, data sovereignty, and access — particularly for Europe and for low- and middle-income countries, which connects back to the equity argument. Who owns the intelligence that reads the world's mammograms? Third, the radiologist's role shifts, from primary detector toward validator, orchestrator, and the source of clinical context and accountability the model cannot supply. And the bridge to the close: whether the result is a specialist model or a frontier generalist, built in Palo Alto or in this room, it does not change what makes it safe. The bar is the same one CAD failed and MASAI cleared.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 have shown you works. But working in a paper is not the bar for getting into the clinic. Look at what we ask a single model to do, all at once: hold up across every scanner and vendor in the field; perform in women of all ages, all densities, all risk types; and serve both the expert breast radiologist and the generalist who reads mammography one day a week. Asking one model to do all of this at once is the wrong goal. We should seriously reframe how we consider mammography-model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should we think about deployment instead? Three reframes. First, operating points: there is no single right threshold. Sensitivity versus false positives is a value judgment, not a setting — so a model should be permitted to run at a range of operating points, tailored to the site and to the individual radiologist, rather than one point imposed on everyone. Second, multimodal, and it needs to happen as soon as possible. I will say it plainly: a model that operates only on imaging data — or imaging plus basic clinical data — will end in user frustration. The model the radiologist will actually trust pulls in image, clinical context, risk, and history together. Third, the integration tax: even a perfect model dies if it cannot get into PACS. Custom one-off integrations do not scale, and overloaded IT means onboarding only happens through a platform or vendor you already run. Put those together and the winning system is not the most accurate in a paper — it is the one tuned to the reader, that knows what they know, and that fires inside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have thirty years taught us? First, that the technology is fallible — CAD cost us two decades learning it. Second, that we are getting genuinely better at looking ahead: reading a woman's risk, her cardiovascular signal, her tumor biology years before they would declare themselves. And third, a hard-won humility — the consequences of what we deploy are not always the ones we foresee. Hold those together, and the arc of the field comes into focus: lesion, image, patient.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arc through the spine of this talk — lesion, image, patient — across the decades. For most of these years the goal was the lesion: find the spot. CAD failed at it, and only later did whole-image detection earn randomized evidence. Then we learned to read the whole image, beyond the lesion — a woman's future risk, and a cardiovascular signal, from the same mammogram. And now the patient: image, tissue, gene, and history combined, with risk known before she enters the scanner. Lesion, image, patient — that is how the field moved.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 did not fail because the math was bad. It failed for a lack of evidence, monitoring, and discipline. That is the through-line from the first slide to this one. So if you take one thing away, take the discipline that turns clinical intelligence into better outcomes. First: prove it before you scale it — prospective, randomized evidence; MASAI is the bar, not a retrospective AUC, and this time we have it. Second: audit the blind spots — explainability and subgroup performance are release criteria, not afterthoughts; a headline AUC is a sales number. Third: preserve clinical judgment and guard against de-skilling — design against automation bias; the clinician should stay a clinician, not a rubber stamp.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the normal mammogram we opened with — the one I said was full of hidden signals. The image has not changed — what we read from it will. Twenty-five years ago we could barely mark a suspicious spot. Today, from that same image, we can forecast a woman's cancer years ahead, flag her cardiovascular risk, and connect it to her tissue and her genome.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International Workshop on Breast Imaging · 2026</a:t>
            </a:r>
          </a:p>
        </p:txBody>
      </p:sp>
      <p:sp>
        <p:nvSpPr>
          <p:cNvPr id="4" name="TextBox 3"/>
          <p:cNvSpPr txBox="1"/>
          <p:nvPr/>
        </p:nvSpPr>
        <p:spPr>
          <a:xfrm>
            <a:off x="548640" y="1209802"/>
            <a:ext cx="1088136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Thirty Years,</a:t>
            </a:r>
          </a:p>
          <a:p>
            <a:pPr algn="l">
              <a:lnSpc>
                <a:spcPct val="106000"/>
              </a:lnSpc>
              <a:spcAft>
                <a:spcPts val="400"/>
              </a:spcAft>
            </a:pPr>
            <a:r>
              <a:rPr sz="2600" b="0">
                <a:solidFill>
                  <a:srgbClr val="E7AC51"/>
                </a:solidFill>
                <a:latin typeface="Arial"/>
              </a:rPr>
              <a:t>Three Eras.</a:t>
            </a:r>
          </a:p>
        </p:txBody>
      </p:sp>
      <p:sp>
        <p:nvSpPr>
          <p:cNvPr id="5" name="TextBox 4"/>
          <p:cNvSpPr txBox="1"/>
          <p:nvPr/>
        </p:nvSpPr>
        <p:spPr>
          <a:xfrm>
            <a:off x="548640" y="220345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AI in Breast Imaging — from CAD to Clinical Intelligence</a:t>
            </a:r>
          </a:p>
        </p:txBody>
      </p:sp>
      <p:sp>
        <p:nvSpPr>
          <p:cNvPr id="6" name="TextBox 5"/>
          <p:cNvSpPr txBox="1"/>
          <p:nvPr/>
        </p:nvSpPr>
        <p:spPr>
          <a:xfrm>
            <a:off x="548640" y="2544572"/>
            <a:ext cx="10881360" cy="3319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Hari Trivedi, MD</a:t>
            </a:r>
            <a:r>
              <a:rPr sz="1400" b="0">
                <a:solidFill>
                  <a:srgbClr val="9DA9B5"/>
                </a:solidFill>
                <a:latin typeface="Arial"/>
              </a:rPr>
              <a:t> · Emory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DISCLOSURES</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Disclosures</a:t>
            </a:r>
          </a:p>
        </p:txBody>
      </p:sp>
      <p:sp>
        <p:nvSpPr>
          <p:cNvPr id="5" name="TextBox 4"/>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Founder</a:t>
            </a:r>
          </a:p>
        </p:txBody>
      </p:sp>
      <p:sp>
        <p:nvSpPr>
          <p:cNvPr id="6" name="TextBox 5"/>
          <p:cNvSpPr txBox="1"/>
          <p:nvPr/>
        </p:nvSpPr>
        <p:spPr>
          <a:xfrm>
            <a:off x="548640" y="180720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Avera AI</a:t>
            </a:r>
            <a:r>
              <a:rPr sz="1400" b="0">
                <a:solidFill>
                  <a:srgbClr val="9DA9B5"/>
                </a:solidFill>
                <a:latin typeface="Arial"/>
              </a:rPr>
              <a:t>Lightbox AI</a:t>
            </a:r>
          </a:p>
        </p:txBody>
      </p:sp>
      <p:sp>
        <p:nvSpPr>
          <p:cNvPr id="7" name="TextBox 6"/>
          <p:cNvSpPr txBox="1"/>
          <p:nvPr/>
        </p:nvSpPr>
        <p:spPr>
          <a:xfrm>
            <a:off x="548640" y="214833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Associate CMIO</a:t>
            </a:r>
          </a:p>
        </p:txBody>
      </p:sp>
      <p:sp>
        <p:nvSpPr>
          <p:cNvPr id="8" name="TextBox 7"/>
          <p:cNvSpPr txBox="1"/>
          <p:nvPr/>
        </p:nvSpPr>
        <p:spPr>
          <a:xfrm>
            <a:off x="548640" y="248945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HOPPR</a:t>
            </a:r>
          </a:p>
        </p:txBody>
      </p:sp>
      <p:sp>
        <p:nvSpPr>
          <p:cNvPr id="9" name="TextBox 8"/>
          <p:cNvSpPr txBox="1"/>
          <p:nvPr/>
        </p:nvSpPr>
        <p:spPr>
          <a:xfrm>
            <a:off x="548640" y="283057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Advisor</a:t>
            </a:r>
          </a:p>
        </p:txBody>
      </p:sp>
      <p:sp>
        <p:nvSpPr>
          <p:cNvPr id="10" name="TextBox 9"/>
          <p:cNvSpPr txBox="1"/>
          <p:nvPr/>
        </p:nvSpPr>
        <p:spPr>
          <a:xfrm>
            <a:off x="548640" y="317169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croviz.ai</a:t>
            </a:r>
            <a:r>
              <a:rPr sz="1400" b="0">
                <a:solidFill>
                  <a:srgbClr val="9DA9B5"/>
                </a:solidFill>
                <a:latin typeface="Arial"/>
              </a:rPr>
              <a:t>Solis Mammography</a:t>
            </a:r>
            <a:r>
              <a:rPr sz="1400" b="0">
                <a:solidFill>
                  <a:srgbClr val="9DA9B5"/>
                </a:solidFill>
                <a:latin typeface="Arial"/>
              </a:rPr>
              <a:t>Sirona Medical</a:t>
            </a:r>
            <a:r>
              <a:rPr sz="1400" b="0">
                <a:solidFill>
                  <a:srgbClr val="9DA9B5"/>
                </a:solidFill>
                <a:latin typeface="Arial"/>
              </a:rPr>
              <a:t>Flatiron Health</a:t>
            </a:r>
            <a:r>
              <a:rPr sz="1400" b="0">
                <a:solidFill>
                  <a:srgbClr val="9DA9B5"/>
                </a:solidFill>
                <a:latin typeface="Arial"/>
              </a:rPr>
              <a:t>Coefficient</a:t>
            </a:r>
            <a:r>
              <a:rPr sz="1400" b="0">
                <a:solidFill>
                  <a:srgbClr val="9DA9B5"/>
                </a:solidFill>
                <a:latin typeface="Arial"/>
              </a:rPr>
              <a:t>Verily Life Sciences</a:t>
            </a:r>
            <a:r>
              <a:rPr sz="1400" b="0">
                <a:solidFill>
                  <a:srgbClr val="9DA9B5"/>
                </a:solidFill>
                <a:latin typeface="Arial"/>
              </a:rPr>
              <a:t>Biodata Consortium</a:t>
            </a:r>
          </a:p>
        </p:txBody>
      </p:sp>
      <p:sp>
        <p:nvSpPr>
          <p:cNvPr id="11" name="TextBox 10"/>
          <p:cNvSpPr txBox="1"/>
          <p:nvPr/>
        </p:nvSpPr>
        <p:spPr>
          <a:xfrm>
            <a:off x="548640" y="373507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Industry / Foundation Support</a:t>
            </a:r>
          </a:p>
        </p:txBody>
      </p:sp>
      <p:sp>
        <p:nvSpPr>
          <p:cNvPr id="12" name="TextBox 11"/>
          <p:cNvSpPr txBox="1"/>
          <p:nvPr/>
        </p:nvSpPr>
        <p:spPr>
          <a:xfrm>
            <a:off x="548640" y="4076191"/>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Simbiosys</a:t>
            </a:r>
            <a:r>
              <a:rPr sz="1400" b="0">
                <a:solidFill>
                  <a:srgbClr val="9DA9B5"/>
                </a:solidFill>
                <a:latin typeface="Arial"/>
              </a:rPr>
              <a:t>HOPPR</a:t>
            </a:r>
            <a:r>
              <a:rPr sz="1400" b="0">
                <a:solidFill>
                  <a:srgbClr val="9DA9B5"/>
                </a:solidFill>
                <a:latin typeface="Arial"/>
              </a:rPr>
              <a:t>Clairity</a:t>
            </a:r>
            <a:r>
              <a:rPr sz="1400" b="0">
                <a:solidFill>
                  <a:srgbClr val="9DA9B5"/>
                </a:solidFill>
                <a:latin typeface="Arial"/>
              </a:rPr>
              <a:t>Lunit</a:t>
            </a:r>
            <a:r>
              <a:rPr sz="1400" b="0">
                <a:solidFill>
                  <a:srgbClr val="9DA9B5"/>
                </a:solidFill>
                <a:latin typeface="Arial"/>
              </a:rPr>
              <a:t>DeepLook Medical</a:t>
            </a:r>
            <a:r>
              <a:rPr sz="1400" b="0">
                <a:solidFill>
                  <a:srgbClr val="9DA9B5"/>
                </a:solidFill>
                <a:latin typeface="Arial"/>
              </a:rPr>
              <a:t>Kheiron Medical</a:t>
            </a:r>
            <a:r>
              <a:rPr sz="1400" b="0">
                <a:solidFill>
                  <a:srgbClr val="9DA9B5"/>
                </a:solidFill>
                <a:latin typeface="Arial"/>
              </a:rPr>
              <a:t>GE</a:t>
            </a:r>
            <a:r>
              <a:rPr sz="1400" b="0">
                <a:solidFill>
                  <a:srgbClr val="9DA9B5"/>
                </a:solidFill>
                <a:latin typeface="Arial"/>
              </a:rPr>
              <a:t>IBIS</a:t>
            </a:r>
            <a:r>
              <a:rPr sz="1400" b="0">
                <a:solidFill>
                  <a:srgbClr val="9DA9B5"/>
                </a:solidFill>
                <a:latin typeface="Arial"/>
              </a:rPr>
              <a:t>Radicait</a:t>
            </a:r>
            <a:r>
              <a:rPr sz="1400" b="0">
                <a:solidFill>
                  <a:srgbClr val="9DA9B5"/>
                </a:solidFill>
                <a:latin typeface="Arial"/>
              </a:rPr>
              <a:t>Voio</a:t>
            </a:r>
            <a:r>
              <a:rPr sz="1400" b="0">
                <a:solidFill>
                  <a:srgbClr val="9DA9B5"/>
                </a:solidFill>
                <a:latin typeface="Arial"/>
              </a:rPr>
              <a:t>Appelai</a:t>
            </a:r>
            <a:r>
              <a:rPr sz="1400" b="0">
                <a:solidFill>
                  <a:srgbClr val="9DA9B5"/>
                </a:solidFill>
                <a:latin typeface="Arial"/>
              </a:rPr>
              <a:t>Georgia CTSA</a:t>
            </a:r>
            <a:r>
              <a:rPr sz="1400" b="0">
                <a:solidFill>
                  <a:srgbClr val="9DA9B5"/>
                </a:solidFill>
                <a:latin typeface="Arial"/>
              </a:rPr>
              <a:t>RSNA</a:t>
            </a:r>
            <a:r>
              <a:rPr sz="1400" b="0">
                <a:solidFill>
                  <a:srgbClr val="9DA9B5"/>
                </a:solidFill>
                <a:latin typeface="Arial"/>
              </a:rPr>
              <a:t>SIR</a:t>
            </a:r>
            <a:r>
              <a:rPr sz="1400" b="0">
                <a:solidFill>
                  <a:srgbClr val="9DA9B5"/>
                </a:solidFill>
                <a:latin typeface="Arial"/>
              </a:rPr>
              <a:t>Nightingale Open Science</a:t>
            </a:r>
            <a:r>
              <a:rPr sz="1400" b="0">
                <a:solidFill>
                  <a:srgbClr val="9DA9B5"/>
                </a:solidFill>
                <a:latin typeface="Arial"/>
              </a:rPr>
              <a:t>Lacuna Fund</a:t>
            </a:r>
            <a:r>
              <a:rPr sz="1400" b="0">
                <a:solidFill>
                  <a:srgbClr val="9DA9B5"/>
                </a:solidFill>
                <a:latin typeface="Arial"/>
              </a:rPr>
              <a:t>Meridian Foundation</a:t>
            </a:r>
            <a:r>
              <a:rPr sz="1400" b="0">
                <a:solidFill>
                  <a:srgbClr val="9DA9B5"/>
                </a:solidFill>
                <a:latin typeface="Arial"/>
              </a:rPr>
              <a:t>Gates Ventures</a:t>
            </a:r>
            <a:r>
              <a:rPr sz="1400" b="0">
                <a:solidFill>
                  <a:srgbClr val="9DA9B5"/>
                </a:solidFill>
                <a:latin typeface="Arial"/>
              </a:rPr>
              <a: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normal screening mammogram — read as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are we </a:t>
            </a:r>
            <a:r>
              <a:rPr sz="2600" b="0">
                <a:solidFill>
                  <a:srgbClr val="E7AC51"/>
                </a:solidFill>
                <a:latin typeface="Arial"/>
              </a:rPr>
              <a:t>not seeing?</a:t>
            </a:r>
          </a:p>
        </p:txBody>
      </p:sp>
      <p:sp>
        <p:nvSpPr>
          <p:cNvPr id="4" name="TextBox 3"/>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AI reads this </a:t>
            </a:r>
            <a:r>
              <a:rPr sz="1400" b="0">
                <a:solidFill>
                  <a:srgbClr val="E7AC51"/>
                </a:solidFill>
                <a:latin typeface="Arial"/>
              </a:rPr>
              <a:t>same mammogram</a:t>
            </a:r>
            <a:r>
              <a:rPr sz="1400" b="0">
                <a:solidFill>
                  <a:srgbClr val="9DA9B5"/>
                </a:solidFill>
                <a:latin typeface="Arial"/>
              </a:rPr>
              <a:t> and her biopsy slide — not just the </a:t>
            </a:r>
            <a:r>
              <a:rPr sz="1400" b="1">
                <a:solidFill>
                  <a:srgbClr val="ECEFF3"/>
                </a:solidFill>
                <a:latin typeface="Arial"/>
              </a:rPr>
              <a:t>lesion</a:t>
            </a:r>
            <a:r>
              <a:rPr sz="1400" b="0">
                <a:solidFill>
                  <a:srgbClr val="9DA9B5"/>
                </a:solidFill>
                <a:latin typeface="Arial"/>
              </a:rPr>
              <a:t>, but the </a:t>
            </a:r>
            <a:r>
              <a:rPr sz="1400" b="0">
                <a:solidFill>
                  <a:srgbClr val="E7AC51"/>
                </a:solidFill>
                <a:latin typeface="Arial"/>
              </a:rPr>
              <a:t>patient.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From lesions to </a:t>
            </a:r>
            <a:r>
              <a:rPr sz="2600" b="0">
                <a:solidFill>
                  <a:srgbClr val="E7AC51"/>
                </a:solidFill>
                <a:latin typeface="Arial"/>
              </a:rPr>
              <a:t>patients.</a:t>
            </a:r>
          </a:p>
        </p:txBody>
      </p:sp>
      <p:sp>
        <p:nvSpPr>
          <p:cNvPr id="4" name="TextBox 3"/>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01</a:t>
            </a:r>
          </a:p>
        </p:txBody>
      </p:sp>
      <p:sp>
        <p:nvSpPr>
          <p:cNvPr id="5" name="TextBox 4"/>
          <p:cNvSpPr txBox="1"/>
          <p:nvPr/>
        </p:nvSpPr>
        <p:spPr>
          <a:xfrm>
            <a:off x="548640" y="180720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Past</a:t>
            </a:r>
          </a:p>
        </p:txBody>
      </p:sp>
      <p:sp>
        <p:nvSpPr>
          <p:cNvPr id="6" name="TextBox 5"/>
          <p:cNvSpPr txBox="1"/>
          <p:nvPr/>
        </p:nvSpPr>
        <p:spPr>
          <a:xfrm>
            <a:off x="548640" y="214833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Lesion</a:t>
            </a:r>
          </a:p>
        </p:txBody>
      </p:sp>
      <p:sp>
        <p:nvSpPr>
          <p:cNvPr id="7" name="TextBox 6"/>
          <p:cNvSpPr txBox="1"/>
          <p:nvPr/>
        </p:nvSpPr>
        <p:spPr>
          <a:xfrm>
            <a:off x="548640" y="248945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find &amp; characterize</a:t>
            </a:r>
          </a:p>
        </p:txBody>
      </p:sp>
      <p:sp>
        <p:nvSpPr>
          <p:cNvPr id="8" name="TextBox 7"/>
          <p:cNvSpPr txBox="1"/>
          <p:nvPr/>
        </p:nvSpPr>
        <p:spPr>
          <a:xfrm>
            <a:off x="548640" y="283057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02</a:t>
            </a:r>
          </a:p>
        </p:txBody>
      </p:sp>
      <p:sp>
        <p:nvSpPr>
          <p:cNvPr id="9" name="TextBox 8"/>
          <p:cNvSpPr txBox="1"/>
          <p:nvPr/>
        </p:nvSpPr>
        <p:spPr>
          <a:xfrm>
            <a:off x="548640" y="317169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Present</a:t>
            </a:r>
          </a:p>
        </p:txBody>
      </p:sp>
      <p:sp>
        <p:nvSpPr>
          <p:cNvPr id="10" name="TextBox 9"/>
          <p:cNvSpPr txBox="1"/>
          <p:nvPr/>
        </p:nvSpPr>
        <p:spPr>
          <a:xfrm>
            <a:off x="548640" y="351282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Image</a:t>
            </a:r>
          </a:p>
        </p:txBody>
      </p:sp>
      <p:sp>
        <p:nvSpPr>
          <p:cNvPr id="11" name="TextBox 10"/>
          <p:cNvSpPr txBox="1"/>
          <p:nvPr/>
        </p:nvSpPr>
        <p:spPr>
          <a:xfrm>
            <a:off x="548640" y="385394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risk &amp; opportunistic signal</a:t>
            </a:r>
          </a:p>
        </p:txBody>
      </p:sp>
      <p:sp>
        <p:nvSpPr>
          <p:cNvPr id="12" name="TextBox 11"/>
          <p:cNvSpPr txBox="1"/>
          <p:nvPr/>
        </p:nvSpPr>
        <p:spPr>
          <a:xfrm>
            <a:off x="548640" y="419506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03</a:t>
            </a:r>
          </a:p>
        </p:txBody>
      </p:sp>
      <p:sp>
        <p:nvSpPr>
          <p:cNvPr id="13" name="TextBox 12"/>
          <p:cNvSpPr txBox="1"/>
          <p:nvPr/>
        </p:nvSpPr>
        <p:spPr>
          <a:xfrm>
            <a:off x="548640" y="453618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Future</a:t>
            </a:r>
          </a:p>
        </p:txBody>
      </p:sp>
      <p:sp>
        <p:nvSpPr>
          <p:cNvPr id="14" name="TextBox 13"/>
          <p:cNvSpPr txBox="1"/>
          <p:nvPr/>
        </p:nvSpPr>
        <p:spPr>
          <a:xfrm>
            <a:off x="548640" y="487730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Patient</a:t>
            </a:r>
          </a:p>
        </p:txBody>
      </p:sp>
      <p:sp>
        <p:nvSpPr>
          <p:cNvPr id="15" name="TextBox 14"/>
          <p:cNvSpPr txBox="1"/>
          <p:nvPr/>
        </p:nvSpPr>
        <p:spPr>
          <a:xfrm>
            <a:off x="548640" y="521842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pathology + integration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Let's step into a </a:t>
            </a:r>
            <a:r>
              <a:rPr sz="2600" b="0">
                <a:solidFill>
                  <a:srgbClr val="E7AC51"/>
                </a:solidFill>
                <a:latin typeface="Arial"/>
              </a:rPr>
              <a:t>time machine.</a:t>
            </a:r>
          </a:p>
        </p:txBody>
      </p:sp>
      <p:sp>
        <p:nvSpPr>
          <p:cNvPr id="4" name="TextBox 3"/>
          <p:cNvSpPr txBox="1"/>
          <p:nvPr/>
        </p:nvSpPr>
        <p:spPr>
          <a:xfrm>
            <a:off x="548640" y="1862328"/>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This field has overpromised before. Let's start there — in 1998.</a:t>
            </a:r>
          </a:p>
        </p:txBody>
      </p:sp>
      <p:pic>
        <p:nvPicPr>
          <p:cNvPr id="5" name="Picture 4" descr="svg_012a6b4f06.png"/>
          <p:cNvPicPr>
            <a:picLocks noChangeAspect="1"/>
          </p:cNvPicPr>
          <p:nvPr/>
        </p:nvPicPr>
        <p:blipFill>
          <a:blip r:embed="rId3"/>
          <a:stretch>
            <a:fillRect/>
          </a:stretch>
        </p:blipFill>
        <p:spPr>
          <a:xfrm>
            <a:off x="6858000" y="2103120"/>
            <a:ext cx="4800600" cy="2743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612648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Era I · 1998 · Lesion</a:t>
            </a:r>
            <a:r>
              <a:rPr sz="1600" b="0">
                <a:solidFill>
                  <a:srgbClr val="9DA9B5"/>
                </a:solidFill>
                <a:latin typeface="Arial"/>
              </a:rPr>
              <a:t>→</a:t>
            </a:r>
            <a:r>
              <a:rPr sz="1600" b="0">
                <a:solidFill>
                  <a:srgbClr val="9DA9B5"/>
                </a:solidFill>
                <a:latin typeface="Arial"/>
              </a:rPr>
              <a:t>Image</a:t>
            </a:r>
            <a:r>
              <a:rPr sz="1600" b="0">
                <a:solidFill>
                  <a:srgbClr val="9DA9B5"/>
                </a:solidFill>
                <a:latin typeface="Arial"/>
              </a:rPr>
              <a:t>→</a:t>
            </a:r>
            <a:r>
              <a:rPr sz="1600" b="0">
                <a:solidFill>
                  <a:srgbClr val="9DA9B5"/>
                </a:solidFill>
                <a:latin typeface="Arial"/>
              </a:rPr>
              <a:t>Patient</a:t>
            </a:r>
          </a:p>
        </p:txBody>
      </p:sp>
      <p:sp>
        <p:nvSpPr>
          <p:cNvPr id="4" name="TextBox 3"/>
          <p:cNvSpPr txBox="1"/>
          <p:nvPr/>
        </p:nvSpPr>
        <p:spPr>
          <a:xfrm>
            <a:off x="548640" y="1241552"/>
            <a:ext cx="612648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year is </a:t>
            </a:r>
            <a:r>
              <a:rPr sz="3200" b="0">
                <a:solidFill>
                  <a:srgbClr val="E7AC51"/>
                </a:solidFill>
                <a:latin typeface="Arial"/>
              </a:rPr>
              <a:t>1998.</a:t>
            </a:r>
          </a:p>
        </p:txBody>
      </p:sp>
      <p:sp>
        <p:nvSpPr>
          <p:cNvPr id="5" name="TextBox 4"/>
          <p:cNvSpPr txBox="1"/>
          <p:nvPr/>
        </p:nvSpPr>
        <p:spPr>
          <a:xfrm>
            <a:off x="548640" y="1930400"/>
            <a:ext cx="6126480" cy="1125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Computer-aided detection has just arrived — a mark on every mammogram flagging a possible cancer. A second set of eyes, automatically. It feels like the future.</a:t>
            </a:r>
          </a:p>
        </p:txBody>
      </p:sp>
      <p:sp>
        <p:nvSpPr>
          <p:cNvPr id="6" name="Rounded Rectangle 5"/>
          <p:cNvSpPr/>
          <p:nvPr/>
        </p:nvSpPr>
        <p:spPr>
          <a:xfrm>
            <a:off x="6775704" y="992123"/>
            <a:ext cx="4965192" cy="49651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5f0143ecc.png"/>
          <p:cNvPicPr>
            <a:picLocks noChangeAspect="1"/>
          </p:cNvPicPr>
          <p:nvPr/>
        </p:nvPicPr>
        <p:blipFill>
          <a:blip r:embed="rId3"/>
          <a:stretch>
            <a:fillRect/>
          </a:stretch>
        </p:blipFill>
        <p:spPr>
          <a:xfrm>
            <a:off x="6858000" y="1074419"/>
            <a:ext cx="4800600" cy="4800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Within a decade, CAD was used on </a:t>
            </a:r>
            <a:r>
              <a:rPr sz="2600" b="0">
                <a:solidFill>
                  <a:srgbClr val="E7AC51"/>
                </a:solidFill>
                <a:latin typeface="Arial"/>
              </a:rPr>
              <a:t>most US mammograms.</a:t>
            </a:r>
          </a:p>
        </p:txBody>
      </p:sp>
      <p:sp>
        <p:nvSpPr>
          <p:cNvPr id="5" name="TextBox 4"/>
          <p:cNvSpPr txBox="1"/>
          <p:nvPr/>
        </p:nvSpPr>
        <p:spPr>
          <a:xfrm>
            <a:off x="548640" y="186232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548640" y="2203450"/>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 2002 reimbursement code drove adoption — not evidence of benefit.</a:t>
            </a:r>
          </a:p>
        </p:txBody>
      </p:sp>
      <p:sp>
        <p:nvSpPr>
          <p:cNvPr id="7" name="TextBox 6"/>
          <p:cNvSpPr txBox="1"/>
          <p:nvPr/>
        </p:nvSpPr>
        <p:spPr>
          <a:xfrm>
            <a:off x="548640" y="2766822"/>
            <a:ext cx="612648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The definitive study landed in 2015</a:t>
            </a:r>
            <a:r>
              <a:rPr sz="1400" b="0">
                <a:solidFill>
                  <a:srgbClr val="9DA9B5"/>
                </a:solidFill>
                <a:latin typeface="Arial"/>
              </a:rPr>
              <a:t> — after CAD already ran on ~9 in 10 mammograms.</a:t>
            </a:r>
          </a:p>
        </p:txBody>
      </p:sp>
      <p:pic>
        <p:nvPicPr>
          <p:cNvPr id="8" name="Picture 7" descr="svg_ba5c8d2390.png"/>
          <p:cNvPicPr>
            <a:picLocks noChangeAspect="1"/>
          </p:cNvPicPr>
          <p:nvPr/>
        </p:nvPicPr>
        <p:blipFill>
          <a:blip r:embed="rId3"/>
          <a:stretch>
            <a:fillRect/>
          </a:stretch>
        </p:blipFill>
        <p:spPr>
          <a:xfrm>
            <a:off x="6858000" y="2658618"/>
            <a:ext cx="4800600" cy="16322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Conventional CAD put a </a:t>
            </a:r>
            <a:r>
              <a:rPr sz="2600" b="0">
                <a:solidFill>
                  <a:srgbClr val="D9785B"/>
                </a:solidFill>
                <a:latin typeface="Arial"/>
              </a:rPr>
              <a:t>false-positive mark</a:t>
            </a:r>
            <a:r>
              <a:rPr sz="2600" b="0">
                <a:solidFill>
                  <a:srgbClr val="ECEFF3"/>
                </a:solidFill>
                <a:latin typeface="Arial"/>
              </a:rPr>
              <a:t> on most normal exams.</a:t>
            </a:r>
          </a:p>
        </p:txBody>
      </p:sp>
      <p:sp>
        <p:nvSpPr>
          <p:cNvPr id="5" name="TextBox 4"/>
          <p:cNvSpPr txBox="1"/>
          <p:nvPr/>
        </p:nvSpPr>
        <p:spPr>
          <a:xfrm>
            <a:off x="548640" y="2258568"/>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70–85%</a:t>
            </a:r>
          </a:p>
        </p:txBody>
      </p:sp>
      <p:sp>
        <p:nvSpPr>
          <p:cNvPr id="6" name="TextBox 5"/>
          <p:cNvSpPr txBox="1"/>
          <p:nvPr/>
        </p:nvSpPr>
        <p:spPr>
          <a:xfrm>
            <a:off x="548640" y="2703576"/>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of normal mammograms had </a:t>
            </a:r>
            <a:r>
              <a:rPr sz="1400" b="1">
                <a:solidFill>
                  <a:srgbClr val="D9785B"/>
                </a:solidFill>
                <a:latin typeface="Arial"/>
              </a:rPr>
              <a:t>≥1 false positive</a:t>
            </a:r>
          </a:p>
        </p:txBody>
      </p:sp>
      <p:sp>
        <p:nvSpPr>
          <p:cNvPr id="7" name="TextBox 6"/>
          <p:cNvSpPr txBox="1"/>
          <p:nvPr/>
        </p:nvSpPr>
        <p:spPr>
          <a:xfrm>
            <a:off x="548640" y="3044698"/>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0.5–1.5</a:t>
            </a:r>
          </a:p>
        </p:txBody>
      </p:sp>
      <p:sp>
        <p:nvSpPr>
          <p:cNvPr id="8" name="TextBox 7"/>
          <p:cNvSpPr txBox="1"/>
          <p:nvPr/>
        </p:nvSpPr>
        <p:spPr>
          <a:xfrm>
            <a:off x="548640" y="3489706"/>
            <a:ext cx="612648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D9785B"/>
                </a:solidFill>
                <a:latin typeface="Arial"/>
              </a:rPr>
              <a:t>false positives per image</a:t>
            </a:r>
            <a:r>
              <a:rPr sz="1400" b="0">
                <a:solidFill>
                  <a:srgbClr val="9DA9B5"/>
                </a:solidFill>
                <a:latin typeface="Arial"/>
              </a:rPr>
              <a:t> — about 2–4 per 4-view case</a:t>
            </a:r>
          </a:p>
        </p:txBody>
      </p:sp>
      <p:sp>
        <p:nvSpPr>
          <p:cNvPr id="9" name="TextBox 8"/>
          <p:cNvSpPr txBox="1"/>
          <p:nvPr/>
        </p:nvSpPr>
        <p:spPr>
          <a:xfrm>
            <a:off x="548640" y="4053078"/>
            <a:ext cx="612648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Kim 2009 · Mahoney 2011 · Watanabe 2019 · Leon 2009</a:t>
            </a:r>
          </a:p>
        </p:txBody>
      </p:sp>
      <p:sp>
        <p:nvSpPr>
          <p:cNvPr id="10" name="TextBox 9"/>
          <p:cNvSpPr txBox="1"/>
          <p:nvPr/>
        </p:nvSpPr>
        <p:spPr>
          <a:xfrm>
            <a:off x="548640" y="4291330"/>
            <a:ext cx="6126480" cy="776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~2–3 false marks on a normal case; more on non-dense breasts. </a:t>
            </a:r>
            <a:r>
              <a:rPr sz="1400" b="0">
                <a:solidFill>
                  <a:srgbClr val="9DA9B5"/>
                </a:solidFill>
                <a:latin typeface="Arial"/>
              </a:rPr>
              <a:t>Mahoney &amp; Meganathan, J Digit Imaging 2011 (Table 4) · PMC3180536.</a:t>
            </a:r>
          </a:p>
        </p:txBody>
      </p:sp>
      <p:pic>
        <p:nvPicPr>
          <p:cNvPr id="11" name="Picture 10" descr="svg_94f6a22e3f.png"/>
          <p:cNvPicPr>
            <a:picLocks noChangeAspect="1"/>
          </p:cNvPicPr>
          <p:nvPr/>
        </p:nvPicPr>
        <p:blipFill>
          <a:blip r:embed="rId3"/>
          <a:stretch>
            <a:fillRect/>
          </a:stretch>
        </p:blipFill>
        <p:spPr>
          <a:xfrm>
            <a:off x="6858000" y="1895575"/>
            <a:ext cx="4800600" cy="315828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$400M</a:t>
            </a:r>
            <a:r>
              <a:rPr sz="1400" b="0">
                <a:solidFill>
                  <a:srgbClr val="9DA9B5"/>
                </a:solidFill>
                <a:latin typeface="Arial"/>
              </a:rPr>
              <a:t>/yr</a:t>
            </a:r>
          </a:p>
        </p:txBody>
      </p:sp>
      <p:sp>
        <p:nvSpPr>
          <p:cNvPr id="5" name="TextBox 4"/>
          <p:cNvSpPr txBox="1"/>
          <p:nvPr/>
        </p:nvSpPr>
        <p:spPr>
          <a:xfrm>
            <a:off x="548640" y="120980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U.S. spend ≈ $1 of every $10,000 in health care</a:t>
            </a:r>
          </a:p>
        </p:txBody>
      </p:sp>
      <p:sp>
        <p:nvSpPr>
          <p:cNvPr id="6" name="TextBox 5"/>
          <p:cNvSpPr txBox="1"/>
          <p:nvPr/>
        </p:nvSpPr>
        <p:spPr>
          <a:xfrm>
            <a:off x="548640" y="155092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−47%</a:t>
            </a:r>
            <a:r>
              <a:rPr sz="1400" b="0">
                <a:solidFill>
                  <a:srgbClr val="9DA9B5"/>
                </a:solidFill>
                <a:latin typeface="Arial"/>
              </a:rPr>
              <a:t> odds</a:t>
            </a:r>
          </a:p>
        </p:txBody>
      </p:sp>
      <p:sp>
        <p:nvSpPr>
          <p:cNvPr id="7" name="TextBox 6"/>
          <p:cNvSpPr txBox="1"/>
          <p:nvPr/>
        </p:nvSpPr>
        <p:spPr>
          <a:xfrm>
            <a:off x="548640" y="189204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odds of detecting a malignant lesion — CAD on vs off, same readers (OR 0.53)</a:t>
            </a:r>
          </a:p>
        </p:txBody>
      </p:sp>
      <p:sp>
        <p:nvSpPr>
          <p:cNvPr id="8" name="TextBox 7"/>
          <p:cNvSpPr txBox="1"/>
          <p:nvPr/>
        </p:nvSpPr>
        <p:spPr>
          <a:xfrm>
            <a:off x="548640" y="223316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When the definitive study finally ran, CAD added cost and, for the same readers, lowered the odds of catching a cancer.</a:t>
            </a:r>
          </a:p>
        </p:txBody>
      </p:sp>
      <p:sp>
        <p:nvSpPr>
          <p:cNvPr id="9" name="TextBox 8"/>
          <p:cNvSpPr txBox="1"/>
          <p:nvPr/>
        </p:nvSpPr>
        <p:spPr>
          <a:xfrm>
            <a:off x="548640" y="2796540"/>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Lehman et al., JAMA Internal Medicine 2015 · 323,973 women · 271 radiologists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Computer-aided detection does not improve diagnostic accuracy of mammography. These results suggest that insurers pay more for CAD with no established benefit to women.</a:t>
            </a:r>
          </a:p>
        </p:txBody>
      </p:sp>
      <p:sp>
        <p:nvSpPr>
          <p:cNvPr id="5" name="TextBox 4"/>
          <p:cNvSpPr txBox="1"/>
          <p:nvPr/>
        </p:nvSpPr>
        <p:spPr>
          <a:xfrm>
            <a:off x="548640" y="1432052"/>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 Lehman et al., JAMA Internal Medicine 2015</a:t>
            </a:r>
          </a:p>
        </p:txBody>
      </p:sp>
      <p:sp>
        <p:nvSpPr>
          <p:cNvPr id="6" name="TextBox 5"/>
          <p:cNvSpPr txBox="1"/>
          <p:nvPr/>
        </p:nvSpPr>
        <p:spPr>
          <a:xfrm>
            <a:off x="548640" y="167030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85.3% </a:t>
            </a:r>
            <a:r>
              <a:rPr sz="1400" b="0">
                <a:solidFill>
                  <a:srgbClr val="9DA9B5"/>
                </a:solidFill>
                <a:latin typeface="Arial"/>
              </a:rPr>
              <a:t>vs</a:t>
            </a:r>
            <a:r>
              <a:rPr sz="1400" b="0">
                <a:solidFill>
                  <a:srgbClr val="9DA9B5"/>
                </a:solidFill>
                <a:latin typeface="Arial"/>
              </a:rPr>
              <a:t> 87.3%</a:t>
            </a:r>
          </a:p>
        </p:txBody>
      </p:sp>
      <p:sp>
        <p:nvSpPr>
          <p:cNvPr id="7" name="TextBox 6"/>
          <p:cNvSpPr txBox="1"/>
          <p:nvPr/>
        </p:nvSpPr>
        <p:spPr>
          <a:xfrm>
            <a:off x="548640" y="201142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sensitivity — with vs without CAD</a:t>
            </a:r>
          </a:p>
        </p:txBody>
      </p:sp>
      <p:sp>
        <p:nvSpPr>
          <p:cNvPr id="8" name="TextBox 7"/>
          <p:cNvSpPr txBox="1"/>
          <p:nvPr/>
        </p:nvSpPr>
        <p:spPr>
          <a:xfrm>
            <a:off x="548640" y="235254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4.1 = 4.1</a:t>
            </a:r>
            <a:r>
              <a:rPr sz="1400" b="0">
                <a:solidFill>
                  <a:srgbClr val="9DA9B5"/>
                </a:solidFill>
                <a:latin typeface="Arial"/>
              </a:rPr>
              <a:t> /1,000</a:t>
            </a:r>
          </a:p>
        </p:txBody>
      </p:sp>
      <p:sp>
        <p:nvSpPr>
          <p:cNvPr id="9" name="TextBox 8"/>
          <p:cNvSpPr txBox="1"/>
          <p:nvPr/>
        </p:nvSpPr>
        <p:spPr>
          <a:xfrm>
            <a:off x="548640" y="269367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cancer detection — identical</a:t>
            </a:r>
          </a:p>
        </p:txBody>
      </p:sp>
      <p:sp>
        <p:nvSpPr>
          <p:cNvPr id="10" name="TextBox 9"/>
          <p:cNvSpPr txBox="1"/>
          <p:nvPr/>
        </p:nvSpPr>
        <p:spPr>
          <a:xfrm>
            <a:off x="548640" y="303479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0.871 </a:t>
            </a:r>
            <a:r>
              <a:rPr sz="1400" b="0">
                <a:solidFill>
                  <a:srgbClr val="9DA9B5"/>
                </a:solidFill>
                <a:latin typeface="Arial"/>
              </a:rPr>
              <a:t>vs</a:t>
            </a:r>
            <a:r>
              <a:rPr sz="1400" b="0">
                <a:solidFill>
                  <a:srgbClr val="9DA9B5"/>
                </a:solidFill>
                <a:latin typeface="Arial"/>
              </a:rPr>
              <a:t> 0.919</a:t>
            </a:r>
          </a:p>
        </p:txBody>
      </p:sp>
      <p:sp>
        <p:nvSpPr>
          <p:cNvPr id="11" name="TextBox 10"/>
          <p:cNvSpPr txBox="1"/>
          <p:nvPr/>
        </p:nvSpPr>
        <p:spPr>
          <a:xfrm>
            <a:off x="548640" y="337591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AUC — with vs without (Fenton, NEJM 2007)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went wrong.</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01</a:t>
            </a:r>
            <a:r>
              <a:rPr sz="1400" b="0">
                <a:solidFill>
                  <a:srgbClr val="9DA9B5"/>
                </a:solidFill>
                <a:latin typeface="Arial"/>
              </a:rPr>
              <a:t>It flagged only what we can already describe.</a:t>
            </a:r>
            <a:r>
              <a:rPr sz="1400" b="1">
                <a:solidFill>
                  <a:srgbClr val="ECEFF3"/>
                </a:solidFill>
                <a:latin typeface="Arial"/>
              </a:rPr>
              <a:t>Hand-tuned features</a:t>
            </a:r>
            <a:r>
              <a:rPr sz="1400" b="0">
                <a:solidFill>
                  <a:srgbClr val="9DA9B5"/>
                </a:solidFill>
                <a:latin typeface="Arial"/>
              </a:rPr>
              <a:t> are limited to what we can design — so it added marks, not new information.</a:t>
            </a:r>
          </a:p>
        </p:txBody>
      </p:sp>
      <p:sp>
        <p:nvSpPr>
          <p:cNvPr id="6" name="TextBox 5"/>
          <p:cNvSpPr txBox="1"/>
          <p:nvPr/>
        </p:nvSpPr>
        <p:spPr>
          <a:xfrm>
            <a:off x="548640" y="2029459"/>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02</a:t>
            </a:r>
            <a:r>
              <a:rPr sz="1400" b="0">
                <a:solidFill>
                  <a:srgbClr val="9DA9B5"/>
                </a:solidFill>
                <a:latin typeface="Arial"/>
              </a:rPr>
              <a:t>Readers learned to ignore it.</a:t>
            </a:r>
            <a:r>
              <a:rPr sz="1400" b="1">
                <a:solidFill>
                  <a:srgbClr val="ECEFF3"/>
                </a:solidFill>
                <a:latin typeface="Arial"/>
              </a:rPr>
              <a:t>70–85% of normal exams</a:t>
            </a:r>
            <a:r>
              <a:rPr sz="1400" b="0">
                <a:solidFill>
                  <a:srgbClr val="9DA9B5"/>
                </a:solidFill>
                <a:latin typeface="Arial"/>
              </a:rPr>
              <a:t> carried at least one false-positive mark — eroding trust.</a:t>
            </a:r>
          </a:p>
        </p:txBody>
      </p:sp>
      <p:sp>
        <p:nvSpPr>
          <p:cNvPr id="7" name="TextBox 6"/>
          <p:cNvSpPr txBox="1"/>
          <p:nvPr/>
        </p:nvSpPr>
        <p:spPr>
          <a:xfrm>
            <a:off x="548640" y="2592831"/>
            <a:ext cx="10881360" cy="776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03</a:t>
            </a:r>
            <a:r>
              <a:rPr sz="1400" b="0">
                <a:solidFill>
                  <a:srgbClr val="9DA9B5"/>
                </a:solidFill>
                <a:latin typeface="Arial"/>
              </a:rPr>
              <a:t>It was deployed at scale before it was ever validated.</a:t>
            </a:r>
            <a:r>
              <a:rPr sz="1400" b="0">
                <a:solidFill>
                  <a:srgbClr val="9DA9B5"/>
                </a:solidFill>
                <a:latin typeface="Arial"/>
              </a:rPr>
              <a:t>Reimbursed in 2002 and run on </a:t>
            </a:r>
            <a:r>
              <a:rPr sz="1400" b="1">
                <a:solidFill>
                  <a:srgbClr val="ECEFF3"/>
                </a:solidFill>
                <a:latin typeface="Arial"/>
              </a:rPr>
              <a:t>~92% of US screening mammograms</a:t>
            </a:r>
            <a:r>
              <a:rPr sz="1400" b="0">
                <a:solidFill>
                  <a:srgbClr val="9DA9B5"/>
                </a:solidFill>
                <a:latin typeface="Arial"/>
              </a:rPr>
              <a:t> by 2016; the definitive accuracy study didn't arrive until 2015 — and found no benefit.</a:t>
            </a:r>
          </a:p>
        </p:txBody>
      </p:sp>
      <p:sp>
        <p:nvSpPr>
          <p:cNvPr id="8" name="TextBox 7"/>
          <p:cNvSpPr txBox="1"/>
          <p:nvPr/>
        </p:nvSpPr>
        <p:spPr>
          <a:xfrm>
            <a:off x="548640" y="3378453"/>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Lehman CD, et al. JAMA Intern Med 2015;175(11):1828–1837 · Keen JD, et al. J Am Coll Radiol 2018 (adoption ~92%)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a:t>
            </a:r>
          </a:p>
        </p:txBody>
      </p:sp>
      <p:sp>
        <p:nvSpPr>
          <p:cNvPr id="4" name="TextBox 3"/>
          <p:cNvSpPr txBox="1"/>
          <p:nvPr/>
        </p:nvSpPr>
        <p:spPr>
          <a:xfrm>
            <a:off x="548640" y="868680"/>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A paradigm </a:t>
            </a:r>
            <a:r>
              <a:rPr sz="3200" b="0">
                <a:solidFill>
                  <a:srgbClr val="E7AC51"/>
                </a:solidFill>
                <a:latin typeface="Arial"/>
              </a:rPr>
              <a:t>shift.</a:t>
            </a:r>
          </a:p>
        </p:txBody>
      </p:sp>
      <p:sp>
        <p:nvSpPr>
          <p:cNvPr id="5" name="TextBox 4"/>
          <p:cNvSpPr txBox="1"/>
          <p:nvPr/>
        </p:nvSpPr>
        <p:spPr>
          <a:xfrm>
            <a:off x="548640" y="1557527"/>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Traditional CAD</a:t>
            </a:r>
          </a:p>
        </p:txBody>
      </p:sp>
      <p:sp>
        <p:nvSpPr>
          <p:cNvPr id="6" name="TextBox 5"/>
          <p:cNvSpPr txBox="1"/>
          <p:nvPr/>
        </p:nvSpPr>
        <p:spPr>
          <a:xfrm>
            <a:off x="548640" y="1930399"/>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Programmed</a:t>
            </a:r>
          </a:p>
        </p:txBody>
      </p:sp>
      <p:sp>
        <p:nvSpPr>
          <p:cNvPr id="7" name="TextBox 6"/>
          <p:cNvSpPr txBox="1"/>
          <p:nvPr/>
        </p:nvSpPr>
        <p:spPr>
          <a:xfrm>
            <a:off x="548640" y="2303271"/>
            <a:ext cx="10881360" cy="617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We wrote the rules for what cancer looks like. It </a:t>
            </a:r>
            <a:r>
              <a:rPr sz="1600" b="0">
                <a:solidFill>
                  <a:srgbClr val="9DA9B5"/>
                </a:solidFill>
                <a:latin typeface="Arial"/>
              </a:rPr>
              <a:t>pointed</a:t>
            </a:r>
            <a:r>
              <a:rPr sz="1600" b="0">
                <a:solidFill>
                  <a:srgbClr val="9DA9B5"/>
                </a:solidFill>
                <a:latin typeface="Arial"/>
              </a:rPr>
              <a:t> at spots for a human to check.</a:t>
            </a:r>
          </a:p>
        </p:txBody>
      </p:sp>
      <p:sp>
        <p:nvSpPr>
          <p:cNvPr id="8" name="TextBox 7"/>
          <p:cNvSpPr txBox="1"/>
          <p:nvPr/>
        </p:nvSpPr>
        <p:spPr>
          <a:xfrm>
            <a:off x="548640" y="2930143"/>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a:t>
            </a:r>
          </a:p>
        </p:txBody>
      </p:sp>
      <p:sp>
        <p:nvSpPr>
          <p:cNvPr id="9" name="TextBox 8"/>
          <p:cNvSpPr txBox="1"/>
          <p:nvPr/>
        </p:nvSpPr>
        <p:spPr>
          <a:xfrm>
            <a:off x="548640" y="3303016"/>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Modern deep learning</a:t>
            </a:r>
          </a:p>
        </p:txBody>
      </p:sp>
      <p:sp>
        <p:nvSpPr>
          <p:cNvPr id="10" name="TextBox 9"/>
          <p:cNvSpPr txBox="1"/>
          <p:nvPr/>
        </p:nvSpPr>
        <p:spPr>
          <a:xfrm>
            <a:off x="548640" y="3675887"/>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Trained</a:t>
            </a:r>
          </a:p>
        </p:txBody>
      </p:sp>
      <p:sp>
        <p:nvSpPr>
          <p:cNvPr id="11" name="TextBox 10"/>
          <p:cNvSpPr txBox="1"/>
          <p:nvPr/>
        </p:nvSpPr>
        <p:spPr>
          <a:xfrm>
            <a:off x="548640" y="4048759"/>
            <a:ext cx="10881360" cy="617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The model learns the patterns from the images themselves. It can </a:t>
            </a:r>
            <a:r>
              <a:rPr sz="1600" b="0">
                <a:solidFill>
                  <a:srgbClr val="9DA9B5"/>
                </a:solidFill>
                <a:latin typeface="Arial"/>
              </a:rPr>
              <a:t>read</a:t>
            </a:r>
            <a:r>
              <a:rPr sz="1600" b="0">
                <a:solidFill>
                  <a:srgbClr val="9DA9B5"/>
                </a:solidFill>
                <a:latin typeface="Arial"/>
              </a:rPr>
              <a:t> the image — as a second reader, or on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612648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Era II</a:t>
            </a:r>
          </a:p>
        </p:txBody>
      </p:sp>
      <p:sp>
        <p:nvSpPr>
          <p:cNvPr id="4" name="TextBox 3"/>
          <p:cNvSpPr txBox="1"/>
          <p:nvPr/>
        </p:nvSpPr>
        <p:spPr>
          <a:xfrm>
            <a:off x="548640" y="1241552"/>
            <a:ext cx="612648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year is </a:t>
            </a:r>
            <a:r>
              <a:rPr sz="3200" b="0">
                <a:solidFill>
                  <a:srgbClr val="E7AC51"/>
                </a:solidFill>
                <a:latin typeface="Arial"/>
              </a:rPr>
              <a:t>2016.</a:t>
            </a:r>
          </a:p>
        </p:txBody>
      </p:sp>
      <p:sp>
        <p:nvSpPr>
          <p:cNvPr id="5" name="TextBox 4"/>
          <p:cNvSpPr txBox="1"/>
          <p:nvPr/>
        </p:nvSpPr>
        <p:spPr>
          <a:xfrm>
            <a:off x="548640" y="1930400"/>
            <a:ext cx="6126480" cy="617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You're beginning to hear about AI — but still </a:t>
            </a:r>
            <a:r>
              <a:rPr sz="1600" b="1">
                <a:solidFill>
                  <a:srgbClr val="ECEFF3"/>
                </a:solidFill>
                <a:latin typeface="Arial"/>
              </a:rPr>
              <a:t>feeling the burn from CAD.</a:t>
            </a:r>
          </a:p>
        </p:txBody>
      </p:sp>
      <p:pic>
        <p:nvPicPr>
          <p:cNvPr id="6" name="Picture 5" descr="svg_1e85465c01.png"/>
          <p:cNvPicPr>
            <a:picLocks noChangeAspect="1"/>
          </p:cNvPicPr>
          <p:nvPr/>
        </p:nvPicPr>
        <p:blipFill>
          <a:blip r:embed="rId3"/>
          <a:stretch>
            <a:fillRect/>
          </a:stretch>
        </p:blipFill>
        <p:spPr>
          <a:xfrm>
            <a:off x="6858000" y="2103120"/>
            <a:ext cx="4800600" cy="27432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2016: the first large-scale push — and a </a:t>
            </a:r>
            <a:r>
              <a:rPr sz="2600" b="0">
                <a:solidFill>
                  <a:srgbClr val="E7AC51"/>
                </a:solidFill>
                <a:latin typeface="Arial"/>
              </a:rPr>
              <a:t>surge of optimism.</a:t>
            </a:r>
          </a:p>
        </p:txBody>
      </p:sp>
      <p:sp>
        <p:nvSpPr>
          <p:cNvPr id="5" name="TextBox 4"/>
          <p:cNvSpPr txBox="1"/>
          <p:nvPr/>
        </p:nvSpPr>
        <p:spPr>
          <a:xfrm>
            <a:off x="548640" y="225856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a:t>
            </a:r>
            <a:r>
              <a:rPr sz="1400" b="1">
                <a:solidFill>
                  <a:srgbClr val="ECEFF3"/>
                </a:solidFill>
                <a:latin typeface="Arial"/>
              </a:rPr>
              <a:t>Digital Mammography DREAM Challenge</a:t>
            </a:r>
            <a:r>
              <a:rPr sz="1400" b="0">
                <a:solidFill>
                  <a:srgbClr val="9DA9B5"/>
                </a:solidFill>
                <a:latin typeface="Arial"/>
              </a:rPr>
              <a:t> was the first large-scale effort to build breast-cancer AI — and we took part. The hope was that a crowdsourced competition would simply solve it.</a:t>
            </a:r>
          </a:p>
        </p:txBody>
      </p:sp>
      <p:sp>
        <p:nvSpPr>
          <p:cNvPr id="6" name="TextBox 5"/>
          <p:cNvSpPr txBox="1"/>
          <p:nvPr/>
        </p:nvSpPr>
        <p:spPr>
          <a:xfrm>
            <a:off x="548640" y="3266439"/>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1">
                <a:solidFill>
                  <a:srgbClr val="ECEFF3"/>
                </a:solidFill>
                <a:latin typeface="Arial"/>
              </a:rPr>
              <a:t>1,000+</a:t>
            </a:r>
            <a:r>
              <a:rPr sz="1200" b="0">
                <a:solidFill>
                  <a:srgbClr val="ECEFF3"/>
                </a:solidFill>
                <a:latin typeface="Arial"/>
              </a:rPr>
              <a:t> participants · 126 teams · 44 countries</a:t>
            </a:r>
          </a:p>
        </p:txBody>
      </p:sp>
      <p:sp>
        <p:nvSpPr>
          <p:cNvPr id="7" name="TextBox 6"/>
          <p:cNvSpPr txBox="1"/>
          <p:nvPr/>
        </p:nvSpPr>
        <p:spPr>
          <a:xfrm>
            <a:off x="548640" y="3537712"/>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1">
                <a:solidFill>
                  <a:srgbClr val="ECEFF3"/>
                </a:solidFill>
                <a:latin typeface="Arial"/>
              </a:rPr>
              <a:t>~640,000</a:t>
            </a:r>
            <a:r>
              <a:rPr sz="1200" b="0">
                <a:solidFill>
                  <a:srgbClr val="ECEFF3"/>
                </a:solidFill>
                <a:latin typeface="Arial"/>
              </a:rPr>
              <a:t> mammograms</a:t>
            </a:r>
          </a:p>
        </p:txBody>
      </p:sp>
      <p:sp>
        <p:nvSpPr>
          <p:cNvPr id="8" name="TextBox 7"/>
          <p:cNvSpPr txBox="1"/>
          <p:nvPr/>
        </p:nvSpPr>
        <p:spPr>
          <a:xfrm>
            <a:off x="548640" y="3808984"/>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Schaffter et al., JAMA Network Open 2020;3(3):e200265.</a:t>
            </a:r>
          </a:p>
        </p:txBody>
      </p:sp>
      <p:sp>
        <p:nvSpPr>
          <p:cNvPr id="9" name="Rounded Rectangle 8"/>
          <p:cNvSpPr/>
          <p:nvPr/>
        </p:nvSpPr>
        <p:spPr>
          <a:xfrm>
            <a:off x="6877453" y="832104"/>
            <a:ext cx="4761693" cy="528523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920569b1aa.png"/>
          <p:cNvPicPr>
            <a:picLocks noChangeAspect="1"/>
          </p:cNvPicPr>
          <p:nvPr/>
        </p:nvPicPr>
        <p:blipFill>
          <a:blip r:embed="rId3"/>
          <a:stretch>
            <a:fillRect/>
          </a:stretch>
        </p:blipFill>
        <p:spPr>
          <a:xfrm>
            <a:off x="6959749" y="914400"/>
            <a:ext cx="4597101" cy="51206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Google publishes its </a:t>
            </a:r>
            <a:r>
              <a:rPr sz="2600" b="0">
                <a:solidFill>
                  <a:srgbClr val="E7AC51"/>
                </a:solidFill>
                <a:latin typeface="Arial"/>
              </a:rPr>
              <a:t>breast-cancer AI model.</a:t>
            </a:r>
          </a:p>
        </p:txBody>
      </p:sp>
      <p:sp>
        <p:nvSpPr>
          <p:cNvPr id="5" name="TextBox 4"/>
          <p:cNvSpPr txBox="1"/>
          <p:nvPr/>
        </p:nvSpPr>
        <p:spPr>
          <a:xfrm>
            <a:off x="548640" y="1862328"/>
            <a:ext cx="6126480" cy="7764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McKinney et al., Nature 2020</a:t>
            </a:r>
            <a:r>
              <a:rPr sz="1400" b="0">
                <a:solidFill>
                  <a:srgbClr val="9DA9B5"/>
                </a:solidFill>
                <a:latin typeface="Arial"/>
              </a:rPr>
              <a:t> (Google Health, UK + US) — a deep-learning system read screening mammograms stand-alone.</a:t>
            </a:r>
          </a:p>
        </p:txBody>
      </p:sp>
      <p:sp>
        <p:nvSpPr>
          <p:cNvPr id="6" name="TextBox 5"/>
          <p:cNvSpPr txBox="1"/>
          <p:nvPr/>
        </p:nvSpPr>
        <p:spPr>
          <a:xfrm>
            <a:off x="548640" y="2647949"/>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false positives </a:t>
            </a:r>
            <a:r>
              <a:rPr sz="1200" b="1">
                <a:solidFill>
                  <a:srgbClr val="ECEFF3"/>
                </a:solidFill>
                <a:latin typeface="Arial"/>
              </a:rPr>
              <a:t>−5.7% US / −1.2% UK</a:t>
            </a:r>
          </a:p>
        </p:txBody>
      </p:sp>
      <p:sp>
        <p:nvSpPr>
          <p:cNvPr id="7" name="TextBox 6"/>
          <p:cNvSpPr txBox="1"/>
          <p:nvPr/>
        </p:nvSpPr>
        <p:spPr>
          <a:xfrm>
            <a:off x="548640" y="2919222"/>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false negatives </a:t>
            </a:r>
            <a:r>
              <a:rPr sz="1200" b="1">
                <a:solidFill>
                  <a:srgbClr val="ECEFF3"/>
                </a:solidFill>
                <a:latin typeface="Arial"/>
              </a:rPr>
              <a:t>−9.4% US / −2.7% UK</a:t>
            </a:r>
          </a:p>
        </p:txBody>
      </p:sp>
      <p:sp>
        <p:nvSpPr>
          <p:cNvPr id="8" name="TextBox 7"/>
          <p:cNvSpPr txBox="1"/>
          <p:nvPr/>
        </p:nvSpPr>
        <p:spPr>
          <a:xfrm>
            <a:off x="548640" y="3190494"/>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AUC </a:t>
            </a:r>
            <a:r>
              <a:rPr sz="1200" b="1">
                <a:solidFill>
                  <a:srgbClr val="ECEFF3"/>
                </a:solidFill>
                <a:latin typeface="Arial"/>
              </a:rPr>
              <a:t>+11.5%</a:t>
            </a:r>
            <a:r>
              <a:rPr sz="1200" b="0">
                <a:solidFill>
                  <a:srgbClr val="ECEFF3"/>
                </a:solidFill>
                <a:latin typeface="Arial"/>
              </a:rPr>
              <a:t> vs avg radiologist</a:t>
            </a:r>
          </a:p>
        </p:txBody>
      </p:sp>
      <p:sp>
        <p:nvSpPr>
          <p:cNvPr id="9" name="TextBox 8"/>
          <p:cNvSpPr txBox="1"/>
          <p:nvPr/>
        </p:nvSpPr>
        <p:spPr>
          <a:xfrm>
            <a:off x="548640" y="3461766"/>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2nd-reader workload </a:t>
            </a:r>
            <a:r>
              <a:rPr sz="1200" b="1">
                <a:solidFill>
                  <a:srgbClr val="ECEFF3"/>
                </a:solidFill>
                <a:latin typeface="Arial"/>
              </a:rPr>
              <a:t>−88%</a:t>
            </a:r>
          </a:p>
        </p:txBody>
      </p:sp>
      <p:sp>
        <p:nvSpPr>
          <p:cNvPr id="10" name="TextBox 9"/>
          <p:cNvSpPr txBox="1"/>
          <p:nvPr/>
        </p:nvSpPr>
        <p:spPr>
          <a:xfrm>
            <a:off x="548640" y="3733038"/>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Results are promising — but again, only on clean, curated data.</a:t>
            </a:r>
          </a:p>
        </p:txBody>
      </p:sp>
      <p:sp>
        <p:nvSpPr>
          <p:cNvPr id="11" name="Rounded Rectangle 10"/>
          <p:cNvSpPr/>
          <p:nvPr/>
        </p:nvSpPr>
        <p:spPr>
          <a:xfrm>
            <a:off x="7681393" y="832104"/>
            <a:ext cx="3153812" cy="528523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_6cb54df20e.png"/>
          <p:cNvPicPr>
            <a:picLocks noChangeAspect="1"/>
          </p:cNvPicPr>
          <p:nvPr/>
        </p:nvPicPr>
        <p:blipFill>
          <a:blip r:embed="rId3"/>
          <a:stretch>
            <a:fillRect/>
          </a:stretch>
        </p:blipFill>
        <p:spPr>
          <a:xfrm>
            <a:off x="7763689" y="914400"/>
            <a:ext cx="2989220" cy="51206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three commercial models, independently validated on </a:t>
            </a:r>
            <a:r>
              <a:rPr sz="2600" b="0">
                <a:solidFill>
                  <a:srgbClr val="E7AC51"/>
                </a:solidFill>
                <a:latin typeface="Arial"/>
              </a:rPr>
              <a:t>8,800 women.</a:t>
            </a:r>
          </a:p>
        </p:txBody>
      </p:sp>
      <p:sp>
        <p:nvSpPr>
          <p:cNvPr id="5" name="TextBox 4"/>
          <p:cNvSpPr txBox="1"/>
          <p:nvPr/>
        </p:nvSpPr>
        <p:spPr>
          <a:xfrm>
            <a:off x="548640" y="2258568"/>
            <a:ext cx="612648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Salim et al., JAMA Oncology 2020</a:t>
            </a:r>
            <a:r>
              <a:rPr sz="1400" b="0">
                <a:solidFill>
                  <a:srgbClr val="9DA9B5"/>
                </a:solidFill>
                <a:latin typeface="Arial"/>
              </a:rPr>
              <a:t> tested three commercial algorithms on an external Stockholm cohort.</a:t>
            </a:r>
          </a:p>
        </p:txBody>
      </p:sp>
      <p:sp>
        <p:nvSpPr>
          <p:cNvPr id="6" name="TextBox 5"/>
          <p:cNvSpPr txBox="1"/>
          <p:nvPr/>
        </p:nvSpPr>
        <p:spPr>
          <a:xfrm>
            <a:off x="548640" y="2821939"/>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AUC — AI-1 </a:t>
            </a:r>
            <a:r>
              <a:rPr sz="1200" b="1">
                <a:solidFill>
                  <a:srgbClr val="ECEFF3"/>
                </a:solidFill>
                <a:latin typeface="Arial"/>
              </a:rPr>
              <a:t>0.956</a:t>
            </a:r>
            <a:r>
              <a:rPr sz="1200" b="0">
                <a:solidFill>
                  <a:srgbClr val="ECEFF3"/>
                </a:solidFill>
                <a:latin typeface="Arial"/>
              </a:rPr>
              <a:t> · AI-2 </a:t>
            </a:r>
            <a:r>
              <a:rPr sz="1200" b="1">
                <a:solidFill>
                  <a:srgbClr val="ECEFF3"/>
                </a:solidFill>
                <a:latin typeface="Arial"/>
              </a:rPr>
              <a:t>0.922</a:t>
            </a:r>
            <a:r>
              <a:rPr sz="1200" b="0">
                <a:solidFill>
                  <a:srgbClr val="ECEFF3"/>
                </a:solidFill>
                <a:latin typeface="Arial"/>
              </a:rPr>
              <a:t> · AI-3 </a:t>
            </a:r>
            <a:r>
              <a:rPr sz="1200" b="1">
                <a:solidFill>
                  <a:srgbClr val="ECEFF3"/>
                </a:solidFill>
                <a:latin typeface="Arial"/>
              </a:rPr>
              <a:t>0.920</a:t>
            </a:r>
          </a:p>
        </p:txBody>
      </p:sp>
      <p:sp>
        <p:nvSpPr>
          <p:cNvPr id="7" name="TextBox 6"/>
          <p:cNvSpPr txBox="1"/>
          <p:nvPr/>
        </p:nvSpPr>
        <p:spPr>
          <a:xfrm>
            <a:off x="548640" y="3093212"/>
            <a:ext cx="6126480" cy="46939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at radiologists' specificity (</a:t>
            </a:r>
            <a:r>
              <a:rPr sz="1200" b="1">
                <a:solidFill>
                  <a:srgbClr val="ECEFF3"/>
                </a:solidFill>
                <a:latin typeface="Arial"/>
              </a:rPr>
              <a:t>96.6%</a:t>
            </a:r>
            <a:r>
              <a:rPr sz="1200" b="0">
                <a:solidFill>
                  <a:srgbClr val="ECEFF3"/>
                </a:solidFill>
                <a:latin typeface="Arial"/>
              </a:rPr>
              <a:t>): AI-1 </a:t>
            </a:r>
            <a:r>
              <a:rPr sz="1200" b="1">
                <a:solidFill>
                  <a:srgbClr val="ECEFF3"/>
                </a:solidFill>
                <a:latin typeface="Arial"/>
              </a:rPr>
              <a:t>81.9%</a:t>
            </a:r>
            <a:r>
              <a:rPr sz="1200" b="0">
                <a:solidFill>
                  <a:srgbClr val="ECEFF3"/>
                </a:solidFill>
                <a:latin typeface="Arial"/>
              </a:rPr>
              <a:t> sens vs readers </a:t>
            </a:r>
            <a:r>
              <a:rPr sz="1200" b="1">
                <a:solidFill>
                  <a:srgbClr val="ECEFF3"/>
                </a:solidFill>
                <a:latin typeface="Arial"/>
              </a:rPr>
              <a:t>77.4%</a:t>
            </a:r>
          </a:p>
        </p:txBody>
      </p:sp>
      <p:sp>
        <p:nvSpPr>
          <p:cNvPr id="8" name="TextBox 7"/>
          <p:cNvSpPr txBox="1"/>
          <p:nvPr/>
        </p:nvSpPr>
        <p:spPr>
          <a:xfrm>
            <a:off x="548640" y="3562604"/>
            <a:ext cx="612648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AI + reader: </a:t>
            </a:r>
            <a:r>
              <a:rPr sz="1200" b="1">
                <a:solidFill>
                  <a:srgbClr val="ECEFF3"/>
                </a:solidFill>
                <a:latin typeface="Arial"/>
              </a:rPr>
              <a:t>+77%</a:t>
            </a:r>
            <a:r>
              <a:rPr sz="1200" b="0">
                <a:solidFill>
                  <a:srgbClr val="ECEFF3"/>
                </a:solidFill>
                <a:latin typeface="Arial"/>
              </a:rPr>
              <a:t> abnormal calls for </a:t>
            </a:r>
            <a:r>
              <a:rPr sz="1200" b="1">
                <a:solidFill>
                  <a:srgbClr val="ECEFF3"/>
                </a:solidFill>
                <a:latin typeface="Arial"/>
              </a:rPr>
              <a:t>+8%</a:t>
            </a:r>
            <a:r>
              <a:rPr sz="1200" b="0">
                <a:solidFill>
                  <a:srgbClr val="ECEFF3"/>
                </a:solidFill>
                <a:latin typeface="Arial"/>
              </a:rPr>
              <a:t> detection</a:t>
            </a:r>
          </a:p>
        </p:txBody>
      </p:sp>
      <p:sp>
        <p:nvSpPr>
          <p:cNvPr id="9" name="TextBox 8"/>
          <p:cNvSpPr txBox="1"/>
          <p:nvPr/>
        </p:nvSpPr>
        <p:spPr>
          <a:xfrm>
            <a:off x="548640" y="3833876"/>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combination's recall cost is the </a:t>
            </a:r>
            <a:r>
              <a:rPr sz="1400" b="0">
                <a:solidFill>
                  <a:srgbClr val="E7AC51"/>
                </a:solidFill>
                <a:latin typeface="Arial"/>
              </a:rPr>
              <a:t>operating-point tension in miniature.</a:t>
            </a:r>
          </a:p>
        </p:txBody>
      </p:sp>
      <p:sp>
        <p:nvSpPr>
          <p:cNvPr id="10" name="Rounded Rectangle 9"/>
          <p:cNvSpPr/>
          <p:nvPr/>
        </p:nvSpPr>
        <p:spPr>
          <a:xfrm>
            <a:off x="6775704" y="1978955"/>
            <a:ext cx="4965192" cy="299152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1a0b098745.png"/>
          <p:cNvPicPr>
            <a:picLocks noChangeAspect="1"/>
          </p:cNvPicPr>
          <p:nvPr/>
        </p:nvPicPr>
        <p:blipFill>
          <a:blip r:embed="rId3"/>
          <a:stretch>
            <a:fillRect/>
          </a:stretch>
        </p:blipFill>
        <p:spPr>
          <a:xfrm>
            <a:off x="6858000" y="2061251"/>
            <a:ext cx="4800600" cy="2826937"/>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2023: MASAI publishes its </a:t>
            </a:r>
            <a:r>
              <a:rPr sz="2600" b="0">
                <a:solidFill>
                  <a:srgbClr val="E7AC51"/>
                </a:solidFill>
                <a:latin typeface="Arial"/>
              </a:rPr>
              <a:t>safety analysis.</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 randomized trial, </a:t>
            </a:r>
            <a:r>
              <a:rPr sz="1400" b="1">
                <a:solidFill>
                  <a:srgbClr val="ECEFF3"/>
                </a:solidFill>
                <a:latin typeface="Arial"/>
              </a:rPr>
              <a:t>~80,000 women</a:t>
            </a:r>
            <a:r>
              <a:rPr sz="1400" b="0">
                <a:solidFill>
                  <a:srgbClr val="9DA9B5"/>
                </a:solidFill>
                <a:latin typeface="Arial"/>
              </a:rPr>
              <a:t> (≈40,000 per arm) — AI-supported reading vs standard double reading.</a:t>
            </a:r>
          </a:p>
        </p:txBody>
      </p:sp>
      <p:sp>
        <p:nvSpPr>
          <p:cNvPr id="6" name="TextBox 5"/>
          <p:cNvSpPr txBox="1"/>
          <p:nvPr/>
        </p:nvSpPr>
        <p:spPr>
          <a:xfrm>
            <a:off x="548640" y="202945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6.1 </a:t>
            </a:r>
            <a:r>
              <a:rPr sz="1400" b="0">
                <a:solidFill>
                  <a:srgbClr val="9DA9B5"/>
                </a:solidFill>
                <a:latin typeface="Arial"/>
              </a:rPr>
              <a:t>vs</a:t>
            </a:r>
            <a:r>
              <a:rPr sz="1400" b="0">
                <a:solidFill>
                  <a:srgbClr val="9DA9B5"/>
                </a:solidFill>
                <a:latin typeface="Arial"/>
              </a:rPr>
              <a:t> 5.1</a:t>
            </a:r>
            <a:r>
              <a:rPr sz="1400" b="0">
                <a:solidFill>
                  <a:srgbClr val="9DA9B5"/>
                </a:solidFill>
                <a:latin typeface="Arial"/>
              </a:rPr>
              <a:t>CDR per 1,000 · ratio 1.2 (95% CI 1.0–1.5)</a:t>
            </a:r>
          </a:p>
        </p:txBody>
      </p:sp>
      <p:graphicFrame>
        <p:nvGraphicFramePr>
          <p:cNvPr id="7" name="Table 6"/>
          <p:cNvGraphicFramePr>
            <a:graphicFrameLocks noGrp="1"/>
          </p:cNvGraphicFramePr>
          <p:nvPr/>
        </p:nvGraphicFramePr>
        <p:xfrm>
          <a:off x="548640" y="2370582"/>
          <a:ext cx="6949440" cy="1554480"/>
        </p:xfrm>
        <a:graphic>
          <a:graphicData uri="http://schemas.openxmlformats.org/drawingml/2006/table">
            <a:tbl>
              <a:tblPr firstRow="1" bandRow="1">
                <a:tableStyleId>{5C22544A-7EE6-4342-B048-85BDC9FD1C3A}</a:tableStyleId>
              </a:tblPr>
              <a:tblGrid>
                <a:gridCol w="2316480"/>
                <a:gridCol w="2316480"/>
                <a:gridCol w="2316480"/>
              </a:tblGrid>
              <a:tr h="310896">
                <a:tc>
                  <a:txBody>
                    <a:bodyPr/>
                    <a:lstStyle/>
                    <a:p>
                      <a:pPr algn="l"/>
                      <a:r>
                        <a:rPr sz="1000" b="1">
                          <a:solidFill>
                            <a:srgbClr val="E7AC51"/>
                          </a:solidFill>
                          <a:latin typeface="Arial"/>
                        </a:rPr>
                        <a:t>Measure</a:t>
                      </a:r>
                    </a:p>
                  </a:txBody>
                  <a:tcPr marL="50800" marR="50800" marT="12700" marB="12700">
                    <a:solidFill>
                      <a:srgbClr val="1B232D"/>
                    </a:solidFill>
                  </a:tcPr>
                </a:tc>
                <a:tc>
                  <a:txBody>
                    <a:bodyPr/>
                    <a:lstStyle/>
                    <a:p>
                      <a:pPr algn="ctr"/>
                      <a:r>
                        <a:rPr sz="1000" b="1">
                          <a:solidFill>
                            <a:srgbClr val="E7AC51"/>
                          </a:solidFill>
                          <a:latin typeface="Arial"/>
                        </a:rPr>
                        <a:t>AI</a:t>
                      </a:r>
                    </a:p>
                  </a:txBody>
                  <a:tcPr marL="50800" marR="50800" marT="12700" marB="12700">
                    <a:solidFill>
                      <a:srgbClr val="1B232D"/>
                    </a:solidFill>
                  </a:tcPr>
                </a:tc>
                <a:tc>
                  <a:txBody>
                    <a:bodyPr/>
                    <a:lstStyle/>
                    <a:p>
                      <a:pPr algn="ctr"/>
                      <a:r>
                        <a:rPr sz="1000" b="1">
                          <a:solidFill>
                            <a:srgbClr val="E7AC51"/>
                          </a:solidFill>
                          <a:latin typeface="Arial"/>
                        </a:rPr>
                        <a:t>Control</a:t>
                      </a:r>
                    </a:p>
                  </a:txBody>
                  <a:tcPr marL="50800" marR="50800" marT="12700" marB="12700">
                    <a:solidFill>
                      <a:srgbClr val="1B232D"/>
                    </a:solidFill>
                  </a:tcPr>
                </a:tc>
              </a:tr>
              <a:tr h="310896">
                <a:tc>
                  <a:txBody>
                    <a:bodyPr/>
                    <a:lstStyle/>
                    <a:p>
                      <a:pPr algn="l"/>
                      <a:r>
                        <a:rPr sz="1000" b="0">
                          <a:solidFill>
                            <a:srgbClr val="ECEFF3"/>
                          </a:solidFill>
                          <a:latin typeface="Arial"/>
                        </a:rPr>
                        <a:t>Recall rate</a:t>
                      </a:r>
                    </a:p>
                  </a:txBody>
                  <a:tcPr marL="50800" marR="50800" marT="12700" marB="12700">
                    <a:solidFill>
                      <a:srgbClr val="0F141A"/>
                    </a:solidFill>
                  </a:tcPr>
                </a:tc>
                <a:tc>
                  <a:txBody>
                    <a:bodyPr/>
                    <a:lstStyle/>
                    <a:p>
                      <a:pPr algn="ctr"/>
                      <a:r>
                        <a:rPr sz="1000" b="0">
                          <a:solidFill>
                            <a:srgbClr val="9DA9B5"/>
                          </a:solidFill>
                          <a:latin typeface="Arial"/>
                        </a:rPr>
                        <a:t>2.2%</a:t>
                      </a:r>
                    </a:p>
                  </a:txBody>
                  <a:tcPr marL="50800" marR="50800" marT="12700" marB="12700">
                    <a:solidFill>
                      <a:srgbClr val="0F141A"/>
                    </a:solidFill>
                  </a:tcPr>
                </a:tc>
                <a:tc>
                  <a:txBody>
                    <a:bodyPr/>
                    <a:lstStyle/>
                    <a:p>
                      <a:pPr algn="ctr"/>
                      <a:r>
                        <a:rPr sz="1000" b="0">
                          <a:solidFill>
                            <a:srgbClr val="9DA9B5"/>
                          </a:solidFill>
                          <a:latin typeface="Arial"/>
                        </a:rPr>
                        <a:t>2.0%</a:t>
                      </a:r>
                    </a:p>
                  </a:txBody>
                  <a:tcPr marL="50800" marR="50800" marT="12700" marB="12700">
                    <a:solidFill>
                      <a:srgbClr val="0F141A"/>
                    </a:solidFill>
                  </a:tcPr>
                </a:tc>
              </a:tr>
              <a:tr h="310896">
                <a:tc>
                  <a:txBody>
                    <a:bodyPr/>
                    <a:lstStyle/>
                    <a:p>
                      <a:pPr algn="l"/>
                      <a:r>
                        <a:rPr sz="1000" b="0">
                          <a:solidFill>
                            <a:srgbClr val="ECEFF3"/>
                          </a:solidFill>
                          <a:latin typeface="Arial"/>
                        </a:rPr>
                        <a:t>False-positive rate</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r>
              <a:tr h="310896">
                <a:tc>
                  <a:txBody>
                    <a:bodyPr/>
                    <a:lstStyle/>
                    <a:p>
                      <a:pPr algn="l"/>
                      <a:r>
                        <a:rPr sz="1000" b="0">
                          <a:solidFill>
                            <a:srgbClr val="ECEFF3"/>
                          </a:solidFill>
                          <a:latin typeface="Arial"/>
                        </a:rPr>
                        <a:t>PPV of recall</a:t>
                      </a:r>
                    </a:p>
                  </a:txBody>
                  <a:tcPr marL="50800" marR="50800" marT="12700" marB="12700">
                    <a:solidFill>
                      <a:srgbClr val="0F141A"/>
                    </a:solidFill>
                  </a:tcPr>
                </a:tc>
                <a:tc>
                  <a:txBody>
                    <a:bodyPr/>
                    <a:lstStyle/>
                    <a:p>
                      <a:pPr algn="ctr"/>
                      <a:r>
                        <a:rPr sz="1000" b="0">
                          <a:solidFill>
                            <a:srgbClr val="9DA9B5"/>
                          </a:solidFill>
                          <a:latin typeface="Arial"/>
                        </a:rPr>
                        <a:t>28.3%</a:t>
                      </a:r>
                    </a:p>
                  </a:txBody>
                  <a:tcPr marL="50800" marR="50800" marT="12700" marB="12700">
                    <a:solidFill>
                      <a:srgbClr val="0F141A"/>
                    </a:solidFill>
                  </a:tcPr>
                </a:tc>
                <a:tc>
                  <a:txBody>
                    <a:bodyPr/>
                    <a:lstStyle/>
                    <a:p>
                      <a:pPr algn="ctr"/>
                      <a:r>
                        <a:rPr sz="1000" b="0">
                          <a:solidFill>
                            <a:srgbClr val="9DA9B5"/>
                          </a:solidFill>
                          <a:latin typeface="Arial"/>
                        </a:rPr>
                        <a:t>24.8%</a:t>
                      </a:r>
                    </a:p>
                  </a:txBody>
                  <a:tcPr marL="50800" marR="50800" marT="12700" marB="12700">
                    <a:solidFill>
                      <a:srgbClr val="0F141A"/>
                    </a:solidFill>
                  </a:tcPr>
                </a:tc>
              </a:tr>
              <a:tr h="310896">
                <a:tc>
                  <a:txBody>
                    <a:bodyPr/>
                    <a:lstStyle/>
                    <a:p>
                      <a:pPr algn="l"/>
                      <a:r>
                        <a:rPr sz="1000" b="0">
                          <a:solidFill>
                            <a:srgbClr val="ECEFF3"/>
                          </a:solidFill>
                          <a:latin typeface="Arial"/>
                        </a:rPr>
                        <a:t>Invasive cancers</a:t>
                      </a:r>
                    </a:p>
                  </a:txBody>
                  <a:tcPr marL="50800" marR="50800" marT="12700" marB="12700">
                    <a:solidFill>
                      <a:srgbClr val="0F141A"/>
                    </a:solidFill>
                  </a:tcPr>
                </a:tc>
                <a:tc>
                  <a:txBody>
                    <a:bodyPr/>
                    <a:lstStyle/>
                    <a:p>
                      <a:pPr algn="ctr"/>
                      <a:r>
                        <a:rPr sz="1000" b="0">
                          <a:solidFill>
                            <a:srgbClr val="9DA9B5"/>
                          </a:solidFill>
                          <a:latin typeface="Arial"/>
                        </a:rPr>
                        <a:t>75%</a:t>
                      </a:r>
                    </a:p>
                  </a:txBody>
                  <a:tcPr marL="50800" marR="50800" marT="12700" marB="12700">
                    <a:solidFill>
                      <a:srgbClr val="0F141A"/>
                    </a:solidFill>
                  </a:tcPr>
                </a:tc>
                <a:tc>
                  <a:txBody>
                    <a:bodyPr/>
                    <a:lstStyle/>
                    <a:p>
                      <a:pPr algn="ctr"/>
                      <a:r>
                        <a:rPr sz="1000" b="0">
                          <a:solidFill>
                            <a:srgbClr val="9DA9B5"/>
                          </a:solidFill>
                          <a:latin typeface="Arial"/>
                        </a:rPr>
                        <a:t>81%</a:t>
                      </a:r>
                    </a:p>
                  </a:txBody>
                  <a:tcPr marL="50800" marR="50800" marT="12700" marB="12700">
                    <a:solidFill>
                      <a:srgbClr val="0F141A"/>
                    </a:solidFill>
                  </a:tcPr>
                </a:tc>
              </a:tr>
            </a:tbl>
          </a:graphicData>
        </a:graphic>
      </p:graphicFrame>
      <p:sp>
        <p:nvSpPr>
          <p:cNvPr id="8" name="TextBox 7"/>
          <p:cNvSpPr txBox="1"/>
          <p:nvPr/>
        </p:nvSpPr>
        <p:spPr>
          <a:xfrm>
            <a:off x="548640" y="4089654"/>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Lång et al., Lancet Oncology 2023 — above the lowest acceptable detection limit for safety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Data isn't enough to </a:t>
            </a:r>
            <a:r>
              <a:rPr sz="2600" b="0">
                <a:solidFill>
                  <a:srgbClr val="E7AC51"/>
                </a:solidFill>
                <a:latin typeface="Arial"/>
              </a:rPr>
              <a:t>drive adoption.</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Enriched cases, lab conditions, no real workflow — CAD had good numbers too. The bar is prospective deployment, and real-world uptake has been slow.</a:t>
            </a:r>
          </a:p>
        </p:txBody>
      </p:sp>
      <p:sp>
        <p:nvSpPr>
          <p:cNvPr id="6" name="TextBox 5"/>
          <p:cNvSpPr txBox="1"/>
          <p:nvPr/>
        </p:nvSpPr>
        <p:spPr>
          <a:xfrm>
            <a:off x="548640" y="2029459"/>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48%</a:t>
            </a:r>
          </a:p>
        </p:txBody>
      </p:sp>
      <p:sp>
        <p:nvSpPr>
          <p:cNvPr id="7" name="TextBox 6"/>
          <p:cNvSpPr txBox="1"/>
          <p:nvPr/>
        </p:nvSpPr>
        <p:spPr>
          <a:xfrm>
            <a:off x="548640" y="247446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European radiologists use AI (2024) — up from 20% in 2018</a:t>
            </a:r>
          </a:p>
        </p:txBody>
      </p:sp>
      <p:sp>
        <p:nvSpPr>
          <p:cNvPr id="8" name="TextBox 7"/>
          <p:cNvSpPr txBox="1"/>
          <p:nvPr/>
        </p:nvSpPr>
        <p:spPr>
          <a:xfrm>
            <a:off x="548640" y="2815590"/>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13.7%</a:t>
            </a:r>
          </a:p>
        </p:txBody>
      </p:sp>
      <p:sp>
        <p:nvSpPr>
          <p:cNvPr id="9" name="TextBox 8"/>
          <p:cNvSpPr txBox="1"/>
          <p:nvPr/>
        </p:nvSpPr>
        <p:spPr>
          <a:xfrm>
            <a:off x="548640" y="326059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of them, for breast imaging — </a:t>
            </a:r>
            <a:r>
              <a:rPr sz="1400" b="0">
                <a:solidFill>
                  <a:srgbClr val="5FB7C9"/>
                </a:solidFill>
                <a:latin typeface="Arial"/>
              </a:rPr>
              <a:t>about 1 in 8</a:t>
            </a:r>
          </a:p>
        </p:txBody>
      </p:sp>
      <p:sp>
        <p:nvSpPr>
          <p:cNvPr id="10" name="TextBox 9"/>
          <p:cNvSpPr txBox="1"/>
          <p:nvPr/>
        </p:nvSpPr>
        <p:spPr>
          <a:xfrm>
            <a:off x="548640" y="3601720"/>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~2%</a:t>
            </a:r>
          </a:p>
        </p:txBody>
      </p:sp>
      <p:sp>
        <p:nvSpPr>
          <p:cNvPr id="11" name="TextBox 10"/>
          <p:cNvSpPr txBox="1"/>
          <p:nvPr/>
        </p:nvSpPr>
        <p:spPr>
          <a:xfrm>
            <a:off x="548640" y="404672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of US practices, by one estimate</a:t>
            </a:r>
          </a:p>
        </p:txBody>
      </p:sp>
      <p:sp>
        <p:nvSpPr>
          <p:cNvPr id="12" name="TextBox 11"/>
          <p:cNvSpPr txBox="1"/>
          <p:nvPr/>
        </p:nvSpPr>
        <p:spPr>
          <a:xfrm>
            <a:off x="548640" y="4387850"/>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ESR EuroAIM/EuSoMII survey, Insights Imaging 2024 (n=572) · US estimate: industry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612648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Era II · 2026</a:t>
            </a:r>
          </a:p>
        </p:txBody>
      </p:sp>
      <p:sp>
        <p:nvSpPr>
          <p:cNvPr id="4" name="TextBox 3"/>
          <p:cNvSpPr txBox="1"/>
          <p:nvPr/>
        </p:nvSpPr>
        <p:spPr>
          <a:xfrm>
            <a:off x="548640" y="1241552"/>
            <a:ext cx="612648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year is </a:t>
            </a:r>
            <a:r>
              <a:rPr sz="3200" b="0">
                <a:solidFill>
                  <a:srgbClr val="E7AC51"/>
                </a:solidFill>
                <a:latin typeface="Arial"/>
              </a:rPr>
              <a:t>2026.</a:t>
            </a:r>
          </a:p>
        </p:txBody>
      </p:sp>
      <p:sp>
        <p:nvSpPr>
          <p:cNvPr id="5" name="TextBox 4"/>
          <p:cNvSpPr txBox="1"/>
          <p:nvPr/>
        </p:nvSpPr>
        <p:spPr>
          <a:xfrm>
            <a:off x="548640" y="1930400"/>
            <a:ext cx="6126480" cy="871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Ten years on, the early promise has been put to the test — </a:t>
            </a:r>
            <a:r>
              <a:rPr sz="1600" b="1">
                <a:solidFill>
                  <a:srgbClr val="ECEFF3"/>
                </a:solidFill>
                <a:latin typeface="Arial"/>
              </a:rPr>
              <a:t>prospectively, in real screening programs.</a:t>
            </a:r>
          </a:p>
        </p:txBody>
      </p:sp>
      <p:pic>
        <p:nvPicPr>
          <p:cNvPr id="6" name="Picture 5" descr="svg_fc1c61fe68.png"/>
          <p:cNvPicPr>
            <a:picLocks noChangeAspect="1"/>
          </p:cNvPicPr>
          <p:nvPr/>
        </p:nvPicPr>
        <p:blipFill>
          <a:blip r:embed="rId3"/>
          <a:stretch>
            <a:fillRect/>
          </a:stretch>
        </p:blipFill>
        <p:spPr>
          <a:xfrm>
            <a:off x="6858000" y="2103120"/>
            <a:ext cx="4800600" cy="2743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a:t>
            </a:r>
          </a:p>
        </p:txBody>
      </p:sp>
      <p:sp>
        <p:nvSpPr>
          <p:cNvPr id="4" name="TextBox 3"/>
          <p:cNvSpPr txBox="1"/>
          <p:nvPr/>
        </p:nvSpPr>
        <p:spPr>
          <a:xfrm>
            <a:off x="548640" y="868680"/>
            <a:ext cx="1088136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2026: two prospective studies show </a:t>
            </a:r>
            <a:r>
              <a:rPr sz="2600" b="0">
                <a:solidFill>
                  <a:srgbClr val="E7AC51"/>
                </a:solidFill>
                <a:latin typeface="Arial"/>
              </a:rPr>
              <a:t>AI screening works.</a:t>
            </a:r>
          </a:p>
        </p:txBody>
      </p:sp>
      <p:sp>
        <p:nvSpPr>
          <p:cNvPr id="5" name="TextBox 4"/>
          <p:cNvSpPr txBox="1"/>
          <p:nvPr/>
        </p:nvSpPr>
        <p:spPr>
          <a:xfrm>
            <a:off x="548640" y="186232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MASAI · Sweden · RCT (~105,000)</a:t>
            </a:r>
          </a:p>
        </p:txBody>
      </p:sp>
      <p:sp>
        <p:nvSpPr>
          <p:cNvPr id="6" name="TextBox 5"/>
          <p:cNvSpPr txBox="1"/>
          <p:nvPr/>
        </p:nvSpPr>
        <p:spPr>
          <a:xfrm>
            <a:off x="548640" y="220345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Interval cancers non-inferior </a:t>
            </a:r>
            <a:r>
              <a:rPr sz="1400" b="0">
                <a:solidFill>
                  <a:srgbClr val="9DA9B5"/>
                </a:solidFill>
                <a:latin typeface="Arial"/>
              </a:rPr>
              <a:t>(ratio 0.88)</a:t>
            </a:r>
          </a:p>
        </p:txBody>
      </p:sp>
      <p:sp>
        <p:nvSpPr>
          <p:cNvPr id="7" name="TextBox 6"/>
          <p:cNvSpPr txBox="1"/>
          <p:nvPr/>
        </p:nvSpPr>
        <p:spPr>
          <a:xfrm>
            <a:off x="548640" y="254457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Sensitivity </a:t>
            </a:r>
            <a:r>
              <a:rPr sz="1400" b="1">
                <a:solidFill>
                  <a:srgbClr val="ECEFF3"/>
                </a:solidFill>
                <a:latin typeface="Arial"/>
              </a:rPr>
              <a:t>80.5%</a:t>
            </a:r>
            <a:r>
              <a:rPr sz="1400" b="0">
                <a:solidFill>
                  <a:srgbClr val="9DA9B5"/>
                </a:solidFill>
                <a:latin typeface="Arial"/>
              </a:rPr>
              <a:t> vs 73.8% at matched specificity · </a:t>
            </a:r>
            <a:r>
              <a:rPr sz="1400" b="1">
                <a:solidFill>
                  <a:srgbClr val="ECEFF3"/>
                </a:solidFill>
                <a:latin typeface="Arial"/>
              </a:rPr>
              <a:t>~44%</a:t>
            </a:r>
            <a:r>
              <a:rPr sz="1400" b="0">
                <a:solidFill>
                  <a:srgbClr val="9DA9B5"/>
                </a:solidFill>
                <a:latin typeface="Arial"/>
              </a:rPr>
              <a:t> less reading workload.</a:t>
            </a:r>
          </a:p>
        </p:txBody>
      </p:sp>
      <p:sp>
        <p:nvSpPr>
          <p:cNvPr id="8" name="TextBox 7"/>
          <p:cNvSpPr txBox="1"/>
          <p:nvPr/>
        </p:nvSpPr>
        <p:spPr>
          <a:xfrm>
            <a:off x="548640" y="288569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Gommers/Lång et al., Lancet 2026;407:505–514</a:t>
            </a:r>
          </a:p>
        </p:txBody>
      </p:sp>
      <p:sp>
        <p:nvSpPr>
          <p:cNvPr id="9" name="TextBox 8"/>
          <p:cNvSpPr txBox="1"/>
          <p:nvPr/>
        </p:nvSpPr>
        <p:spPr>
          <a:xfrm>
            <a:off x="548640" y="322681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5FB7C9"/>
                </a:solidFill>
                <a:latin typeface="Arial"/>
              </a:rPr>
              <a:t>PRAIM · Germany · real-world (463,000)</a:t>
            </a:r>
          </a:p>
        </p:txBody>
      </p:sp>
      <p:sp>
        <p:nvSpPr>
          <p:cNvPr id="10" name="TextBox 9"/>
          <p:cNvSpPr txBox="1"/>
          <p:nvPr/>
        </p:nvSpPr>
        <p:spPr>
          <a:xfrm>
            <a:off x="548640" y="356793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+17.6%</a:t>
            </a:r>
            <a:r>
              <a:rPr sz="1400" b="0">
                <a:solidFill>
                  <a:srgbClr val="9DA9B5"/>
                </a:solidFill>
                <a:latin typeface="Arial"/>
              </a:rPr>
              <a:t> cancers detected</a:t>
            </a:r>
          </a:p>
        </p:txBody>
      </p:sp>
      <p:sp>
        <p:nvSpPr>
          <p:cNvPr id="11" name="TextBox 10"/>
          <p:cNvSpPr txBox="1"/>
          <p:nvPr/>
        </p:nvSpPr>
        <p:spPr>
          <a:xfrm>
            <a:off x="548640" y="390906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Recall </a:t>
            </a:r>
            <a:r>
              <a:rPr sz="1400" b="1">
                <a:solidFill>
                  <a:srgbClr val="ECEFF3"/>
                </a:solidFill>
                <a:latin typeface="Arial"/>
              </a:rPr>
              <a:t>non-inferior</a:t>
            </a:r>
            <a:r>
              <a:rPr sz="1400" b="0">
                <a:solidFill>
                  <a:srgbClr val="9DA9B5"/>
                </a:solidFill>
                <a:latin typeface="Arial"/>
              </a:rPr>
              <a:t> · 6.7 vs 5.7 CDR per 1,000 · 12 sites, 119 radiologists.</a:t>
            </a:r>
          </a:p>
        </p:txBody>
      </p:sp>
      <p:sp>
        <p:nvSpPr>
          <p:cNvPr id="12" name="TextBox 11"/>
          <p:cNvSpPr txBox="1"/>
          <p:nvPr/>
        </p:nvSpPr>
        <p:spPr>
          <a:xfrm>
            <a:off x="548640" y="425018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Eisemann et al., Nature Medicine 2025</a:t>
            </a:r>
          </a:p>
        </p:txBody>
      </p:sp>
      <p:sp>
        <p:nvSpPr>
          <p:cNvPr id="13" name="TextBox 12"/>
          <p:cNvSpPr txBox="1"/>
          <p:nvPr/>
        </p:nvSpPr>
        <p:spPr>
          <a:xfrm>
            <a:off x="548640" y="4591304"/>
            <a:ext cx="10881360" cy="123240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A third is underway: </a:t>
            </a:r>
            <a:r>
              <a:rPr sz="1700" b="1">
                <a:solidFill>
                  <a:srgbClr val="ECEFF3"/>
                </a:solidFill>
                <a:latin typeface="Arial"/>
              </a:rPr>
              <a:t>PRISM</a:t>
            </a:r>
            <a:r>
              <a:rPr sz="1700" b="0">
                <a:solidFill>
                  <a:srgbClr val="ECEFF3"/>
                </a:solidFill>
                <a:latin typeface="Arial"/>
              </a:rPr>
              <a:t> — the first large randomized trial of screening AI in the United States (Transpara; $16M PCORI; 7 sites; announced Sept 2025, recruiting). Results are years away, but it tests the </a:t>
            </a:r>
            <a:r>
              <a:rPr sz="1700" b="1">
                <a:solidFill>
                  <a:srgbClr val="ECEFF3"/>
                </a:solidFill>
                <a:latin typeface="Arial"/>
              </a:rPr>
              <a:t>US single-reader workflow</a:t>
            </a:r>
            <a:r>
              <a:rPr sz="1700" b="0">
                <a:solidFill>
                  <a:srgbClr val="ECEFF3"/>
                </a:solidFill>
                <a:latin typeface="Arial"/>
              </a:rPr>
              <a:t> directly.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averages look strong — but </a:t>
            </a:r>
            <a:r>
              <a:rPr sz="2600" b="0">
                <a:solidFill>
                  <a:srgbClr val="E7AC51"/>
                </a:solidFill>
                <a:latin typeface="Arial"/>
              </a:rPr>
              <a:t>what counts as the truth?</a:t>
            </a:r>
          </a:p>
        </p:txBody>
      </p:sp>
      <p:sp>
        <p:nvSpPr>
          <p:cNvPr id="5" name="TextBox 4"/>
          <p:cNvSpPr txBox="1"/>
          <p:nvPr/>
        </p:nvSpPr>
        <p:spPr>
          <a:xfrm>
            <a:off x="548640" y="2258568"/>
            <a:ext cx="6126480" cy="1220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label is not in the image — it comes from follow-up and pathology. Assigning it is a cascade of judgment calls (~163,000 EMBED exams, AUC 0.91), and it sets the denominator for </a:t>
            </a:r>
            <a:r>
              <a:rPr sz="1400" b="1">
                <a:solidFill>
                  <a:srgbClr val="ECEFF3"/>
                </a:solidFill>
                <a:latin typeface="Arial"/>
              </a:rPr>
              <a:t>every downstream number.</a:t>
            </a:r>
          </a:p>
        </p:txBody>
      </p:sp>
      <p:sp>
        <p:nvSpPr>
          <p:cNvPr id="6" name="TextBox 5"/>
          <p:cNvSpPr txBox="1"/>
          <p:nvPr/>
        </p:nvSpPr>
        <p:spPr>
          <a:xfrm>
            <a:off x="548640" y="3488689"/>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 </a:t>
            </a:r>
          </a:p>
        </p:txBody>
      </p:sp>
      <p:sp>
        <p:nvSpPr>
          <p:cNvPr id="7" name="Rounded Rectangle 6"/>
          <p:cNvSpPr/>
          <p:nvPr/>
        </p:nvSpPr>
        <p:spPr>
          <a:xfrm>
            <a:off x="7002545" y="832104"/>
            <a:ext cx="4511508" cy="528523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bee5b46b67.png"/>
          <p:cNvPicPr>
            <a:picLocks noChangeAspect="1"/>
          </p:cNvPicPr>
          <p:nvPr/>
        </p:nvPicPr>
        <p:blipFill>
          <a:blip r:embed="rId3"/>
          <a:stretch>
            <a:fillRect/>
          </a:stretch>
        </p:blipFill>
        <p:spPr>
          <a:xfrm>
            <a:off x="7084841" y="914400"/>
            <a:ext cx="4346916" cy="512064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outcomes and cancer types.</a:t>
            </a:r>
          </a:p>
        </p:txBody>
      </p:sp>
      <p:sp>
        <p:nvSpPr>
          <p:cNvPr id="5" name="TextBox 4"/>
          <p:cNvSpPr txBox="1"/>
          <p:nvPr/>
        </p:nvSpPr>
        <p:spPr>
          <a:xfrm>
            <a:off x="548640" y="186232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548640" y="2203450"/>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By clinical outcome (Fig. 2)</a:t>
            </a:r>
          </a:p>
        </p:txBody>
      </p:sp>
      <p:sp>
        <p:nvSpPr>
          <p:cNvPr id="7" name="TextBox 6"/>
          <p:cNvSpPr txBox="1"/>
          <p:nvPr/>
        </p:nvSpPr>
        <p:spPr>
          <a:xfrm>
            <a:off x="548640" y="2544572"/>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 </a:t>
            </a:r>
          </a:p>
        </p:txBody>
      </p:sp>
      <p:sp>
        <p:nvSpPr>
          <p:cNvPr id="8" name="TextBox 7"/>
          <p:cNvSpPr txBox="1"/>
          <p:nvPr/>
        </p:nvSpPr>
        <p:spPr>
          <a:xfrm>
            <a:off x="548640" y="2885694"/>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By pathology (Fig. 3)</a:t>
            </a:r>
          </a:p>
        </p:txBody>
      </p:sp>
      <p:sp>
        <p:nvSpPr>
          <p:cNvPr id="9" name="TextBox 8"/>
          <p:cNvSpPr txBox="1"/>
          <p:nvPr/>
        </p:nvSpPr>
        <p:spPr>
          <a:xfrm>
            <a:off x="548640" y="3226816"/>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[your group], Nat Commun 2026 (DOI 10.1038/s41467-026-70637-3), Figs. 2–3.</a:t>
            </a:r>
          </a:p>
        </p:txBody>
      </p:sp>
      <p:sp>
        <p:nvSpPr>
          <p:cNvPr id="10" name="Rounded Rectangle 9"/>
          <p:cNvSpPr/>
          <p:nvPr/>
        </p:nvSpPr>
        <p:spPr>
          <a:xfrm>
            <a:off x="6775704" y="875186"/>
            <a:ext cx="4965192" cy="519906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f7c7ba6b41.png"/>
          <p:cNvPicPr>
            <a:picLocks noChangeAspect="1"/>
          </p:cNvPicPr>
          <p:nvPr/>
        </p:nvPicPr>
        <p:blipFill>
          <a:blip r:embed="rId3"/>
          <a:stretch>
            <a:fillRect/>
          </a:stretch>
        </p:blipFill>
        <p:spPr>
          <a:xfrm>
            <a:off x="6858000" y="957482"/>
            <a:ext cx="4800600" cy="503447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imaging findings.</a:t>
            </a:r>
          </a:p>
        </p:txBody>
      </p:sp>
      <p:sp>
        <p:nvSpPr>
          <p:cNvPr id="5" name="TextBox 4"/>
          <p:cNvSpPr txBox="1"/>
          <p:nvPr/>
        </p:nvSpPr>
        <p:spPr>
          <a:xfrm>
            <a:off x="548640" y="186232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548640" y="2203450"/>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Exam-level model-score distributions by imaging feature, across clinical outcome. </a:t>
            </a:r>
            <a:r>
              <a:rPr sz="1400" b="1">
                <a:solidFill>
                  <a:srgbClr val="ECEFF3"/>
                </a:solidFill>
                <a:latin typeface="Arial"/>
              </a:rPr>
              <a:t>[your group], Nat Commun 2026 (DOI 10.1038/s41467-026-70637-3), Fig. 6.</a:t>
            </a:r>
          </a:p>
        </p:txBody>
      </p:sp>
      <p:sp>
        <p:nvSpPr>
          <p:cNvPr id="7" name="Rounded Rectangle 6"/>
          <p:cNvSpPr/>
          <p:nvPr/>
        </p:nvSpPr>
        <p:spPr>
          <a:xfrm>
            <a:off x="6775704" y="1752693"/>
            <a:ext cx="4965192" cy="3444053"/>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59aec28596.png"/>
          <p:cNvPicPr>
            <a:picLocks noChangeAspect="1"/>
          </p:cNvPicPr>
          <p:nvPr/>
        </p:nvPicPr>
        <p:blipFill>
          <a:blip r:embed="rId3"/>
          <a:stretch>
            <a:fillRect/>
          </a:stretch>
        </p:blipFill>
        <p:spPr>
          <a:xfrm>
            <a:off x="6858000" y="1834989"/>
            <a:ext cx="4800600" cy="327946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 · NOT ONLY BREAST</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Head CT: </a:t>
            </a:r>
            <a:r>
              <a:rPr sz="2600" b="0">
                <a:solidFill>
                  <a:srgbClr val="E7AC51"/>
                </a:solidFill>
                <a:latin typeface="Arial"/>
              </a:rPr>
              <a:t>intracranial hemorrhage.</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 commercial ICH detector looked strong overall — but sensitivity </a:t>
            </a:r>
            <a:r>
              <a:rPr sz="1400" b="1">
                <a:solidFill>
                  <a:srgbClr val="ECEFF3"/>
                </a:solidFill>
                <a:latin typeface="Arial"/>
              </a:rPr>
              <a:t>collapsed for subacute and chronic</a:t>
            </a:r>
            <a:r>
              <a:rPr sz="1400" b="0">
                <a:solidFill>
                  <a:srgbClr val="9DA9B5"/>
                </a:solidFill>
                <a:latin typeface="Arial"/>
              </a:rPr>
              <a:t> bleeds, and fell in the </a:t>
            </a:r>
            <a:r>
              <a:rPr sz="1400" b="1">
                <a:solidFill>
                  <a:srgbClr val="ECEFF3"/>
                </a:solidFill>
                <a:latin typeface="Arial"/>
              </a:rPr>
              <a:t>outpatient</a:t>
            </a:r>
            <a:r>
              <a:rPr sz="1400" b="0">
                <a:solidFill>
                  <a:srgbClr val="9DA9B5"/>
                </a:solidFill>
                <a:latin typeface="Arial"/>
              </a:rPr>
              <a:t> setting.</a:t>
            </a:r>
          </a:p>
        </p:txBody>
      </p:sp>
      <p:sp>
        <p:nvSpPr>
          <p:cNvPr id="6" name="TextBox 5"/>
          <p:cNvSpPr txBox="1"/>
          <p:nvPr/>
        </p:nvSpPr>
        <p:spPr>
          <a:xfrm>
            <a:off x="548640" y="2029459"/>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82.2%</a:t>
            </a:r>
          </a:p>
        </p:txBody>
      </p:sp>
      <p:sp>
        <p:nvSpPr>
          <p:cNvPr id="7" name="TextBox 6"/>
          <p:cNvSpPr txBox="1"/>
          <p:nvPr/>
        </p:nvSpPr>
        <p:spPr>
          <a:xfrm>
            <a:off x="548640" y="247446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Overall sensitivity</a:t>
            </a:r>
          </a:p>
        </p:txBody>
      </p:sp>
      <p:sp>
        <p:nvSpPr>
          <p:cNvPr id="8" name="TextBox 7"/>
          <p:cNvSpPr txBox="1"/>
          <p:nvPr/>
        </p:nvSpPr>
        <p:spPr>
          <a:xfrm>
            <a:off x="548640" y="2815590"/>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D9785B"/>
                </a:solidFill>
                <a:latin typeface="Arial"/>
              </a:rPr>
              <a:t>45.5%</a:t>
            </a:r>
          </a:p>
        </p:txBody>
      </p:sp>
      <p:sp>
        <p:nvSpPr>
          <p:cNvPr id="9" name="TextBox 8"/>
          <p:cNvSpPr txBox="1"/>
          <p:nvPr/>
        </p:nvSpPr>
        <p:spPr>
          <a:xfrm>
            <a:off x="548640" y="326059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Subacute bleeds</a:t>
            </a:r>
          </a:p>
        </p:txBody>
      </p:sp>
      <p:sp>
        <p:nvSpPr>
          <p:cNvPr id="10" name="TextBox 9"/>
          <p:cNvSpPr txBox="1"/>
          <p:nvPr/>
        </p:nvSpPr>
        <p:spPr>
          <a:xfrm>
            <a:off x="548640" y="3601720"/>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D9785B"/>
                </a:solidFill>
                <a:latin typeface="Arial"/>
              </a:rPr>
              <a:t>54.8%</a:t>
            </a:r>
          </a:p>
        </p:txBody>
      </p:sp>
      <p:sp>
        <p:nvSpPr>
          <p:cNvPr id="11" name="TextBox 10"/>
          <p:cNvSpPr txBox="1"/>
          <p:nvPr/>
        </p:nvSpPr>
        <p:spPr>
          <a:xfrm>
            <a:off x="548640" y="404672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Chronic bleeds</a:t>
            </a:r>
          </a:p>
        </p:txBody>
      </p:sp>
      <p:sp>
        <p:nvSpPr>
          <p:cNvPr id="12" name="TextBox 11"/>
          <p:cNvSpPr txBox="1"/>
          <p:nvPr/>
        </p:nvSpPr>
        <p:spPr>
          <a:xfrm>
            <a:off x="548640" y="4387850"/>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5FB7C9"/>
                </a:solidFill>
                <a:latin typeface="Arial"/>
              </a:rPr>
              <a:t>72.2%</a:t>
            </a:r>
          </a:p>
        </p:txBody>
      </p:sp>
      <p:sp>
        <p:nvSpPr>
          <p:cNvPr id="13" name="TextBox 12"/>
          <p:cNvSpPr txBox="1"/>
          <p:nvPr/>
        </p:nvSpPr>
        <p:spPr>
          <a:xfrm>
            <a:off x="548640" y="4832857"/>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Outpatient setting</a:t>
            </a:r>
          </a:p>
        </p:txBody>
      </p:sp>
      <p:sp>
        <p:nvSpPr>
          <p:cNvPr id="14" name="TextBox 13"/>
          <p:cNvSpPr txBox="1"/>
          <p:nvPr/>
        </p:nvSpPr>
        <p:spPr>
          <a:xfrm>
            <a:off x="548640" y="517397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[your group], npj Digital Medicine 2025.</a:t>
            </a:r>
          </a:p>
        </p:txBody>
      </p:sp>
      <p:sp>
        <p:nvSpPr>
          <p:cNvPr id="15" name="TextBox 14"/>
          <p:cNvSpPr txBox="1"/>
          <p:nvPr/>
        </p:nvSpPr>
        <p:spPr>
          <a:xfrm>
            <a:off x="548640" y="5515101"/>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GIF</a:t>
            </a:r>
          </a:p>
        </p:txBody>
      </p:sp>
      <p:sp>
        <p:nvSpPr>
          <p:cNvPr id="16" name="TextBox 15"/>
          <p:cNvSpPr txBox="1"/>
          <p:nvPr/>
        </p:nvSpPr>
        <p:spPr>
          <a:xfrm>
            <a:off x="548640" y="5856223"/>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to be added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 · NOT ONLY BREAST</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Chest CT: </a:t>
            </a:r>
            <a:r>
              <a:rPr sz="2600" b="0">
                <a:solidFill>
                  <a:srgbClr val="E7AC51"/>
                </a:solidFill>
                <a:latin typeface="Arial"/>
              </a:rPr>
              <a:t>pulmonary embolism.</a:t>
            </a:r>
          </a:p>
        </p:txBody>
      </p:sp>
      <p:sp>
        <p:nvSpPr>
          <p:cNvPr id="5" name="TextBox 4"/>
          <p:cNvSpPr txBox="1"/>
          <p:nvPr/>
        </p:nvSpPr>
        <p:spPr>
          <a:xfrm>
            <a:off x="548640" y="186232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An FDA-cleared model (</a:t>
            </a:r>
            <a:r>
              <a:rPr sz="1400" b="1">
                <a:solidFill>
                  <a:srgbClr val="ECEFF3"/>
                </a:solidFill>
                <a:latin typeface="Arial"/>
              </a:rPr>
              <a:t>510(k): 94.9% sens</a:t>
            </a:r>
            <a:r>
              <a:rPr sz="1400" b="0">
                <a:solidFill>
                  <a:srgbClr val="9DA9B5"/>
                </a:solidFill>
                <a:latin typeface="Arial"/>
              </a:rPr>
              <a:t>) on two years of real-world CTPA: </a:t>
            </a:r>
            <a:r>
              <a:rPr sz="1400" b="1">
                <a:solidFill>
                  <a:srgbClr val="ECEFF3"/>
                </a:solidFill>
                <a:latin typeface="Arial"/>
              </a:rPr>
              <a:t>86.8%</a:t>
            </a:r>
            <a:r>
              <a:rPr sz="1400" b="0">
                <a:solidFill>
                  <a:srgbClr val="9DA9B5"/>
                </a:solidFill>
                <a:latin typeface="Arial"/>
              </a:rPr>
              <a:t> overall — but far lower for non-acute, small (subsegmental), left-sided, and </a:t>
            </a:r>
            <a:r>
              <a:rPr sz="1400" b="1">
                <a:solidFill>
                  <a:srgbClr val="ECEFF3"/>
                </a:solidFill>
                <a:latin typeface="Arial"/>
              </a:rPr>
              <a:t>incidental</a:t>
            </a:r>
            <a:r>
              <a:rPr sz="1400" b="0">
                <a:solidFill>
                  <a:srgbClr val="9DA9B5"/>
                </a:solidFill>
                <a:latin typeface="Arial"/>
              </a:rPr>
              <a:t> clots.</a:t>
            </a:r>
          </a:p>
        </p:txBody>
      </p:sp>
      <p:sp>
        <p:nvSpPr>
          <p:cNvPr id="6" name="TextBox 5"/>
          <p:cNvSpPr txBox="1"/>
          <p:nvPr/>
        </p:nvSpPr>
        <p:spPr>
          <a:xfrm>
            <a:off x="548640" y="2870200"/>
            <a:ext cx="6126480" cy="550163"/>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Sensitivity vs FDA 510(k) clearance. [your group], unpublished — Aidoc PE / iPE triage evaluation, 30,678 CTPA + 37,272 routine CT (2023–2025).</a:t>
            </a:r>
          </a:p>
        </p:txBody>
      </p:sp>
      <p:pic>
        <p:nvPicPr>
          <p:cNvPr id="7" name="Picture 6" descr="svg_f751375401.png"/>
          <p:cNvPicPr>
            <a:picLocks noChangeAspect="1"/>
          </p:cNvPicPr>
          <p:nvPr/>
        </p:nvPicPr>
        <p:blipFill>
          <a:blip r:embed="rId3"/>
          <a:stretch>
            <a:fillRect/>
          </a:stretch>
        </p:blipFill>
        <p:spPr>
          <a:xfrm>
            <a:off x="6858000" y="2506857"/>
            <a:ext cx="4800600" cy="1935725"/>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 · OPEN DATA</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Emory Breast Imaging Dataset </a:t>
            </a:r>
            <a:r>
              <a:rPr sz="2600" b="0">
                <a:solidFill>
                  <a:srgbClr val="E7AC51"/>
                </a:solidFill>
                <a:latin typeface="Arial"/>
              </a:rPr>
              <a:t>(EMBED).</a:t>
            </a:r>
          </a:p>
        </p:txBody>
      </p:sp>
      <p:sp>
        <p:nvSpPr>
          <p:cNvPr id="5" name="TextBox 4"/>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Free to researchers through the </a:t>
            </a:r>
            <a:r>
              <a:rPr sz="1400" b="1">
                <a:solidFill>
                  <a:srgbClr val="ECEFF3"/>
                </a:solidFill>
                <a:latin typeface="Arial"/>
              </a:rPr>
              <a:t>AWS Open Data Program.</a:t>
            </a:r>
          </a:p>
        </p:txBody>
      </p:sp>
      <p:sp>
        <p:nvSpPr>
          <p:cNvPr id="6" name="TextBox 5"/>
          <p:cNvSpPr txBox="1"/>
          <p:nvPr/>
        </p:nvSpPr>
        <p:spPr>
          <a:xfrm>
            <a:off x="548640" y="180720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EMBED v2 — in progress</a:t>
            </a:r>
          </a:p>
        </p:txBody>
      </p:sp>
      <p:sp>
        <p:nvSpPr>
          <p:cNvPr id="7" name="TextBox 6"/>
          <p:cNvSpPr txBox="1"/>
          <p:nvPr/>
        </p:nvSpPr>
        <p:spPr>
          <a:xfrm>
            <a:off x="548640" y="2148332"/>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~300,000 </a:t>
            </a:r>
            <a:r>
              <a:rPr sz="1200" b="1">
                <a:solidFill>
                  <a:srgbClr val="ECEFF3"/>
                </a:solidFill>
                <a:latin typeface="Arial"/>
              </a:rPr>
              <a:t>patients</a:t>
            </a:r>
          </a:p>
        </p:txBody>
      </p:sp>
      <p:sp>
        <p:nvSpPr>
          <p:cNvPr id="8" name="TextBox 7"/>
          <p:cNvSpPr txBox="1"/>
          <p:nvPr/>
        </p:nvSpPr>
        <p:spPr>
          <a:xfrm>
            <a:off x="548640" y="2419604"/>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~1M </a:t>
            </a:r>
            <a:r>
              <a:rPr sz="1200" b="1">
                <a:solidFill>
                  <a:srgbClr val="ECEFF3"/>
                </a:solidFill>
                <a:latin typeface="Arial"/>
              </a:rPr>
              <a:t>exams</a:t>
            </a:r>
            <a:r>
              <a:rPr sz="1200" b="0">
                <a:solidFill>
                  <a:srgbClr val="ECEFF3"/>
                </a:solidFill>
                <a:latin typeface="Arial"/>
              </a:rPr>
              <a:t> (2D · DBT · US · MRI)</a:t>
            </a:r>
          </a:p>
        </p:txBody>
      </p:sp>
      <p:sp>
        <p:nvSpPr>
          <p:cNvPr id="9" name="TextBox 8"/>
          <p:cNvSpPr txBox="1"/>
          <p:nvPr/>
        </p:nvSpPr>
        <p:spPr>
          <a:xfrm>
            <a:off x="548640" y="2690876"/>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Free-text </a:t>
            </a:r>
            <a:r>
              <a:rPr sz="1200" b="1">
                <a:solidFill>
                  <a:srgbClr val="ECEFF3"/>
                </a:solidFill>
                <a:latin typeface="Arial"/>
              </a:rPr>
              <a:t>reports</a:t>
            </a:r>
          </a:p>
        </p:txBody>
      </p:sp>
      <p:sp>
        <p:nvSpPr>
          <p:cNvPr id="10" name="TextBox 9"/>
          <p:cNvSpPr txBox="1"/>
          <p:nvPr/>
        </p:nvSpPr>
        <p:spPr>
          <a:xfrm>
            <a:off x="548640" y="2962148"/>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Patient </a:t>
            </a:r>
            <a:r>
              <a:rPr sz="1200" b="1">
                <a:solidFill>
                  <a:srgbClr val="ECEFF3"/>
                </a:solidFill>
                <a:latin typeface="Arial"/>
              </a:rPr>
              <a:t>risk data</a:t>
            </a:r>
          </a:p>
        </p:txBody>
      </p:sp>
      <p:sp>
        <p:nvSpPr>
          <p:cNvPr id="11" name="TextBox 10"/>
          <p:cNvSpPr txBox="1"/>
          <p:nvPr/>
        </p:nvSpPr>
        <p:spPr>
          <a:xfrm>
            <a:off x="548640" y="3233420"/>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Outcomes </a:t>
            </a:r>
            <a:r>
              <a:rPr sz="1200" b="1">
                <a:solidFill>
                  <a:srgbClr val="ECEFF3"/>
                </a:solidFill>
                <a:latin typeface="Arial"/>
              </a:rPr>
              <a:t>registry-harmonized</a:t>
            </a:r>
          </a:p>
        </p:txBody>
      </p:sp>
      <p:sp>
        <p:nvSpPr>
          <p:cNvPr id="12" name="TextBox 11"/>
          <p:cNvSpPr txBox="1"/>
          <p:nvPr/>
        </p:nvSpPr>
        <p:spPr>
          <a:xfrm>
            <a:off x="548640" y="3504692"/>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v1: [your group], Radiology: Artificial Intelligence 2023 (Fig. 1). — aws.amazon.com/opendata</a:t>
            </a:r>
          </a:p>
        </p:txBody>
      </p:sp>
      <p:sp>
        <p:nvSpPr>
          <p:cNvPr id="13" name="TextBox 12"/>
          <p:cNvSpPr txBox="1"/>
          <p:nvPr/>
        </p:nvSpPr>
        <p:spPr>
          <a:xfrm>
            <a:off x="548640" y="374294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Map — EMBED users by country</a:t>
            </a:r>
          </a:p>
        </p:txBody>
      </p:sp>
      <p:sp>
        <p:nvSpPr>
          <p:cNvPr id="14" name="TextBox 13"/>
          <p:cNvSpPr txBox="1"/>
          <p:nvPr/>
        </p:nvSpPr>
        <p:spPr>
          <a:xfrm>
            <a:off x="548640" y="408406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drop in PNG ]</a:t>
            </a:r>
          </a:p>
        </p:txBody>
      </p:sp>
      <p:sp>
        <p:nvSpPr>
          <p:cNvPr id="15" name="TextBox 14"/>
          <p:cNvSpPr txBox="1"/>
          <p:nvPr/>
        </p:nvSpPr>
        <p:spPr>
          <a:xfrm>
            <a:off x="548640" y="44251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opt: EMBED v1 schematic — Radiology: AI,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 · 2026 → ERA III</a:t>
            </a:r>
          </a:p>
        </p:txBody>
      </p:sp>
      <p:sp>
        <p:nvSpPr>
          <p:cNvPr id="4" name="TextBox 3"/>
          <p:cNvSpPr txBox="1"/>
          <p:nvPr/>
        </p:nvSpPr>
        <p:spPr>
          <a:xfrm>
            <a:off x="548640" y="868680"/>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We are at the </a:t>
            </a:r>
            <a:r>
              <a:rPr sz="3200" b="0">
                <a:solidFill>
                  <a:srgbClr val="E7AC51"/>
                </a:solidFill>
                <a:latin typeface="Arial"/>
              </a:rPr>
              <a:t>brink of Era III.</a:t>
            </a:r>
          </a:p>
        </p:txBody>
      </p:sp>
      <p:sp>
        <p:nvSpPr>
          <p:cNvPr id="5" name="TextBox 4"/>
          <p:cNvSpPr txBox="1"/>
          <p:nvPr/>
        </p:nvSpPr>
        <p:spPr>
          <a:xfrm>
            <a:off x="548640" y="1557527"/>
            <a:ext cx="10881360" cy="67106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Detection is proven. But the same 2026 image — and the tissue that follows it — already tells us more than </a:t>
            </a:r>
            <a:r>
              <a:rPr sz="1700" b="1">
                <a:solidFill>
                  <a:srgbClr val="ECEFF3"/>
                </a:solidFill>
                <a:latin typeface="Arial"/>
              </a:rPr>
              <a:t>"is there cancer today?"</a:t>
            </a:r>
          </a:p>
        </p:txBody>
      </p:sp>
      <p:sp>
        <p:nvSpPr>
          <p:cNvPr id="6" name="TextBox 5"/>
          <p:cNvSpPr txBox="1"/>
          <p:nvPr/>
        </p:nvSpPr>
        <p:spPr>
          <a:xfrm>
            <a:off x="548640" y="2246884"/>
            <a:ext cx="10881360" cy="871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From one screening mammogram and its biopsy: a </a:t>
            </a:r>
            <a:r>
              <a:rPr sz="1600" b="1">
                <a:solidFill>
                  <a:srgbClr val="ECEFF3"/>
                </a:solidFill>
                <a:latin typeface="Arial"/>
              </a:rPr>
              <a:t>future-risk</a:t>
            </a:r>
            <a:r>
              <a:rPr sz="1600" b="0">
                <a:solidFill>
                  <a:srgbClr val="9DA9B5"/>
                </a:solidFill>
                <a:latin typeface="Arial"/>
              </a:rPr>
              <a:t> estimate, a </a:t>
            </a:r>
            <a:r>
              <a:rPr sz="1600" b="1">
                <a:solidFill>
                  <a:srgbClr val="ECEFF3"/>
                </a:solidFill>
                <a:latin typeface="Arial"/>
              </a:rPr>
              <a:t>cardiovascular</a:t>
            </a:r>
            <a:r>
              <a:rPr sz="1600" b="0">
                <a:solidFill>
                  <a:srgbClr val="9DA9B5"/>
                </a:solidFill>
                <a:latin typeface="Arial"/>
              </a:rPr>
              <a:t> signal, and a </a:t>
            </a:r>
            <a:r>
              <a:rPr sz="1600" b="1">
                <a:solidFill>
                  <a:srgbClr val="ECEFF3"/>
                </a:solidFill>
                <a:latin typeface="Arial"/>
              </a:rPr>
              <a:t>molecular recurrence</a:t>
            </a:r>
            <a:r>
              <a:rPr sz="1600" b="0">
                <a:solidFill>
                  <a:srgbClr val="9DA9B5"/>
                </a:solidFill>
                <a:latin typeface="Arial"/>
              </a:rPr>
              <a:t> score. The shift from finding the lesion to </a:t>
            </a:r>
            <a:r>
              <a:rPr sz="1600" b="1">
                <a:solidFill>
                  <a:srgbClr val="ECEFF3"/>
                </a:solidFill>
                <a:latin typeface="Arial"/>
              </a:rPr>
              <a:t>characterizing the patient</a:t>
            </a:r>
            <a:r>
              <a:rPr sz="1600" b="0">
                <a:solidFill>
                  <a:srgbClr val="9DA9B5"/>
                </a:solidFill>
                <a:latin typeface="Arial"/>
              </a:rPr>
              <a:t> — and much of it is available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For 40 years, the only risk signal we could read off the image was </a:t>
            </a:r>
            <a:r>
              <a:rPr sz="1400" b="0">
                <a:solidFill>
                  <a:srgbClr val="E7AC51"/>
                </a:solidFill>
                <a:latin typeface="Arial"/>
              </a:rPr>
              <a:t>density</a:t>
            </a:r>
            <a:r>
              <a:rPr sz="1400" b="0">
                <a:solidFill>
                  <a:srgbClr val="9DA9B5"/>
                </a:solidFill>
                <a:latin typeface="Arial"/>
              </a:rPr>
              <a:t>. The clinical models layered on top — </a:t>
            </a:r>
            <a:r>
              <a:rPr sz="1400" b="0">
                <a:solidFill>
                  <a:srgbClr val="E7AC51"/>
                </a:solidFill>
                <a:latin typeface="Arial"/>
              </a:rPr>
              <a:t>Gail</a:t>
            </a:r>
            <a:r>
              <a:rPr sz="1400" b="0">
                <a:solidFill>
                  <a:srgbClr val="9DA9B5"/>
                </a:solidFill>
                <a:latin typeface="Arial"/>
              </a:rPr>
              <a:t> and </a:t>
            </a:r>
            <a:r>
              <a:rPr sz="1400" b="0">
                <a:solidFill>
                  <a:srgbClr val="E7AC51"/>
                </a:solidFill>
                <a:latin typeface="Arial"/>
              </a:rPr>
              <a:t>Tyrer-Cuzick</a:t>
            </a:r>
            <a:r>
              <a:rPr sz="1400" b="0">
                <a:solidFill>
                  <a:srgbClr val="9DA9B5"/>
                </a:solidFill>
                <a:latin typeface="Arial"/>
              </a:rPr>
              <a:t> — were hardly better than a coin flip.</a:t>
            </a:r>
          </a:p>
        </p:txBody>
      </p:sp>
      <p:sp>
        <p:nvSpPr>
          <p:cNvPr id="5" name="TextBox 4"/>
          <p:cNvSpPr txBox="1"/>
          <p:nvPr/>
        </p:nvSpPr>
        <p:spPr>
          <a:xfrm>
            <a:off x="548640" y="1432052"/>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Gail · Tyrer-Cuzick · BCSC — questionnaire + density models</a:t>
            </a:r>
          </a:p>
        </p:txBody>
      </p:sp>
      <p:sp>
        <p:nvSpPr>
          <p:cNvPr id="6" name="TextBox 5"/>
          <p:cNvSpPr txBox="1"/>
          <p:nvPr/>
        </p:nvSpPr>
        <p:spPr>
          <a:xfrm>
            <a:off x="548640" y="167030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~0.62</a:t>
            </a:r>
          </a:p>
        </p:txBody>
      </p:sp>
      <p:sp>
        <p:nvSpPr>
          <p:cNvPr id="7" name="TextBox 6"/>
          <p:cNvSpPr txBox="1"/>
          <p:nvPr/>
        </p:nvSpPr>
        <p:spPr>
          <a:xfrm>
            <a:off x="548640" y="201142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Tyrer-Cuzick v8 · 5-yr AUC</a:t>
            </a:r>
          </a:p>
        </p:txBody>
      </p:sp>
      <p:sp>
        <p:nvSpPr>
          <p:cNvPr id="8" name="TextBox 7"/>
          <p:cNvSpPr txBox="1"/>
          <p:nvPr/>
        </p:nvSpPr>
        <p:spPr>
          <a:xfrm>
            <a:off x="548640" y="235254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~0.55–0.58</a:t>
            </a:r>
          </a:p>
        </p:txBody>
      </p:sp>
      <p:sp>
        <p:nvSpPr>
          <p:cNvPr id="9" name="TextBox 8"/>
          <p:cNvSpPr txBox="1"/>
          <p:nvPr/>
        </p:nvSpPr>
        <p:spPr>
          <a:xfrm>
            <a:off x="548640" y="269367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Gail model · 5-yr AUC</a:t>
            </a:r>
          </a:p>
        </p:txBody>
      </p:sp>
      <p:sp>
        <p:nvSpPr>
          <p:cNvPr id="10" name="TextBox 9"/>
          <p:cNvSpPr txBox="1"/>
          <p:nvPr/>
        </p:nvSpPr>
        <p:spPr>
          <a:xfrm>
            <a:off x="548640" y="3034792"/>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Coin flip is 0.50.</a:t>
            </a:r>
          </a:p>
          <a:p>
            <a:pPr algn="l">
              <a:lnSpc>
                <a:spcPct val="125000"/>
              </a:lnSpc>
              <a:spcAft>
                <a:spcPts val="400"/>
              </a:spcAft>
            </a:pPr>
            <a:r>
              <a:rPr sz="1400" b="0">
                <a:solidFill>
                  <a:srgbClr val="9DA9B5"/>
                </a:solidFill>
                <a:latin typeface="Arial"/>
              </a:rPr>
              <a:t>For the woman in front of you, barely above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7AC51"/>
                </a:solidFill>
                <a:latin typeface="Arial"/>
              </a:rPr>
              <a:t>Image-based risk</a:t>
            </a:r>
            <a:r>
              <a:rPr sz="2600" b="0">
                <a:solidFill>
                  <a:srgbClr val="ECEFF3"/>
                </a:solidFill>
                <a:latin typeface="Arial"/>
              </a:rPr>
              <a:t> — Mirai and a de novo FDA clearance.</a:t>
            </a:r>
          </a:p>
        </p:txBody>
      </p:sp>
      <p:sp>
        <p:nvSpPr>
          <p:cNvPr id="5" name="TextBox 4"/>
          <p:cNvSpPr txBox="1"/>
          <p:nvPr/>
        </p:nvSpPr>
        <p:spPr>
          <a:xfrm>
            <a:off x="548640" y="1862328"/>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0.76–0.81</a:t>
            </a:r>
          </a:p>
        </p:txBody>
      </p:sp>
      <p:sp>
        <p:nvSpPr>
          <p:cNvPr id="6" name="TextBox 5"/>
          <p:cNvSpPr txBox="1"/>
          <p:nvPr/>
        </p:nvSpPr>
        <p:spPr>
          <a:xfrm>
            <a:off x="548640" y="2307336"/>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Mirai C-index · 3 countries</a:t>
            </a:r>
          </a:p>
        </p:txBody>
      </p:sp>
      <p:sp>
        <p:nvSpPr>
          <p:cNvPr id="7" name="TextBox 6"/>
          <p:cNvSpPr txBox="1"/>
          <p:nvPr/>
        </p:nvSpPr>
        <p:spPr>
          <a:xfrm>
            <a:off x="548640" y="2648458"/>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&lt; 5 yr</a:t>
            </a:r>
          </a:p>
        </p:txBody>
      </p:sp>
      <p:sp>
        <p:nvSpPr>
          <p:cNvPr id="8" name="TextBox 7"/>
          <p:cNvSpPr txBox="1"/>
          <p:nvPr/>
        </p:nvSpPr>
        <p:spPr>
          <a:xfrm>
            <a:off x="548640" y="3093466"/>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research → cleared → guideline</a:t>
            </a:r>
          </a:p>
        </p:txBody>
      </p:sp>
      <p:pic>
        <p:nvPicPr>
          <p:cNvPr id="9" name="Picture 8" descr="svg_39113bbbe0.png"/>
          <p:cNvPicPr>
            <a:picLocks noChangeAspect="1"/>
          </p:cNvPicPr>
          <p:nvPr/>
        </p:nvPicPr>
        <p:blipFill>
          <a:blip r:embed="rId3"/>
          <a:stretch>
            <a:fillRect/>
          </a:stretch>
        </p:blipFill>
        <p:spPr>
          <a:xfrm>
            <a:off x="6858000" y="1674494"/>
            <a:ext cx="4800600" cy="360045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AsymMirai — </a:t>
            </a:r>
            <a:r>
              <a:rPr sz="1400" b="0">
                <a:solidFill>
                  <a:srgbClr val="E7AC51"/>
                </a:solidFill>
                <a:latin typeface="Arial"/>
              </a:rPr>
              <a:t>an explainable risk model.</a:t>
            </a:r>
          </a:p>
        </p:txBody>
      </p:sp>
      <p:sp>
        <p:nvSpPr>
          <p:cNvPr id="5" name="TextBox 4"/>
          <p:cNvSpPr txBox="1"/>
          <p:nvPr/>
        </p:nvSpPr>
        <p:spPr>
          <a:xfrm>
            <a:off x="548640" y="1209802"/>
            <a:ext cx="6126480" cy="219964"/>
          </a:xfrm>
          <a:prstGeom prst="rect">
            <a:avLst/>
          </a:prstGeom>
          <a:noFill/>
        </p:spPr>
        <p:txBody>
          <a:bodyPr wrap="square" lIns="25400" rIns="25400" tIns="12700" bIns="12700">
            <a:noAutofit/>
          </a:bodyPr>
          <a:lstStyle/>
          <a:p>
            <a:pPr algn="l">
              <a:lnSpc>
                <a:spcPct val="114000"/>
              </a:lnSpc>
              <a:spcAft>
                <a:spcPts val="400"/>
              </a:spcAft>
            </a:pPr>
            <a:r>
              <a:rPr sz="1000" b="1">
                <a:solidFill>
                  <a:srgbClr val="E7AC51"/>
                </a:solidFill>
                <a:latin typeface="Consolas"/>
              </a:rPr>
              <a:t>1-yr AUC 0.79</a:t>
            </a:r>
            <a:r>
              <a:rPr sz="1000" b="0">
                <a:solidFill>
                  <a:srgbClr val="5C6975"/>
                </a:solidFill>
                <a:latin typeface="Consolas"/>
              </a:rPr>
              <a:t> vs Mirai 0.84 · </a:t>
            </a:r>
            <a:r>
              <a:rPr sz="1000" b="1">
                <a:solidFill>
                  <a:srgbClr val="E7AC51"/>
                </a:solidFill>
                <a:latin typeface="Consolas"/>
              </a:rPr>
              <a:t>3-yr AUC 0.92</a:t>
            </a:r>
            <a:r>
              <a:rPr sz="1000" b="0">
                <a:solidFill>
                  <a:srgbClr val="5C6975"/>
                </a:solidFill>
                <a:latin typeface="Consolas"/>
              </a:rPr>
              <a:t> (stable tissue)</a:t>
            </a:r>
          </a:p>
        </p:txBody>
      </p:sp>
      <p:sp>
        <p:nvSpPr>
          <p:cNvPr id="6" name="Rounded Rectangle 5"/>
          <p:cNvSpPr/>
          <p:nvPr/>
        </p:nvSpPr>
        <p:spPr>
          <a:xfrm>
            <a:off x="6775704" y="1996995"/>
            <a:ext cx="4965192" cy="295544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a5bc477317.jpg"/>
          <p:cNvPicPr>
            <a:picLocks noChangeAspect="1"/>
          </p:cNvPicPr>
          <p:nvPr/>
        </p:nvPicPr>
        <p:blipFill>
          <a:blip r:embed="rId3"/>
          <a:stretch>
            <a:fillRect/>
          </a:stretch>
        </p:blipFill>
        <p:spPr>
          <a:xfrm>
            <a:off x="6858000" y="2079291"/>
            <a:ext cx="4800600" cy="2790857"/>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Breast Arterial Calcification (BAC) as a </a:t>
            </a:r>
            <a:r>
              <a:rPr sz="2600" b="0">
                <a:solidFill>
                  <a:srgbClr val="E7AC51"/>
                </a:solidFill>
                <a:latin typeface="Arial"/>
              </a:rPr>
              <a:t>continuous measurement (mm²).</a:t>
            </a:r>
          </a:p>
        </p:txBody>
      </p:sp>
      <p:sp>
        <p:nvSpPr>
          <p:cNvPr id="5" name="TextBox 4"/>
          <p:cNvSpPr txBox="1"/>
          <p:nvPr/>
        </p:nvSpPr>
        <p:spPr>
          <a:xfrm>
            <a:off x="548640" y="225856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 transformer segments breast arterial calcification on the routine mammogram and quantifies its area — turning an incidental finding into a </a:t>
            </a:r>
            <a:r>
              <a:rPr sz="1400" b="1">
                <a:solidFill>
                  <a:srgbClr val="ECEFF3"/>
                </a:solidFill>
                <a:latin typeface="Arial"/>
              </a:rPr>
              <a:t>graded, quantitative risk marker.</a:t>
            </a:r>
          </a:p>
        </p:txBody>
      </p:sp>
      <p:sp>
        <p:nvSpPr>
          <p:cNvPr id="6" name="TextBox 5"/>
          <p:cNvSpPr txBox="1"/>
          <p:nvPr/>
        </p:nvSpPr>
        <p:spPr>
          <a:xfrm>
            <a:off x="548640" y="3266439"/>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Segmentation: SCU-Net (your group). Dapamede et al., Eur Heart J 2026;47(18):2206–2220.</a:t>
            </a:r>
          </a:p>
        </p:txBody>
      </p:sp>
      <p:sp>
        <p:nvSpPr>
          <p:cNvPr id="7" name="Rounded Rectangle 6"/>
          <p:cNvSpPr/>
          <p:nvPr/>
        </p:nvSpPr>
        <p:spPr>
          <a:xfrm>
            <a:off x="7748174" y="832104"/>
            <a:ext cx="3020251" cy="528523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ebbc2d2c9e.jpg"/>
          <p:cNvPicPr>
            <a:picLocks noChangeAspect="1"/>
          </p:cNvPicPr>
          <p:nvPr/>
        </p:nvPicPr>
        <p:blipFill>
          <a:blip r:embed="rId3"/>
          <a:stretch>
            <a:fillRect/>
          </a:stretch>
        </p:blipFill>
        <p:spPr>
          <a:xfrm>
            <a:off x="7830470" y="914400"/>
            <a:ext cx="2855659" cy="512064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BAC predicts MACE — </a:t>
            </a:r>
            <a:r>
              <a:rPr sz="1400" b="0">
                <a:solidFill>
                  <a:srgbClr val="E7AC51"/>
                </a:solidFill>
                <a:latin typeface="Arial"/>
              </a:rPr>
              <a:t>more calcium, more risk.</a:t>
            </a:r>
          </a:p>
        </p:txBody>
      </p:sp>
      <p:sp>
        <p:nvSpPr>
          <p:cNvPr id="5" name="TextBox 4"/>
          <p:cNvSpPr txBox="1"/>
          <p:nvPr/>
        </p:nvSpPr>
        <p:spPr>
          <a:xfrm>
            <a:off x="548640" y="1209802"/>
            <a:ext cx="6126480" cy="7764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~120,000 women</a:t>
            </a:r>
            <a:r>
              <a:rPr sz="1400" b="0">
                <a:solidFill>
                  <a:srgbClr val="9DA9B5"/>
                </a:solidFill>
                <a:latin typeface="Arial"/>
              </a:rPr>
              <a:t>, two sites, racially diverse. Dose-response: </a:t>
            </a:r>
            <a:r>
              <a:rPr sz="1400" b="1">
                <a:solidFill>
                  <a:srgbClr val="ECEFF3"/>
                </a:solidFill>
                <a:latin typeface="Arial"/>
              </a:rPr>
              <a:t>mild HR 1.18–1.22 · moderate 1.38–1.47 · severe 2.03–2.22</a:t>
            </a:r>
            <a:r>
              <a:rPr sz="1400" b="0">
                <a:solidFill>
                  <a:srgbClr val="9DA9B5"/>
                </a:solidFill>
                <a:latin typeface="Arial"/>
              </a:rPr>
              <a:t>.</a:t>
            </a:r>
          </a:p>
        </p:txBody>
      </p:sp>
      <p:sp>
        <p:nvSpPr>
          <p:cNvPr id="6" name="TextBox 5"/>
          <p:cNvSpPr txBox="1"/>
          <p:nvPr/>
        </p:nvSpPr>
        <p:spPr>
          <a:xfrm>
            <a:off x="548640" y="1995424"/>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Event-free survival by BAC severity — Any MACE, AMI, stroke, HF, death. </a:t>
            </a:r>
            <a:r>
              <a:rPr sz="1000" b="1">
                <a:solidFill>
                  <a:srgbClr val="ECEFF3"/>
                </a:solidFill>
                <a:latin typeface="Consolas"/>
              </a:rPr>
              <a:t>Dapamede et al., Eur Heart J Open 2025.</a:t>
            </a:r>
          </a:p>
        </p:txBody>
      </p:sp>
      <p:sp>
        <p:nvSpPr>
          <p:cNvPr id="7" name="Rounded Rectangle 6"/>
          <p:cNvSpPr/>
          <p:nvPr/>
        </p:nvSpPr>
        <p:spPr>
          <a:xfrm>
            <a:off x="6775704" y="2961183"/>
            <a:ext cx="4965192" cy="102707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06d0d2a955.jpg"/>
          <p:cNvPicPr>
            <a:picLocks noChangeAspect="1"/>
          </p:cNvPicPr>
          <p:nvPr/>
        </p:nvPicPr>
        <p:blipFill>
          <a:blip r:embed="rId3"/>
          <a:stretch>
            <a:fillRect/>
          </a:stretch>
        </p:blipFill>
        <p:spPr>
          <a:xfrm>
            <a:off x="6858000" y="3043479"/>
            <a:ext cx="4800600" cy="8624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PAD.</a:t>
            </a:r>
          </a:p>
        </p:txBody>
      </p:sp>
      <p:sp>
        <p:nvSpPr>
          <p:cNvPr id="5" name="TextBox 4"/>
          <p:cNvSpPr txBox="1"/>
          <p:nvPr/>
        </p:nvSpPr>
        <p:spPr>
          <a:xfrm>
            <a:off x="548640" y="1466088"/>
            <a:ext cx="6126480" cy="1220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BAC is </a:t>
            </a:r>
            <a:r>
              <a:rPr sz="1400" b="1">
                <a:solidFill>
                  <a:srgbClr val="ECEFF3"/>
                </a:solidFill>
                <a:latin typeface="Arial"/>
              </a:rPr>
              <a:t>medial</a:t>
            </a:r>
            <a:r>
              <a:rPr sz="1400" b="0">
                <a:solidFill>
                  <a:srgbClr val="9DA9B5"/>
                </a:solidFill>
                <a:latin typeface="Arial"/>
              </a:rPr>
              <a:t> calcification (Mönckeberg's) — the pattern that dominates PAD. In </a:t>
            </a:r>
            <a:r>
              <a:rPr sz="1400" b="1">
                <a:solidFill>
                  <a:srgbClr val="ECEFF3"/>
                </a:solidFill>
                <a:latin typeface="Arial"/>
              </a:rPr>
              <a:t>59,854 women</a:t>
            </a:r>
            <a:r>
              <a:rPr sz="1400" b="0">
                <a:solidFill>
                  <a:srgbClr val="9DA9B5"/>
                </a:solidFill>
                <a:latin typeface="Arial"/>
              </a:rPr>
              <a:t> (~8-yr follow-up), it graded the risk of </a:t>
            </a:r>
            <a:r>
              <a:rPr sz="1400" b="1">
                <a:solidFill>
                  <a:srgbClr val="ECEFF3"/>
                </a:solidFill>
                <a:latin typeface="Arial"/>
              </a:rPr>
              <a:t>vascular intervention</a:t>
            </a:r>
            <a:r>
              <a:rPr sz="1400" b="0">
                <a:solidFill>
                  <a:srgbClr val="9DA9B5"/>
                </a:solidFill>
                <a:latin typeface="Arial"/>
              </a:rPr>
              <a:t> — overall and within every high-risk subgroup (severe BAC vs zero).</a:t>
            </a:r>
          </a:p>
        </p:txBody>
      </p:sp>
      <p:sp>
        <p:nvSpPr>
          <p:cNvPr id="6" name="TextBox 5"/>
          <p:cNvSpPr txBox="1"/>
          <p:nvPr/>
        </p:nvSpPr>
        <p:spPr>
          <a:xfrm>
            <a:off x="548640" y="2696210"/>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[your group], abstract — adj. age, DM, HTN, HLD, CKD, smoking.</a:t>
            </a:r>
          </a:p>
        </p:txBody>
      </p:sp>
      <p:sp>
        <p:nvSpPr>
          <p:cNvPr id="7" name="TextBox 6"/>
          <p:cNvSpPr txBox="1"/>
          <p:nvPr/>
        </p:nvSpPr>
        <p:spPr>
          <a:xfrm>
            <a:off x="548640" y="3259582"/>
            <a:ext cx="612648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Peripheral angiogram (PAD). Source: Radiopaedia.org (CC).</a:t>
            </a:r>
          </a:p>
        </p:txBody>
      </p:sp>
      <p:sp>
        <p:nvSpPr>
          <p:cNvPr id="8" name="Rounded Rectangle 7"/>
          <p:cNvSpPr/>
          <p:nvPr/>
        </p:nvSpPr>
        <p:spPr>
          <a:xfrm>
            <a:off x="7221146" y="832104"/>
            <a:ext cx="4074306" cy="528523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2dc4dd0ee.jpg"/>
          <p:cNvPicPr>
            <a:picLocks noChangeAspect="1"/>
          </p:cNvPicPr>
          <p:nvPr/>
        </p:nvPicPr>
        <p:blipFill>
          <a:blip r:embed="rId3"/>
          <a:stretch>
            <a:fillRect/>
          </a:stretch>
        </p:blipFill>
        <p:spPr>
          <a:xfrm>
            <a:off x="7303442" y="914400"/>
            <a:ext cx="3909714" cy="512064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BAC and </a:t>
            </a:r>
            <a:r>
              <a:rPr sz="1400" b="0">
                <a:solidFill>
                  <a:srgbClr val="E7AC51"/>
                </a:solidFill>
                <a:latin typeface="Arial"/>
              </a:rPr>
              <a:t>valvular disease.</a:t>
            </a:r>
          </a:p>
        </p:txBody>
      </p:sp>
      <p:sp>
        <p:nvSpPr>
          <p:cNvPr id="5" name="TextBox 4"/>
          <p:cNvSpPr txBox="1"/>
          <p:nvPr/>
        </p:nvSpPr>
        <p:spPr>
          <a:xfrm>
            <a:off x="548640" y="1209802"/>
            <a:ext cx="6126480" cy="7764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122,011 women.</a:t>
            </a:r>
            <a:r>
              <a:rPr sz="1400" b="0">
                <a:solidFill>
                  <a:srgbClr val="9DA9B5"/>
                </a:solidFill>
                <a:latin typeface="Arial"/>
              </a:rPr>
              <a:t> Severe BAC vs none — </a:t>
            </a:r>
            <a:r>
              <a:rPr sz="1400" b="1">
                <a:solidFill>
                  <a:srgbClr val="ECEFF3"/>
                </a:solidFill>
                <a:latin typeface="Arial"/>
              </a:rPr>
              <a:t>AS 11.4 · AR 3.1 · MR 2.6 · TR 2.3</a:t>
            </a:r>
            <a:r>
              <a:rPr sz="1400" b="0">
                <a:solidFill>
                  <a:srgbClr val="9DA9B5"/>
                </a:solidFill>
                <a:latin typeface="Arial"/>
              </a:rPr>
              <a:t>; </a:t>
            </a:r>
            <a:r>
              <a:rPr sz="1400" b="1">
                <a:solidFill>
                  <a:srgbClr val="ECEFF3"/>
                </a:solidFill>
                <a:latin typeface="Arial"/>
              </a:rPr>
              <a:t>mitral stenosis null</a:t>
            </a:r>
            <a:r>
              <a:rPr sz="1400" b="0">
                <a:solidFill>
                  <a:srgbClr val="9DA9B5"/>
                </a:solidFill>
                <a:latin typeface="Arial"/>
              </a:rPr>
              <a:t> (negative control). 5-yr any-VHD </a:t>
            </a:r>
            <a:r>
              <a:rPr sz="1400" b="1">
                <a:solidFill>
                  <a:srgbClr val="ECEFF3"/>
                </a:solidFill>
                <a:latin typeface="Arial"/>
              </a:rPr>
              <a:t>19.3% vs 4.6%</a:t>
            </a:r>
            <a:r>
              <a:rPr sz="1400" b="0">
                <a:solidFill>
                  <a:srgbClr val="9DA9B5"/>
                </a:solidFill>
                <a:latin typeface="Arial"/>
              </a:rPr>
              <a:t> (NNS 7).</a:t>
            </a:r>
          </a:p>
        </p:txBody>
      </p:sp>
      <p:sp>
        <p:nvSpPr>
          <p:cNvPr id="6" name="TextBox 5"/>
          <p:cNvSpPr txBox="1"/>
          <p:nvPr/>
        </p:nvSpPr>
        <p:spPr>
          <a:xfrm>
            <a:off x="548640" y="1995424"/>
            <a:ext cx="612648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Any VHD by BAC severity. </a:t>
            </a:r>
            <a:r>
              <a:rPr sz="1000" b="1">
                <a:solidFill>
                  <a:srgbClr val="ECEFF3"/>
                </a:solidFill>
                <a:latin typeface="Consolas"/>
              </a:rPr>
              <a:t>Dapamede et al., Fig. 1.</a:t>
            </a:r>
          </a:p>
        </p:txBody>
      </p:sp>
      <p:sp>
        <p:nvSpPr>
          <p:cNvPr id="7" name="TextBox 6"/>
          <p:cNvSpPr txBox="1"/>
          <p:nvPr/>
        </p:nvSpPr>
        <p:spPr>
          <a:xfrm>
            <a:off x="548640" y="2233676"/>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Calcific valve disease, cardiac MRI. Source: ECR 2024 EPOS #166904 (used with permission).</a:t>
            </a:r>
          </a:p>
        </p:txBody>
      </p:sp>
      <p:sp>
        <p:nvSpPr>
          <p:cNvPr id="8" name="Rounded Rectangle 7"/>
          <p:cNvSpPr/>
          <p:nvPr/>
        </p:nvSpPr>
        <p:spPr>
          <a:xfrm>
            <a:off x="6775704" y="1633658"/>
            <a:ext cx="4965192" cy="368212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48c07e4e3.jpg"/>
          <p:cNvPicPr>
            <a:picLocks noChangeAspect="1"/>
          </p:cNvPicPr>
          <p:nvPr/>
        </p:nvPicPr>
        <p:blipFill>
          <a:blip r:embed="rId3"/>
          <a:stretch>
            <a:fillRect/>
          </a:stretch>
        </p:blipFill>
        <p:spPr>
          <a:xfrm>
            <a:off x="6858000" y="1715954"/>
            <a:ext cx="4800600" cy="351753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CAC.</a:t>
            </a:r>
          </a:p>
        </p:txBody>
      </p:sp>
      <p:sp>
        <p:nvSpPr>
          <p:cNvPr id="5" name="TextBox 4"/>
          <p:cNvSpPr txBox="1"/>
          <p:nvPr/>
        </p:nvSpPr>
        <p:spPr>
          <a:xfrm>
            <a:off x="548640" y="146608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In </a:t>
            </a:r>
            <a:r>
              <a:rPr sz="1400" b="1">
                <a:solidFill>
                  <a:srgbClr val="ECEFF3"/>
                </a:solidFill>
                <a:latin typeface="Arial"/>
              </a:rPr>
              <a:t>2,079 women</a:t>
            </a:r>
            <a:r>
              <a:rPr sz="1400" b="0">
                <a:solidFill>
                  <a:srgbClr val="9DA9B5"/>
                </a:solidFill>
                <a:latin typeface="Arial"/>
              </a:rPr>
              <a:t> who later had a cardiac CT, detectable </a:t>
            </a:r>
            <a:r>
              <a:rPr sz="1400" b="1">
                <a:solidFill>
                  <a:srgbClr val="ECEFF3"/>
                </a:solidFill>
                <a:latin typeface="Arial"/>
              </a:rPr>
              <a:t>coronary calcium rose 38% → 67%</a:t>
            </a:r>
            <a:r>
              <a:rPr sz="1400" b="0">
                <a:solidFill>
                  <a:srgbClr val="9DA9B5"/>
                </a:solidFill>
                <a:latin typeface="Arial"/>
              </a:rPr>
              <a:t> across BAC tiers; CAC&gt;100 up </a:t>
            </a:r>
            <a:r>
              <a:rPr sz="1400" b="1">
                <a:solidFill>
                  <a:srgbClr val="ECEFF3"/>
                </a:solidFill>
                <a:latin typeface="Arial"/>
              </a:rPr>
              <a:t>2.5×</a:t>
            </a:r>
            <a:r>
              <a:rPr sz="1400" b="0">
                <a:solidFill>
                  <a:srgbClr val="9DA9B5"/>
                </a:solidFill>
                <a:latin typeface="Arial"/>
              </a:rPr>
              <a:t>. BAC independently predicted CAC, age-adjusted (</a:t>
            </a:r>
            <a:r>
              <a:rPr sz="1400" b="1">
                <a:solidFill>
                  <a:srgbClr val="ECEFF3"/>
                </a:solidFill>
                <a:latin typeface="Arial"/>
              </a:rPr>
              <a:t>OR 1.32 / SD</a:t>
            </a:r>
            <a:r>
              <a:rPr sz="1400" b="0">
                <a:solidFill>
                  <a:srgbClr val="9DA9B5"/>
                </a:solidFill>
                <a:latin typeface="Arial"/>
              </a:rPr>
              <a:t>).</a:t>
            </a:r>
          </a:p>
        </p:txBody>
      </p:sp>
      <p:sp>
        <p:nvSpPr>
          <p:cNvPr id="6" name="TextBox 5"/>
          <p:cNvSpPr txBox="1"/>
          <p:nvPr/>
        </p:nvSpPr>
        <p:spPr>
          <a:xfrm>
            <a:off x="548640" y="2473960"/>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The mammogram previews the coronary CT.</a:t>
            </a:r>
          </a:p>
        </p:txBody>
      </p:sp>
      <p:sp>
        <p:nvSpPr>
          <p:cNvPr id="7" name="TextBox 6"/>
          <p:cNvSpPr txBox="1"/>
          <p:nvPr/>
        </p:nvSpPr>
        <p:spPr>
          <a:xfrm>
            <a:off x="548640" y="2815082"/>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[your group], RSNA 2026 abstract (BAC–CAC).</a:t>
            </a:r>
          </a:p>
        </p:txBody>
      </p:sp>
      <p:sp>
        <p:nvSpPr>
          <p:cNvPr id="8" name="TextBox 7"/>
          <p:cNvSpPr txBox="1"/>
          <p:nvPr/>
        </p:nvSpPr>
        <p:spPr>
          <a:xfrm>
            <a:off x="548640" y="3156204"/>
            <a:ext cx="612648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CAC detection by BAC tier (n=2,079).</a:t>
            </a:r>
          </a:p>
        </p:txBody>
      </p:sp>
      <p:sp>
        <p:nvSpPr>
          <p:cNvPr id="9" name="Rounded Rectangle 8"/>
          <p:cNvSpPr/>
          <p:nvPr/>
        </p:nvSpPr>
        <p:spPr>
          <a:xfrm>
            <a:off x="6775704" y="1958911"/>
            <a:ext cx="4965192" cy="303161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3e559c34cb.jpg"/>
          <p:cNvPicPr>
            <a:picLocks noChangeAspect="1"/>
          </p:cNvPicPr>
          <p:nvPr/>
        </p:nvPicPr>
        <p:blipFill>
          <a:blip r:embed="rId3"/>
          <a:stretch>
            <a:fillRect/>
          </a:stretch>
        </p:blipFill>
        <p:spPr>
          <a:xfrm>
            <a:off x="6858000" y="2041207"/>
            <a:ext cx="4800600" cy="2867025"/>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costochondral calcification.</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 </a:t>
            </a:r>
            <a:r>
              <a:rPr sz="1400" b="1">
                <a:solidFill>
                  <a:srgbClr val="ECEFF3"/>
                </a:solidFill>
                <a:latin typeface="Arial"/>
              </a:rPr>
              <a:t>non-vascular</a:t>
            </a:r>
            <a:r>
              <a:rPr sz="1400" b="0">
                <a:solidFill>
                  <a:srgbClr val="9DA9B5"/>
                </a:solidFill>
                <a:latin typeface="Arial"/>
              </a:rPr>
              <a:t> marker — calcification in the costal cartilage on chest CT (</a:t>
            </a:r>
            <a:r>
              <a:rPr sz="1400" b="1">
                <a:solidFill>
                  <a:srgbClr val="ECEFF3"/>
                </a:solidFill>
                <a:latin typeface="Arial"/>
              </a:rPr>
              <a:t>n=1,311</a:t>
            </a:r>
            <a:r>
              <a:rPr sz="1400" b="0">
                <a:solidFill>
                  <a:srgbClr val="9DA9B5"/>
                </a:solidFill>
                <a:latin typeface="Arial"/>
              </a:rPr>
              <a:t>). Correlated with BAC (ρ=0.089, p=0.001).</a:t>
            </a:r>
          </a:p>
        </p:txBody>
      </p:sp>
      <p:sp>
        <p:nvSpPr>
          <p:cNvPr id="6" name="TextBox 5"/>
          <p:cNvSpPr txBox="1"/>
          <p:nvPr/>
        </p:nvSpPr>
        <p:spPr>
          <a:xfrm>
            <a:off x="548640" y="202945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High BAC vs zero (ΔCCC)</a:t>
            </a:r>
          </a:p>
        </p:txBody>
      </p:sp>
      <p:sp>
        <p:nvSpPr>
          <p:cNvPr id="7" name="TextBox 6"/>
          <p:cNvSpPr txBox="1"/>
          <p:nvPr/>
        </p:nvSpPr>
        <p:spPr>
          <a:xfrm>
            <a:off x="548640" y="237058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adj. p</a:t>
            </a:r>
          </a:p>
        </p:txBody>
      </p:sp>
      <p:sp>
        <p:nvSpPr>
          <p:cNvPr id="8" name="TextBox 7"/>
          <p:cNvSpPr txBox="1"/>
          <p:nvPr/>
        </p:nvSpPr>
        <p:spPr>
          <a:xfrm>
            <a:off x="548640" y="2711704"/>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Median (q0.50)</a:t>
            </a:r>
          </a:p>
        </p:txBody>
      </p:sp>
      <p:sp>
        <p:nvSpPr>
          <p:cNvPr id="9" name="TextBox 8"/>
          <p:cNvSpPr txBox="1"/>
          <p:nvPr/>
        </p:nvSpPr>
        <p:spPr>
          <a:xfrm>
            <a:off x="548640" y="305282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NS · 0.47</a:t>
            </a:r>
          </a:p>
        </p:txBody>
      </p:sp>
      <p:sp>
        <p:nvSpPr>
          <p:cNvPr id="10" name="TextBox 9"/>
          <p:cNvSpPr txBox="1"/>
          <p:nvPr/>
        </p:nvSpPr>
        <p:spPr>
          <a:xfrm>
            <a:off x="548640" y="3393948"/>
            <a:ext cx="10881360" cy="3319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75th pct (q0.75)</a:t>
            </a:r>
            <a:r>
              <a:rPr sz="1400" b="0">
                <a:solidFill>
                  <a:srgbClr val="9DA9B5"/>
                </a:solidFill>
                <a:latin typeface="Arial"/>
              </a:rPr>
              <a:t> </a:t>
            </a:r>
            <a:r>
              <a:rPr sz="1400" b="0">
                <a:solidFill>
                  <a:srgbClr val="E7AC51"/>
                </a:solidFill>
                <a:latin typeface="Arial"/>
              </a:rPr>
              <a:t>+3,408 mm³</a:t>
            </a:r>
          </a:p>
        </p:txBody>
      </p:sp>
      <p:sp>
        <p:nvSpPr>
          <p:cNvPr id="11" name="TextBox 10"/>
          <p:cNvSpPr txBox="1"/>
          <p:nvPr/>
        </p:nvSpPr>
        <p:spPr>
          <a:xfrm>
            <a:off x="548640" y="3735070"/>
            <a:ext cx="10881360" cy="3319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&lt;0.001</a:t>
            </a:r>
          </a:p>
        </p:txBody>
      </p:sp>
      <p:sp>
        <p:nvSpPr>
          <p:cNvPr id="12" name="TextBox 11"/>
          <p:cNvSpPr txBox="1"/>
          <p:nvPr/>
        </p:nvSpPr>
        <p:spPr>
          <a:xfrm>
            <a:off x="548640" y="4076191"/>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Vascular + valvular + skeletal — one free mammographic finding.</a:t>
            </a:r>
          </a:p>
        </p:txBody>
      </p:sp>
      <p:sp>
        <p:nvSpPr>
          <p:cNvPr id="13" name="TextBox 12"/>
          <p:cNvSpPr txBox="1"/>
          <p:nvPr/>
        </p:nvSpPr>
        <p:spPr>
          <a:xfrm>
            <a:off x="548640" y="4417313"/>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[your group], RSNA 2026 abstract (BAC–CCC) · quantile regression, adj. age + DM.</a:t>
            </a:r>
          </a:p>
        </p:txBody>
      </p:sp>
      <p:sp>
        <p:nvSpPr>
          <p:cNvPr id="14" name="TextBox 13"/>
          <p:cNvSpPr txBox="1"/>
          <p:nvPr/>
        </p:nvSpPr>
        <p:spPr>
          <a:xfrm>
            <a:off x="548640" y="4758435"/>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Costochondral calcification</a:t>
            </a:r>
          </a:p>
        </p:txBody>
      </p:sp>
      <p:sp>
        <p:nvSpPr>
          <p:cNvPr id="15" name="TextBox 14"/>
          <p:cNvSpPr txBox="1"/>
          <p:nvPr/>
        </p:nvSpPr>
        <p:spPr>
          <a:xfrm>
            <a:off x="548640" y="5099557"/>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drop in — confirm reuse rights ]</a:t>
            </a:r>
          </a:p>
        </p:txBody>
      </p:sp>
      <p:sp>
        <p:nvSpPr>
          <p:cNvPr id="16" name="TextBox 15"/>
          <p:cNvSpPr txBox="1"/>
          <p:nvPr/>
        </p:nvSpPr>
        <p:spPr>
          <a:xfrm>
            <a:off x="548640" y="5440679"/>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Illustrative. Source: Sariyıldız et al., via ResearchGate.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Closing the loop: the </a:t>
            </a:r>
            <a:r>
              <a:rPr sz="2600" b="0">
                <a:solidFill>
                  <a:srgbClr val="E7AC51"/>
                </a:solidFill>
                <a:latin typeface="Arial"/>
              </a:rPr>
              <a:t>I-BAC pragmatic trial.</a:t>
            </a:r>
          </a:p>
        </p:txBody>
      </p:sp>
      <p:sp>
        <p:nvSpPr>
          <p:cNvPr id="5" name="TextBox 4"/>
          <p:cNvSpPr txBox="1"/>
          <p:nvPr/>
        </p:nvSpPr>
        <p:spPr>
          <a:xfrm>
            <a:off x="548640" y="1862328"/>
            <a:ext cx="6126480" cy="1220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gap: </a:t>
            </a:r>
            <a:r>
              <a:rPr sz="1400" b="1">
                <a:solidFill>
                  <a:srgbClr val="ECEFF3"/>
                </a:solidFill>
                <a:latin typeface="Arial"/>
              </a:rPr>
              <a:t>&lt;7% (Emory) / 15% (Mayo)</a:t>
            </a:r>
            <a:r>
              <a:rPr sz="1400" b="0">
                <a:solidFill>
                  <a:srgbClr val="9DA9B5"/>
                </a:solidFill>
                <a:latin typeface="Arial"/>
              </a:rPr>
              <a:t> of women had the chart data to even compute a PREVENT/ASCVD score — including women with severe BAC. </a:t>
            </a:r>
            <a:r>
              <a:rPr sz="1400" b="1">
                <a:solidFill>
                  <a:srgbClr val="ECEFF3"/>
                </a:solidFill>
                <a:latin typeface="Arial"/>
              </a:rPr>
              <a:t>I-BAC</a:t>
            </a:r>
            <a:r>
              <a:rPr sz="1400" b="0">
                <a:solidFill>
                  <a:srgbClr val="9DA9B5"/>
                </a:solidFill>
                <a:latin typeface="Arial"/>
              </a:rPr>
              <a:t> (R01HL167811) is a Hybrid Type 1 pragmatic RCT across Emory + Mayo AZ (~225,000 mammograms/yr).</a:t>
            </a:r>
          </a:p>
        </p:txBody>
      </p:sp>
      <p:sp>
        <p:nvSpPr>
          <p:cNvPr id="6" name="TextBox 5"/>
          <p:cNvSpPr txBox="1"/>
          <p:nvPr/>
        </p:nvSpPr>
        <p:spPr>
          <a:xfrm>
            <a:off x="548640" y="3092450"/>
            <a:ext cx="6126480" cy="550163"/>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Deployment + pragmatic-trial structure (Aim 2): PACS BAC model → Epic/CareBricks auto-review → randomize → I-BAC notification vs usual care → RE-AIM.</a:t>
            </a:r>
          </a:p>
        </p:txBody>
      </p:sp>
      <p:sp>
        <p:nvSpPr>
          <p:cNvPr id="7" name="TextBox 6"/>
          <p:cNvSpPr txBox="1"/>
          <p:nvPr/>
        </p:nvSpPr>
        <p:spPr>
          <a:xfrm>
            <a:off x="548640" y="3660901"/>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Primary endpoint: 6-month composite of </a:t>
            </a:r>
            <a:r>
              <a:rPr sz="1400" b="1">
                <a:solidFill>
                  <a:srgbClr val="ECEFF3"/>
                </a:solidFill>
                <a:latin typeface="Arial"/>
              </a:rPr>
              <a:t>lipid panel · preventive-med change · CAC testing.</a:t>
            </a:r>
            <a:r>
              <a:rPr sz="1400" b="0">
                <a:solidFill>
                  <a:srgbClr val="9DA9B5"/>
                </a:solidFill>
                <a:latin typeface="Arial"/>
              </a:rPr>
              <a:t> Precedent: NOTIFY-PICTURE — but BAC has no management guideline yet.</a:t>
            </a:r>
          </a:p>
        </p:txBody>
      </p:sp>
      <p:sp>
        <p:nvSpPr>
          <p:cNvPr id="8" name="Rounded Rectangle 7"/>
          <p:cNvSpPr/>
          <p:nvPr/>
        </p:nvSpPr>
        <p:spPr>
          <a:xfrm>
            <a:off x="6775704" y="2727725"/>
            <a:ext cx="4965192" cy="1493988"/>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955cf64bac.jpg"/>
          <p:cNvPicPr>
            <a:picLocks noChangeAspect="1"/>
          </p:cNvPicPr>
          <p:nvPr/>
        </p:nvPicPr>
        <p:blipFill>
          <a:blip r:embed="rId3"/>
          <a:stretch>
            <a:fillRect/>
          </a:stretch>
        </p:blipFill>
        <p:spPr>
          <a:xfrm>
            <a:off x="6858000" y="2810021"/>
            <a:ext cx="4800600" cy="132939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2026 → 2035</a:t>
            </a:r>
          </a:p>
        </p:txBody>
      </p:sp>
      <p:sp>
        <p:nvSpPr>
          <p:cNvPr id="4" name="TextBox 3"/>
          <p:cNvSpPr txBox="1"/>
          <p:nvPr/>
        </p:nvSpPr>
        <p:spPr>
          <a:xfrm>
            <a:off x="548640" y="868680"/>
            <a:ext cx="10881360" cy="120396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And we are on the verge of </a:t>
            </a:r>
            <a:r>
              <a:rPr sz="3200" b="0">
                <a:solidFill>
                  <a:srgbClr val="E7AC51"/>
                </a:solidFill>
                <a:latin typeface="Arial"/>
              </a:rPr>
              <a:t>multimodal, multi-omics.</a:t>
            </a:r>
          </a:p>
        </p:txBody>
      </p:sp>
      <p:sp>
        <p:nvSpPr>
          <p:cNvPr id="5" name="TextBox 4"/>
          <p:cNvSpPr txBox="1"/>
          <p:nvPr/>
        </p:nvSpPr>
        <p:spPr>
          <a:xfrm>
            <a:off x="548640" y="2045207"/>
            <a:ext cx="10881360" cy="67106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Everything so far is still </a:t>
            </a:r>
            <a:r>
              <a:rPr sz="1700" b="1">
                <a:solidFill>
                  <a:srgbClr val="ECEFF3"/>
                </a:solidFill>
                <a:latin typeface="Arial"/>
              </a:rPr>
              <a:t>one model, one modality</a:t>
            </a:r>
            <a:r>
              <a:rPr sz="1700" b="0">
                <a:solidFill>
                  <a:srgbClr val="ECEFF3"/>
                </a:solidFill>
                <a:latin typeface="Arial"/>
              </a:rPr>
              <a:t> — the image, or the calcium, or the tissue, read separately.</a:t>
            </a:r>
          </a:p>
        </p:txBody>
      </p:sp>
      <p:sp>
        <p:nvSpPr>
          <p:cNvPr id="6" name="TextBox 5"/>
          <p:cNvSpPr txBox="1"/>
          <p:nvPr/>
        </p:nvSpPr>
        <p:spPr>
          <a:xfrm>
            <a:off x="548640" y="2734564"/>
            <a:ext cx="10881360" cy="871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The frontier is to combine them — </a:t>
            </a:r>
            <a:r>
              <a:rPr sz="1600" b="1">
                <a:solidFill>
                  <a:srgbClr val="ECEFF3"/>
                </a:solidFill>
                <a:latin typeface="Arial"/>
              </a:rPr>
              <a:t>imaging + pathology + genomics + the clinical record</a:t>
            </a:r>
            <a:r>
              <a:rPr sz="1600" b="0">
                <a:solidFill>
                  <a:srgbClr val="9DA9B5"/>
                </a:solidFill>
                <a:latin typeface="Arial"/>
              </a:rPr>
              <a:t> — into a single model of the patient. To see where that goes, we have to leave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612648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Era III · 2035</a:t>
            </a:r>
          </a:p>
        </p:txBody>
      </p:sp>
      <p:sp>
        <p:nvSpPr>
          <p:cNvPr id="4" name="TextBox 3"/>
          <p:cNvSpPr txBox="1"/>
          <p:nvPr/>
        </p:nvSpPr>
        <p:spPr>
          <a:xfrm>
            <a:off x="548640" y="1241552"/>
            <a:ext cx="612648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year is </a:t>
            </a:r>
            <a:r>
              <a:rPr sz="3200" b="0">
                <a:solidFill>
                  <a:srgbClr val="E7AC51"/>
                </a:solidFill>
                <a:latin typeface="Arial"/>
              </a:rPr>
              <a:t>2035.</a:t>
            </a:r>
          </a:p>
        </p:txBody>
      </p:sp>
      <p:sp>
        <p:nvSpPr>
          <p:cNvPr id="5" name="TextBox 4"/>
          <p:cNvSpPr txBox="1"/>
          <p:nvPr/>
        </p:nvSpPr>
        <p:spPr>
          <a:xfrm>
            <a:off x="548640" y="1930400"/>
            <a:ext cx="6126480" cy="1125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From here, today's models are a decade old. The real question: what happens when imaging, pathology, and omics finally converge — </a:t>
            </a:r>
            <a:r>
              <a:rPr sz="1600" b="1">
                <a:solidFill>
                  <a:srgbClr val="ECEFF3"/>
                </a:solidFill>
                <a:latin typeface="Arial"/>
              </a:rPr>
              <a:t>on one patient.</a:t>
            </a:r>
          </a:p>
        </p:txBody>
      </p:sp>
      <p:pic>
        <p:nvPicPr>
          <p:cNvPr id="6" name="Picture 5" descr="svg_49b2a1b734.png"/>
          <p:cNvPicPr>
            <a:picLocks noChangeAspect="1"/>
          </p:cNvPicPr>
          <p:nvPr/>
        </p:nvPicPr>
        <p:blipFill>
          <a:blip r:embed="rId3"/>
          <a:stretch>
            <a:fillRect/>
          </a:stretch>
        </p:blipFill>
        <p:spPr>
          <a:xfrm>
            <a:off x="6858000" y="2103120"/>
            <a:ext cx="4800600" cy="27432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2035 · THE WHOLE PATIENT</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She knows her risk </a:t>
            </a:r>
            <a:r>
              <a:rPr sz="2600" b="0">
                <a:solidFill>
                  <a:srgbClr val="E7AC51"/>
                </a:solidFill>
                <a:latin typeface="Arial"/>
              </a:rPr>
              <a:t>before she ever lies down.</a:t>
            </a:r>
          </a:p>
        </p:txBody>
      </p:sp>
      <p:sp>
        <p:nvSpPr>
          <p:cNvPr id="5" name="TextBox 4"/>
          <p:cNvSpPr txBox="1"/>
          <p:nvPr/>
        </p:nvSpPr>
        <p:spPr>
          <a:xfrm>
            <a:off x="548640" y="186232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Risk in 2035 is built from </a:t>
            </a:r>
            <a:r>
              <a:rPr sz="1400" b="1">
                <a:solidFill>
                  <a:srgbClr val="ECEFF3"/>
                </a:solidFill>
                <a:latin typeface="Arial"/>
              </a:rPr>
              <a:t>four independent inputs</a:t>
            </a:r>
            <a:r>
              <a:rPr sz="1400" b="0">
                <a:solidFill>
                  <a:srgbClr val="9DA9B5"/>
                </a:solidFill>
                <a:latin typeface="Arial"/>
              </a:rPr>
              <a:t> — polygenic, germline, clinical, and </a:t>
            </a:r>
            <a:r>
              <a:rPr sz="1400" b="1">
                <a:solidFill>
                  <a:srgbClr val="ECEFF3"/>
                </a:solidFill>
                <a:latin typeface="Arial"/>
              </a:rPr>
              <a:t>imaging</a:t>
            </a:r>
            <a:r>
              <a:rPr sz="1400" b="0">
                <a:solidFill>
                  <a:srgbClr val="9DA9B5"/>
                </a:solidFill>
                <a:latin typeface="Arial"/>
              </a:rPr>
              <a:t> (prior mammograms) — fused into one engine and updated at every scan.</a:t>
            </a:r>
          </a:p>
        </p:txBody>
      </p:sp>
      <p:sp>
        <p:nvSpPr>
          <p:cNvPr id="6" name="TextBox 5"/>
          <p:cNvSpPr txBox="1"/>
          <p:nvPr/>
        </p:nvSpPr>
        <p:spPr>
          <a:xfrm>
            <a:off x="548640" y="2870200"/>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Shieh, JAMA Oncol 2026 · Esserman (WISDOM), JAMA 2025 · Yala (Mirai), Sci Transl Med 2021 · Clairity FDA De Novo 2025</a:t>
            </a:r>
          </a:p>
        </p:txBody>
      </p:sp>
      <p:pic>
        <p:nvPicPr>
          <p:cNvPr id="7" name="Picture 6" descr="svg_a406efe943.png"/>
          <p:cNvPicPr>
            <a:picLocks noChangeAspect="1"/>
          </p:cNvPicPr>
          <p:nvPr/>
        </p:nvPicPr>
        <p:blipFill>
          <a:blip r:embed="rId3"/>
          <a:stretch>
            <a:fillRect/>
          </a:stretch>
        </p:blipFill>
        <p:spPr>
          <a:xfrm>
            <a:off x="6858000" y="1200751"/>
            <a:ext cx="4800600" cy="4547936"/>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2035 · THE WHOLE PATIENT</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second reader is now </a:t>
            </a:r>
            <a:r>
              <a:rPr sz="2600" b="0">
                <a:solidFill>
                  <a:srgbClr val="E7AC51"/>
                </a:solidFill>
                <a:latin typeface="Arial"/>
              </a:rPr>
              <a:t>software.</a:t>
            </a:r>
          </a:p>
        </p:txBody>
      </p:sp>
      <p:sp>
        <p:nvSpPr>
          <p:cNvPr id="5" name="TextBox 4"/>
          <p:cNvSpPr txBox="1"/>
          <p:nvPr/>
        </p:nvSpPr>
        <p:spPr>
          <a:xfrm>
            <a:off x="548640" y="186232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Double reading has been replaced — not by one study, but by </a:t>
            </a:r>
            <a:r>
              <a:rPr sz="1400" b="1">
                <a:solidFill>
                  <a:srgbClr val="ECEFF3"/>
                </a:solidFill>
                <a:latin typeface="Arial"/>
              </a:rPr>
              <a:t>convergent RCT evidence across four continents</a:t>
            </a:r>
            <a:r>
              <a:rPr sz="1400" b="0">
                <a:solidFill>
                  <a:srgbClr val="9DA9B5"/>
                </a:solidFill>
                <a:latin typeface="Arial"/>
              </a:rPr>
              <a:t>. AI clears roughly two-thirds of normal screens; the radiologist takes the rest.</a:t>
            </a:r>
          </a:p>
        </p:txBody>
      </p:sp>
      <p:sp>
        <p:nvSpPr>
          <p:cNvPr id="6" name="TextBox 5"/>
          <p:cNvSpPr txBox="1"/>
          <p:nvPr/>
        </p:nvSpPr>
        <p:spPr>
          <a:xfrm>
            <a:off x="548640" y="2870200"/>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−44% / +29%</a:t>
            </a:r>
          </a:p>
        </p:txBody>
      </p:sp>
      <p:sp>
        <p:nvSpPr>
          <p:cNvPr id="7" name="TextBox 6"/>
          <p:cNvSpPr txBox="1"/>
          <p:nvPr/>
        </p:nvSpPr>
        <p:spPr>
          <a:xfrm>
            <a:off x="548640" y="331520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workload / cancers detected — MASAI (Lancet 2026)</a:t>
            </a:r>
          </a:p>
        </p:txBody>
      </p:sp>
      <p:sp>
        <p:nvSpPr>
          <p:cNvPr id="8" name="TextBox 7"/>
          <p:cNvSpPr txBox="1"/>
          <p:nvPr/>
        </p:nvSpPr>
        <p:spPr>
          <a:xfrm>
            <a:off x="548640" y="3656330"/>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−63.6%</a:t>
            </a:r>
          </a:p>
        </p:txBody>
      </p:sp>
      <p:sp>
        <p:nvSpPr>
          <p:cNvPr id="9" name="TextBox 8"/>
          <p:cNvSpPr txBox="1"/>
          <p:nvPr/>
        </p:nvSpPr>
        <p:spPr>
          <a:xfrm>
            <a:off x="548640" y="410133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radiologist workload — Elías-Cabot (Nat Med 2026)</a:t>
            </a:r>
          </a:p>
        </p:txBody>
      </p:sp>
      <p:sp>
        <p:nvSpPr>
          <p:cNvPr id="10" name="TextBox 9"/>
          <p:cNvSpPr txBox="1"/>
          <p:nvPr/>
        </p:nvSpPr>
        <p:spPr>
          <a:xfrm>
            <a:off x="548640" y="4442460"/>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5FB7C9"/>
                </a:solidFill>
                <a:latin typeface="Arial"/>
              </a:rPr>
              <a:t>~99.9%</a:t>
            </a:r>
          </a:p>
        </p:txBody>
      </p:sp>
      <p:sp>
        <p:nvSpPr>
          <p:cNvPr id="11" name="TextBox 10"/>
          <p:cNvSpPr txBox="1"/>
          <p:nvPr/>
        </p:nvSpPr>
        <p:spPr>
          <a:xfrm>
            <a:off x="548640" y="4887468"/>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NPV of AI-normal triage at ~6/1,000 prevalence</a:t>
            </a:r>
          </a:p>
        </p:txBody>
      </p:sp>
      <p:sp>
        <p:nvSpPr>
          <p:cNvPr id="12" name="TextBox 11"/>
          <p:cNvSpPr txBox="1"/>
          <p:nvPr/>
        </p:nvSpPr>
        <p:spPr>
          <a:xfrm>
            <a:off x="548640" y="5228589"/>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MASAI, Lancet 2026 · PRAIM, Nat Med 2025 · Elías-Cabot, Nat Med 2026 · AI-STREAM · GEMINI · ScreenTrustCAD</a:t>
            </a:r>
          </a:p>
        </p:txBody>
      </p:sp>
      <p:pic>
        <p:nvPicPr>
          <p:cNvPr id="13" name="Picture 12" descr="svg_54c4812462.png"/>
          <p:cNvPicPr>
            <a:picLocks noChangeAspect="1"/>
          </p:cNvPicPr>
          <p:nvPr/>
        </p:nvPicPr>
        <p:blipFill>
          <a:blip r:embed="rId3"/>
          <a:stretch>
            <a:fillRect/>
          </a:stretch>
        </p:blipFill>
        <p:spPr>
          <a:xfrm>
            <a:off x="6858000" y="1453414"/>
            <a:ext cx="4800600" cy="404261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2035 · THE WHOLE PATIENT</a:t>
            </a:r>
          </a:p>
        </p:txBody>
      </p:sp>
      <p:sp>
        <p:nvSpPr>
          <p:cNvPr id="4" name="TextBox 3"/>
          <p:cNvSpPr txBox="1"/>
          <p:nvPr/>
        </p:nvSpPr>
        <p:spPr>
          <a:xfrm>
            <a:off x="548640" y="868680"/>
            <a:ext cx="6126480" cy="1417319"/>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From one score to a multimodal </a:t>
            </a:r>
            <a:r>
              <a:rPr sz="2600" b="0">
                <a:solidFill>
                  <a:srgbClr val="E7AC51"/>
                </a:solidFill>
                <a:latin typeface="Arial"/>
              </a:rPr>
              <a:t>detection, treatment, and recurrence engine.</a:t>
            </a:r>
          </a:p>
        </p:txBody>
      </p:sp>
      <p:sp>
        <p:nvSpPr>
          <p:cNvPr id="5" name="TextBox 4"/>
          <p:cNvSpPr txBox="1"/>
          <p:nvPr/>
        </p:nvSpPr>
        <p:spPr>
          <a:xfrm>
            <a:off x="548640" y="225856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Each layer's 2025 evidence, and where 2035 takes it — </a:t>
            </a:r>
            <a:r>
              <a:rPr sz="1400" b="1">
                <a:solidFill>
                  <a:srgbClr val="ECEFF3"/>
                </a:solidFill>
                <a:latin typeface="Arial"/>
              </a:rPr>
              <a:t>no single image makes the call, and no modality is acquired unless the model expects it to change the answer.</a:t>
            </a:r>
          </a:p>
        </p:txBody>
      </p:sp>
      <p:sp>
        <p:nvSpPr>
          <p:cNvPr id="6" name="TextBox 5"/>
          <p:cNvSpPr txBox="1"/>
          <p:nvPr/>
        </p:nvSpPr>
        <p:spPr>
          <a:xfrm>
            <a:off x="548640" y="3266439"/>
            <a:ext cx="6126480" cy="16654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Now (2025):</a:t>
            </a:r>
            <a:r>
              <a:rPr sz="1400" b="0">
                <a:solidFill>
                  <a:srgbClr val="9DA9B5"/>
                </a:solidFill>
                <a:latin typeface="Arial"/>
              </a:rPr>
              <a:t> the evidence shown → </a:t>
            </a:r>
            <a:r>
              <a:rPr sz="1400" b="1">
                <a:solidFill>
                  <a:srgbClr val="ECEFF3"/>
                </a:solidFill>
                <a:latin typeface="Arial"/>
              </a:rPr>
              <a:t>2035:</a:t>
            </a:r>
            <a:r>
              <a:rPr sz="1400" b="0">
                <a:solidFill>
                  <a:srgbClr val="9DA9B5"/>
                </a:solidFill>
                <a:latin typeface="Arial"/>
              </a:rPr>
              <a:t> one unified model gates acquisition and emits detection + recurrence + treatment. MASAI (Lancet 2026) · PRAIM (Nat Med 2025) · ScreenTrustMRI (Nat Med 2024) · BMU-Net (Nat Biomed Eng 2024) · UNI (Nat Med 2024) · BINDS (Nat Biomed Eng 2026) · ctDNA MRD (Ann Oncol 2025).</a:t>
            </a:r>
          </a:p>
        </p:txBody>
      </p:sp>
      <p:pic>
        <p:nvPicPr>
          <p:cNvPr id="7" name="Picture 6" descr="svg_044a31649b.png"/>
          <p:cNvPicPr>
            <a:picLocks noChangeAspect="1"/>
          </p:cNvPicPr>
          <p:nvPr/>
        </p:nvPicPr>
        <p:blipFill>
          <a:blip r:embed="rId3"/>
          <a:stretch>
            <a:fillRect/>
          </a:stretch>
        </p:blipFill>
        <p:spPr>
          <a:xfrm>
            <a:off x="6858000" y="2389784"/>
            <a:ext cx="4800600" cy="2169871"/>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2035 · THE WHOLE PATIENT</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mammogram is now a </a:t>
            </a:r>
            <a:r>
              <a:rPr sz="2600" b="0">
                <a:solidFill>
                  <a:srgbClr val="E7AC51"/>
                </a:solidFill>
                <a:latin typeface="Arial"/>
              </a:rPr>
              <a:t>whole-body health visit.</a:t>
            </a:r>
          </a:p>
        </p:txBody>
      </p:sp>
      <p:sp>
        <p:nvSpPr>
          <p:cNvPr id="5" name="TextBox 4"/>
          <p:cNvSpPr txBox="1"/>
          <p:nvPr/>
        </p:nvSpPr>
        <p:spPr>
          <a:xfrm>
            <a:off x="548640" y="1862328"/>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We built a cancer screen and found a </a:t>
            </a:r>
            <a:r>
              <a:rPr sz="1400" b="1">
                <a:solidFill>
                  <a:srgbClr val="ECEFF3"/>
                </a:solidFill>
                <a:latin typeface="Arial"/>
              </a:rPr>
              <a:t>window into the entire body</a:t>
            </a:r>
            <a:r>
              <a:rPr sz="1400" b="0">
                <a:solidFill>
                  <a:srgbClr val="9DA9B5"/>
                </a:solidFill>
                <a:latin typeface="Arial"/>
              </a:rPr>
              <a:t> — and we are not the only ones.</a:t>
            </a:r>
          </a:p>
        </p:txBody>
      </p:sp>
      <p:sp>
        <p:nvSpPr>
          <p:cNvPr id="6" name="TextBox 5"/>
          <p:cNvSpPr txBox="1"/>
          <p:nvPr/>
        </p:nvSpPr>
        <p:spPr>
          <a:xfrm>
            <a:off x="548640" y="2425700"/>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2.8×</a:t>
            </a:r>
          </a:p>
        </p:txBody>
      </p:sp>
      <p:sp>
        <p:nvSpPr>
          <p:cNvPr id="7" name="TextBox 6"/>
          <p:cNvSpPr txBox="1"/>
          <p:nvPr/>
        </p:nvSpPr>
        <p:spPr>
          <a:xfrm>
            <a:off x="548640" y="2870708"/>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5-yr mortality, severe BAC — 123,762 (Eur Heart J 2026)</a:t>
            </a:r>
          </a:p>
        </p:txBody>
      </p:sp>
      <p:sp>
        <p:nvSpPr>
          <p:cNvPr id="8" name="TextBox 7"/>
          <p:cNvSpPr txBox="1"/>
          <p:nvPr/>
        </p:nvSpPr>
        <p:spPr>
          <a:xfrm>
            <a:off x="548640" y="3434080"/>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49,196</a:t>
            </a:r>
          </a:p>
        </p:txBody>
      </p:sp>
      <p:sp>
        <p:nvSpPr>
          <p:cNvPr id="9" name="TextBox 8"/>
          <p:cNvSpPr txBox="1"/>
          <p:nvPr/>
        </p:nvSpPr>
        <p:spPr>
          <a:xfrm>
            <a:off x="548640" y="3879087"/>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women: CVD from the image alone (Heart 2026)</a:t>
            </a:r>
          </a:p>
        </p:txBody>
      </p:sp>
      <p:sp>
        <p:nvSpPr>
          <p:cNvPr id="10" name="TextBox 9"/>
          <p:cNvSpPr txBox="1"/>
          <p:nvPr/>
        </p:nvSpPr>
        <p:spPr>
          <a:xfrm>
            <a:off x="548640" y="4220209"/>
            <a:ext cx="612648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5FB7C9"/>
                </a:solidFill>
                <a:latin typeface="Arial"/>
              </a:rPr>
              <a:t>biological age</a:t>
            </a:r>
          </a:p>
        </p:txBody>
      </p:sp>
      <p:sp>
        <p:nvSpPr>
          <p:cNvPr id="11" name="TextBox 10"/>
          <p:cNvSpPr txBox="1"/>
          <p:nvPr/>
        </p:nvSpPr>
        <p:spPr>
          <a:xfrm>
            <a:off x="548640" y="4665217"/>
            <a:ext cx="612648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from the mammogram, ±4–6 yr — Mammo-AGE</a:t>
            </a:r>
          </a:p>
        </p:txBody>
      </p:sp>
      <p:sp>
        <p:nvSpPr>
          <p:cNvPr id="12" name="TextBox 11"/>
          <p:cNvSpPr txBox="1"/>
          <p:nvPr/>
        </p:nvSpPr>
        <p:spPr>
          <a:xfrm>
            <a:off x="548640" y="5006339"/>
            <a:ext cx="6126480" cy="99872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~40M US mammograms/yr</a:t>
            </a:r>
            <a:r>
              <a:rPr sz="1400" b="0">
                <a:solidFill>
                  <a:srgbClr val="9DA9B5"/>
                </a:solidFill>
                <a:latin typeface="Arial"/>
              </a:rPr>
              <a:t> — often her only reliable preventive touchpoint. By 2035 the modality stops mattering: one model, any routine image, one systemic-risk profile.</a:t>
            </a:r>
          </a:p>
        </p:txBody>
      </p:sp>
      <p:sp>
        <p:nvSpPr>
          <p:cNvPr id="13" name="TextBox 12"/>
          <p:cNvSpPr txBox="1"/>
          <p:nvPr/>
        </p:nvSpPr>
        <p:spPr>
          <a:xfrm>
            <a:off x="548640" y="6014211"/>
            <a:ext cx="6126480" cy="550163"/>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Dapamede, Eur Heart J 2026 (our paper) · Barraclough, Heart 2026 · Pan (Mammo-AGE), Nat Commun 2025 · Pickhardt (CT), Nat Commun 2025 · RETFound, Nature 2023</a:t>
            </a:r>
          </a:p>
        </p:txBody>
      </p:sp>
      <p:pic>
        <p:nvPicPr>
          <p:cNvPr id="14" name="Picture 13" descr="svg_0bd242d089.png"/>
          <p:cNvPicPr>
            <a:picLocks noChangeAspect="1"/>
          </p:cNvPicPr>
          <p:nvPr/>
        </p:nvPicPr>
        <p:blipFill>
          <a:blip r:embed="rId3"/>
          <a:stretch>
            <a:fillRect/>
          </a:stretch>
        </p:blipFill>
        <p:spPr>
          <a:xfrm>
            <a:off x="6858000" y="1601315"/>
            <a:ext cx="4800600" cy="374680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ERA III · 2035 · THE WHOLE PATIENT</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frontier plateaued. </a:t>
            </a:r>
            <a:r>
              <a:rPr sz="2600" b="0">
                <a:solidFill>
                  <a:srgbClr val="E7AC51"/>
                </a:solidFill>
                <a:latin typeface="Arial"/>
              </a:rPr>
              <a:t>The specialists compounded.</a:t>
            </a:r>
          </a:p>
        </p:txBody>
      </p:sp>
      <p:sp>
        <p:nvSpPr>
          <p:cNvPr id="5" name="TextBox 4"/>
          <p:cNvSpPr txBox="1"/>
          <p:nvPr/>
        </p:nvSpPr>
        <p:spPr>
          <a:xfrm>
            <a:off x="548640" y="1862328"/>
            <a:ext cx="612648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Scale was no silver bullet — the failure was </a:t>
            </a:r>
            <a:r>
              <a:rPr sz="1400" b="1">
                <a:solidFill>
                  <a:srgbClr val="E7AC51"/>
                </a:solidFill>
                <a:latin typeface="Arial"/>
              </a:rPr>
              <a:t>architectural.</a:t>
            </a:r>
          </a:p>
        </p:txBody>
      </p:sp>
      <p:sp>
        <p:nvSpPr>
          <p:cNvPr id="6" name="TextBox 5"/>
          <p:cNvSpPr txBox="1"/>
          <p:nvPr/>
        </p:nvSpPr>
        <p:spPr>
          <a:xfrm>
            <a:off x="548640" y="2425700"/>
            <a:ext cx="6126480" cy="1665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Frontier models aced the exam, then degraded on real clinical data — a model trained on the whole internet </a:t>
            </a:r>
            <a:r>
              <a:rPr sz="1400" b="1">
                <a:solidFill>
                  <a:srgbClr val="ECEFF3"/>
                </a:solidFill>
                <a:latin typeface="Arial"/>
              </a:rPr>
              <a:t>reasons from text priors, not the pixels in front of it.</a:t>
            </a:r>
            <a:r>
              <a:rPr sz="1400" b="0">
                <a:solidFill>
                  <a:srgbClr val="9DA9B5"/>
                </a:solidFill>
                <a:latin typeface="Arial"/>
              </a:rPr>
              <a:t> By 2035 that stopped being a footnote and became the market structure: generalists won the </a:t>
            </a:r>
            <a:r>
              <a:rPr sz="1400" b="1">
                <a:solidFill>
                  <a:srgbClr val="ECEFF3"/>
                </a:solidFill>
                <a:latin typeface="Arial"/>
              </a:rPr>
              <a:t>data tier</a:t>
            </a:r>
            <a:r>
              <a:rPr sz="1400" b="0">
                <a:solidFill>
                  <a:srgbClr val="9DA9B5"/>
                </a:solidFill>
                <a:latin typeface="Arial"/>
              </a:rPr>
              <a:t> (extract, harmonize, label — human signs off); domain models own the </a:t>
            </a:r>
            <a:r>
              <a:rPr sz="1400" b="1">
                <a:solidFill>
                  <a:srgbClr val="ECEFF3"/>
                </a:solidFill>
                <a:latin typeface="Arial"/>
              </a:rPr>
              <a:t>disease tier.</a:t>
            </a:r>
          </a:p>
        </p:txBody>
      </p:sp>
      <p:sp>
        <p:nvSpPr>
          <p:cNvPr id="7" name="TextBox 6"/>
          <p:cNvSpPr txBox="1"/>
          <p:nvPr/>
        </p:nvSpPr>
        <p:spPr>
          <a:xfrm>
            <a:off x="548640" y="4100322"/>
            <a:ext cx="6126480" cy="550163"/>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Wu, JMIR 2025 (e84120) · Raji/Daneshjou/Alsentzer, NEJM AI 2025 · RadFlag, arXiv:2411.00299 · Abdullah &amp; Kim, JMIR Med Inform 2025 · ScaleMAI, arXiv:2501.03410 · Mammo-CLIP, ECCV 2024</a:t>
            </a:r>
          </a:p>
        </p:txBody>
      </p:sp>
      <p:pic>
        <p:nvPicPr>
          <p:cNvPr id="8" name="Picture 7" descr="svg_2f6bf6fcb8.png"/>
          <p:cNvPicPr>
            <a:picLocks noChangeAspect="1"/>
          </p:cNvPicPr>
          <p:nvPr/>
        </p:nvPicPr>
        <p:blipFill>
          <a:blip r:embed="rId3"/>
          <a:stretch>
            <a:fillRect/>
          </a:stretch>
        </p:blipFill>
        <p:spPr>
          <a:xfrm>
            <a:off x="6858000" y="1276550"/>
            <a:ext cx="4800600" cy="439633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Specialist</a:t>
            </a:r>
            <a:r>
              <a:rPr sz="1600" b="0">
                <a:solidFill>
                  <a:srgbClr val="9DA9B5"/>
                </a:solidFill>
                <a:latin typeface="Arial"/>
              </a:rPr>
              <a:t>vs</a:t>
            </a:r>
            <a:r>
              <a:rPr sz="1600" b="0">
                <a:solidFill>
                  <a:srgbClr val="9DA9B5"/>
                </a:solidFill>
                <a:latin typeface="Arial"/>
              </a:rPr>
              <a:t>Generalist</a:t>
            </a:r>
            <a:r>
              <a:rPr sz="1600" b="0">
                <a:solidFill>
                  <a:srgbClr val="9DA9B5"/>
                </a:solidFill>
                <a:latin typeface="Arial"/>
              </a:rPr>
              <a:t>·</a:t>
            </a:r>
            <a:r>
              <a:rPr sz="1600" b="0">
                <a:solidFill>
                  <a:srgbClr val="9DA9B5"/>
                </a:solidFill>
                <a:latin typeface="Arial"/>
              </a:rPr>
              <a:t>an open question</a:t>
            </a:r>
          </a:p>
        </p:txBody>
      </p:sp>
      <p:sp>
        <p:nvSpPr>
          <p:cNvPr id="4" name="TextBox 3"/>
          <p:cNvSpPr txBox="1"/>
          <p:nvPr/>
        </p:nvSpPr>
        <p:spPr>
          <a:xfrm>
            <a:off x="548640" y="1241552"/>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Will the generalists </a:t>
            </a:r>
            <a:r>
              <a:rPr sz="3200" b="0">
                <a:solidFill>
                  <a:srgbClr val="E7AC51"/>
                </a:solidFill>
                <a:latin typeface="Arial"/>
              </a:rPr>
              <a:t>absorb the field?</a:t>
            </a:r>
          </a:p>
        </p:txBody>
      </p:sp>
      <p:sp>
        <p:nvSpPr>
          <p:cNvPr id="5" name="TextBox 4"/>
          <p:cNvSpPr txBox="1"/>
          <p:nvPr/>
        </p:nvSpPr>
        <p:spPr>
          <a:xfrm>
            <a:off x="548640" y="1930400"/>
            <a:ext cx="10881360" cy="871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Every model in this talk was </a:t>
            </a:r>
            <a:r>
              <a:rPr sz="1600" b="1">
                <a:solidFill>
                  <a:srgbClr val="ECEFF3"/>
                </a:solidFill>
                <a:latin typeface="Arial"/>
              </a:rPr>
              <a:t>purpose-built.</a:t>
            </a:r>
            <a:r>
              <a:rPr sz="1600" b="0">
                <a:solidFill>
                  <a:srgbClr val="9DA9B5"/>
                </a:solidFill>
                <a:latin typeface="Arial"/>
              </a:rPr>
              <a:t> The frontier models from OpenAI, Google, and Anthropic were not built for medicine — yet they improve every few months. </a:t>
            </a:r>
            <a:r>
              <a:rPr sz="1600" b="1">
                <a:solidFill>
                  <a:srgbClr val="ECEFF3"/>
                </a:solidFill>
                <a:latin typeface="Arial"/>
              </a:rPr>
              <a:t>Do we still build our own?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 generalists </a:t>
            </a:r>
            <a:r>
              <a:rPr sz="2600" b="0">
                <a:solidFill>
                  <a:srgbClr val="E7AC51"/>
                </a:solidFill>
                <a:latin typeface="Arial"/>
              </a:rPr>
              <a:t>already perform well.</a:t>
            </a:r>
          </a:p>
        </p:txBody>
      </p:sp>
      <p:sp>
        <p:nvSpPr>
          <p:cNvPr id="5" name="TextBox 4"/>
          <p:cNvSpPr txBox="1"/>
          <p:nvPr/>
        </p:nvSpPr>
        <p:spPr>
          <a:xfrm>
            <a:off x="548640" y="1466088"/>
            <a:ext cx="10881360" cy="776478"/>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Medical knowledge:</a:t>
            </a:r>
            <a:r>
              <a:rPr sz="1400" b="0">
                <a:solidFill>
                  <a:srgbClr val="9DA9B5"/>
                </a:solidFill>
                <a:latin typeface="Arial"/>
              </a:rPr>
              <a:t> frontier models score </a:t>
            </a:r>
            <a:r>
              <a:rPr sz="1400" b="1">
                <a:solidFill>
                  <a:srgbClr val="ECEFF3"/>
                </a:solidFill>
                <a:latin typeface="Arial"/>
              </a:rPr>
              <a:t>~90%+ on USMLE-style exams</a:t>
            </a:r>
            <a:r>
              <a:rPr sz="1400" b="0">
                <a:solidFill>
                  <a:srgbClr val="9DA9B5"/>
                </a:solidFill>
                <a:latin typeface="Arial"/>
              </a:rPr>
              <a:t> (Med-Gemini 91.1%), across the breadth of medicine. </a:t>
            </a:r>
            <a:r>
              <a:rPr sz="1400" b="1">
                <a:solidFill>
                  <a:srgbClr val="ECEFF3"/>
                </a:solidFill>
                <a:latin typeface="Arial"/>
              </a:rPr>
              <a:t>Rapid adaptation:</a:t>
            </a:r>
            <a:r>
              <a:rPr sz="1400" b="0">
                <a:solidFill>
                  <a:srgbClr val="9DA9B5"/>
                </a:solidFill>
                <a:latin typeface="Arial"/>
              </a:rPr>
              <a:t> fine-tuned on small labeled sets they often exceed bespoke models, and generalize better across sites, scanners, and populations.</a:t>
            </a:r>
          </a:p>
        </p:txBody>
      </p:sp>
      <p:sp>
        <p:nvSpPr>
          <p:cNvPr id="6" name="TextBox 5"/>
          <p:cNvSpPr txBox="1"/>
          <p:nvPr/>
        </p:nvSpPr>
        <p:spPr>
          <a:xfrm>
            <a:off x="548640" y="2251710"/>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USMLE-style: </a:t>
            </a:r>
            <a:r>
              <a:rPr sz="1200" b="1">
                <a:solidFill>
                  <a:srgbClr val="ECEFF3"/>
                </a:solidFill>
                <a:latin typeface="Arial"/>
              </a:rPr>
              <a:t>~91%</a:t>
            </a:r>
            <a:r>
              <a:rPr sz="1200" b="0">
                <a:solidFill>
                  <a:srgbClr val="ECEFF3"/>
                </a:solidFill>
                <a:latin typeface="Arial"/>
              </a:rPr>
              <a:t> (Med-Gemini)</a:t>
            </a:r>
          </a:p>
        </p:txBody>
      </p:sp>
      <p:sp>
        <p:nvSpPr>
          <p:cNvPr id="7" name="TextBox 6"/>
          <p:cNvSpPr txBox="1"/>
          <p:nvPr/>
        </p:nvSpPr>
        <p:spPr>
          <a:xfrm>
            <a:off x="548640" y="2522982"/>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2D CXR reports </a:t>
            </a:r>
            <a:r>
              <a:rPr sz="1200" b="1">
                <a:solidFill>
                  <a:srgbClr val="ECEFF3"/>
                </a:solidFill>
                <a:latin typeface="Arial"/>
              </a:rPr>
              <a:t>"equivalent or better"</a:t>
            </a:r>
            <a:r>
              <a:rPr sz="1200" b="0">
                <a:solidFill>
                  <a:srgbClr val="ECEFF3"/>
                </a:solidFill>
                <a:latin typeface="Arial"/>
              </a:rPr>
              <a:t> in </a:t>
            </a:r>
            <a:r>
              <a:rPr sz="1200" b="1">
                <a:solidFill>
                  <a:srgbClr val="ECEFF3"/>
                </a:solidFill>
                <a:latin typeface="Arial"/>
              </a:rPr>
              <a:t>43–96%</a:t>
            </a:r>
            <a:r>
              <a:rPr sz="1200" b="0">
                <a:solidFill>
                  <a:srgbClr val="ECEFF3"/>
                </a:solidFill>
                <a:latin typeface="Arial"/>
              </a:rPr>
              <a:t> of cases</a:t>
            </a:r>
          </a:p>
        </p:txBody>
      </p:sp>
      <p:sp>
        <p:nvSpPr>
          <p:cNvPr id="8" name="TextBox 7"/>
          <p:cNvSpPr txBox="1"/>
          <p:nvPr/>
        </p:nvSpPr>
        <p:spPr>
          <a:xfrm>
            <a:off x="548640" y="2794254"/>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exceeded prior SOTA on </a:t>
            </a:r>
            <a:r>
              <a:rPr sz="1200" b="1">
                <a:solidFill>
                  <a:srgbClr val="ECEFF3"/>
                </a:solidFill>
                <a:latin typeface="Arial"/>
              </a:rPr>
              <a:t>17/20</a:t>
            </a:r>
            <a:r>
              <a:rPr sz="1200" b="0">
                <a:solidFill>
                  <a:srgbClr val="ECEFF3"/>
                </a:solidFill>
                <a:latin typeface="Arial"/>
              </a:rPr>
              <a:t> CXR tasks</a:t>
            </a:r>
          </a:p>
        </p:txBody>
      </p:sp>
      <p:sp>
        <p:nvSpPr>
          <p:cNvPr id="9" name="TextBox 8"/>
          <p:cNvSpPr txBox="1"/>
          <p:nvPr/>
        </p:nvSpPr>
        <p:spPr>
          <a:xfrm>
            <a:off x="548640" y="3065526"/>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Med-Gemini — Yang et al., arXiv:2405.03162, 2024 (preprint)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they still fall short — </a:t>
            </a:r>
            <a:r>
              <a:rPr sz="2600" b="0">
                <a:solidFill>
                  <a:srgbClr val="E7AC51"/>
                </a:solidFill>
                <a:latin typeface="Arial"/>
              </a:rPr>
              <a:t>the image itself.</a:t>
            </a:r>
          </a:p>
        </p:txBody>
      </p:sp>
      <p:sp>
        <p:nvSpPr>
          <p:cNvPr id="5" name="TextBox 4"/>
          <p:cNvSpPr txBox="1"/>
          <p:nvPr/>
        </p:nvSpPr>
        <p:spPr>
          <a:xfrm>
            <a:off x="548640" y="1862328"/>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Their strength is </a:t>
            </a:r>
            <a:r>
              <a:rPr sz="1400" b="1">
                <a:solidFill>
                  <a:srgbClr val="ECEFF3"/>
                </a:solidFill>
                <a:latin typeface="Arial"/>
              </a:rPr>
              <a:t>text, not image content.</a:t>
            </a:r>
            <a:r>
              <a:rPr sz="1400" b="0">
                <a:solidFill>
                  <a:srgbClr val="9DA9B5"/>
                </a:solidFill>
                <a:latin typeface="Arial"/>
              </a:rPr>
              <a:t> On radiology interpretation, general VLM diagnostic accuracy ranges only </a:t>
            </a:r>
            <a:r>
              <a:rPr sz="1400" b="1">
                <a:solidFill>
                  <a:srgbClr val="ECEFF3"/>
                </a:solidFill>
                <a:latin typeface="Arial"/>
              </a:rPr>
              <a:t>~8–29%</a:t>
            </a:r>
            <a:r>
              <a:rPr sz="1400" b="0">
                <a:solidFill>
                  <a:srgbClr val="9DA9B5"/>
                </a:solidFill>
                <a:latin typeface="Arial"/>
              </a:rPr>
              <a:t>, and roughly </a:t>
            </a:r>
            <a:r>
              <a:rPr sz="1400" b="1">
                <a:solidFill>
                  <a:srgbClr val="ECEFF3"/>
                </a:solidFill>
                <a:latin typeface="Arial"/>
              </a:rPr>
              <a:t>22%</a:t>
            </a:r>
            <a:r>
              <a:rPr sz="1400" b="0">
                <a:solidFill>
                  <a:srgbClr val="9DA9B5"/>
                </a:solidFill>
                <a:latin typeface="Arial"/>
              </a:rPr>
              <a:t> of generated reports contain factual errors.</a:t>
            </a:r>
          </a:p>
        </p:txBody>
      </p:sp>
      <p:sp>
        <p:nvSpPr>
          <p:cNvPr id="6" name="TextBox 5"/>
          <p:cNvSpPr txBox="1"/>
          <p:nvPr/>
        </p:nvSpPr>
        <p:spPr>
          <a:xfrm>
            <a:off x="548640" y="2870200"/>
            <a:ext cx="612648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Purpose-built </a:t>
            </a:r>
            <a:r>
              <a:rPr sz="1400" b="1">
                <a:solidFill>
                  <a:srgbClr val="ECEFF3"/>
                </a:solidFill>
                <a:latin typeface="Arial"/>
              </a:rPr>
              <a:t>RadFM outperforms GPT-4V</a:t>
            </a:r>
            <a:r>
              <a:rPr sz="1400" b="0">
                <a:solidFill>
                  <a:srgbClr val="9DA9B5"/>
                </a:solidFill>
                <a:latin typeface="Arial"/>
              </a:rPr>
              <a:t> on radiology tasks. And 3D lags: Med-Gemini-</a:t>
            </a:r>
            <a:r>
              <a:rPr sz="1400" b="1">
                <a:solidFill>
                  <a:srgbClr val="ECEFF3"/>
                </a:solidFill>
                <a:latin typeface="Arial"/>
              </a:rPr>
              <a:t>3D</a:t>
            </a:r>
            <a:r>
              <a:rPr sz="1400" b="0">
                <a:solidFill>
                  <a:srgbClr val="9DA9B5"/>
                </a:solidFill>
                <a:latin typeface="Arial"/>
              </a:rPr>
              <a:t> CT reports were only </a:t>
            </a:r>
            <a:r>
              <a:rPr sz="1400" b="1">
                <a:solidFill>
                  <a:srgbClr val="ECEFF3"/>
                </a:solidFill>
                <a:latin typeface="Arial"/>
              </a:rPr>
              <a:t>53% clinically acceptable</a:t>
            </a:r>
            <a:r>
              <a:rPr sz="1400" b="0">
                <a:solidFill>
                  <a:srgbClr val="9DA9B5"/>
                </a:solidFill>
                <a:latin typeface="Arial"/>
              </a:rPr>
              <a:t> — fine for a 2D film, less so for a volume.</a:t>
            </a:r>
          </a:p>
        </p:txBody>
      </p:sp>
      <p:sp>
        <p:nvSpPr>
          <p:cNvPr id="7" name="TextBox 6"/>
          <p:cNvSpPr txBox="1"/>
          <p:nvPr/>
        </p:nvSpPr>
        <p:spPr>
          <a:xfrm>
            <a:off x="548640" y="3878072"/>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Visual LLMs in Radiology, Life (MDPI) 2026;16(1):66 (PMID 41598221) · RadFM — Wu et al., Nat Commun 2025 · Med-Gemini, 2024</a:t>
            </a:r>
          </a:p>
        </p:txBody>
      </p:sp>
      <p:pic>
        <p:nvPicPr>
          <p:cNvPr id="8" name="Picture 7" descr="svg_71478afbef.png"/>
          <p:cNvPicPr>
            <a:picLocks noChangeAspect="1"/>
          </p:cNvPicPr>
          <p:nvPr/>
        </p:nvPicPr>
        <p:blipFill>
          <a:blip r:embed="rId3"/>
          <a:stretch>
            <a:fillRect/>
          </a:stretch>
        </p:blipFill>
        <p:spPr>
          <a:xfrm>
            <a:off x="6858000" y="1807844"/>
            <a:ext cx="4800600" cy="333375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6126480" cy="102108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Specializing a model </a:t>
            </a:r>
            <a:r>
              <a:rPr sz="2600" b="0">
                <a:solidFill>
                  <a:srgbClr val="E7AC51"/>
                </a:solidFill>
                <a:latin typeface="Arial"/>
              </a:rPr>
              <a:t>does not make it safer.</a:t>
            </a:r>
          </a:p>
        </p:txBody>
      </p:sp>
      <p:sp>
        <p:nvSpPr>
          <p:cNvPr id="5" name="TextBox 4"/>
          <p:cNvSpPr txBox="1"/>
          <p:nvPr/>
        </p:nvSpPr>
        <p:spPr>
          <a:xfrm>
            <a:off x="548640" y="1862328"/>
            <a:ext cx="6126480" cy="1220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Medical hallucination is not one failure but many — </a:t>
            </a:r>
            <a:r>
              <a:rPr sz="1400" b="1">
                <a:solidFill>
                  <a:srgbClr val="ECEFF3"/>
                </a:solidFill>
                <a:latin typeface="Arial"/>
              </a:rPr>
              <a:t>factual errors, outdated references, spurious correlations, fabricated sources, and broken chains of reasoning</a:t>
            </a:r>
            <a:r>
              <a:rPr sz="1400" b="0">
                <a:solidFill>
                  <a:srgbClr val="9DA9B5"/>
                </a:solidFill>
                <a:latin typeface="Arial"/>
              </a:rPr>
              <a:t> — across diagnosis, procedure, and research.</a:t>
            </a:r>
          </a:p>
        </p:txBody>
      </p:sp>
      <p:sp>
        <p:nvSpPr>
          <p:cNvPr id="6" name="TextBox 5"/>
          <p:cNvSpPr txBox="1"/>
          <p:nvPr/>
        </p:nvSpPr>
        <p:spPr>
          <a:xfrm>
            <a:off x="548640" y="3092450"/>
            <a:ext cx="6126480" cy="1220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On a hallucination benchmark (</a:t>
            </a:r>
            <a:r>
              <a:rPr sz="1400" b="1">
                <a:solidFill>
                  <a:srgbClr val="ECEFF3"/>
                </a:solidFill>
                <a:latin typeface="Arial"/>
              </a:rPr>
              <a:t>Med-HALT, 2025</a:t>
            </a:r>
            <a:r>
              <a:rPr sz="1400" b="0">
                <a:solidFill>
                  <a:srgbClr val="9DA9B5"/>
                </a:solidFill>
                <a:latin typeface="Arial"/>
              </a:rPr>
              <a:t>), general-purpose models were hallucination-free </a:t>
            </a:r>
            <a:r>
              <a:rPr sz="1400" b="1">
                <a:solidFill>
                  <a:srgbClr val="ECEFF3"/>
                </a:solidFill>
                <a:latin typeface="Arial"/>
              </a:rPr>
              <a:t>76.6%</a:t>
            </a:r>
            <a:r>
              <a:rPr sz="1400" b="0">
                <a:solidFill>
                  <a:srgbClr val="9DA9B5"/>
                </a:solidFill>
                <a:latin typeface="Arial"/>
              </a:rPr>
              <a:t> of the time, versus only </a:t>
            </a:r>
            <a:r>
              <a:rPr sz="1400" b="1">
                <a:solidFill>
                  <a:srgbClr val="ECEFF3"/>
                </a:solidFill>
                <a:latin typeface="Arial"/>
              </a:rPr>
              <a:t>51.3%</a:t>
            </a:r>
            <a:r>
              <a:rPr sz="1400" b="0">
                <a:solidFill>
                  <a:srgbClr val="9DA9B5"/>
                </a:solidFill>
                <a:latin typeface="Arial"/>
              </a:rPr>
              <a:t> for medically "specialized" models. Narrowing a model can erode its calibration.</a:t>
            </a:r>
          </a:p>
        </p:txBody>
      </p:sp>
      <p:sp>
        <p:nvSpPr>
          <p:cNvPr id="7" name="TextBox 6"/>
          <p:cNvSpPr txBox="1"/>
          <p:nvPr/>
        </p:nvSpPr>
        <p:spPr>
          <a:xfrm>
            <a:off x="548640" y="4322572"/>
            <a:ext cx="6126480" cy="776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specialist-versus-generalist question is unsettled — the instinct to </a:t>
            </a:r>
            <a:r>
              <a:rPr sz="1400" b="1">
                <a:solidFill>
                  <a:srgbClr val="ECEFF3"/>
                </a:solidFill>
                <a:latin typeface="Arial"/>
              </a:rPr>
              <a:t>buy the medical one may be wrong.</a:t>
            </a:r>
          </a:p>
        </p:txBody>
      </p:sp>
      <p:sp>
        <p:nvSpPr>
          <p:cNvPr id="8" name="TextBox 7"/>
          <p:cNvSpPr txBox="1"/>
          <p:nvPr/>
        </p:nvSpPr>
        <p:spPr>
          <a:xfrm>
            <a:off x="548640" y="5108194"/>
            <a:ext cx="612648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Taxonomy: Kim, Jeong et al., "Medical Hallucination in Foundation Models," arXiv 2503.05777 (2025) · Med-HALT, arXiv 2307.15343</a:t>
            </a:r>
          </a:p>
        </p:txBody>
      </p:sp>
      <p:sp>
        <p:nvSpPr>
          <p:cNvPr id="9" name="Rounded Rectangle 8"/>
          <p:cNvSpPr/>
          <p:nvPr/>
        </p:nvSpPr>
        <p:spPr>
          <a:xfrm>
            <a:off x="6775704" y="992123"/>
            <a:ext cx="4965192" cy="49651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5f52a8ba52.png"/>
          <p:cNvPicPr>
            <a:picLocks noChangeAspect="1"/>
          </p:cNvPicPr>
          <p:nvPr/>
        </p:nvPicPr>
        <p:blipFill>
          <a:blip r:embed="rId3"/>
          <a:stretch>
            <a:fillRect/>
          </a:stretch>
        </p:blipFill>
        <p:spPr>
          <a:xfrm>
            <a:off x="6858000" y="1074419"/>
            <a:ext cx="4800600" cy="48006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thesis: </a:t>
            </a:r>
            <a:r>
              <a:rPr sz="3200" b="0">
                <a:solidFill>
                  <a:srgbClr val="E7AC51"/>
                </a:solidFill>
                <a:latin typeface="Arial"/>
              </a:rPr>
              <a:t>the "bitter lesson."</a:t>
            </a:r>
          </a:p>
        </p:txBody>
      </p:sp>
      <p:sp>
        <p:nvSpPr>
          <p:cNvPr id="5" name="TextBox 4"/>
          <p:cNvSpPr txBox="1"/>
          <p:nvPr/>
        </p:nvSpPr>
        <p:spPr>
          <a:xfrm>
            <a:off x="548640" y="1557527"/>
            <a:ext cx="10881360" cy="95173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Over decades, </a:t>
            </a:r>
            <a:r>
              <a:rPr sz="1700" b="1">
                <a:solidFill>
                  <a:srgbClr val="ECEFF3"/>
                </a:solidFill>
                <a:latin typeface="Arial"/>
              </a:rPr>
              <a:t>general methods that scale with data and compute</a:t>
            </a:r>
            <a:r>
              <a:rPr sz="1700" b="0">
                <a:solidFill>
                  <a:srgbClr val="ECEFF3"/>
                </a:solidFill>
                <a:latin typeface="Arial"/>
              </a:rPr>
              <a:t> have repeatedly outperformed systems built on handcrafted domain knowledge — in chess, in vision, in language.</a:t>
            </a:r>
          </a:p>
        </p:txBody>
      </p:sp>
      <p:sp>
        <p:nvSpPr>
          <p:cNvPr id="6" name="TextBox 5"/>
          <p:cNvSpPr txBox="1"/>
          <p:nvPr/>
        </p:nvSpPr>
        <p:spPr>
          <a:xfrm>
            <a:off x="548640" y="2527553"/>
            <a:ext cx="10881360" cy="871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Radiology AI has spent fifteen years handcrafting. The trajectory of other fields suggests the generalists eventually take over perception too. </a:t>
            </a:r>
            <a:r>
              <a:rPr sz="1600" b="1">
                <a:solidFill>
                  <a:srgbClr val="ECEFF3"/>
                </a:solidFill>
                <a:latin typeface="Arial"/>
              </a:rPr>
              <a:t>The open question is when — and what we build in the meantime.</a:t>
            </a:r>
          </a:p>
        </p:txBody>
      </p:sp>
      <p:sp>
        <p:nvSpPr>
          <p:cNvPr id="7" name="TextBox 6"/>
          <p:cNvSpPr txBox="1"/>
          <p:nvPr/>
        </p:nvSpPr>
        <p:spPr>
          <a:xfrm>
            <a:off x="548640" y="3408425"/>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Rich Sutton, "The Bitter Lesson," 2019 essay (an argument, not a study)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likely answer: </a:t>
            </a:r>
            <a:r>
              <a:rPr sz="2600" b="0">
                <a:solidFill>
                  <a:srgbClr val="E7AC51"/>
                </a:solidFill>
                <a:latin typeface="Arial"/>
              </a:rPr>
              <a:t>orchestration.</a:t>
            </a:r>
          </a:p>
        </p:txBody>
      </p:sp>
      <p:sp>
        <p:nvSpPr>
          <p:cNvPr id="5" name="TextBox 4"/>
          <p:cNvSpPr txBox="1"/>
          <p:nvPr/>
        </p:nvSpPr>
        <p:spPr>
          <a:xfrm>
            <a:off x="548640" y="1466088"/>
            <a:ext cx="10881360" cy="99872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The probable future is a </a:t>
            </a:r>
            <a:r>
              <a:rPr sz="1400" b="1">
                <a:solidFill>
                  <a:srgbClr val="ECEFF3"/>
                </a:solidFill>
                <a:latin typeface="Arial"/>
              </a:rPr>
              <a:t>stack</a:t>
            </a:r>
            <a:r>
              <a:rPr sz="1400" b="0">
                <a:solidFill>
                  <a:srgbClr val="9DA9B5"/>
                </a:solidFill>
                <a:latin typeface="Arial"/>
              </a:rPr>
              <a:t>, not a replacement. A </a:t>
            </a:r>
            <a:r>
              <a:rPr sz="1400" b="1">
                <a:solidFill>
                  <a:srgbClr val="ECEFF3"/>
                </a:solidFill>
                <a:latin typeface="Arial"/>
              </a:rPr>
              <a:t>frontier model as the reasoning and orchestration layer</a:t>
            </a:r>
            <a:r>
              <a:rPr sz="1400" b="0">
                <a:solidFill>
                  <a:srgbClr val="9DA9B5"/>
                </a:solidFill>
                <a:latin typeface="Arial"/>
              </a:rPr>
              <a:t> — it reads the EHR, talks to the patient, writes the report, decides the next step — calling </a:t>
            </a:r>
            <a:r>
              <a:rPr sz="1400" b="1">
                <a:solidFill>
                  <a:srgbClr val="ECEFF3"/>
                </a:solidFill>
                <a:latin typeface="Arial"/>
              </a:rPr>
              <a:t>specialist models as instruments:</a:t>
            </a:r>
            <a:r>
              <a:rPr sz="1400" b="0">
                <a:solidFill>
                  <a:srgbClr val="9DA9B5"/>
                </a:solidFill>
                <a:latin typeface="Arial"/>
              </a:rPr>
              <a:t> the detector, the risk model, the BAC quantifier, the tissue model.</a:t>
            </a:r>
          </a:p>
        </p:txBody>
      </p:sp>
      <p:sp>
        <p:nvSpPr>
          <p:cNvPr id="6" name="TextBox 5"/>
          <p:cNvSpPr txBox="1"/>
          <p:nvPr/>
        </p:nvSpPr>
        <p:spPr>
          <a:xfrm>
            <a:off x="548640" y="2473960"/>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generalist = reasoning &amp; orchestration</a:t>
            </a:r>
          </a:p>
        </p:txBody>
      </p:sp>
      <p:sp>
        <p:nvSpPr>
          <p:cNvPr id="7" name="TextBox 6"/>
          <p:cNvSpPr txBox="1"/>
          <p:nvPr/>
        </p:nvSpPr>
        <p:spPr>
          <a:xfrm>
            <a:off x="548640" y="2745232"/>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specialists = the instruments it calls</a:t>
            </a:r>
          </a:p>
        </p:txBody>
      </p:sp>
      <p:sp>
        <p:nvSpPr>
          <p:cNvPr id="8" name="TextBox 7"/>
          <p:cNvSpPr txBox="1"/>
          <p:nvPr/>
        </p:nvSpPr>
        <p:spPr>
          <a:xfrm>
            <a:off x="548640" y="3016504"/>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0">
                <a:solidFill>
                  <a:srgbClr val="ECEFF3"/>
                </a:solidFill>
                <a:latin typeface="Arial"/>
              </a:rPr>
              <a:t>increasingly </a:t>
            </a:r>
            <a:r>
              <a:rPr sz="1200" b="1">
                <a:solidFill>
                  <a:srgbClr val="ECEFF3"/>
                </a:solidFill>
                <a:latin typeface="Arial"/>
              </a:rPr>
              <a:t>domain-adapted</a:t>
            </a:r>
            <a:r>
              <a:rPr sz="1200" b="0">
                <a:solidFill>
                  <a:srgbClr val="ECEFF3"/>
                </a:solidFill>
                <a:latin typeface="Arial"/>
              </a:rPr>
              <a:t> (Med-Gemini)</a:t>
            </a:r>
          </a:p>
        </p:txBody>
      </p:sp>
      <p:sp>
        <p:nvSpPr>
          <p:cNvPr id="9" name="TextBox 8"/>
          <p:cNvSpPr txBox="1"/>
          <p:nvPr/>
        </p:nvSpPr>
        <p:spPr>
          <a:xfrm>
            <a:off x="548640" y="3287776"/>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Measurement still rewards purpose-built precision and calibration. "Agentic radiology": the generalist conducts; the specialists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FRONTIER MODELS</a:t>
            </a:r>
          </a:p>
        </p:txBody>
      </p:sp>
      <p:sp>
        <p:nvSpPr>
          <p:cNvPr id="4" name="TextBox 3"/>
          <p:cNvSpPr txBox="1"/>
          <p:nvPr/>
        </p:nvSpPr>
        <p:spPr>
          <a:xfrm>
            <a:off x="548640" y="868680"/>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What it means </a:t>
            </a:r>
            <a:r>
              <a:rPr sz="3200" b="0">
                <a:solidFill>
                  <a:srgbClr val="E7AC51"/>
                </a:solidFill>
                <a:latin typeface="Arial"/>
              </a:rPr>
              <a:t>for this room.</a:t>
            </a:r>
          </a:p>
        </p:txBody>
      </p:sp>
      <p:sp>
        <p:nvSpPr>
          <p:cNvPr id="5" name="TextBox 4"/>
          <p:cNvSpPr txBox="1"/>
          <p:nvPr/>
        </p:nvSpPr>
        <p:spPr>
          <a:xfrm>
            <a:off x="548640" y="1557527"/>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1">
                <a:solidFill>
                  <a:srgbClr val="ECEFF3"/>
                </a:solidFill>
                <a:latin typeface="Arial"/>
              </a:rPr>
              <a:t>Value moves</a:t>
            </a:r>
            <a:r>
              <a:rPr sz="1200" b="0">
                <a:solidFill>
                  <a:srgbClr val="ECEFF3"/>
                </a:solidFill>
                <a:latin typeface="Arial"/>
              </a:rPr>
              <a:t> to data, validation, integration — not architecture</a:t>
            </a:r>
          </a:p>
        </p:txBody>
      </p:sp>
      <p:sp>
        <p:nvSpPr>
          <p:cNvPr id="6" name="TextBox 5"/>
          <p:cNvSpPr txBox="1"/>
          <p:nvPr/>
        </p:nvSpPr>
        <p:spPr>
          <a:xfrm>
            <a:off x="548640" y="1828799"/>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1">
                <a:solidFill>
                  <a:srgbClr val="ECEFF3"/>
                </a:solidFill>
                <a:latin typeface="Arial"/>
              </a:rPr>
              <a:t>Concentration</a:t>
            </a:r>
            <a:r>
              <a:rPr sz="1200" b="0">
                <a:solidFill>
                  <a:srgbClr val="ECEFF3"/>
                </a:solidFill>
                <a:latin typeface="Arial"/>
              </a:rPr>
              <a:t> is a governance problem: cost, sovereignty, access</a:t>
            </a:r>
          </a:p>
        </p:txBody>
      </p:sp>
      <p:sp>
        <p:nvSpPr>
          <p:cNvPr id="7" name="TextBox 6"/>
          <p:cNvSpPr txBox="1"/>
          <p:nvPr/>
        </p:nvSpPr>
        <p:spPr>
          <a:xfrm>
            <a:off x="548640" y="2100072"/>
            <a:ext cx="10881360" cy="271272"/>
          </a:xfrm>
          <a:prstGeom prst="rect">
            <a:avLst/>
          </a:prstGeom>
          <a:noFill/>
        </p:spPr>
        <p:txBody>
          <a:bodyPr wrap="square" lIns="25400" rIns="25400" tIns="12700" bIns="12700">
            <a:noAutofit/>
          </a:bodyPr>
          <a:lstStyle/>
          <a:p>
            <a:pPr algn="l">
              <a:lnSpc>
                <a:spcPct val="114000"/>
              </a:lnSpc>
              <a:spcAft>
                <a:spcPts val="400"/>
              </a:spcAft>
            </a:pPr>
            <a:r>
              <a:rPr sz="1200" b="0">
                <a:solidFill>
                  <a:srgbClr val="5FB7C9"/>
                </a:solidFill>
                <a:latin typeface="Arial"/>
              </a:rPr>
              <a:t>▸ </a:t>
            </a:r>
            <a:r>
              <a:rPr sz="1200" b="1">
                <a:solidFill>
                  <a:srgbClr val="ECEFF3"/>
                </a:solidFill>
                <a:latin typeface="Arial"/>
              </a:rPr>
              <a:t>The radiologist</a:t>
            </a:r>
            <a:r>
              <a:rPr sz="1200" b="0">
                <a:solidFill>
                  <a:srgbClr val="ECEFF3"/>
                </a:solidFill>
                <a:latin typeface="Arial"/>
              </a:rPr>
              <a:t> shifts toward validator &amp; orchestrator</a:t>
            </a:r>
          </a:p>
        </p:txBody>
      </p:sp>
      <p:sp>
        <p:nvSpPr>
          <p:cNvPr id="8" name="TextBox 7"/>
          <p:cNvSpPr txBox="1"/>
          <p:nvPr/>
        </p:nvSpPr>
        <p:spPr>
          <a:xfrm>
            <a:off x="548640" y="2371344"/>
            <a:ext cx="10881360" cy="95173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Whether the result is a specialist model or a frontier generalist, built in Palo Alto or in this room, it does not change what makes it safe. </a:t>
            </a:r>
            <a:r>
              <a:rPr sz="1700" b="1">
                <a:solidFill>
                  <a:srgbClr val="ECEFF3"/>
                </a:solidFill>
                <a:latin typeface="Arial"/>
              </a:rPr>
              <a:t>The bar is the same one CAD failed and MASAI cleared.</a:t>
            </a:r>
          </a:p>
        </p:txBody>
      </p:sp>
      <p:sp>
        <p:nvSpPr>
          <p:cNvPr id="9" name="TextBox 8"/>
          <p:cNvSpPr txBox="1"/>
          <p:nvPr/>
        </p:nvSpPr>
        <p:spPr>
          <a:xfrm>
            <a:off x="548640" y="3341370"/>
            <a:ext cx="10881360" cy="2199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Connects to §6 equity · bridges to §7 — the close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ADOPTION</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One model for everything is </a:t>
            </a:r>
            <a:r>
              <a:rPr sz="2600" b="0">
                <a:solidFill>
                  <a:srgbClr val="E7AC51"/>
                </a:solidFill>
                <a:latin typeface="Arial"/>
              </a:rPr>
              <a:t>the wrong goal.</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We chased better detection for three decades. But look at what we ask a </a:t>
            </a:r>
            <a:r>
              <a:rPr sz="1400" b="1">
                <a:solidFill>
                  <a:srgbClr val="ECEFF3"/>
                </a:solidFill>
                <a:latin typeface="Arial"/>
              </a:rPr>
              <a:t>single</a:t>
            </a:r>
            <a:r>
              <a:rPr sz="1400" b="0">
                <a:solidFill>
                  <a:srgbClr val="9DA9B5"/>
                </a:solidFill>
                <a:latin typeface="Arial"/>
              </a:rPr>
              <a:t> model to do at once:</a:t>
            </a:r>
          </a:p>
        </p:txBody>
      </p:sp>
      <p:sp>
        <p:nvSpPr>
          <p:cNvPr id="6" name="TextBox 5"/>
          <p:cNvSpPr txBox="1"/>
          <p:nvPr/>
        </p:nvSpPr>
        <p:spPr>
          <a:xfrm>
            <a:off x="548640" y="2029459"/>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01</a:t>
            </a:r>
            <a:r>
              <a:rPr sz="1400" b="0">
                <a:solidFill>
                  <a:srgbClr val="9DA9B5"/>
                </a:solidFill>
                <a:latin typeface="Arial"/>
              </a:rPr>
              <a:t>Hold up across </a:t>
            </a:r>
            <a:r>
              <a:rPr sz="1400" b="1">
                <a:solidFill>
                  <a:srgbClr val="ECEFF3"/>
                </a:solidFill>
                <a:latin typeface="Arial"/>
              </a:rPr>
              <a:t>every scanner and vendor</a:t>
            </a:r>
            <a:r>
              <a:rPr sz="1400" b="0">
                <a:solidFill>
                  <a:srgbClr val="9DA9B5"/>
                </a:solidFill>
                <a:latin typeface="Arial"/>
              </a:rPr>
              <a:t> in the field</a:t>
            </a:r>
          </a:p>
        </p:txBody>
      </p:sp>
      <p:sp>
        <p:nvSpPr>
          <p:cNvPr id="7" name="TextBox 6"/>
          <p:cNvSpPr txBox="1"/>
          <p:nvPr/>
        </p:nvSpPr>
        <p:spPr>
          <a:xfrm>
            <a:off x="548640" y="237058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02</a:t>
            </a:r>
            <a:r>
              <a:rPr sz="1400" b="0">
                <a:solidFill>
                  <a:srgbClr val="9DA9B5"/>
                </a:solidFill>
                <a:latin typeface="Arial"/>
              </a:rPr>
              <a:t>Perform in women of </a:t>
            </a:r>
            <a:r>
              <a:rPr sz="1400" b="1">
                <a:solidFill>
                  <a:srgbClr val="ECEFF3"/>
                </a:solidFill>
                <a:latin typeface="Arial"/>
              </a:rPr>
              <a:t>all ages, all densities, all risk types</a:t>
            </a:r>
          </a:p>
        </p:txBody>
      </p:sp>
      <p:sp>
        <p:nvSpPr>
          <p:cNvPr id="8" name="TextBox 7"/>
          <p:cNvSpPr txBox="1"/>
          <p:nvPr/>
        </p:nvSpPr>
        <p:spPr>
          <a:xfrm>
            <a:off x="548640" y="2711704"/>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03</a:t>
            </a:r>
            <a:r>
              <a:rPr sz="1400" b="0">
                <a:solidFill>
                  <a:srgbClr val="9DA9B5"/>
                </a:solidFill>
                <a:latin typeface="Arial"/>
              </a:rPr>
              <a:t>Serve both the </a:t>
            </a:r>
            <a:r>
              <a:rPr sz="1400" b="1">
                <a:solidFill>
                  <a:srgbClr val="ECEFF3"/>
                </a:solidFill>
                <a:latin typeface="Arial"/>
              </a:rPr>
              <a:t>expert breast radiologist</a:t>
            </a:r>
            <a:r>
              <a:rPr sz="1400" b="0">
                <a:solidFill>
                  <a:srgbClr val="9DA9B5"/>
                </a:solidFill>
                <a:latin typeface="Arial"/>
              </a:rPr>
              <a:t> and the </a:t>
            </a:r>
            <a:r>
              <a:rPr sz="1400" b="1">
                <a:solidFill>
                  <a:srgbClr val="ECEFF3"/>
                </a:solidFill>
                <a:latin typeface="Arial"/>
              </a:rPr>
              <a:t>generalist who reads mammo one day a week</a:t>
            </a:r>
          </a:p>
        </p:txBody>
      </p:sp>
      <p:sp>
        <p:nvSpPr>
          <p:cNvPr id="9" name="TextBox 8"/>
          <p:cNvSpPr txBox="1"/>
          <p:nvPr/>
        </p:nvSpPr>
        <p:spPr>
          <a:xfrm>
            <a:off x="548640" y="327507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We should seriously reframe how we consider </a:t>
            </a:r>
            <a:r>
              <a:rPr sz="1400" b="1">
                <a:solidFill>
                  <a:srgbClr val="ECEFF3"/>
                </a:solidFill>
                <a:latin typeface="Arial"/>
              </a:rPr>
              <a:t>mammography-model deployment.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ADOPTION</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How we should deploy </a:t>
            </a:r>
            <a:r>
              <a:rPr sz="2600" b="0">
                <a:solidFill>
                  <a:srgbClr val="E7AC51"/>
                </a:solidFill>
                <a:latin typeface="Arial"/>
              </a:rPr>
              <a:t>instead.</a:t>
            </a:r>
          </a:p>
        </p:txBody>
      </p:sp>
      <p:sp>
        <p:nvSpPr>
          <p:cNvPr id="5" name="TextBox 4"/>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Not one model imposed everywhere — three reframes:</a:t>
            </a:r>
          </a:p>
        </p:txBody>
      </p:sp>
      <p:sp>
        <p:nvSpPr>
          <p:cNvPr id="6" name="TextBox 5"/>
          <p:cNvSpPr txBox="1"/>
          <p:nvPr/>
        </p:nvSpPr>
        <p:spPr>
          <a:xfrm>
            <a:off x="548640" y="1807209"/>
            <a:ext cx="10881360" cy="776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1</a:t>
            </a:r>
            <a:r>
              <a:rPr sz="1400" b="1">
                <a:solidFill>
                  <a:srgbClr val="ECEFF3"/>
                </a:solidFill>
                <a:latin typeface="Arial"/>
              </a:rPr>
              <a:t>Operating points, not one threshold.</a:t>
            </a:r>
            <a:r>
              <a:rPr sz="1400" b="0">
                <a:solidFill>
                  <a:srgbClr val="9DA9B5"/>
                </a:solidFill>
                <a:latin typeface="Arial"/>
              </a:rPr>
              <a:t> Sensitivity vs. false positives is a </a:t>
            </a:r>
            <a:r>
              <a:rPr sz="1400" b="1">
                <a:solidFill>
                  <a:srgbClr val="ECEFF3"/>
                </a:solidFill>
                <a:latin typeface="Arial"/>
              </a:rPr>
              <a:t>value judgment</a:t>
            </a:r>
            <a:r>
              <a:rPr sz="1400" b="0">
                <a:solidFill>
                  <a:srgbClr val="9DA9B5"/>
                </a:solidFill>
                <a:latin typeface="Arial"/>
              </a:rPr>
              <a:t>, not a setting. Let a model run at a range of operating points, </a:t>
            </a:r>
            <a:r>
              <a:rPr sz="1400" b="1">
                <a:solidFill>
                  <a:srgbClr val="ECEFF3"/>
                </a:solidFill>
                <a:latin typeface="Arial"/>
              </a:rPr>
              <a:t>tailored to the site and the radiologist</a:t>
            </a:r>
            <a:r>
              <a:rPr sz="1400" b="0">
                <a:solidFill>
                  <a:srgbClr val="9DA9B5"/>
                </a:solidFill>
                <a:latin typeface="Arial"/>
              </a:rPr>
              <a:t> — the expert and the once-a-week reader don't want the same one.</a:t>
            </a:r>
          </a:p>
        </p:txBody>
      </p:sp>
      <p:sp>
        <p:nvSpPr>
          <p:cNvPr id="7" name="TextBox 6"/>
          <p:cNvSpPr txBox="1"/>
          <p:nvPr/>
        </p:nvSpPr>
        <p:spPr>
          <a:xfrm>
            <a:off x="548640" y="2592832"/>
            <a:ext cx="10881360" cy="7764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2</a:t>
            </a:r>
            <a:r>
              <a:rPr sz="1400" b="1">
                <a:solidFill>
                  <a:srgbClr val="ECEFF3"/>
                </a:solidFill>
                <a:latin typeface="Arial"/>
              </a:rPr>
              <a:t>Multimodal — and soon.</a:t>
            </a:r>
            <a:r>
              <a:rPr sz="1400" b="0">
                <a:solidFill>
                  <a:srgbClr val="9DA9B5"/>
                </a:solidFill>
                <a:latin typeface="Arial"/>
              </a:rPr>
              <a:t> A model on imaging alone, or </a:t>
            </a:r>
            <a:r>
              <a:rPr sz="1400" b="1">
                <a:solidFill>
                  <a:srgbClr val="ECEFF3"/>
                </a:solidFill>
                <a:latin typeface="Arial"/>
              </a:rPr>
              <a:t>imaging plus basic clinical data</a:t>
            </a:r>
            <a:r>
              <a:rPr sz="1400" b="0">
                <a:solidFill>
                  <a:srgbClr val="9DA9B5"/>
                </a:solidFill>
                <a:latin typeface="Arial"/>
              </a:rPr>
              <a:t>, will end in user frustration. The model a radiologist trusts pulls in </a:t>
            </a:r>
            <a:r>
              <a:rPr sz="1400" b="1">
                <a:solidFill>
                  <a:srgbClr val="ECEFF3"/>
                </a:solidFill>
                <a:latin typeface="Arial"/>
              </a:rPr>
              <a:t>image, clinical context, risk, and history</a:t>
            </a:r>
            <a:r>
              <a:rPr sz="1400" b="0">
                <a:solidFill>
                  <a:srgbClr val="9DA9B5"/>
                </a:solidFill>
                <a:latin typeface="Arial"/>
              </a:rPr>
              <a:t> together.</a:t>
            </a:r>
          </a:p>
        </p:txBody>
      </p:sp>
      <p:sp>
        <p:nvSpPr>
          <p:cNvPr id="8" name="TextBox 7"/>
          <p:cNvSpPr txBox="1"/>
          <p:nvPr/>
        </p:nvSpPr>
        <p:spPr>
          <a:xfrm>
            <a:off x="548640" y="3378454"/>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3</a:t>
            </a:r>
            <a:r>
              <a:rPr sz="1400" b="1">
                <a:solidFill>
                  <a:srgbClr val="ECEFF3"/>
                </a:solidFill>
                <a:latin typeface="Arial"/>
              </a:rPr>
              <a:t>The integration tax.</a:t>
            </a:r>
            <a:r>
              <a:rPr sz="1400" b="0">
                <a:solidFill>
                  <a:srgbClr val="9DA9B5"/>
                </a:solidFill>
                <a:latin typeface="Arial"/>
              </a:rPr>
              <a:t> A perfect model dies if it can't reach PACS. One-off integrations don't scale; onboarding happens through a platform or vendor you already run.</a:t>
            </a:r>
          </a:p>
        </p:txBody>
      </p:sp>
      <p:sp>
        <p:nvSpPr>
          <p:cNvPr id="9" name="TextBox 8"/>
          <p:cNvSpPr txBox="1"/>
          <p:nvPr/>
        </p:nvSpPr>
        <p:spPr>
          <a:xfrm>
            <a:off x="548640" y="3941825"/>
            <a:ext cx="10881360" cy="385064"/>
          </a:xfrm>
          <a:prstGeom prst="rect">
            <a:avLst/>
          </a:prstGeom>
          <a:noFill/>
        </p:spPr>
        <p:txBody>
          <a:bodyPr wrap="square" lIns="25400" rIns="25400" tIns="12700" bIns="12700">
            <a:noAutofit/>
          </a:bodyPr>
          <a:lstStyle/>
          <a:p>
            <a:pPr algn="l">
              <a:lnSpc>
                <a:spcPct val="114000"/>
              </a:lnSpc>
              <a:spcAft>
                <a:spcPts val="400"/>
              </a:spcAft>
            </a:pPr>
            <a:r>
              <a:rPr sz="1000" b="0">
                <a:solidFill>
                  <a:srgbClr val="5C6975"/>
                </a:solidFill>
                <a:latin typeface="Consolas"/>
              </a:rPr>
              <a:t>Sharma N, et al. BMC Cancer 2023;23:460 (275,900 mammograms; multi-vendor) · Eisemann N, et al. Nat Med 2025;31:917–924 (PRAIM) · Tejani AS, et al. Radiology 2024;311:e232653 · Allen B, et al. Mayo Clin Proc Digit Health 2024;2(4)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363728"/>
          </a:xfrm>
          <a:prstGeom prst="rect">
            <a:avLst/>
          </a:prstGeom>
          <a:noFill/>
        </p:spPr>
        <p:txBody>
          <a:bodyPr wrap="square" lIns="25400" rIns="25400" tIns="12700" bIns="12700">
            <a:noAutofit/>
          </a:bodyPr>
          <a:lstStyle/>
          <a:p>
            <a:pPr algn="l">
              <a:lnSpc>
                <a:spcPct val="125000"/>
              </a:lnSpc>
              <a:spcAft>
                <a:spcPts val="400"/>
              </a:spcAft>
            </a:pPr>
            <a:r>
              <a:rPr sz="1600" b="0">
                <a:solidFill>
                  <a:srgbClr val="9DA9B5"/>
                </a:solidFill>
                <a:latin typeface="Arial"/>
              </a:rPr>
              <a:t>Lesion</a:t>
            </a:r>
            <a:r>
              <a:rPr sz="1600" b="0">
                <a:solidFill>
                  <a:srgbClr val="9DA9B5"/>
                </a:solidFill>
                <a:latin typeface="Arial"/>
              </a:rPr>
              <a:t>→</a:t>
            </a:r>
            <a:r>
              <a:rPr sz="1600" b="0">
                <a:solidFill>
                  <a:srgbClr val="9DA9B5"/>
                </a:solidFill>
                <a:latin typeface="Arial"/>
              </a:rPr>
              <a:t>Image</a:t>
            </a:r>
            <a:r>
              <a:rPr sz="1600" b="0">
                <a:solidFill>
                  <a:srgbClr val="9DA9B5"/>
                </a:solidFill>
                <a:latin typeface="Arial"/>
              </a:rPr>
              <a:t>→</a:t>
            </a:r>
            <a:r>
              <a:rPr sz="1600" b="0">
                <a:solidFill>
                  <a:srgbClr val="9DA9B5"/>
                </a:solidFill>
                <a:latin typeface="Arial"/>
              </a:rPr>
              <a:t>Patient</a:t>
            </a:r>
          </a:p>
        </p:txBody>
      </p:sp>
      <p:sp>
        <p:nvSpPr>
          <p:cNvPr id="4" name="TextBox 3"/>
          <p:cNvSpPr txBox="1"/>
          <p:nvPr/>
        </p:nvSpPr>
        <p:spPr>
          <a:xfrm>
            <a:off x="548640" y="1241552"/>
            <a:ext cx="10881360" cy="71628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What thirty years </a:t>
            </a:r>
            <a:r>
              <a:rPr sz="3200" b="0">
                <a:solidFill>
                  <a:srgbClr val="E7AC51"/>
                </a:solidFill>
                <a:latin typeface="Arial"/>
              </a:rPr>
              <a:t>taught us.</a:t>
            </a:r>
          </a:p>
        </p:txBody>
      </p:sp>
      <p:sp>
        <p:nvSpPr>
          <p:cNvPr id="5" name="TextBox 4"/>
          <p:cNvSpPr txBox="1"/>
          <p:nvPr/>
        </p:nvSpPr>
        <p:spPr>
          <a:xfrm>
            <a:off x="548640" y="1930400"/>
            <a:ext cx="10881360" cy="617728"/>
          </a:xfrm>
          <a:prstGeom prst="rect">
            <a:avLst/>
          </a:prstGeom>
          <a:noFill/>
        </p:spPr>
        <p:txBody>
          <a:bodyPr wrap="square" lIns="25400" rIns="25400" tIns="12700" bIns="12700">
            <a:noAutofit/>
          </a:bodyPr>
          <a:lstStyle/>
          <a:p>
            <a:pPr algn="l">
              <a:lnSpc>
                <a:spcPct val="125000"/>
              </a:lnSpc>
              <a:spcAft>
                <a:spcPts val="400"/>
              </a:spcAft>
            </a:pPr>
            <a:r>
              <a:rPr sz="1600" b="1">
                <a:solidFill>
                  <a:srgbClr val="ECEFF3"/>
                </a:solidFill>
                <a:latin typeface="Arial"/>
              </a:rPr>
              <a:t>Technology is fallible.</a:t>
            </a:r>
            <a:r>
              <a:rPr sz="1600" b="0">
                <a:solidFill>
                  <a:srgbClr val="9DA9B5"/>
                </a:solidFill>
                <a:latin typeface="Arial"/>
              </a:rPr>
              <a:t> We keep getting better at looking ahead — but the consequences of what we deploy are not always ones we foresee.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CLOSE</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Lesion, image, </a:t>
            </a:r>
            <a:r>
              <a:rPr sz="2600" b="0">
                <a:solidFill>
                  <a:srgbClr val="E7AC51"/>
                </a:solidFill>
                <a:latin typeface="Arial"/>
              </a:rPr>
              <a:t>patient.</a:t>
            </a:r>
          </a:p>
        </p:txBody>
      </p:sp>
      <p:sp>
        <p:nvSpPr>
          <p:cNvPr id="5" name="TextBox 4"/>
          <p:cNvSpPr txBox="1"/>
          <p:nvPr/>
        </p:nvSpPr>
        <p:spPr>
          <a:xfrm>
            <a:off x="548640" y="146608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Lesion</a:t>
            </a:r>
          </a:p>
        </p:txBody>
      </p:sp>
      <p:sp>
        <p:nvSpPr>
          <p:cNvPr id="6" name="TextBox 5"/>
          <p:cNvSpPr txBox="1"/>
          <p:nvPr/>
        </p:nvSpPr>
        <p:spPr>
          <a:xfrm>
            <a:off x="548640" y="1807209"/>
            <a:ext cx="1088136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Find the spot.</a:t>
            </a:r>
            <a:r>
              <a:rPr sz="1400" b="0">
                <a:solidFill>
                  <a:srgbClr val="9DA9B5"/>
                </a:solidFill>
                <a:latin typeface="Arial"/>
              </a:rPr>
              <a:t> CAD failed at it; whole-image detection later earned the randomized evidence CAD never had.</a:t>
            </a:r>
          </a:p>
        </p:txBody>
      </p:sp>
      <p:sp>
        <p:nvSpPr>
          <p:cNvPr id="7" name="TextBox 6"/>
          <p:cNvSpPr txBox="1"/>
          <p:nvPr/>
        </p:nvSpPr>
        <p:spPr>
          <a:xfrm>
            <a:off x="548640" y="237058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5FB7C9"/>
                </a:solidFill>
                <a:latin typeface="Arial"/>
              </a:rPr>
              <a:t>Image</a:t>
            </a:r>
          </a:p>
        </p:txBody>
      </p:sp>
      <p:sp>
        <p:nvSpPr>
          <p:cNvPr id="8" name="TextBox 7"/>
          <p:cNvSpPr txBox="1"/>
          <p:nvPr/>
        </p:nvSpPr>
        <p:spPr>
          <a:xfrm>
            <a:off x="548640" y="2711704"/>
            <a:ext cx="1088136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Beyond the lesion.</a:t>
            </a:r>
            <a:r>
              <a:rPr sz="1400" b="0">
                <a:solidFill>
                  <a:srgbClr val="9DA9B5"/>
                </a:solidFill>
                <a:latin typeface="Arial"/>
              </a:rPr>
              <a:t> The whole image reads a woman's future </a:t>
            </a:r>
            <a:r>
              <a:rPr sz="1400" b="1">
                <a:solidFill>
                  <a:srgbClr val="5FB7C9"/>
                </a:solidFill>
                <a:latin typeface="Arial"/>
              </a:rPr>
              <a:t>risk</a:t>
            </a:r>
            <a:r>
              <a:rPr sz="1400" b="0">
                <a:solidFill>
                  <a:srgbClr val="9DA9B5"/>
                </a:solidFill>
                <a:latin typeface="Arial"/>
              </a:rPr>
              <a:t> and a </a:t>
            </a:r>
            <a:r>
              <a:rPr sz="1400" b="1">
                <a:solidFill>
                  <a:srgbClr val="5FB7C9"/>
                </a:solidFill>
                <a:latin typeface="Arial"/>
              </a:rPr>
              <a:t>cardiovascular</a:t>
            </a:r>
            <a:r>
              <a:rPr sz="1400" b="0">
                <a:solidFill>
                  <a:srgbClr val="9DA9B5"/>
                </a:solidFill>
                <a:latin typeface="Arial"/>
              </a:rPr>
              <a:t> signal — from the same mammogram.</a:t>
            </a:r>
          </a:p>
        </p:txBody>
      </p:sp>
      <p:sp>
        <p:nvSpPr>
          <p:cNvPr id="9" name="TextBox 8"/>
          <p:cNvSpPr txBox="1"/>
          <p:nvPr/>
        </p:nvSpPr>
        <p:spPr>
          <a:xfrm>
            <a:off x="548640" y="3275076"/>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Patient</a:t>
            </a:r>
          </a:p>
        </p:txBody>
      </p:sp>
      <p:sp>
        <p:nvSpPr>
          <p:cNvPr id="10" name="TextBox 9"/>
          <p:cNvSpPr txBox="1"/>
          <p:nvPr/>
        </p:nvSpPr>
        <p:spPr>
          <a:xfrm>
            <a:off x="548640" y="3616198"/>
            <a:ext cx="10881360" cy="554227"/>
          </a:xfrm>
          <a:prstGeom prst="rect">
            <a:avLst/>
          </a:prstGeom>
          <a:noFill/>
        </p:spPr>
        <p:txBody>
          <a:bodyPr wrap="square" lIns="25400" rIns="25400" tIns="12700" bIns="12700">
            <a:noAutofit/>
          </a:bodyPr>
          <a:lstStyle/>
          <a:p>
            <a:pPr algn="l">
              <a:lnSpc>
                <a:spcPct val="125000"/>
              </a:lnSpc>
              <a:spcAft>
                <a:spcPts val="400"/>
              </a:spcAft>
            </a:pPr>
            <a:r>
              <a:rPr sz="1400" b="1">
                <a:solidFill>
                  <a:srgbClr val="ECEFF3"/>
                </a:solidFill>
                <a:latin typeface="Arial"/>
              </a:rPr>
              <a:t>The whole person.</a:t>
            </a:r>
            <a:r>
              <a:rPr sz="1400" b="0">
                <a:solidFill>
                  <a:srgbClr val="9DA9B5"/>
                </a:solidFill>
                <a:latin typeface="Arial"/>
              </a:rPr>
              <a:t> Image, tissue, gene, and history together — risk known </a:t>
            </a:r>
            <a:r>
              <a:rPr sz="1400" b="1">
                <a:solidFill>
                  <a:srgbClr val="E7AC51"/>
                </a:solidFill>
                <a:latin typeface="Arial"/>
              </a:rPr>
              <a:t>before she enters the scanner.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CLOSE</a:t>
            </a:r>
          </a:p>
        </p:txBody>
      </p:sp>
      <p:sp>
        <p:nvSpPr>
          <p:cNvPr id="4" name="TextBox 3"/>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discipline, </a:t>
            </a:r>
            <a:r>
              <a:rPr sz="2600" b="0">
                <a:solidFill>
                  <a:srgbClr val="E7AC51"/>
                </a:solidFill>
                <a:latin typeface="Arial"/>
              </a:rPr>
              <a:t>in three lines.</a:t>
            </a:r>
          </a:p>
        </p:txBody>
      </p:sp>
      <p:sp>
        <p:nvSpPr>
          <p:cNvPr id="5" name="TextBox 4"/>
          <p:cNvSpPr txBox="1"/>
          <p:nvPr/>
        </p:nvSpPr>
        <p:spPr>
          <a:xfrm>
            <a:off x="548640" y="1466088"/>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01</a:t>
            </a:r>
            <a:r>
              <a:rPr sz="1400" b="1">
                <a:solidFill>
                  <a:srgbClr val="ECEFF3"/>
                </a:solidFill>
                <a:latin typeface="Arial"/>
              </a:rPr>
              <a:t>Prove it before you scale it.</a:t>
            </a:r>
            <a:r>
              <a:rPr sz="1400" b="0">
                <a:solidFill>
                  <a:srgbClr val="9DA9B5"/>
                </a:solidFill>
                <a:latin typeface="Arial"/>
              </a:rPr>
              <a:t> Prospective, randomized evidence — MASAI is the bar, not a retrospective AUC.</a:t>
            </a:r>
          </a:p>
        </p:txBody>
      </p:sp>
      <p:sp>
        <p:nvSpPr>
          <p:cNvPr id="6" name="TextBox 5"/>
          <p:cNvSpPr txBox="1"/>
          <p:nvPr/>
        </p:nvSpPr>
        <p:spPr>
          <a:xfrm>
            <a:off x="548640" y="2029459"/>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02</a:t>
            </a:r>
            <a:r>
              <a:rPr sz="1400" b="1">
                <a:solidFill>
                  <a:srgbClr val="ECEFF3"/>
                </a:solidFill>
                <a:latin typeface="Arial"/>
              </a:rPr>
              <a:t>Audit the blind spots.</a:t>
            </a:r>
            <a:r>
              <a:rPr sz="1400" b="0">
                <a:solidFill>
                  <a:srgbClr val="9DA9B5"/>
                </a:solidFill>
                <a:latin typeface="Arial"/>
              </a:rPr>
              <a:t> Explainability and subgroup performance are release criteria — a headline AUC is a sales number.</a:t>
            </a:r>
          </a:p>
        </p:txBody>
      </p:sp>
      <p:sp>
        <p:nvSpPr>
          <p:cNvPr id="7" name="TextBox 6"/>
          <p:cNvSpPr txBox="1"/>
          <p:nvPr/>
        </p:nvSpPr>
        <p:spPr>
          <a:xfrm>
            <a:off x="548640" y="2592831"/>
            <a:ext cx="10881360" cy="554227"/>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03</a:t>
            </a:r>
            <a:r>
              <a:rPr sz="1400" b="1">
                <a:solidFill>
                  <a:srgbClr val="ECEFF3"/>
                </a:solidFill>
                <a:latin typeface="Arial"/>
              </a:rPr>
              <a:t>Preserve clinical judgment; guard against de-skilling.</a:t>
            </a:r>
            <a:r>
              <a:rPr sz="1400" b="0">
                <a:solidFill>
                  <a:srgbClr val="9DA9B5"/>
                </a:solidFill>
                <a:latin typeface="Arial"/>
              </a:rPr>
              <a:t> Design against automation bias — the clinician should stay a clinician, not a rubber stamp.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10896"/>
            <a:ext cx="8229600" cy="365760"/>
          </a:xfrm>
          <a:prstGeom prst="rect">
            <a:avLst/>
          </a:prstGeom>
          <a:noFill/>
        </p:spPr>
        <p:txBody>
          <a:bodyPr wrap="square" lIns="25400" rIns="25400" tIns="12700" bIns="12700">
            <a:noAutofit/>
          </a:bodyPr>
          <a:lstStyle/>
          <a:p>
            <a:pPr algn="l">
              <a:lnSpc>
                <a:spcPct val="114000"/>
              </a:lnSpc>
              <a:spcAft>
                <a:spcPts val="400"/>
              </a:spcAft>
            </a:pPr>
            <a:r>
              <a:rPr sz="1100" b="1">
                <a:solidFill>
                  <a:srgbClr val="E7AC51"/>
                </a:solidFill>
                <a:latin typeface="Consolas"/>
              </a:rPr>
              <a:t>CLOSE</a:t>
            </a:r>
          </a:p>
        </p:txBody>
      </p:sp>
      <p:sp>
        <p:nvSpPr>
          <p:cNvPr id="4" name="TextBox 3"/>
          <p:cNvSpPr txBox="1"/>
          <p:nvPr/>
        </p:nvSpPr>
        <p:spPr>
          <a:xfrm>
            <a:off x="548640" y="868680"/>
            <a:ext cx="10881360" cy="1203960"/>
          </a:xfrm>
          <a:prstGeom prst="rect">
            <a:avLst/>
          </a:prstGeom>
          <a:noFill/>
        </p:spPr>
        <p:txBody>
          <a:bodyPr wrap="square" lIns="25400" rIns="25400" tIns="12700" bIns="12700">
            <a:noAutofit/>
          </a:bodyPr>
          <a:lstStyle/>
          <a:p>
            <a:pPr algn="l">
              <a:lnSpc>
                <a:spcPct val="106000"/>
              </a:lnSpc>
              <a:spcAft>
                <a:spcPts val="400"/>
              </a:spcAft>
            </a:pPr>
            <a:r>
              <a:rPr sz="3200" b="0">
                <a:solidFill>
                  <a:srgbClr val="ECEFF3"/>
                </a:solidFill>
                <a:latin typeface="Arial"/>
              </a:rPr>
              <a:t>The image hasn't changed — </a:t>
            </a:r>
            <a:r>
              <a:rPr sz="3200" b="0">
                <a:solidFill>
                  <a:srgbClr val="E7AC51"/>
                </a:solidFill>
                <a:latin typeface="Arial"/>
              </a:rPr>
              <a:t>what we read from it will.</a:t>
            </a:r>
          </a:p>
        </p:txBody>
      </p:sp>
      <p:sp>
        <p:nvSpPr>
          <p:cNvPr id="5" name="TextBox 4"/>
          <p:cNvSpPr txBox="1"/>
          <p:nvPr/>
        </p:nvSpPr>
        <p:spPr>
          <a:xfrm>
            <a:off x="548640" y="2045207"/>
            <a:ext cx="10881360" cy="951738"/>
          </a:xfrm>
          <a:prstGeom prst="rect">
            <a:avLst/>
          </a:prstGeom>
          <a:noFill/>
        </p:spPr>
        <p:txBody>
          <a:bodyPr wrap="square" lIns="25400" rIns="25400" tIns="12700" bIns="12700">
            <a:noAutofit/>
          </a:bodyPr>
          <a:lstStyle/>
          <a:p>
            <a:pPr algn="l">
              <a:lnSpc>
                <a:spcPct val="130000"/>
              </a:lnSpc>
              <a:spcAft>
                <a:spcPts val="400"/>
              </a:spcAft>
            </a:pPr>
            <a:r>
              <a:rPr sz="1700" b="0">
                <a:solidFill>
                  <a:srgbClr val="ECEFF3"/>
                </a:solidFill>
                <a:latin typeface="Arial"/>
              </a:rPr>
              <a:t>Twenty-five years ago we could barely mark a suspicious spot. From that same image today: a woman's </a:t>
            </a:r>
            <a:r>
              <a:rPr sz="1700" b="1">
                <a:solidFill>
                  <a:srgbClr val="ECEFF3"/>
                </a:solidFill>
                <a:latin typeface="Arial"/>
              </a:rPr>
              <a:t>cancer risk</a:t>
            </a:r>
            <a:r>
              <a:rPr sz="1700" b="0">
                <a:solidFill>
                  <a:srgbClr val="ECEFF3"/>
                </a:solidFill>
                <a:latin typeface="Arial"/>
              </a:rPr>
              <a:t> years ahead, her </a:t>
            </a:r>
            <a:r>
              <a:rPr sz="1700" b="1">
                <a:solidFill>
                  <a:srgbClr val="ECEFF3"/>
                </a:solidFill>
                <a:latin typeface="Arial"/>
              </a:rPr>
              <a:t>cardiovascular risk</a:t>
            </a:r>
            <a:r>
              <a:rPr sz="1700" b="0">
                <a:solidFill>
                  <a:srgbClr val="ECEFF3"/>
                </a:solidFill>
                <a:latin typeface="Arial"/>
              </a:rPr>
              <a:t>, and a link to her </a:t>
            </a:r>
            <a:r>
              <a:rPr sz="1700" b="1">
                <a:solidFill>
                  <a:srgbClr val="ECEFF3"/>
                </a:solidFill>
                <a:latin typeface="Arial"/>
              </a:rPr>
              <a:t>tissue and genome.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881360" cy="6248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Thank you.</a:t>
            </a:r>
          </a:p>
        </p:txBody>
      </p:sp>
      <p:sp>
        <p:nvSpPr>
          <p:cNvPr id="4" name="TextBox 3"/>
          <p:cNvSpPr txBox="1"/>
          <p:nvPr/>
        </p:nvSpPr>
        <p:spPr>
          <a:xfrm>
            <a:off x="548640" y="1466088"/>
            <a:ext cx="10881360" cy="445008"/>
          </a:xfrm>
          <a:prstGeom prst="rect">
            <a:avLst/>
          </a:prstGeom>
          <a:noFill/>
        </p:spPr>
        <p:txBody>
          <a:bodyPr wrap="square" lIns="25400" rIns="25400" tIns="12700" bIns="12700">
            <a:noAutofit/>
          </a:bodyPr>
          <a:lstStyle/>
          <a:p>
            <a:pPr algn="l">
              <a:lnSpc>
                <a:spcPct val="114000"/>
              </a:lnSpc>
              <a:spcAft>
                <a:spcPts val="400"/>
              </a:spcAft>
            </a:pPr>
            <a:r>
              <a:rPr sz="2200" b="0">
                <a:solidFill>
                  <a:srgbClr val="E7AC51"/>
                </a:solidFill>
                <a:latin typeface="Arial"/>
              </a:rPr>
              <a:t>EMORY</a:t>
            </a:r>
          </a:p>
        </p:txBody>
      </p:sp>
      <p:sp>
        <p:nvSpPr>
          <p:cNvPr id="5" name="TextBox 4"/>
          <p:cNvSpPr txBox="1"/>
          <p:nvPr/>
        </p:nvSpPr>
        <p:spPr>
          <a:xfrm>
            <a:off x="548640" y="1911095"/>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Radiology &amp; Imaging Sciences</a:t>
            </a:r>
          </a:p>
        </p:txBody>
      </p:sp>
      <p:sp>
        <p:nvSpPr>
          <p:cNvPr id="6" name="TextBox 5"/>
          <p:cNvSpPr txBox="1"/>
          <p:nvPr/>
        </p:nvSpPr>
        <p:spPr>
          <a:xfrm>
            <a:off x="548640" y="2252218"/>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E7AC51"/>
                </a:solidFill>
                <a:latin typeface="Arial"/>
              </a:rPr>
              <a:t>HITI Lab</a:t>
            </a:r>
          </a:p>
        </p:txBody>
      </p:sp>
      <p:sp>
        <p:nvSpPr>
          <p:cNvPr id="7" name="TextBox 6"/>
          <p:cNvSpPr txBox="1"/>
          <p:nvPr/>
        </p:nvSpPr>
        <p:spPr>
          <a:xfrm>
            <a:off x="548640" y="2593340"/>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 logo to be added ]</a:t>
            </a:r>
          </a:p>
        </p:txBody>
      </p:sp>
      <p:sp>
        <p:nvSpPr>
          <p:cNvPr id="8" name="TextBox 7"/>
          <p:cNvSpPr txBox="1"/>
          <p:nvPr/>
        </p:nvSpPr>
        <p:spPr>
          <a:xfrm>
            <a:off x="548640" y="2934462"/>
            <a:ext cx="10881360" cy="331978"/>
          </a:xfrm>
          <a:prstGeom prst="rect">
            <a:avLst/>
          </a:prstGeom>
          <a:noFill/>
        </p:spPr>
        <p:txBody>
          <a:bodyPr wrap="square" lIns="25400" rIns="25400" tIns="12700" bIns="12700">
            <a:noAutofit/>
          </a:bodyPr>
          <a:lstStyle/>
          <a:p>
            <a:pPr algn="l">
              <a:lnSpc>
                <a:spcPct val="125000"/>
              </a:lnSpc>
              <a:spcAft>
                <a:spcPts val="400"/>
              </a:spcAft>
            </a:pPr>
            <a:r>
              <a:rPr sz="1400" b="0">
                <a:solidFill>
                  <a:srgbClr val="9DA9B5"/>
                </a:solidFill>
                <a:latin typeface="Arial"/>
              </a:rPr>
              <a:t>Hari Trivedi, MD · Emory University · IWBI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