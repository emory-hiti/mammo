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Thirty Years, Three Eras: AI in Breast Imaging, from CAD to Clinical Intelligence. — Hari Trivedi, Emory University.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Quickly, my disclosures. I'm a founder of Avera AI and Lightbox AI, Associate CMIO at HOPPR, and I advise croviz.ai, Solis Mammography, Sirona Medical, Flatiron Health, Coefficient, Verily Life Sciences, and the Biodata Consortium. My research and the work in this talk have received industry and foundation support from the organizations listed on the right. None of these relationships dictated the content of this talk.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you all know, this is a screening mammogram. In fact, a normal one — and it was read as normal. This is a real, de-identified exam from Emory. This is what we do today.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radiologists read this and were right — there is no cancer to see today. So the question I want to pose is: what are we not seeing? What I want to describe by the end of this talk is how AI models — past, present, and future — read this same mammogram, and her eventual biopsy slide, and extract information that is not visible to us. The first estimates a high probability of breast cancer within about five years — which she did develop. The second quantifies calcification in her breast arteries — an independent cardiovascular risk marker, with a measurable dose-response. The third, applied to the slide from her eventual biopsy, estimates a recurrence score we currently send to a genomics lab for about four thousand dollars. None of these is hypothetical. Each is published and externally validated, and one is already in this year's screening guidelines.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over the next thirty minutes or so, I want to take you on a short journey of how we got here and where we can expect to go: from the lesion, to the image, to the patient. And I'll start with a cautionary tale, because this field has overpromised before.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where this is going, we have to start with where it has been — because this field has overpromised before. So let's step into a time machine and go back to the beginning, to 1998.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year is 1998 — the year the FDA cleared the first CAD system for mammography. Computer-aided detection has just arrived: software that puts a mark on every mammogram to flag a possible cancer. A second set of eyes, automatically. It feels like the future.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within a decade, it is everywhere. A reimbursement code in 2002 — not an outcomes trial — drove adoption from nothing to about 74% of US screening mammograms by 2008, and 92% by 2016. We adopted it on a billing code, not a clinical trial.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 reading room is not convinced — because conventional CAD produced false positives constantly. Across independent series, seventy to eighty-five percent of normal mammograms carried at least one false-positive mark: Kim seventy, Mahoney up to eighty-five, Watanabe eighty-three — versus fifty-two percent for an AI-based CAD. In per-image terms that is roughly half a mark to one and a half false marks on every image. Mahoney measured about two to three false marks on a normal case — and more on non-dense breasts, where there is more to flag. After enough false alarms, radiologists learned to tune the marks out.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the data came in. The United States was spending over four hundred million dollars a year — roughly one dollar of every ten thousand in US healthcare. And among radiologists who read both with and without CAD, the odds of detecting a malignant lesion were 47 percent lower with CAD on — same readers, same images. That is quite remarkable. For the radiologists in the audience: every breast radiologist I have spoken with essentially ignores the CAD marks, or finds them disruptive — so this paper was not much of a surprise.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conclusion is worth reading verbatim. It had been foreshadowed years earlier — Fenton, in the New England Journal in 2007, already showed CAD lowered accuracy and raised the biopsy rate.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did it fail? Three reasons. First, it could only flag what we already know how to describe — the features were hand-tuned, so it was limited to what we could design, and it added marks rather than new information. Second, it marked most normal studies — 70 to 85 percent carried at least one false-positive mark — so readers learned to ignore it, and trust eroded. And third, the deeper problem: it was deployed at scale, reimbursed and run on nearly every screening mammogram in the country, before it was ever validated. The definitive accuracy study didn't arrive until 2015 — and found no benefit.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lesson from Era I is that CAD was reimbursed before it was proven, and was never shown to help. Around 2012 the technology changed. Traditional CAD was programmed — we wrote the rules. Modern deep learning is trained — it learns the patterns from the images. Traditional CAD pointed at spots; modern models can read the image. Sixteen years later.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year is 2016. You're a radiologist, you're just beginning to hear about AI for breast imaging — and the reading room is still feeling the burn from CAD. So what does mammography AI actually look like, and what is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optimism wasn't new in 2020. Back in 2016 came the first large-scale effort to build breast-cancer AI: the Digital Mammography DREAM Challenge. Over a thousand participants, 126 teams from 44 countries, on roughly 640,000 mammograms; we took part. There was an incredible surge of optimism that this would simply solve breast AI. On the held-out evaluation set, the best single model reached an AUC of 0.858; the ensemble of the eight best models reached 0.895; and the ensemble plus a single radiologist reached 0.942.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was the early evidence? In 2020, McKinney and colleagues at Google Health, in Nature, reported an AI that on US data cut false positives by 5.7% and false negatives by 9.4%, exceeded the average radiologist's AUC by over 11 points, and could cut a second reader's workload by 88%. The figure shows example cases the model localized. On paper, superhuman — but only on clean, curated data.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it held up independently. Salim and colleagues, in JAMA Oncology, took three commercial AI algorithms and tested them on an external Stockholm cohort of about 8,800 women. The AUC for cancer detection was 0.956 for AI-1, 0.922 for AI-2, and 0.920 for AI-3. To compare against radiologists fairly, they fixed the decision threshold at the radiologists' own level — the mean specificity of the first-reader radiologists, 96.6%. At that matched specificity, AI-1 reached 81.9% sensitivity, against the first readers' mean of 77.4%, in a simulated population of 113,663 screening examinations derived from the original 8,805 women. Combining AI with a first reader added detection, but at a cost: roughly 77% more abnormal calls for about 8% more cancers detected. That recall cost is the operating-point tension in miniature.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2023, MASAI published its clinical safety analysis — a randomized trial of about eighty thousand women, roughly forty thousand per arm. Cancer detection was 6.1 per thousand with AI versus 5.1 in controls, a ratio of 1.2, above the lowest acceptable safety limit. Recall was essentially identical, 2.2 versus 2.0 percent; the false-positive rate was 1.5 percent in both; and the positive predictive value of recall was higher with AI, 28 versus 25 percent. Three-quarters of detected cancers were invasive. So: safe, and detecting more — the green light to continue.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here is the discipline this talk runs on. Reader studies have well-known limits: enriched case sets, lab conditions, no real workflow. CAD had good numbers too. That kind of data is not enough to drive adoption. And it shows: a 2024 European survey found about 48% of radiologists use AI, but of those only 13.7% use it for breast imaging, about one in eight. In the US, by one estimate, only around 2% of practices use it at all.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step back into the time machine and come forward ten years, to 2026. The early promise we just saw was retrospective and lab-based. By 2026 that has changed: AI screening has been tested where it counts — prospectively, in real screening programs — and the picture is much clearer.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where it stands in 2026: there are now two large prospective studies showing AI works in a real screening program. MASAI, the Swedish randomized trial of about 105,000 women, reported its interval-cancer result — non-inferior, with a ratio of 0.88, at a sensitivity of 80.5 versus 73.8 percent for the same specificity, and it cut reading workload by about 44 percent. PRAIM, a real-world German deployment of 463,000 women across twelve sites and 119 radiologists, found 17.6 percent more cancers detected with AI support and no increase in recall. Two prospective studies, two countries, the same direction. And a third is underway: PRISM, the first large randomized trial of screening AI in the United States — a sixteen-million-dollar PCORI-funded, seven-site study using Transpara, announced in September 2025 and recruiting now. Results are years away, but for the first time the US single-reader workflow will be tested directly. — MASAI detail, for reference: the population was 80,033 women aged 40 to 80 screened at four sites in southwest Sweden, randomized one-to-one between April 2021 and July 2022 to AI-supported reading versus standard double reading by two radiologists without AI. There were 244 screen-detected cancers, 6.1 per 1,000 participants, from 46,345 screen readings in the intervention group of 39,996 participants, versus 203 in the control group — detection went up, not down, the opposite of the feared scenario. The widely quoted framing is a roughly 20 percent relative increase in detection, 6.1 versus about 5.1 per 1,000, at this interim stage; the Lancet Digital Health companion analysis later reported a 29 percent increase in cancer detection without an increase in false positives. The workload number: AI support reduced radiologists' screen-reading workload by 44 percent — nearly halving the reading burden while detection held up or improved. — PRAIM detail, for reference: PRAIM was embedded in Germany's national program, so the existing standard was already a two-reader system. For each woman, four 2D mammograms are taken — CC and MLO of each breast — read independently by two radiologists, sometimes with a third supervising. If at least one radiologist deems the case suspicious, a consensus conference is held, attended by at least the two initial readers plus a head radiologist, and that consensus step decides recall. This matters because both arms of PRAIM kept this double-reading-plus-consensus structure — the only variable being whether AI was present. Cancer detection rate: 6.7 per 1,000 in the AI arm versus 5.7 per 1,000 in control — a 17.6 percent relative increase, 95 percent CI plus 5.7 to plus 30.8 percent, statistically superior. Recall rate: 37.4 per 1,000 in the AI arm versus 38.3 in control — a minus 2.5 percent difference, 95 percent CI minus 6.5 to plus 1.7 percent, noninferior and numerically lower. PPV of recall: 17.9 percent in the AI arm versus 14.9 percent in control. PPV of biopsy: 64.5 percent versus 59.2 percent.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ask where the model fails, we have to ask a harder question: what are we even measuring against? A screening mammogram carries no label in the image — the ground truth comes from what happens next. We link each exam to follow-up imaging and to pathology, and only then assign an outcome. But that assignment is full of judgment calls. How long do you follow a woman before you are willing to call an exam truly negative? A high-risk lesion — atypical ductal hyperplasia, LCIS, a papilloma — is neither clearly benign nor cancer; which bucket does it go in? Do you pool DCIS, which is non-invasive, with invasive cancer, when their clinical meaning is so different? Every one of these choices changes the denominator, and therefore every AUC, every sensitivity, every subgroup number that follows. Defining the outcome is the hard part — and it is rarely shown.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the labels are set, the average breaks down by outcome and by cancer type. On the left, by clinical outcome: the model scores screen-detected cancers positive about 73 percent of the time, but interval cancers — the ones that surface between screens — only 31 percent. On the right, by pathology: positive-score rates climb from benign lesions at 16 percent, borderline at 26, high-risk lesions at 30, DCIS at 55, to invasive cancer at 82 percent. So non-invasive disease and high-risk lesions are flagged far less often than invasive cancer — a single headline AUC averages over categories the model handles very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breakdown is by imaging feature. Look at how the same model's scores split by what the finding looks like. Masses, asymmetries, and calcifications are correctly predicted negative in 60 to 81 percent of exams. But architectural distortions behave very differently: even screen-detected cancers split into a bimodal high-and-low distribution, and many benign distortions score high — so the model both misses cancers and over-flags benign findings in that one category. Performance depends on what the finding looks like, not just the headline AUC.</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intracranial hemorrhage on head CT. A commercial detection model looked strong overall — 82.2 percent sensitivity. But broken down by the age of the bleed, it collapsed: subacute hemorrhages were caught only 45.5 percent of the time, chronic ones 54.8 percent. And in the outpatient setting, where bleeds are subtler, sensitivity fell to 72.2 percent. The same shape as breast: strong average, weak where it matters.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pulmonary embolism on chest CT — our own evaluation, not yet published. An FDA-cleared model was cleared at 94.9 percent sensitivity. Across two years of real-world data — about thirty thousand dedicated CT angiograms — it reached 86.8 percent overall. But again it fell apart in the hard cases: non-acute clots 65.3 percent, the small subsegmental clots 72.9 percent, left-sided 70.5 percent. And on routine CTs done for other reasons, incidental PE was caught only 73.5 percent of the time — 354 of 538. Same story, different organ: the clearance number is not the number you get on the cases that are easy to miss.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cross into Era III, one plug. All of this work runs on EMBED — the Emory Breast Imaging Dataset — which we have made free to researchers worldwide through the AWS Open Data Program. The first release is described in our Radiology: Artificial Intelligence paper. And we are finishing EMBED version two: nearly 300,000 patients, about a million exams, both 2D and tomosynthesis, 50,000 ultrasound and 25,000 MRI studies, outcomes harmonized with state and local cancer registries, the free-text radiology reports, and patient risk data. The map gives a sense of the reach — researchers on every continent are already using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detection works — we now have the prospective evidence. But here is what is striking: it is still 2026, and the very same mammogram — and the tissue that follows it — already tells us far more than whether there is a cancer today. From this one screening image we can read a woman's future risk and a cardiovascular signal; from her biopsy slide, a molecular recurrence score. We are standing at the brink of Era III — the shift from finding the lesion to characterizing the patient — and, remarkably, much of it is available right now.</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forty years, the only risk signal we could read off the image was breast density — coarse and subjective. The clinical models we layered on top, Gail and Tyrer-Cuzick, were weak: Tyrer-Cuzick predicts five-year risk at an AUC around 0.62, barely better than chance at the level of the individual.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image itself carries risk. Yala and colleagues at MIT and MGH showed a deep network reading the mammogram out-predicts the questionnaire models — Mirai, externally validated across three countries at a C-index of 0.76 to 0.81. Among women who developed cancer within five years, it flagged 41.5 percent as high-risk versus 22.9 percent for Tyrer-Cuzick. And this is no longer just research: in June 2025 Clairity received FDA De Novo authorization — the first tool to predict five-year breast-cancer risk from a routine screening mammogram alone, and it was added to the 2026 NCCN guidance. Research model to cleared product to guideline in under five years. There is not yet a primary peer-reviewed validation paper for Clairity.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explainability done right, and it is our group's work with Duke. We asked what Mirai was actually keying on. The answer was surprisingly simple: local bilateral dissimilarity — the difference between left and right breast tissue in the same region. A transparent model built only on that asymmetry nearly matched the black box: one-year AUC 0.79 versus 0.84, and in stable-tissue subgroups three-year AUC 0.92. A risk signal you can point to on the image, and audit for where it fails.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the model does. A transformer segments the breast arterial calcification on the routine mammogram and reports its burden as an area, in square millimeters — the original image on the left, the model's segmentation on the right. You can see it scale, from mild calcification at about five square millimeters, to moderate at eighteen, to severe at over a hundred. That continuous number is what turns an incidental finding into a graded, quantitative risk marker. Our group built the segmentation model behind this, SCU-Net.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outcomes. In a multi-site cohort of more than 120,000 women across Emory and Mayo, AI-quantified BAC independently predicted major adverse cardiovascular events in a graded, dose-response fashion: mild hazard ratios around 1.2, moderate around 1.4, severe around 2.0 to 2.2. And the risk held across every component endpoint within PREVENT categories — heart attack, stroke, heart failure, and all-cause mortality. Crucially, the signal persists in women under 50, a group traditionally deemed low-risk in whom coronary calcium has usually not yet developed. An age-adjusted nomogram from Nerlekar showed a 17 percent increase in MACE per 10 percentiles of BAC and reclassified about 5 percent of women beyond standard scoring, improving the C-statistic from 0.67 to 0.71. And BAC is dynamic, not static: in 41,621 women with serial mammograms, current BAC stayed predictive throughout 8.6 years of follow-up. The commercial FDA-cleared tool reports only presence or absence; quantification is what turns a weak binary flag into an actionable, graded risk marker.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calcium biology shows up in the legs. BAC is medial arterial calcification — Mönckeberg sclerosis — the dominant pattern in peripheral arterial disease, distinct from coronary intimal atherosclerosis. In 59,854 women over a median eight years, severe BAC versus zero predicted needing a vascular intervention for PAD: overall adjusted hazard ratio 3.62, and it held across risk-factor subgroups — diabetes 6.81, smoking 5.77, CKD 4.29, hyperlipidemia 3.46, hypertension 3.11 though not significant there. In women under 50 the effect was extreme, a hazard ratio over a hundred, off this scale. The point: BAC refines who actually progresses to needing an intervention, on top of the usual risk factors.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not only arteries. In 122,011 women, BAC predicted incident valvular heart disease in a dose-response fashion, with strong discrimination — a C-index around 0.80. For severe BAC versus none: aortic stenosis 11.4, aortic regurgitation 3.1, mitral regurgitation 2.6, tricuspid regurgitation 2.3. Mitral stenosis showed no association, p about 0.97 — a built-in negative control, because mitral stenosis is rheumatic, not calcific. Severe BAC carried a five-year incidence of any mild-or-greater valve disease of 19.3 percent versus 4.6 percent — a number-needed-to-scan of seven.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back, and BAC starts to look like an index of a body-wide calcification tendency. First, coronary artery calcium: in 2,079 women who later had a cardiac CT, the rate of detectable coronary calcium rose stepwise with BAC severity — from 38 percent up to 67 percent — with CAC-over-100 rates two-and-a-half times higher, and BAC independently predicting coronary calcium after adjusting for age. The mammogram is previewing the coronary 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more surprising, a non-vascular marker: costal cartilage calcification. In 1,311 women with both a mammogram and a chest CT, BAC correlated with costal cartilage calcification — and at the 75th percentile, high BAC was associated with about 3,400 cubic millimeters more cartilage calcification, adjusted for age and diabetes; the median effect was not significant. So BAC indexes calcification that is vascular, valvular, and even skeletal — one free finding pointing to a systemic propensity.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 we close the loop — from a validated model to changed care? Here is the gap: fewer than 7 percent of women at Emory and 15 percent at Mayo even had the chart data needed to compute a standard PREVENT or ASCVD risk score — including women with severe BAC. Detection without action is a missed opportunity at the scale of four to six million women a year. So we built I-BAC, an NIH-funded pragmatic randomized trial — a hybrid effectiveness-implementation design across Emory and Mayo Arizona, about 225,000 screening mammograms a year combined. Aim 1 is formative work with patients and providers to design the notification. Aim 2 randomizes 6,000 women with moderate or severe BAC to notification versus usual care, with patient filtering automated through our Carebricks agentic-AI pipeline. Aim 3 is a RE-AIM evaluation — reach, adoption, fidelity, and harms like anxiety or low-value testing. The primary endpoint is a six-month composite of lipid-panel completion, preventive-medication change, or CAC testing. Our precedent is NOTIFY-PICTURE for incidental coronary calcium — but BAC is harder, because it has no established management guideline yet.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back and notice what every one of these has in common. Risk from the image, a cardiovascular signal from the calcium, a molecular score from the tissue — each is still one model reading one modality. The real frontier is to stop doing that: to combine the image, the pathology, the genome, and the clinical record into a single model of the patient. We are right at the verge of that — multimodal, multi-omics AI. And to see where it goes, we have to leave 2026.</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get back in the time machine, and come forward another ten years — to 2035. From here, everything we just saw — image-based risk, the cardiovascular signal, the molecular score — is a decade old. The question now is what we can do when all of it finally comes together, on one patient.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PRS alone is not enough, and the evidence is now unambiguous. The PRS313 score established the genomic baseline, and women in the top PRS decile reach the average 50-year-old's five-year risk by their mid-thirties — so a uniform age-40 start is biologically indefensible. But PRS and germline testing measure almost entirely different populations: in a WISDOM secondary analysis (Shieh, JAMA Oncology 2026), only 0.9 percent of high-penetrance pathogenic-variant carriers — BRCA1, BRCA2, PALB2 — would have been correctly assigned to high-risk screening by clinical risk plus PRS alone. PRS catches one population, germline another, clinical risk a third — all three layers are non-negotiable. The PRS architecture itself is being rebuilt: PRS-Net (Li, Genome Research 2025) is a graph neural network modeling gene-gene interactions and epistasis, a fundamental shift from the additive PRS313. And imaging and genomics update each other: Rothwell (Br J Cancer 2026) showed Mirai plus PRS313 beats either alone. WISDOM (JAMA 2025, 46,000 women) was non-inferior on advanced cancers with a one-third reduction in Stage IIB in the personalized arm, and PERSPECTIVE I&amp;I showed risk communication did not raise anxiety. Extrapolated to 2035: at 30, one workup returns a non-linear genomic score, a germline panel, and a clinical integration; at every mammogram the imaging engine updates the genomic baseline and sets the next appointment — 7 months for top-quintile risk, longer for persistently low risk. Never again driven by a calendar. And imaging itself is a fourth, largely independent axis: a deep network reading the mammogram — Mirai, externally validated across three countries at a C-index of 0.76 to 0.81 — flags about 41.5 percent of the women who go on to develop cancer within five years as high-risk, versus 22.9 percent for Tyrer-Cuzick, and Clairity took image-based five-year risk to FDA clearance in 2025. So a woman's prior mammograms and imaging history feed the same risk engine.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Double reading has been replaced by convergent evidence across health systems on four continents. MASAI (Sweden, 105,934 women, Lancet 2026): 44 percent workload reduction, 29 percent more cancers, 12 percent fewer interval cancers. PRAIM (Germany, 463,094, Nature Medicine 2025): 17.6 percent higher detection, lower recall. Elías-Cabot (Spain, 31,301, Nature Medicine 2026): partially autonomous triage, CDR up 15.2 percent, workload down 63.6 percent. Plus AI-STREAM (Korea), GEMINI (Scotland), ScreenTrustCAD (Sweden/Denmark) — independent programs, vendors, and reading cultures, same conclusion. The mechanism: AI triages about two-thirds of cases away from the queue automatically; at a background prevalence near 6 per 1,000 the negative predictive value of AI-normal triage is about 99.9 percent. Combined with Mirai-class risk, high-risk women come back sooner — in a UK triennial program the top 20 percent of Mirai scores captured 42.4 percent of interval cancers. What this gives back to the radiologist is time and focus: she reviews the third the AI flagged, biopsies what AI localized, and consults the high-risk women the system has watched for years. The endgame was never replacement — it was practising at the top of her licence.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synthesis. On the left, the inputs, each with real 2025 evidence and a 2035 trajectory. Genomics is now an always-on layer: germline polygenic risk as a standing prior, and post-treatment ctDNA detecting molecular recurrence about fifteen months before imaging — by 2035 that triggers pre-emptive therapy, not watchful waiting. Clinical context selects the modality. Mammography is the entry point. Ultrasound is conditional; BMU-Net fuses B-mode, Doppler, and elastography. MRI is AI-gated — ScreenTrustMRI used an AI score, not density, to pick the top seven percent of negative mammograms for MRI and found 64 cancers per thousand versus 16.5. Pathology enters at biopsy, on foundation models like UNI pretrained on a hundred thousand slides. In the center, one multimodal foundation model — BINDS, 27,048 participants across eight centres, where every fusion beat any single modality — and by 2035 it decides which modality to acquire next. On the right, three outputs: detection, where MASAI is the first randomized trial — sensitivity 80.5 versus 73.8 percent, 29 percent more cancers, 44 percent less workload; recurrence, a continuously updated risk fusing imaging, ctDNA, and clinical, with Oncotype-class information coming off routine images; and treatment, with pathologic-complete-response predicted before the first cycle and ctDNA-guided escalation or de-escalation standard. The rule for 2035: no single image makes the call, and no modality is acquired unless the model already expects it to change the answer.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built a cancer-screening system and discovered a window into the entire body — and we are not the only ones. The cardiovascular signal was there all along: AI-quantified breast arterial calcification predicts cardiac events and mortality beyond the PREVENT score across 123,762 women at Emory and Mayo, severe BAC carrying a 2.8-fold higher five-year risk of death; and Barraclough predicted cardiovascular events from mammographic features alone in 49,196 women, rivaling the Pooled Cohort Equations. By 2035 a cardiovascular estimate is an automatic, reimbursed output of every mammogram, routing high-risk women into prevention. The image also encodes biological age — Mammo-AGE estimates breast age to within four to six years and the age gap stratifies risk independent of density; by 2035 it personalizes screening intervals. And the mammogram is not alone: the chest X-ray estimates ten-year cardiovascular risk, the abdominal CT yields a longevity model, a retinal photo reads cardiovascular, renal, and neurodegenerative risk. By 2035 the modality stops mattering: one multimodal foundation model ingests whatever images a patient already has and returns one longitudinal systemic-risk profile — Merlin on 3D CT, OCTCube-M predicting seven systemic diseases from an eye scan, MOSCARD fusing chest X-ray and ECG. Metabolic and renal risk are the next frontier — BAC correlates with diabetes, hypertension, and cholesterol, peripheral-artery and kidney disease named as the next targets, but these remain associations, not yet validated. And the equity implication is why it matters: about forty million US mammograms a year, plus mobile units, make it often the only preventive touchpoint a woman reliably gets — so this can close access gaps rather than widen them, if we engineer against demographic shortcuts.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past the leaderboard. From 2024 to 2026, frontier models posted spectacular exam scores — and then degraded the moment they touched real clinical data. The gap was structural, not cosmetic. A systematic review of 39 medical LLM benchmarks found knowledge-based exam tasks held 85 to 93 percent accuracy, but practice-based real-world tasks collapsed to 45 to 69 percent, and safety-critical scenarios sat at 40 to 50 percent — Wu and colleagues, JMIR 2025; 'it's time to bench the medical exam benchmark' became the field's refrain. Hallucination did not go away — it hid in the findings: about 22 percent of vision-language-model imaging reports still carried factual errors, and high-performing report generators hallucinated findings in roughly 40 percent of sentences, because text-heavy pretraining made them pattern-match priors instead of reading the image. Across 12,197 diagnostic outputs, frontier models omitted relevant clinical guidelines in up to 46 percent of cases and invented non-existent ones up to 9 percent — and the error rate shifted with patient sex, ethnicity, and location. Citation accuracy stayed the worst task family: the models pitched to generate the labels couldn't reliably cite them. So the generalist bubble burst. The one-model-for-everything assumption never survived a health system's budget or a reading room's latency, and a leaner generation of smaller, cheaper, medically-focused models replaced the giants. That shift never made the generalists better doctors — it made them better librarians. Their lasting contribution was turning decades of unstructured reports into clean, structured, model-ready labels at a scale expert annotation could never reach, with a human in the loop holding the floor on quality. The two-tier architecture that won: medical LLMs do the data work — extract, harmonize, and label the archive, reaching average F1 0.90 across 14 thoracic pathologies, human-validated; domain foundation models do the disease work, trained on those labels to understand one disease end to end. The virtuous cycle — ScaleMAI's EM loop, Mammo-CLIP for mammography — trains on current labels, flags divergence for targeted human review, retrains. What we extrapolate to 2035: the benchmark-practice gap never closed by scaling generalists, because the failure was architectural — a model trained on the whole internet reasons from text priors, not from the pixels in front of it. So the labor split hardened. Generalists won the data tier, where retrieval cut their citation errors 75 to 90 percent and a human still signs off. The disease tier went to domain foundation models that genuinely reason over one disease. None of the datasets behind the prior slides — BINDS 27,048; BMU-Net 5,025; Mammo-AGE 95,826; Barraclough 49,196 — existed as clean training sets before the teams built them from archives and the reports that accompanied them; EMBED, 3.5 million exams, is the local example. In 2035, every mammogram ever performed is in the training set — we just needed the medical LLMs to read the labels that were always there.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seen what purpose-built models can do — across risk, detection, tissue, and the heart. There is one question left before we close. I have shown you a dozen specialist models — Mirai for risk, Transpara for detection, Virchow for tissue, the breast arterial calcium model. Each was built for one job. The general-purpose frontier models from the large labs — GPT, Gemini, Claude — were not built for radiology, yet they improve faster than any medical model, and each generation handles tasks we assumed required a custom build. So the question to end the body of the talk on: in five years, do we still build our own models, or do we ask the general one? And if it is the latter, who owns 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 the generalists already perform well? On medical knowledge and text reasoning: frontier models score above ninety percent on USMLE-style exams — Med-Gemini at 91.1 — across the breadth of medicine. On report drafting in two dimensions: domain-adapted frontier models do well. Med-Gemini-2D chest-X-ray reports were rated equivalent to or better than the original radiologist's report in 43 to 96 percent of cases, depending on whether the film was abnormal or normal, and exceeded prior state of the art on 17 of 20 chest-X-ray tasks, in Google's 2024 work. And they adapt rapidly: fine-tuned on a small labeled set, foundation models often exceed bespoke task-specific models, and generalize better across sites, scanners, and populations — which is exactly the brittleness problem that limits the narrow models. I'll frame the current generation by trajectory, not by specific unpublished benchmark numbers.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do they still fall short, for now? Their strength is text, not image content — the general vision-language models' edge comes from text knowledge rather than from actually reading the image. On radiology interpretation, diagnostic accuracy across general vision-language models ranges only about 8 to 29 percent, in a systematic evaluation published in Life this year, and roughly 22 percent of the AI-generated reports contain factual errors or hallucinations. Specialists still perform better on the image itself: the purpose-built RadFM model outperforms GPT-4V on radiology tasks. And three dimensions and localization lag: Med-Gemini-3D CT reports were only 53 percent clinically acceptable — adequate for a 2D chest film, much less so for a CT volume.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a counterintuitive result that complicates the procurement instinct. First, note that medical hallucination is not a single failure mode — this taxonomy, from Kim, Jeong and colleagues at MIT and Harvard this year, sorts it into five clusters: plain factual errors, outdated references, spurious correlations, fabricated sources or guidelines, and incomplete chains of reasoning — playing out across diagnostic, procedural, and research tasks. Now the counterintuitive part: fine-tuning on medical data does not automatically reduce any of this. On a hallucination benchmark, Med-HALT, in 2025, general-purpose models were hallucination-free 76.6 percent of the time, versus only 51.3 percent for the medically specialized models. Narrowing a model can erode its calibration. So the specialist-versus-generalist question is genuinely unsettled, and the procurement instinct — to buy the medical one — may be wrong.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thesis to pose, Rich Sutton's bitter lesson, from his 2019 essay — and I attribute it as an argument, not a study. Sutton argues that over decades, general methods that scale with data and compute have repeatedly outperformed systems built on handcrafted domain knowledge — in chess, in computer vision, in language. Radiology AI has spent fifteen years handcrafting. The trajectory of those other fields suggests the generalists eventually take over perception as well. The open question is when, and what we should build in the meantime.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likely answer is orchestration. The probable future is not a generalist simply replacing the specialist. It is a stack: a frontier model as the reasoning and orchestration layer — it reads the EHR, talks to the patient, writes the report, decides the next step — and the specialist models as the instruments it calls: the detector, the risk model, the breast-arterial-calcium quantifier, the tissue model. Because measurement still rewards purpose-built precision and calibration. Call it agentic radiology: the generalist conducts, and the specialists play. And increasingly the generalists are themselves domain-adapted, like Med-Gemini, rather than raw.</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does this mean for this room? Three things. First, the locus of value moves. If the model becomes a commodity, durable value shifts to what the frontier labs do not have: proprietary, diverse, well-labeled data; rigorous validation; clinical integration; and the care pathway. Compete on data and evidence, not architecture. Second, concentration is a governance problem. A handful of US tech companies controlling the frontier raises issues of cost, dependence, data sovereignty, and access — particularly for Europe and for low- and middle-income countries, which connects back to the equity argument. Who owns the intelligence that reads the world's mammograms? Third, the radiologist's role shifts, from primary detector toward validator, orchestrator, and the source of clinical context and accountability the model cannot supply. And the bridge to the close: whether the result is a specialist model or a frontier generalist, built in Palo Alto or in this room, it does not change what makes it safe. The bar is the same one CAD failed and MASAI cleared.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 have shown you works. But working in a paper is not the bar for getting into the clinic. Look at what we ask a single model to do, all at once: hold up across every scanner and vendor in the field; perform in women of all ages, all densities, all risk types; and serve both the expert breast radiologist and the generalist who reads mammography one day a week. Asking one model to do all of this at once is the wrong goal. We should seriously reframe how we consider mammography-model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should we think about deployment instead? Three reframes. First, operating points: there is no single right threshold. Sensitivity versus false positives is a value judgment, not a setting — so a model should be permitted to run at a range of operating points, tailored to the site and to the individual radiologist, rather than one point imposed on everyone. Second, multimodal, and it needs to happen as soon as possible. I will say it plainly: a model that operates only on imaging data — or imaging plus basic clinical data — will end in user frustration. The model the radiologist will actually trust pulls in image, clinical context, risk, and history together. Third, the integration tax: even a perfect model dies if it cannot get into PACS. Custom one-off integrations do not scale, and overloaded IT means onboarding only happens through a platform or vendor you already run. Put those together and the winning system is not the most accurate in a paper — it is the one tuned to the reader, that knows what they know, and that fires inside the workflow.</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have thirty years taught us? First, that the technology is fallible — CAD cost us two decades learning it. Second, that we are getting genuinely better at looking ahead: reading a woman's risk, her cardiovascular signal, her tumor biology years before they would declare themselves. And third, a hard-won humility — the consequences of what we deploy are not always the ones we foresee. Hold those together, and the arc of the field comes into focus: lesion, image, patient.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arc through the spine of this talk — lesion, image, patient — across the decades. For most of these years the goal was the lesion: find the spot. CAD failed at it, and only later did whole-image detection earn randomized evidence. Then we learned to read the whole image, beyond the lesion — a woman's future risk, and a cardiovascular signal, from the same mammogram. And now the patient: image, tissue, gene, and history combined, with risk known before she enters the scanner. Lesion, image, patient — that is how the field moved.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 did not fail because the math was bad. It failed for a lack of evidence, monitoring, and discipline. That is the through-line from the first slide to this one. So if you take one thing away, take the discipline that turns clinical intelligence into better outcomes. First: prove it before you scale it — prospective, randomized evidence; MASAI is the bar, not a retrospective AUC, and this time we have it. Second: audit the blind spots — explainability and subgroup performance are release criteria, not afterthoughts; a headline AUC is a sales number. Third: preserve clinical judgment and guard against de-skilling — design against automation bias; the clinician should stay a clinician, not a rubber stamp.</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the normal mammogram we opened with — the one I said was full of hidden signals. The image has not changed — what we read from it will. Twenty-five years ago we could barely mark a suspicious spot. Today, from that same image, we can forecast a woman's cancer years ahead, flag her cardiovascular risk, and connect it to her tissue and her genome.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7.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2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2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2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2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2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29870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International Workshop on Breast Imaging · 2026</a:t>
            </a:r>
          </a:p>
        </p:txBody>
      </p:sp>
      <p:sp>
        <p:nvSpPr>
          <p:cNvPr id="4" name="TextBox 3"/>
          <p:cNvSpPr txBox="1"/>
          <p:nvPr/>
        </p:nvSpPr>
        <p:spPr>
          <a:xfrm>
            <a:off x="777240" y="2645156"/>
            <a:ext cx="10607040" cy="1586992"/>
          </a:xfrm>
          <a:prstGeom prst="rect">
            <a:avLst/>
          </a:prstGeom>
          <a:noFill/>
        </p:spPr>
        <p:txBody>
          <a:bodyPr wrap="square" lIns="25400" rIns="25400" tIns="12700" bIns="12700">
            <a:noAutofit/>
          </a:bodyPr>
          <a:lstStyle/>
          <a:p>
            <a:pPr algn="l">
              <a:lnSpc>
                <a:spcPct val="106000"/>
              </a:lnSpc>
              <a:spcAft>
                <a:spcPts val="400"/>
              </a:spcAft>
            </a:pPr>
            <a:r>
              <a:rPr sz="5000" b="0">
                <a:solidFill>
                  <a:srgbClr val="ECEFF3"/>
                </a:solidFill>
                <a:latin typeface="Arial"/>
              </a:rPr>
              <a:t>Thirty Years,</a:t>
            </a:r>
          </a:p>
          <a:p>
            <a:pPr algn="l">
              <a:lnSpc>
                <a:spcPct val="106000"/>
              </a:lnSpc>
              <a:spcAft>
                <a:spcPts val="400"/>
              </a:spcAft>
            </a:pPr>
            <a:r>
              <a:rPr sz="5000" b="0">
                <a:solidFill>
                  <a:srgbClr val="E7AC51"/>
                </a:solidFill>
                <a:latin typeface="Arial"/>
              </a:rPr>
              <a:t>Three Eras.</a:t>
            </a:r>
          </a:p>
        </p:txBody>
      </p:sp>
      <p:sp>
        <p:nvSpPr>
          <p:cNvPr id="5" name="TextBox 4"/>
          <p:cNvSpPr txBox="1"/>
          <p:nvPr/>
        </p:nvSpPr>
        <p:spPr>
          <a:xfrm>
            <a:off x="777240" y="4232148"/>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AI in Breast Imaging — from CAD to Clinical Intelligence</a:t>
            </a:r>
          </a:p>
        </p:txBody>
      </p:sp>
      <p:sp>
        <p:nvSpPr>
          <p:cNvPr id="6" name="TextBox 5"/>
          <p:cNvSpPr txBox="1"/>
          <p:nvPr/>
        </p:nvSpPr>
        <p:spPr>
          <a:xfrm>
            <a:off x="777240" y="4578604"/>
            <a:ext cx="10607040" cy="346456"/>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Hari Trivedi, MD</a:t>
            </a:r>
            <a:r>
              <a:rPr sz="1400" b="0">
                <a:solidFill>
                  <a:srgbClr val="9DA9B5"/>
                </a:solidFill>
                <a:latin typeface="Arial"/>
              </a:rPr>
              <a:t> · Emory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DISCLOSURES</a:t>
            </a:r>
          </a:p>
        </p:txBody>
      </p:sp>
      <p:sp>
        <p:nvSpPr>
          <p:cNvPr id="4" name="TextBox 3"/>
          <p:cNvSpPr txBox="1"/>
          <p:nvPr/>
        </p:nvSpPr>
        <p:spPr>
          <a:xfrm>
            <a:off x="777240" y="1528064"/>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Disclosures</a:t>
            </a:r>
          </a:p>
        </p:txBody>
      </p:sp>
      <p:sp>
        <p:nvSpPr>
          <p:cNvPr id="5" name="TextBox 4"/>
          <p:cNvSpPr txBox="1"/>
          <p:nvPr/>
        </p:nvSpPr>
        <p:spPr>
          <a:xfrm>
            <a:off x="777240" y="2062480"/>
            <a:ext cx="10607040" cy="222504"/>
          </a:xfrm>
          <a:prstGeom prst="rect">
            <a:avLst/>
          </a:prstGeom>
          <a:noFill/>
        </p:spPr>
        <p:txBody>
          <a:bodyPr wrap="square" lIns="25400" rIns="25400" tIns="12700" bIns="12700">
            <a:noAutofit/>
          </a:bodyPr>
          <a:lstStyle/>
          <a:p>
            <a:pPr algn="l">
              <a:lnSpc>
                <a:spcPct val="120000"/>
              </a:lnSpc>
              <a:spcAft>
                <a:spcPts val="400"/>
              </a:spcAft>
            </a:pPr>
            <a:r>
              <a:rPr sz="1100" b="0">
                <a:solidFill>
                  <a:srgbClr val="E7AC51"/>
                </a:solidFill>
                <a:latin typeface="Consolas"/>
              </a:rPr>
              <a:t>Founder</a:t>
            </a:r>
          </a:p>
        </p:txBody>
      </p:sp>
      <p:sp>
        <p:nvSpPr>
          <p:cNvPr id="6" name="Rounded Rectangle 5"/>
          <p:cNvSpPr/>
          <p:nvPr/>
        </p:nvSpPr>
        <p:spPr>
          <a:xfrm>
            <a:off x="777240" y="2284984"/>
            <a:ext cx="983996"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Avera AI</a:t>
            </a:r>
          </a:p>
        </p:txBody>
      </p:sp>
      <p:sp>
        <p:nvSpPr>
          <p:cNvPr id="7" name="Rectangle 6"/>
          <p:cNvSpPr/>
          <p:nvPr/>
        </p:nvSpPr>
        <p:spPr>
          <a:xfrm>
            <a:off x="777240" y="2284984"/>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52676" y="2284984"/>
            <a:ext cx="1236408"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Lightbox AI</a:t>
            </a:r>
          </a:p>
        </p:txBody>
      </p:sp>
      <p:sp>
        <p:nvSpPr>
          <p:cNvPr id="9" name="Rectangle 8"/>
          <p:cNvSpPr/>
          <p:nvPr/>
        </p:nvSpPr>
        <p:spPr>
          <a:xfrm>
            <a:off x="1852676" y="2284984"/>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778760"/>
            <a:ext cx="10607040" cy="222504"/>
          </a:xfrm>
          <a:prstGeom prst="rect">
            <a:avLst/>
          </a:prstGeom>
          <a:noFill/>
        </p:spPr>
        <p:txBody>
          <a:bodyPr wrap="square" lIns="25400" rIns="25400" tIns="12700" bIns="12700">
            <a:noAutofit/>
          </a:bodyPr>
          <a:lstStyle/>
          <a:p>
            <a:pPr algn="l">
              <a:lnSpc>
                <a:spcPct val="120000"/>
              </a:lnSpc>
              <a:spcAft>
                <a:spcPts val="400"/>
              </a:spcAft>
            </a:pPr>
            <a:r>
              <a:rPr sz="1100" b="0">
                <a:solidFill>
                  <a:srgbClr val="E7AC51"/>
                </a:solidFill>
                <a:latin typeface="Consolas"/>
              </a:rPr>
              <a:t>Associate CMIO</a:t>
            </a:r>
          </a:p>
        </p:txBody>
      </p:sp>
      <p:sp>
        <p:nvSpPr>
          <p:cNvPr id="11" name="Rounded Rectangle 10"/>
          <p:cNvSpPr/>
          <p:nvPr/>
        </p:nvSpPr>
        <p:spPr>
          <a:xfrm>
            <a:off x="777240" y="3001263"/>
            <a:ext cx="731583"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HOPPR</a:t>
            </a:r>
          </a:p>
        </p:txBody>
      </p:sp>
      <p:sp>
        <p:nvSpPr>
          <p:cNvPr id="12" name="Rectangle 11"/>
          <p:cNvSpPr/>
          <p:nvPr/>
        </p:nvSpPr>
        <p:spPr>
          <a:xfrm>
            <a:off x="777240" y="3001263"/>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495039"/>
            <a:ext cx="10607040" cy="222504"/>
          </a:xfrm>
          <a:prstGeom prst="rect">
            <a:avLst/>
          </a:prstGeom>
          <a:noFill/>
        </p:spPr>
        <p:txBody>
          <a:bodyPr wrap="square" lIns="25400" rIns="25400" tIns="12700" bIns="12700">
            <a:noAutofit/>
          </a:bodyPr>
          <a:lstStyle/>
          <a:p>
            <a:pPr algn="l">
              <a:lnSpc>
                <a:spcPct val="120000"/>
              </a:lnSpc>
              <a:spcAft>
                <a:spcPts val="400"/>
              </a:spcAft>
            </a:pPr>
            <a:r>
              <a:rPr sz="1100" b="0">
                <a:solidFill>
                  <a:srgbClr val="E7AC51"/>
                </a:solidFill>
                <a:latin typeface="Consolas"/>
              </a:rPr>
              <a:t>Advisor</a:t>
            </a:r>
          </a:p>
        </p:txBody>
      </p:sp>
      <p:sp>
        <p:nvSpPr>
          <p:cNvPr id="14" name="Rounded Rectangle 13"/>
          <p:cNvSpPr/>
          <p:nvPr/>
        </p:nvSpPr>
        <p:spPr>
          <a:xfrm>
            <a:off x="777240" y="3717543"/>
            <a:ext cx="1068133"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croviz.ai</a:t>
            </a:r>
          </a:p>
        </p:txBody>
      </p:sp>
      <p:sp>
        <p:nvSpPr>
          <p:cNvPr id="15" name="Rectangle 14"/>
          <p:cNvSpPr/>
          <p:nvPr/>
        </p:nvSpPr>
        <p:spPr>
          <a:xfrm>
            <a:off x="777240" y="3717543"/>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936813" y="3717543"/>
            <a:ext cx="1741233"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Solis Mammography</a:t>
            </a:r>
          </a:p>
        </p:txBody>
      </p:sp>
      <p:sp>
        <p:nvSpPr>
          <p:cNvPr id="17" name="Rectangle 16"/>
          <p:cNvSpPr/>
          <p:nvPr/>
        </p:nvSpPr>
        <p:spPr>
          <a:xfrm>
            <a:off x="1936813" y="3717543"/>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769487" y="3717543"/>
            <a:ext cx="148882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Sirona Medical</a:t>
            </a:r>
          </a:p>
        </p:txBody>
      </p:sp>
      <p:sp>
        <p:nvSpPr>
          <p:cNvPr id="19" name="Rectangle 18"/>
          <p:cNvSpPr/>
          <p:nvPr/>
        </p:nvSpPr>
        <p:spPr>
          <a:xfrm>
            <a:off x="3769487" y="3717543"/>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349748" y="3717543"/>
            <a:ext cx="1572958"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Flatiron Health</a:t>
            </a:r>
          </a:p>
        </p:txBody>
      </p:sp>
      <p:sp>
        <p:nvSpPr>
          <p:cNvPr id="21" name="Rectangle 20"/>
          <p:cNvSpPr/>
          <p:nvPr/>
        </p:nvSpPr>
        <p:spPr>
          <a:xfrm>
            <a:off x="5349748" y="3717543"/>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4146" y="3717543"/>
            <a:ext cx="1236408"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Coefficient</a:t>
            </a:r>
          </a:p>
        </p:txBody>
      </p:sp>
      <p:sp>
        <p:nvSpPr>
          <p:cNvPr id="23" name="Rectangle 22"/>
          <p:cNvSpPr/>
          <p:nvPr/>
        </p:nvSpPr>
        <p:spPr>
          <a:xfrm>
            <a:off x="7014146" y="3717543"/>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341995" y="3717543"/>
            <a:ext cx="1993645"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Verily Life Sciences</a:t>
            </a:r>
          </a:p>
        </p:txBody>
      </p:sp>
      <p:sp>
        <p:nvSpPr>
          <p:cNvPr id="25" name="Rectangle 24"/>
          <p:cNvSpPr/>
          <p:nvPr/>
        </p:nvSpPr>
        <p:spPr>
          <a:xfrm>
            <a:off x="8341995" y="3717543"/>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77240" y="4156456"/>
            <a:ext cx="182537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Biodata Consortium</a:t>
            </a:r>
          </a:p>
        </p:txBody>
      </p:sp>
      <p:sp>
        <p:nvSpPr>
          <p:cNvPr id="27" name="Rectangle 26"/>
          <p:cNvSpPr/>
          <p:nvPr/>
        </p:nvSpPr>
        <p:spPr>
          <a:xfrm>
            <a:off x="777240" y="4156456"/>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650232"/>
            <a:ext cx="10607040" cy="222504"/>
          </a:xfrm>
          <a:prstGeom prst="rect">
            <a:avLst/>
          </a:prstGeom>
          <a:noFill/>
        </p:spPr>
        <p:txBody>
          <a:bodyPr wrap="square" lIns="25400" rIns="25400" tIns="12700" bIns="12700">
            <a:noAutofit/>
          </a:bodyPr>
          <a:lstStyle/>
          <a:p>
            <a:pPr algn="l">
              <a:lnSpc>
                <a:spcPct val="120000"/>
              </a:lnSpc>
              <a:spcAft>
                <a:spcPts val="400"/>
              </a:spcAft>
            </a:pPr>
            <a:r>
              <a:rPr sz="1100" b="0">
                <a:solidFill>
                  <a:srgbClr val="E7AC51"/>
                </a:solidFill>
                <a:latin typeface="Consolas"/>
              </a:rPr>
              <a:t>Industry / Foundation Support</a:t>
            </a:r>
          </a:p>
        </p:txBody>
      </p:sp>
      <p:sp>
        <p:nvSpPr>
          <p:cNvPr id="29" name="Rounded Rectangle 28"/>
          <p:cNvSpPr/>
          <p:nvPr/>
        </p:nvSpPr>
        <p:spPr>
          <a:xfrm>
            <a:off x="777240" y="4872736"/>
            <a:ext cx="1068133"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Simbiosys</a:t>
            </a:r>
          </a:p>
        </p:txBody>
      </p:sp>
      <p:sp>
        <p:nvSpPr>
          <p:cNvPr id="30" name="Rectangle 29"/>
          <p:cNvSpPr/>
          <p:nvPr/>
        </p:nvSpPr>
        <p:spPr>
          <a:xfrm>
            <a:off x="777240" y="4872736"/>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936813" y="4872736"/>
            <a:ext cx="731583"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HOPPR</a:t>
            </a:r>
          </a:p>
        </p:txBody>
      </p:sp>
      <p:sp>
        <p:nvSpPr>
          <p:cNvPr id="32" name="Rectangle 31"/>
          <p:cNvSpPr/>
          <p:nvPr/>
        </p:nvSpPr>
        <p:spPr>
          <a:xfrm>
            <a:off x="1936813" y="4872736"/>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759837" y="4872736"/>
            <a:ext cx="983996"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Clairity</a:t>
            </a:r>
          </a:p>
        </p:txBody>
      </p:sp>
      <p:sp>
        <p:nvSpPr>
          <p:cNvPr id="34" name="Rectangle 33"/>
          <p:cNvSpPr/>
          <p:nvPr/>
        </p:nvSpPr>
        <p:spPr>
          <a:xfrm>
            <a:off x="2759837" y="4872736"/>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835273" y="4872736"/>
            <a:ext cx="731583"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Lunit</a:t>
            </a:r>
          </a:p>
        </p:txBody>
      </p:sp>
      <p:sp>
        <p:nvSpPr>
          <p:cNvPr id="36" name="Rectangle 35"/>
          <p:cNvSpPr/>
          <p:nvPr/>
        </p:nvSpPr>
        <p:spPr>
          <a:xfrm>
            <a:off x="3835273" y="4872736"/>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658296" y="4872736"/>
            <a:ext cx="1657096"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DeepLook Medical</a:t>
            </a:r>
          </a:p>
        </p:txBody>
      </p:sp>
      <p:sp>
        <p:nvSpPr>
          <p:cNvPr id="38" name="Rectangle 37"/>
          <p:cNvSpPr/>
          <p:nvPr/>
        </p:nvSpPr>
        <p:spPr>
          <a:xfrm>
            <a:off x="4658296" y="4872736"/>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406832" y="4872736"/>
            <a:ext cx="1572958"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Kheiron Medical</a:t>
            </a:r>
          </a:p>
        </p:txBody>
      </p:sp>
      <p:sp>
        <p:nvSpPr>
          <p:cNvPr id="40" name="Rectangle 39"/>
          <p:cNvSpPr/>
          <p:nvPr/>
        </p:nvSpPr>
        <p:spPr>
          <a:xfrm>
            <a:off x="6406832" y="4872736"/>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8071231" y="4872736"/>
            <a:ext cx="47917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GE</a:t>
            </a:r>
          </a:p>
        </p:txBody>
      </p:sp>
      <p:sp>
        <p:nvSpPr>
          <p:cNvPr id="42" name="Rectangle 41"/>
          <p:cNvSpPr/>
          <p:nvPr/>
        </p:nvSpPr>
        <p:spPr>
          <a:xfrm>
            <a:off x="8071231" y="4872736"/>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641842" y="4872736"/>
            <a:ext cx="647446"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IBIS</a:t>
            </a:r>
          </a:p>
        </p:txBody>
      </p:sp>
      <p:sp>
        <p:nvSpPr>
          <p:cNvPr id="44" name="Rectangle 43"/>
          <p:cNvSpPr/>
          <p:nvPr/>
        </p:nvSpPr>
        <p:spPr>
          <a:xfrm>
            <a:off x="8641842" y="4872736"/>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380728" y="4872736"/>
            <a:ext cx="983996"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Radicait</a:t>
            </a:r>
          </a:p>
        </p:txBody>
      </p:sp>
      <p:sp>
        <p:nvSpPr>
          <p:cNvPr id="46" name="Rectangle 45"/>
          <p:cNvSpPr/>
          <p:nvPr/>
        </p:nvSpPr>
        <p:spPr>
          <a:xfrm>
            <a:off x="9380728" y="4872736"/>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10456164" y="4872736"/>
            <a:ext cx="647446"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Voio</a:t>
            </a:r>
          </a:p>
        </p:txBody>
      </p:sp>
      <p:sp>
        <p:nvSpPr>
          <p:cNvPr id="48" name="Rectangle 47"/>
          <p:cNvSpPr/>
          <p:nvPr/>
        </p:nvSpPr>
        <p:spPr>
          <a:xfrm>
            <a:off x="10456164" y="4872736"/>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77240" y="5311648"/>
            <a:ext cx="899858"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Appelai</a:t>
            </a:r>
          </a:p>
        </p:txBody>
      </p:sp>
      <p:sp>
        <p:nvSpPr>
          <p:cNvPr id="50" name="Rectangle 49"/>
          <p:cNvSpPr/>
          <p:nvPr/>
        </p:nvSpPr>
        <p:spPr>
          <a:xfrm>
            <a:off x="777240" y="5311648"/>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1768538" y="5311648"/>
            <a:ext cx="1320546"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Georgia CTSA</a:t>
            </a:r>
          </a:p>
        </p:txBody>
      </p:sp>
      <p:sp>
        <p:nvSpPr>
          <p:cNvPr id="52" name="Rectangle 51"/>
          <p:cNvSpPr/>
          <p:nvPr/>
        </p:nvSpPr>
        <p:spPr>
          <a:xfrm>
            <a:off x="1768538" y="5311648"/>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3180524" y="5311648"/>
            <a:ext cx="647446"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RSNA</a:t>
            </a:r>
          </a:p>
        </p:txBody>
      </p:sp>
      <p:sp>
        <p:nvSpPr>
          <p:cNvPr id="54" name="Rectangle 53"/>
          <p:cNvSpPr/>
          <p:nvPr/>
        </p:nvSpPr>
        <p:spPr>
          <a:xfrm>
            <a:off x="3180524" y="5311648"/>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3919410" y="5311648"/>
            <a:ext cx="563308"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SIR</a:t>
            </a:r>
          </a:p>
        </p:txBody>
      </p:sp>
      <p:sp>
        <p:nvSpPr>
          <p:cNvPr id="56" name="Rectangle 55"/>
          <p:cNvSpPr/>
          <p:nvPr/>
        </p:nvSpPr>
        <p:spPr>
          <a:xfrm>
            <a:off x="3919410" y="5311648"/>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4574159" y="5311648"/>
            <a:ext cx="2330196"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Nightingale Open Science</a:t>
            </a:r>
          </a:p>
        </p:txBody>
      </p:sp>
      <p:sp>
        <p:nvSpPr>
          <p:cNvPr id="58" name="Rectangle 57"/>
          <p:cNvSpPr/>
          <p:nvPr/>
        </p:nvSpPr>
        <p:spPr>
          <a:xfrm>
            <a:off x="4574159" y="5311648"/>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6995795" y="5311648"/>
            <a:ext cx="1236408"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Lacuna Fund</a:t>
            </a:r>
          </a:p>
        </p:txBody>
      </p:sp>
      <p:sp>
        <p:nvSpPr>
          <p:cNvPr id="60" name="Rectangle 59"/>
          <p:cNvSpPr/>
          <p:nvPr/>
        </p:nvSpPr>
        <p:spPr>
          <a:xfrm>
            <a:off x="6995795" y="5311648"/>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8323643" y="5311648"/>
            <a:ext cx="1909508"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Meridian Foundation</a:t>
            </a:r>
          </a:p>
        </p:txBody>
      </p:sp>
      <p:sp>
        <p:nvSpPr>
          <p:cNvPr id="62" name="Rectangle 61"/>
          <p:cNvSpPr/>
          <p:nvPr/>
        </p:nvSpPr>
        <p:spPr>
          <a:xfrm>
            <a:off x="8323643" y="5311648"/>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777240" y="5750560"/>
            <a:ext cx="148882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Gates Ventures</a:t>
            </a:r>
          </a:p>
        </p:txBody>
      </p:sp>
      <p:sp>
        <p:nvSpPr>
          <p:cNvPr id="64" name="Rectangle 63"/>
          <p:cNvSpPr/>
          <p:nvPr/>
        </p:nvSpPr>
        <p:spPr>
          <a:xfrm>
            <a:off x="777240" y="575056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344672"/>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A normal screening mammogram — read as normal.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71444"/>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What are we </a:t>
            </a:r>
            <a:r>
              <a:rPr sz="2600" b="0">
                <a:solidFill>
                  <a:srgbClr val="E7AC51"/>
                </a:solidFill>
                <a:latin typeface="Arial"/>
              </a:rPr>
              <a:t>not seeing?</a:t>
            </a:r>
          </a:p>
        </p:txBody>
      </p:sp>
      <p:sp>
        <p:nvSpPr>
          <p:cNvPr id="4" name="TextBox 3"/>
          <p:cNvSpPr txBox="1"/>
          <p:nvPr/>
        </p:nvSpPr>
        <p:spPr>
          <a:xfrm>
            <a:off x="777240" y="370586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AI reads this </a:t>
            </a:r>
            <a:r>
              <a:rPr sz="1400" b="0">
                <a:solidFill>
                  <a:srgbClr val="E7AC51"/>
                </a:solidFill>
                <a:latin typeface="Arial"/>
              </a:rPr>
              <a:t>same mammogram</a:t>
            </a:r>
            <a:r>
              <a:rPr sz="1400" b="0">
                <a:solidFill>
                  <a:srgbClr val="9DA9B5"/>
                </a:solidFill>
                <a:latin typeface="Arial"/>
              </a:rPr>
              <a:t> and her biopsy slide — not just the </a:t>
            </a:r>
            <a:r>
              <a:rPr sz="1400" b="1">
                <a:solidFill>
                  <a:srgbClr val="ECEFF3"/>
                </a:solidFill>
                <a:latin typeface="Arial"/>
              </a:rPr>
              <a:t>lesion</a:t>
            </a:r>
            <a:r>
              <a:rPr sz="1400" b="0">
                <a:solidFill>
                  <a:srgbClr val="9DA9B5"/>
                </a:solidFill>
                <a:latin typeface="Arial"/>
              </a:rPr>
              <a:t>, but the </a:t>
            </a:r>
            <a:r>
              <a:rPr sz="1400" b="0">
                <a:solidFill>
                  <a:srgbClr val="E7AC51"/>
                </a:solidFill>
                <a:latin typeface="Arial"/>
              </a:rPr>
              <a:t>patient.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265935"/>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From lesions to </a:t>
            </a:r>
            <a:r>
              <a:rPr sz="2600" b="0">
                <a:solidFill>
                  <a:srgbClr val="E7AC51"/>
                </a:solidFill>
                <a:latin typeface="Arial"/>
              </a:rPr>
              <a:t>patients.</a:t>
            </a:r>
          </a:p>
        </p:txBody>
      </p:sp>
      <p:sp>
        <p:nvSpPr>
          <p:cNvPr id="4" name="TextBox 3"/>
          <p:cNvSpPr txBox="1"/>
          <p:nvPr/>
        </p:nvSpPr>
        <p:spPr>
          <a:xfrm>
            <a:off x="777240" y="1800351"/>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01</a:t>
            </a:r>
          </a:p>
        </p:txBody>
      </p:sp>
      <p:sp>
        <p:nvSpPr>
          <p:cNvPr id="5" name="TextBox 4"/>
          <p:cNvSpPr txBox="1"/>
          <p:nvPr/>
        </p:nvSpPr>
        <p:spPr>
          <a:xfrm>
            <a:off x="777240" y="2146807"/>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Past</a:t>
            </a:r>
          </a:p>
        </p:txBody>
      </p:sp>
      <p:sp>
        <p:nvSpPr>
          <p:cNvPr id="6" name="TextBox 5"/>
          <p:cNvSpPr txBox="1"/>
          <p:nvPr/>
        </p:nvSpPr>
        <p:spPr>
          <a:xfrm>
            <a:off x="777240" y="2493264"/>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Lesion</a:t>
            </a:r>
          </a:p>
        </p:txBody>
      </p:sp>
      <p:sp>
        <p:nvSpPr>
          <p:cNvPr id="7" name="TextBox 6"/>
          <p:cNvSpPr txBox="1"/>
          <p:nvPr/>
        </p:nvSpPr>
        <p:spPr>
          <a:xfrm>
            <a:off x="777240" y="283972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find &amp; characterize</a:t>
            </a:r>
          </a:p>
        </p:txBody>
      </p:sp>
      <p:sp>
        <p:nvSpPr>
          <p:cNvPr id="8" name="TextBox 7"/>
          <p:cNvSpPr txBox="1"/>
          <p:nvPr/>
        </p:nvSpPr>
        <p:spPr>
          <a:xfrm>
            <a:off x="777240" y="3186176"/>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02</a:t>
            </a:r>
          </a:p>
        </p:txBody>
      </p:sp>
      <p:sp>
        <p:nvSpPr>
          <p:cNvPr id="9" name="TextBox 8"/>
          <p:cNvSpPr txBox="1"/>
          <p:nvPr/>
        </p:nvSpPr>
        <p:spPr>
          <a:xfrm>
            <a:off x="777240" y="3532632"/>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Present</a:t>
            </a:r>
          </a:p>
        </p:txBody>
      </p:sp>
      <p:sp>
        <p:nvSpPr>
          <p:cNvPr id="10" name="TextBox 9"/>
          <p:cNvSpPr txBox="1"/>
          <p:nvPr/>
        </p:nvSpPr>
        <p:spPr>
          <a:xfrm>
            <a:off x="777240" y="3879088"/>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Image</a:t>
            </a:r>
          </a:p>
        </p:txBody>
      </p:sp>
      <p:sp>
        <p:nvSpPr>
          <p:cNvPr id="11" name="TextBox 10"/>
          <p:cNvSpPr txBox="1"/>
          <p:nvPr/>
        </p:nvSpPr>
        <p:spPr>
          <a:xfrm>
            <a:off x="777240" y="4225544"/>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risk &amp; opportunistic signal</a:t>
            </a:r>
          </a:p>
        </p:txBody>
      </p:sp>
      <p:sp>
        <p:nvSpPr>
          <p:cNvPr id="12" name="TextBox 11"/>
          <p:cNvSpPr txBox="1"/>
          <p:nvPr/>
        </p:nvSpPr>
        <p:spPr>
          <a:xfrm>
            <a:off x="777240" y="457200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03</a:t>
            </a:r>
          </a:p>
        </p:txBody>
      </p:sp>
      <p:sp>
        <p:nvSpPr>
          <p:cNvPr id="13" name="TextBox 12"/>
          <p:cNvSpPr txBox="1"/>
          <p:nvPr/>
        </p:nvSpPr>
        <p:spPr>
          <a:xfrm>
            <a:off x="777240" y="4918456"/>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Future</a:t>
            </a:r>
          </a:p>
        </p:txBody>
      </p:sp>
      <p:sp>
        <p:nvSpPr>
          <p:cNvPr id="14" name="TextBox 13"/>
          <p:cNvSpPr txBox="1"/>
          <p:nvPr/>
        </p:nvSpPr>
        <p:spPr>
          <a:xfrm>
            <a:off x="777240" y="5264911"/>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Patient</a:t>
            </a:r>
          </a:p>
        </p:txBody>
      </p:sp>
      <p:sp>
        <p:nvSpPr>
          <p:cNvPr id="15" name="TextBox 14"/>
          <p:cNvSpPr txBox="1"/>
          <p:nvPr/>
        </p:nvSpPr>
        <p:spPr>
          <a:xfrm>
            <a:off x="777240" y="5611367"/>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pathology + integration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3171444"/>
            <a:ext cx="598932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Let's step into a </a:t>
            </a:r>
            <a:r>
              <a:rPr sz="2600" b="0">
                <a:solidFill>
                  <a:srgbClr val="E7AC51"/>
                </a:solidFill>
                <a:latin typeface="Arial"/>
              </a:rPr>
              <a:t>time machine.</a:t>
            </a:r>
          </a:p>
        </p:txBody>
      </p:sp>
      <p:sp>
        <p:nvSpPr>
          <p:cNvPr id="4" name="TextBox 3"/>
          <p:cNvSpPr txBox="1"/>
          <p:nvPr/>
        </p:nvSpPr>
        <p:spPr>
          <a:xfrm>
            <a:off x="777240" y="3705860"/>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This field has overpromised before. Let's start there — in 1998.</a:t>
            </a:r>
          </a:p>
        </p:txBody>
      </p:sp>
      <p:pic>
        <p:nvPicPr>
          <p:cNvPr id="5" name="Picture 4" descr="s_012a6b4f06.png"/>
          <p:cNvPicPr>
            <a:picLocks noChangeAspect="1"/>
          </p:cNvPicPr>
          <p:nvPr/>
        </p:nvPicPr>
        <p:blipFill>
          <a:blip r:embed="rId3"/>
          <a:stretch>
            <a:fillRect/>
          </a:stretch>
        </p:blipFill>
        <p:spPr>
          <a:xfrm>
            <a:off x="6995160" y="2109651"/>
            <a:ext cx="4617720" cy="263869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642616"/>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Era I · 1998 · Lesion</a:t>
            </a:r>
            <a:r>
              <a:rPr sz="1400" b="0">
                <a:solidFill>
                  <a:srgbClr val="9DA9B5"/>
                </a:solidFill>
                <a:latin typeface="Arial"/>
              </a:rPr>
              <a:t>→</a:t>
            </a:r>
            <a:r>
              <a:rPr sz="1400" b="0">
                <a:solidFill>
                  <a:srgbClr val="9DA9B5"/>
                </a:solidFill>
                <a:latin typeface="Arial"/>
              </a:rPr>
              <a:t>Image</a:t>
            </a:r>
            <a:r>
              <a:rPr sz="1400" b="0">
                <a:solidFill>
                  <a:srgbClr val="9DA9B5"/>
                </a:solidFill>
                <a:latin typeface="Arial"/>
              </a:rPr>
              <a:t>→</a:t>
            </a:r>
            <a:r>
              <a:rPr sz="1400" b="0">
                <a:solidFill>
                  <a:srgbClr val="9DA9B5"/>
                </a:solidFill>
                <a:latin typeface="Arial"/>
              </a:rPr>
              <a:t>Patient</a:t>
            </a:r>
          </a:p>
        </p:txBody>
      </p:sp>
      <p:sp>
        <p:nvSpPr>
          <p:cNvPr id="4" name="TextBox 3"/>
          <p:cNvSpPr txBox="1"/>
          <p:nvPr/>
        </p:nvSpPr>
        <p:spPr>
          <a:xfrm>
            <a:off x="777240" y="2989072"/>
            <a:ext cx="5989320" cy="790447"/>
          </a:xfrm>
          <a:prstGeom prst="rect">
            <a:avLst/>
          </a:prstGeom>
          <a:noFill/>
        </p:spPr>
        <p:txBody>
          <a:bodyPr wrap="square" lIns="25400" rIns="25400" tIns="12700" bIns="12700">
            <a:noAutofit/>
          </a:bodyPr>
          <a:lstStyle/>
          <a:p>
            <a:pPr algn="l">
              <a:lnSpc>
                <a:spcPct val="106000"/>
              </a:lnSpc>
              <a:spcAft>
                <a:spcPts val="400"/>
              </a:spcAft>
            </a:pPr>
            <a:r>
              <a:rPr sz="4400" b="0">
                <a:solidFill>
                  <a:srgbClr val="ECEFF3"/>
                </a:solidFill>
                <a:latin typeface="Arial"/>
              </a:rPr>
              <a:t>The year is </a:t>
            </a:r>
            <a:r>
              <a:rPr sz="4400" b="0">
                <a:solidFill>
                  <a:srgbClr val="E7AC51"/>
                </a:solidFill>
                <a:latin typeface="Arial"/>
              </a:rPr>
              <a:t>1998.</a:t>
            </a:r>
          </a:p>
        </p:txBody>
      </p:sp>
      <p:sp>
        <p:nvSpPr>
          <p:cNvPr id="5" name="TextBox 4"/>
          <p:cNvSpPr txBox="1"/>
          <p:nvPr/>
        </p:nvSpPr>
        <p:spPr>
          <a:xfrm>
            <a:off x="777240" y="3779520"/>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Computer-aided detection has just arrived — a mark on every mammogram flagging a possible cancer. A second set of eyes, automatically. It feels like the future.</a:t>
            </a:r>
          </a:p>
        </p:txBody>
      </p:sp>
      <p:sp>
        <p:nvSpPr>
          <p:cNvPr id="6" name="Rounded Rectangle 5"/>
          <p:cNvSpPr/>
          <p:nvPr/>
        </p:nvSpPr>
        <p:spPr>
          <a:xfrm>
            <a:off x="6912864" y="1037844"/>
            <a:ext cx="4782312" cy="4782312"/>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_a5f0143ecc.png"/>
          <p:cNvPicPr>
            <a:picLocks noChangeAspect="1"/>
          </p:cNvPicPr>
          <p:nvPr/>
        </p:nvPicPr>
        <p:blipFill>
          <a:blip r:embed="rId3"/>
          <a:stretch>
            <a:fillRect/>
          </a:stretch>
        </p:blipFill>
        <p:spPr>
          <a:xfrm>
            <a:off x="6995160" y="1120140"/>
            <a:ext cx="4617720" cy="46177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a:t>
            </a:r>
          </a:p>
        </p:txBody>
      </p:sp>
      <p:sp>
        <p:nvSpPr>
          <p:cNvPr id="4" name="TextBox 3"/>
          <p:cNvSpPr txBox="1"/>
          <p:nvPr/>
        </p:nvSpPr>
        <p:spPr>
          <a:xfrm>
            <a:off x="777240" y="2319020"/>
            <a:ext cx="5989320" cy="1274064"/>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Within a decade, CAD was used on </a:t>
            </a:r>
            <a:r>
              <a:rPr sz="2600" b="0">
                <a:solidFill>
                  <a:srgbClr val="E7AC51"/>
                </a:solidFill>
                <a:latin typeface="Arial"/>
              </a:rPr>
              <a:t>most US mammograms.</a:t>
            </a:r>
          </a:p>
        </p:txBody>
      </p:sp>
      <p:sp>
        <p:nvSpPr>
          <p:cNvPr id="5" name="TextBox 4"/>
          <p:cNvSpPr txBox="1"/>
          <p:nvPr/>
        </p:nvSpPr>
        <p:spPr>
          <a:xfrm>
            <a:off x="777240" y="3593084"/>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 </a:t>
            </a:r>
            <a:r>
              <a:rPr sz="1400" b="0">
                <a:solidFill>
                  <a:srgbClr val="9DA9B5"/>
                </a:solidFill>
                <a:latin typeface="Arial"/>
              </a:rPr>
              <a:t> </a:t>
            </a:r>
          </a:p>
        </p:txBody>
      </p:sp>
      <p:sp>
        <p:nvSpPr>
          <p:cNvPr id="6" name="TextBox 5"/>
          <p:cNvSpPr txBox="1"/>
          <p:nvPr/>
        </p:nvSpPr>
        <p:spPr>
          <a:xfrm>
            <a:off x="777240" y="3939540"/>
            <a:ext cx="598932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 2002 reimbursement code drove adoption — not evidence of benefit.</a:t>
            </a:r>
          </a:p>
        </p:txBody>
      </p:sp>
      <p:sp>
        <p:nvSpPr>
          <p:cNvPr id="7" name="TextBox 6"/>
          <p:cNvSpPr txBox="1"/>
          <p:nvPr/>
        </p:nvSpPr>
        <p:spPr>
          <a:xfrm>
            <a:off x="777240" y="4513580"/>
            <a:ext cx="5989320" cy="574040"/>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The definitive study landed in 2015</a:t>
            </a:r>
            <a:r>
              <a:rPr sz="1400" b="0">
                <a:solidFill>
                  <a:srgbClr val="9DA9B5"/>
                </a:solidFill>
                <a:latin typeface="Arial"/>
              </a:rPr>
              <a:t> — after CAD already ran on ~9 in 10 mammograms.</a:t>
            </a:r>
          </a:p>
        </p:txBody>
      </p:sp>
      <p:pic>
        <p:nvPicPr>
          <p:cNvPr id="8" name="Picture 7" descr="s_ba5c8d2390.png"/>
          <p:cNvPicPr>
            <a:picLocks noChangeAspect="1"/>
          </p:cNvPicPr>
          <p:nvPr/>
        </p:nvPicPr>
        <p:blipFill>
          <a:blip r:embed="rId3"/>
          <a:stretch>
            <a:fillRect/>
          </a:stretch>
        </p:blipFill>
        <p:spPr>
          <a:xfrm>
            <a:off x="6995160" y="2643987"/>
            <a:ext cx="4617720" cy="157002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a:t>
            </a:r>
          </a:p>
        </p:txBody>
      </p:sp>
      <p:sp>
        <p:nvSpPr>
          <p:cNvPr id="4" name="TextBox 3"/>
          <p:cNvSpPr txBox="1"/>
          <p:nvPr/>
        </p:nvSpPr>
        <p:spPr>
          <a:xfrm>
            <a:off x="777240" y="1664969"/>
            <a:ext cx="5989320" cy="1274064"/>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Conventional CAD put a </a:t>
            </a:r>
            <a:r>
              <a:rPr sz="2600" b="0">
                <a:solidFill>
                  <a:srgbClr val="D9785B"/>
                </a:solidFill>
                <a:latin typeface="Arial"/>
              </a:rPr>
              <a:t>false-positive mark</a:t>
            </a:r>
            <a:r>
              <a:rPr sz="2600" b="0">
                <a:solidFill>
                  <a:srgbClr val="ECEFF3"/>
                </a:solidFill>
                <a:latin typeface="Arial"/>
              </a:rPr>
              <a:t> on most normal exams.</a:t>
            </a:r>
          </a:p>
        </p:txBody>
      </p:sp>
      <p:sp>
        <p:nvSpPr>
          <p:cNvPr id="5" name="TextBox 4"/>
          <p:cNvSpPr txBox="1"/>
          <p:nvPr/>
        </p:nvSpPr>
        <p:spPr>
          <a:xfrm>
            <a:off x="777240" y="2939033"/>
            <a:ext cx="598932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70–85%</a:t>
            </a:r>
          </a:p>
        </p:txBody>
      </p:sp>
      <p:sp>
        <p:nvSpPr>
          <p:cNvPr id="6" name="TextBox 5"/>
          <p:cNvSpPr txBox="1"/>
          <p:nvPr/>
        </p:nvSpPr>
        <p:spPr>
          <a:xfrm>
            <a:off x="777240" y="3464814"/>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of normal mammograms had </a:t>
            </a:r>
            <a:r>
              <a:rPr sz="1400" b="1">
                <a:solidFill>
                  <a:srgbClr val="D9785B"/>
                </a:solidFill>
                <a:latin typeface="Arial"/>
              </a:rPr>
              <a:t>≥1 false positive</a:t>
            </a:r>
          </a:p>
        </p:txBody>
      </p:sp>
      <p:sp>
        <p:nvSpPr>
          <p:cNvPr id="7" name="TextBox 6"/>
          <p:cNvSpPr txBox="1"/>
          <p:nvPr/>
        </p:nvSpPr>
        <p:spPr>
          <a:xfrm>
            <a:off x="777240" y="3811269"/>
            <a:ext cx="598932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0.5–1.5</a:t>
            </a:r>
          </a:p>
        </p:txBody>
      </p:sp>
      <p:sp>
        <p:nvSpPr>
          <p:cNvPr id="8" name="TextBox 7"/>
          <p:cNvSpPr txBox="1"/>
          <p:nvPr/>
        </p:nvSpPr>
        <p:spPr>
          <a:xfrm>
            <a:off x="777240" y="4337050"/>
            <a:ext cx="5989320" cy="346456"/>
          </a:xfrm>
          <a:prstGeom prst="rect">
            <a:avLst/>
          </a:prstGeom>
          <a:noFill/>
        </p:spPr>
        <p:txBody>
          <a:bodyPr wrap="square" lIns="25400" rIns="25400" tIns="12700" bIns="12700">
            <a:noAutofit/>
          </a:bodyPr>
          <a:lstStyle/>
          <a:p>
            <a:pPr algn="l">
              <a:lnSpc>
                <a:spcPct val="128000"/>
              </a:lnSpc>
              <a:spcAft>
                <a:spcPts val="400"/>
              </a:spcAft>
            </a:pPr>
            <a:r>
              <a:rPr sz="1400" b="1">
                <a:solidFill>
                  <a:srgbClr val="D9785B"/>
                </a:solidFill>
                <a:latin typeface="Arial"/>
              </a:rPr>
              <a:t>false positives per image</a:t>
            </a:r>
            <a:r>
              <a:rPr sz="1400" b="0">
                <a:solidFill>
                  <a:srgbClr val="9DA9B5"/>
                </a:solidFill>
                <a:latin typeface="Arial"/>
              </a:rPr>
              <a:t> — about 2–4 per 4-view case</a:t>
            </a:r>
          </a:p>
        </p:txBody>
      </p:sp>
      <p:sp>
        <p:nvSpPr>
          <p:cNvPr id="9" name="TextBox 8"/>
          <p:cNvSpPr txBox="1"/>
          <p:nvPr/>
        </p:nvSpPr>
        <p:spPr>
          <a:xfrm>
            <a:off x="777240" y="4683506"/>
            <a:ext cx="598932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Kim 2009 · Mahoney 2011 · Watanabe 2019 · Leon 2009</a:t>
            </a:r>
          </a:p>
        </p:txBody>
      </p:sp>
      <p:sp>
        <p:nvSpPr>
          <p:cNvPr id="10" name="TextBox 9"/>
          <p:cNvSpPr txBox="1"/>
          <p:nvPr/>
        </p:nvSpPr>
        <p:spPr>
          <a:xfrm>
            <a:off x="777240" y="4940046"/>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~2–3 false marks on a normal case; more on non-dense breasts. </a:t>
            </a:r>
            <a:r>
              <a:rPr sz="1400" b="0">
                <a:solidFill>
                  <a:srgbClr val="9DA9B5"/>
                </a:solidFill>
                <a:latin typeface="Arial"/>
              </a:rPr>
              <a:t>Mahoney &amp; Meganathan, J Digit Imaging 2011 (Table 4) · PMC3180536.</a:t>
            </a:r>
          </a:p>
        </p:txBody>
      </p:sp>
      <p:pic>
        <p:nvPicPr>
          <p:cNvPr id="11" name="Picture 10" descr="s_94f6a22e3f.png"/>
          <p:cNvPicPr>
            <a:picLocks noChangeAspect="1"/>
          </p:cNvPicPr>
          <p:nvPr/>
        </p:nvPicPr>
        <p:blipFill>
          <a:blip r:embed="rId3"/>
          <a:stretch>
            <a:fillRect/>
          </a:stretch>
        </p:blipFill>
        <p:spPr>
          <a:xfrm>
            <a:off x="6995160" y="1910013"/>
            <a:ext cx="4617720" cy="303797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a:t>
            </a:r>
          </a:p>
        </p:txBody>
      </p:sp>
      <p:sp>
        <p:nvSpPr>
          <p:cNvPr id="4" name="TextBox 3"/>
          <p:cNvSpPr txBox="1"/>
          <p:nvPr/>
        </p:nvSpPr>
        <p:spPr>
          <a:xfrm>
            <a:off x="777240" y="2595118"/>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$400M</a:t>
            </a:r>
            <a:r>
              <a:rPr sz="1400" b="0">
                <a:solidFill>
                  <a:srgbClr val="9DA9B5"/>
                </a:solidFill>
                <a:latin typeface="Arial"/>
              </a:rPr>
              <a:t>/yr</a:t>
            </a:r>
          </a:p>
        </p:txBody>
      </p:sp>
      <p:sp>
        <p:nvSpPr>
          <p:cNvPr id="5" name="TextBox 4"/>
          <p:cNvSpPr txBox="1"/>
          <p:nvPr/>
        </p:nvSpPr>
        <p:spPr>
          <a:xfrm>
            <a:off x="777240" y="2941574"/>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U.S. spend ≈ $1 of every $10,000 in health care</a:t>
            </a:r>
          </a:p>
        </p:txBody>
      </p:sp>
      <p:sp>
        <p:nvSpPr>
          <p:cNvPr id="6" name="TextBox 5"/>
          <p:cNvSpPr txBox="1"/>
          <p:nvPr/>
        </p:nvSpPr>
        <p:spPr>
          <a:xfrm>
            <a:off x="777240" y="328803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−47%</a:t>
            </a:r>
            <a:r>
              <a:rPr sz="1400" b="0">
                <a:solidFill>
                  <a:srgbClr val="9DA9B5"/>
                </a:solidFill>
                <a:latin typeface="Arial"/>
              </a:rPr>
              <a:t> odds</a:t>
            </a:r>
          </a:p>
        </p:txBody>
      </p:sp>
      <p:sp>
        <p:nvSpPr>
          <p:cNvPr id="7" name="TextBox 6"/>
          <p:cNvSpPr txBox="1"/>
          <p:nvPr/>
        </p:nvSpPr>
        <p:spPr>
          <a:xfrm>
            <a:off x="777240" y="3634486"/>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odds of detecting a malignant lesion — CAD on vs off, same readers (OR 0.53)</a:t>
            </a:r>
          </a:p>
        </p:txBody>
      </p:sp>
      <p:sp>
        <p:nvSpPr>
          <p:cNvPr id="8" name="TextBox 7"/>
          <p:cNvSpPr txBox="1"/>
          <p:nvPr/>
        </p:nvSpPr>
        <p:spPr>
          <a:xfrm>
            <a:off x="777240" y="3980942"/>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When the definitive study finally ran, CAD added cost and, for the same readers, lowered the odds of catching a cancer.</a:t>
            </a:r>
          </a:p>
        </p:txBody>
      </p:sp>
      <p:sp>
        <p:nvSpPr>
          <p:cNvPr id="9" name="TextBox 8"/>
          <p:cNvSpPr txBox="1"/>
          <p:nvPr/>
        </p:nvSpPr>
        <p:spPr>
          <a:xfrm>
            <a:off x="777240" y="4554982"/>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Lehman et al., JAMA Internal Medicine 2015 · 323,973 women · 271 radiologists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a:t>
            </a:r>
          </a:p>
        </p:txBody>
      </p:sp>
      <p:sp>
        <p:nvSpPr>
          <p:cNvPr id="4" name="TextBox 3"/>
          <p:cNvSpPr txBox="1"/>
          <p:nvPr/>
        </p:nvSpPr>
        <p:spPr>
          <a:xfrm>
            <a:off x="777240" y="2248662"/>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Computer-aided detection does not improve diagnostic accuracy of mammography. These results suggest that insurers pay more for CAD with no established benefit to women.</a:t>
            </a:r>
          </a:p>
        </p:txBody>
      </p:sp>
      <p:sp>
        <p:nvSpPr>
          <p:cNvPr id="5" name="TextBox 4"/>
          <p:cNvSpPr txBox="1"/>
          <p:nvPr/>
        </p:nvSpPr>
        <p:spPr>
          <a:xfrm>
            <a:off x="777240" y="2822702"/>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 Lehman et al., JAMA Internal Medicine 2015</a:t>
            </a:r>
          </a:p>
        </p:txBody>
      </p:sp>
      <p:sp>
        <p:nvSpPr>
          <p:cNvPr id="6" name="TextBox 5"/>
          <p:cNvSpPr txBox="1"/>
          <p:nvPr/>
        </p:nvSpPr>
        <p:spPr>
          <a:xfrm>
            <a:off x="777240" y="3079241"/>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85.3% </a:t>
            </a:r>
            <a:r>
              <a:rPr sz="1400" b="0">
                <a:solidFill>
                  <a:srgbClr val="9DA9B5"/>
                </a:solidFill>
                <a:latin typeface="Arial"/>
              </a:rPr>
              <a:t>vs</a:t>
            </a:r>
            <a:r>
              <a:rPr sz="1400" b="0">
                <a:solidFill>
                  <a:srgbClr val="9DA9B5"/>
                </a:solidFill>
                <a:latin typeface="Arial"/>
              </a:rPr>
              <a:t> 87.3%</a:t>
            </a:r>
          </a:p>
        </p:txBody>
      </p:sp>
      <p:sp>
        <p:nvSpPr>
          <p:cNvPr id="7" name="TextBox 6"/>
          <p:cNvSpPr txBox="1"/>
          <p:nvPr/>
        </p:nvSpPr>
        <p:spPr>
          <a:xfrm>
            <a:off x="777240" y="3425698"/>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sensitivity — with vs without CAD</a:t>
            </a:r>
          </a:p>
        </p:txBody>
      </p:sp>
      <p:sp>
        <p:nvSpPr>
          <p:cNvPr id="8" name="TextBox 7"/>
          <p:cNvSpPr txBox="1"/>
          <p:nvPr/>
        </p:nvSpPr>
        <p:spPr>
          <a:xfrm>
            <a:off x="777240" y="3772154"/>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4.1 = 4.1</a:t>
            </a:r>
            <a:r>
              <a:rPr sz="1400" b="0">
                <a:solidFill>
                  <a:srgbClr val="9DA9B5"/>
                </a:solidFill>
                <a:latin typeface="Arial"/>
              </a:rPr>
              <a:t> /1,000</a:t>
            </a:r>
          </a:p>
        </p:txBody>
      </p:sp>
      <p:sp>
        <p:nvSpPr>
          <p:cNvPr id="9" name="TextBox 8"/>
          <p:cNvSpPr txBox="1"/>
          <p:nvPr/>
        </p:nvSpPr>
        <p:spPr>
          <a:xfrm>
            <a:off x="777240" y="411861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cancer detection — identical</a:t>
            </a:r>
          </a:p>
        </p:txBody>
      </p:sp>
      <p:sp>
        <p:nvSpPr>
          <p:cNvPr id="10" name="TextBox 9"/>
          <p:cNvSpPr txBox="1"/>
          <p:nvPr/>
        </p:nvSpPr>
        <p:spPr>
          <a:xfrm>
            <a:off x="777240" y="4465065"/>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0.871 </a:t>
            </a:r>
            <a:r>
              <a:rPr sz="1400" b="0">
                <a:solidFill>
                  <a:srgbClr val="9DA9B5"/>
                </a:solidFill>
                <a:latin typeface="Arial"/>
              </a:rPr>
              <a:t>vs</a:t>
            </a:r>
            <a:r>
              <a:rPr sz="1400" b="0">
                <a:solidFill>
                  <a:srgbClr val="9DA9B5"/>
                </a:solidFill>
                <a:latin typeface="Arial"/>
              </a:rPr>
              <a:t> 0.919</a:t>
            </a:r>
          </a:p>
        </p:txBody>
      </p:sp>
      <p:sp>
        <p:nvSpPr>
          <p:cNvPr id="11" name="TextBox 10"/>
          <p:cNvSpPr txBox="1"/>
          <p:nvPr/>
        </p:nvSpPr>
        <p:spPr>
          <a:xfrm>
            <a:off x="777240" y="4811521"/>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AUC — with vs without (Fenton, NEJM 2007)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a:t>
            </a:r>
          </a:p>
        </p:txBody>
      </p:sp>
      <p:sp>
        <p:nvSpPr>
          <p:cNvPr id="4" name="TextBox 3"/>
          <p:cNvSpPr txBox="1"/>
          <p:nvPr/>
        </p:nvSpPr>
        <p:spPr>
          <a:xfrm>
            <a:off x="777240" y="2560574"/>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What went wrong.</a:t>
            </a:r>
          </a:p>
        </p:txBody>
      </p:sp>
      <p:sp>
        <p:nvSpPr>
          <p:cNvPr id="5" name="TextBox 4"/>
          <p:cNvSpPr txBox="1"/>
          <p:nvPr/>
        </p:nvSpPr>
        <p:spPr>
          <a:xfrm>
            <a:off x="777240" y="3094989"/>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01</a:t>
            </a:r>
            <a:r>
              <a:rPr sz="1400" b="0">
                <a:solidFill>
                  <a:srgbClr val="9DA9B5"/>
                </a:solidFill>
                <a:latin typeface="Arial"/>
              </a:rPr>
              <a:t>It flagged only what we can already describe.</a:t>
            </a:r>
            <a:r>
              <a:rPr sz="1400" b="1">
                <a:solidFill>
                  <a:srgbClr val="ECEFF3"/>
                </a:solidFill>
                <a:latin typeface="Arial"/>
              </a:rPr>
              <a:t>Hand-tuned features</a:t>
            </a:r>
            <a:r>
              <a:rPr sz="1400" b="0">
                <a:solidFill>
                  <a:srgbClr val="9DA9B5"/>
                </a:solidFill>
                <a:latin typeface="Arial"/>
              </a:rPr>
              <a:t> are limited to what we can design — so it added marks, not new information.</a:t>
            </a:r>
          </a:p>
        </p:txBody>
      </p:sp>
      <p:sp>
        <p:nvSpPr>
          <p:cNvPr id="6" name="TextBox 5"/>
          <p:cNvSpPr txBox="1"/>
          <p:nvPr/>
        </p:nvSpPr>
        <p:spPr>
          <a:xfrm>
            <a:off x="777240" y="3669029"/>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02</a:t>
            </a:r>
            <a:r>
              <a:rPr sz="1400" b="0">
                <a:solidFill>
                  <a:srgbClr val="9DA9B5"/>
                </a:solidFill>
                <a:latin typeface="Arial"/>
              </a:rPr>
              <a:t>Readers learned to ignore it.</a:t>
            </a:r>
            <a:r>
              <a:rPr sz="1400" b="1">
                <a:solidFill>
                  <a:srgbClr val="ECEFF3"/>
                </a:solidFill>
                <a:latin typeface="Arial"/>
              </a:rPr>
              <a:t>70–85% of normal exams</a:t>
            </a:r>
            <a:r>
              <a:rPr sz="1400" b="0">
                <a:solidFill>
                  <a:srgbClr val="9DA9B5"/>
                </a:solidFill>
                <a:latin typeface="Arial"/>
              </a:rPr>
              <a:t> carried at least one false-positive mark — eroding trust.</a:t>
            </a:r>
          </a:p>
        </p:txBody>
      </p:sp>
      <p:sp>
        <p:nvSpPr>
          <p:cNvPr id="7" name="TextBox 6"/>
          <p:cNvSpPr txBox="1"/>
          <p:nvPr/>
        </p:nvSpPr>
        <p:spPr>
          <a:xfrm>
            <a:off x="777240" y="4015485"/>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03</a:t>
            </a:r>
            <a:r>
              <a:rPr sz="1400" b="0">
                <a:solidFill>
                  <a:srgbClr val="9DA9B5"/>
                </a:solidFill>
                <a:latin typeface="Arial"/>
              </a:rPr>
              <a:t>It was deployed at scale before it was ever validated.</a:t>
            </a:r>
            <a:r>
              <a:rPr sz="1400" b="0">
                <a:solidFill>
                  <a:srgbClr val="9DA9B5"/>
                </a:solidFill>
                <a:latin typeface="Arial"/>
              </a:rPr>
              <a:t>Reimbursed in 2002 and run on </a:t>
            </a:r>
            <a:r>
              <a:rPr sz="1400" b="1">
                <a:solidFill>
                  <a:srgbClr val="ECEFF3"/>
                </a:solidFill>
                <a:latin typeface="Arial"/>
              </a:rPr>
              <a:t>~92% of US screening mammograms</a:t>
            </a:r>
            <a:r>
              <a:rPr sz="1400" b="0">
                <a:solidFill>
                  <a:srgbClr val="9DA9B5"/>
                </a:solidFill>
                <a:latin typeface="Arial"/>
              </a:rPr>
              <a:t> by 2016; the definitive accuracy study didn't arrive until 2015 — and found no benefit.</a:t>
            </a:r>
          </a:p>
        </p:txBody>
      </p:sp>
      <p:sp>
        <p:nvSpPr>
          <p:cNvPr id="8" name="TextBox 7"/>
          <p:cNvSpPr txBox="1"/>
          <p:nvPr/>
        </p:nvSpPr>
        <p:spPr>
          <a:xfrm>
            <a:off x="777240" y="4589525"/>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Lehman CD, et al. JAMA Intern Med 2015;175(11):1828–1837 · Keen JD, et al. J Am Coll Radiol 2018 (adoption ~92%)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a:t>
            </a:r>
          </a:p>
        </p:txBody>
      </p:sp>
      <p:sp>
        <p:nvSpPr>
          <p:cNvPr id="4" name="TextBox 3"/>
          <p:cNvSpPr txBox="1"/>
          <p:nvPr/>
        </p:nvSpPr>
        <p:spPr>
          <a:xfrm>
            <a:off x="777240" y="2081275"/>
            <a:ext cx="10607040" cy="591312"/>
          </a:xfrm>
          <a:prstGeom prst="rect">
            <a:avLst/>
          </a:prstGeom>
          <a:noFill/>
        </p:spPr>
        <p:txBody>
          <a:bodyPr wrap="square" lIns="25400" rIns="25400" tIns="12700" bIns="12700">
            <a:noAutofit/>
          </a:bodyPr>
          <a:lstStyle/>
          <a:p>
            <a:pPr algn="l">
              <a:lnSpc>
                <a:spcPct val="106000"/>
              </a:lnSpc>
              <a:spcAft>
                <a:spcPts val="400"/>
              </a:spcAft>
            </a:pPr>
            <a:r>
              <a:rPr sz="3000" b="0">
                <a:solidFill>
                  <a:srgbClr val="ECEFF3"/>
                </a:solidFill>
                <a:latin typeface="Arial"/>
              </a:rPr>
              <a:t>A paradigm </a:t>
            </a:r>
            <a:r>
              <a:rPr sz="3000" b="0">
                <a:solidFill>
                  <a:srgbClr val="E7AC51"/>
                </a:solidFill>
                <a:latin typeface="Arial"/>
              </a:rPr>
              <a:t>shift.</a:t>
            </a:r>
          </a:p>
        </p:txBody>
      </p:sp>
      <p:sp>
        <p:nvSpPr>
          <p:cNvPr id="5" name="TextBox 4"/>
          <p:cNvSpPr txBox="1"/>
          <p:nvPr/>
        </p:nvSpPr>
        <p:spPr>
          <a:xfrm>
            <a:off x="777240" y="2672587"/>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Traditional CAD</a:t>
            </a:r>
          </a:p>
        </p:txBody>
      </p:sp>
      <p:sp>
        <p:nvSpPr>
          <p:cNvPr id="6" name="TextBox 5"/>
          <p:cNvSpPr txBox="1"/>
          <p:nvPr/>
        </p:nvSpPr>
        <p:spPr>
          <a:xfrm>
            <a:off x="777240" y="3019043"/>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Programmed</a:t>
            </a:r>
          </a:p>
        </p:txBody>
      </p:sp>
      <p:sp>
        <p:nvSpPr>
          <p:cNvPr id="7" name="TextBox 6"/>
          <p:cNvSpPr txBox="1"/>
          <p:nvPr/>
        </p:nvSpPr>
        <p:spPr>
          <a:xfrm>
            <a:off x="777240" y="336550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We wrote the rules for what cancer looks like. It </a:t>
            </a:r>
            <a:r>
              <a:rPr sz="1400" b="0">
                <a:solidFill>
                  <a:srgbClr val="9DA9B5"/>
                </a:solidFill>
                <a:latin typeface="Arial"/>
              </a:rPr>
              <a:t>pointed</a:t>
            </a:r>
            <a:r>
              <a:rPr sz="1400" b="0">
                <a:solidFill>
                  <a:srgbClr val="9DA9B5"/>
                </a:solidFill>
                <a:latin typeface="Arial"/>
              </a:rPr>
              <a:t> at spots for a human to check.</a:t>
            </a:r>
          </a:p>
        </p:txBody>
      </p:sp>
      <p:sp>
        <p:nvSpPr>
          <p:cNvPr id="8" name="TextBox 7"/>
          <p:cNvSpPr txBox="1"/>
          <p:nvPr/>
        </p:nvSpPr>
        <p:spPr>
          <a:xfrm>
            <a:off x="777240" y="3711955"/>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t>
            </a:r>
          </a:p>
        </p:txBody>
      </p:sp>
      <p:sp>
        <p:nvSpPr>
          <p:cNvPr id="9" name="TextBox 8"/>
          <p:cNvSpPr txBox="1"/>
          <p:nvPr/>
        </p:nvSpPr>
        <p:spPr>
          <a:xfrm>
            <a:off x="777240" y="4058411"/>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Modern deep learning</a:t>
            </a:r>
          </a:p>
        </p:txBody>
      </p:sp>
      <p:sp>
        <p:nvSpPr>
          <p:cNvPr id="10" name="TextBox 9"/>
          <p:cNvSpPr txBox="1"/>
          <p:nvPr/>
        </p:nvSpPr>
        <p:spPr>
          <a:xfrm>
            <a:off x="777240" y="4404867"/>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Trained</a:t>
            </a:r>
          </a:p>
        </p:txBody>
      </p:sp>
      <p:sp>
        <p:nvSpPr>
          <p:cNvPr id="11" name="TextBox 10"/>
          <p:cNvSpPr txBox="1"/>
          <p:nvPr/>
        </p:nvSpPr>
        <p:spPr>
          <a:xfrm>
            <a:off x="777240" y="4751323"/>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The model learns the patterns from the images themselves. It can </a:t>
            </a:r>
            <a:r>
              <a:rPr sz="1400" b="0">
                <a:solidFill>
                  <a:srgbClr val="9DA9B5"/>
                </a:solidFill>
                <a:latin typeface="Arial"/>
              </a:rPr>
              <a:t>read</a:t>
            </a:r>
            <a:r>
              <a:rPr sz="1400" b="0">
                <a:solidFill>
                  <a:srgbClr val="9DA9B5"/>
                </a:solidFill>
                <a:latin typeface="Arial"/>
              </a:rPr>
              <a:t> the image — as a second reader, or on its own.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56408"/>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Era II</a:t>
            </a:r>
          </a:p>
        </p:txBody>
      </p:sp>
      <p:sp>
        <p:nvSpPr>
          <p:cNvPr id="4" name="TextBox 3"/>
          <p:cNvSpPr txBox="1"/>
          <p:nvPr/>
        </p:nvSpPr>
        <p:spPr>
          <a:xfrm>
            <a:off x="777240" y="3102864"/>
            <a:ext cx="5989320" cy="790447"/>
          </a:xfrm>
          <a:prstGeom prst="rect">
            <a:avLst/>
          </a:prstGeom>
          <a:noFill/>
        </p:spPr>
        <p:txBody>
          <a:bodyPr wrap="square" lIns="25400" rIns="25400" tIns="12700" bIns="12700">
            <a:noAutofit/>
          </a:bodyPr>
          <a:lstStyle/>
          <a:p>
            <a:pPr algn="l">
              <a:lnSpc>
                <a:spcPct val="106000"/>
              </a:lnSpc>
              <a:spcAft>
                <a:spcPts val="400"/>
              </a:spcAft>
            </a:pPr>
            <a:r>
              <a:rPr sz="4400" b="0">
                <a:solidFill>
                  <a:srgbClr val="ECEFF3"/>
                </a:solidFill>
                <a:latin typeface="Arial"/>
              </a:rPr>
              <a:t>The year is </a:t>
            </a:r>
            <a:r>
              <a:rPr sz="4400" b="0">
                <a:solidFill>
                  <a:srgbClr val="E7AC51"/>
                </a:solidFill>
                <a:latin typeface="Arial"/>
              </a:rPr>
              <a:t>2016.</a:t>
            </a:r>
          </a:p>
        </p:txBody>
      </p:sp>
      <p:sp>
        <p:nvSpPr>
          <p:cNvPr id="5" name="TextBox 4"/>
          <p:cNvSpPr txBox="1"/>
          <p:nvPr/>
        </p:nvSpPr>
        <p:spPr>
          <a:xfrm>
            <a:off x="777240" y="3893312"/>
            <a:ext cx="598932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You're beginning to hear about AI — but still </a:t>
            </a:r>
            <a:r>
              <a:rPr sz="1400" b="1">
                <a:solidFill>
                  <a:srgbClr val="ECEFF3"/>
                </a:solidFill>
                <a:latin typeface="Arial"/>
              </a:rPr>
              <a:t>feeling the burn from CAD.</a:t>
            </a:r>
          </a:p>
        </p:txBody>
      </p:sp>
      <p:pic>
        <p:nvPicPr>
          <p:cNvPr id="6" name="Picture 5" descr="s_1e85465c01.png"/>
          <p:cNvPicPr>
            <a:picLocks noChangeAspect="1"/>
          </p:cNvPicPr>
          <p:nvPr/>
        </p:nvPicPr>
        <p:blipFill>
          <a:blip r:embed="rId3"/>
          <a:stretch>
            <a:fillRect/>
          </a:stretch>
        </p:blipFill>
        <p:spPr>
          <a:xfrm>
            <a:off x="6995160" y="2109651"/>
            <a:ext cx="4617720" cy="2638697"/>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a:t>
            </a:r>
          </a:p>
        </p:txBody>
      </p:sp>
      <p:sp>
        <p:nvSpPr>
          <p:cNvPr id="4" name="TextBox 3"/>
          <p:cNvSpPr txBox="1"/>
          <p:nvPr/>
        </p:nvSpPr>
        <p:spPr>
          <a:xfrm>
            <a:off x="777240" y="1966975"/>
            <a:ext cx="5989320" cy="1274064"/>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2016: the first large-scale push — and a </a:t>
            </a:r>
            <a:r>
              <a:rPr sz="2600" b="0">
                <a:solidFill>
                  <a:srgbClr val="E7AC51"/>
                </a:solidFill>
                <a:latin typeface="Arial"/>
              </a:rPr>
              <a:t>surge of optimism.</a:t>
            </a:r>
          </a:p>
        </p:txBody>
      </p:sp>
      <p:sp>
        <p:nvSpPr>
          <p:cNvPr id="5" name="TextBox 4"/>
          <p:cNvSpPr txBox="1"/>
          <p:nvPr/>
        </p:nvSpPr>
        <p:spPr>
          <a:xfrm>
            <a:off x="777240" y="3241040"/>
            <a:ext cx="5989320" cy="1029208"/>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The </a:t>
            </a:r>
            <a:r>
              <a:rPr sz="1400" b="1">
                <a:solidFill>
                  <a:srgbClr val="ECEFF3"/>
                </a:solidFill>
                <a:latin typeface="Arial"/>
              </a:rPr>
              <a:t>Digital Mammography DREAM Challenge</a:t>
            </a:r>
            <a:r>
              <a:rPr sz="1400" b="0">
                <a:solidFill>
                  <a:srgbClr val="9DA9B5"/>
                </a:solidFill>
                <a:latin typeface="Arial"/>
              </a:rPr>
              <a:t> was the first large-scale effort to build breast-cancer AI — and we took part. The hope was that a crowdsourced competition would simply solve it.</a:t>
            </a:r>
          </a:p>
        </p:txBody>
      </p:sp>
      <p:sp>
        <p:nvSpPr>
          <p:cNvPr id="6" name="Rounded Rectangle 5"/>
          <p:cNvSpPr/>
          <p:nvPr/>
        </p:nvSpPr>
        <p:spPr>
          <a:xfrm>
            <a:off x="777240" y="4270248"/>
            <a:ext cx="418122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1,000+</a:t>
            </a:r>
            <a:r>
              <a:rPr sz="1100">
                <a:solidFill>
                  <a:srgbClr val="ECEFF3"/>
                </a:solidFill>
                <a:latin typeface="Consolas"/>
              </a:rPr>
              <a:t> participants · 126 teams · 44 countries</a:t>
            </a:r>
          </a:p>
        </p:txBody>
      </p:sp>
      <p:sp>
        <p:nvSpPr>
          <p:cNvPr id="7" name="Rectangle 6"/>
          <p:cNvSpPr/>
          <p:nvPr/>
        </p:nvSpPr>
        <p:spPr>
          <a:xfrm>
            <a:off x="777240" y="4270248"/>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4709160"/>
            <a:ext cx="1909508"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~640,000</a:t>
            </a:r>
            <a:r>
              <a:rPr sz="1100">
                <a:solidFill>
                  <a:srgbClr val="ECEFF3"/>
                </a:solidFill>
                <a:latin typeface="Consolas"/>
              </a:rPr>
              <a:t> mammograms</a:t>
            </a:r>
          </a:p>
        </p:txBody>
      </p:sp>
      <p:sp>
        <p:nvSpPr>
          <p:cNvPr id="9" name="Rectangle 8"/>
          <p:cNvSpPr/>
          <p:nvPr/>
        </p:nvSpPr>
        <p:spPr>
          <a:xfrm>
            <a:off x="777240" y="470916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202936"/>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Schaffter et al., JAMA Network Open 2020;3(3):e200265.</a:t>
            </a:r>
          </a:p>
        </p:txBody>
      </p:sp>
      <p:sp>
        <p:nvSpPr>
          <p:cNvPr id="11" name="Rounded Rectangle 10"/>
          <p:cNvSpPr/>
          <p:nvPr/>
        </p:nvSpPr>
        <p:spPr>
          <a:xfrm>
            <a:off x="6964218" y="832104"/>
            <a:ext cx="4679602" cy="5193792"/>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_920569b1aa.png"/>
          <p:cNvPicPr>
            <a:picLocks noChangeAspect="1"/>
          </p:cNvPicPr>
          <p:nvPr/>
        </p:nvPicPr>
        <p:blipFill>
          <a:blip r:embed="rId3"/>
          <a:stretch>
            <a:fillRect/>
          </a:stretch>
        </p:blipFill>
        <p:spPr>
          <a:xfrm>
            <a:off x="7046514" y="914400"/>
            <a:ext cx="4515010" cy="50292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a:t>
            </a:r>
          </a:p>
        </p:txBody>
      </p:sp>
      <p:sp>
        <p:nvSpPr>
          <p:cNvPr id="4" name="TextBox 3"/>
          <p:cNvSpPr txBox="1"/>
          <p:nvPr/>
        </p:nvSpPr>
        <p:spPr>
          <a:xfrm>
            <a:off x="777240" y="2082800"/>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2020: Google publishes its </a:t>
            </a:r>
            <a:r>
              <a:rPr sz="2600" b="0">
                <a:solidFill>
                  <a:srgbClr val="E7AC51"/>
                </a:solidFill>
                <a:latin typeface="Arial"/>
              </a:rPr>
              <a:t>breast-cancer AI model.</a:t>
            </a:r>
          </a:p>
        </p:txBody>
      </p:sp>
      <p:sp>
        <p:nvSpPr>
          <p:cNvPr id="5" name="TextBox 4"/>
          <p:cNvSpPr txBox="1"/>
          <p:nvPr/>
        </p:nvSpPr>
        <p:spPr>
          <a:xfrm>
            <a:off x="777240" y="2987040"/>
            <a:ext cx="5989320" cy="801623"/>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McKinney et al., Nature 2020</a:t>
            </a:r>
            <a:r>
              <a:rPr sz="1400" b="0">
                <a:solidFill>
                  <a:srgbClr val="9DA9B5"/>
                </a:solidFill>
                <a:latin typeface="Arial"/>
              </a:rPr>
              <a:t> (Google Health, UK + US) — a deep-learning system read screening mammograms stand-alone.</a:t>
            </a:r>
          </a:p>
        </p:txBody>
      </p:sp>
      <p:sp>
        <p:nvSpPr>
          <p:cNvPr id="6" name="Rounded Rectangle 5"/>
          <p:cNvSpPr/>
          <p:nvPr/>
        </p:nvSpPr>
        <p:spPr>
          <a:xfrm>
            <a:off x="777240" y="3788664"/>
            <a:ext cx="3255708"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false positives </a:t>
            </a:r>
            <a:r>
              <a:rPr sz="1100">
                <a:solidFill>
                  <a:srgbClr val="ECEFF3"/>
                </a:solidFill>
                <a:latin typeface="Consolas"/>
              </a:rPr>
              <a:t>−5.7% US / −1.2% UK</a:t>
            </a:r>
          </a:p>
        </p:txBody>
      </p:sp>
      <p:sp>
        <p:nvSpPr>
          <p:cNvPr id="7" name="Rectangle 6"/>
          <p:cNvSpPr/>
          <p:nvPr/>
        </p:nvSpPr>
        <p:spPr>
          <a:xfrm>
            <a:off x="777240" y="3788664"/>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4227576"/>
            <a:ext cx="3255708"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false negatives </a:t>
            </a:r>
            <a:r>
              <a:rPr sz="1100">
                <a:solidFill>
                  <a:srgbClr val="ECEFF3"/>
                </a:solidFill>
                <a:latin typeface="Consolas"/>
              </a:rPr>
              <a:t>−9.4% US / −2.7% UK</a:t>
            </a:r>
          </a:p>
        </p:txBody>
      </p:sp>
      <p:sp>
        <p:nvSpPr>
          <p:cNvPr id="9" name="Rectangle 8"/>
          <p:cNvSpPr/>
          <p:nvPr/>
        </p:nvSpPr>
        <p:spPr>
          <a:xfrm>
            <a:off x="777240" y="4227576"/>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4666488"/>
            <a:ext cx="2750883"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AUC </a:t>
            </a:r>
            <a:r>
              <a:rPr sz="1100">
                <a:solidFill>
                  <a:srgbClr val="ECEFF3"/>
                </a:solidFill>
                <a:latin typeface="Consolas"/>
              </a:rPr>
              <a:t>+11.5%</a:t>
            </a:r>
            <a:r>
              <a:rPr sz="1100">
                <a:solidFill>
                  <a:srgbClr val="ECEFF3"/>
                </a:solidFill>
                <a:latin typeface="Consolas"/>
              </a:rPr>
              <a:t> vs avg radiologist</a:t>
            </a:r>
          </a:p>
        </p:txBody>
      </p:sp>
      <p:sp>
        <p:nvSpPr>
          <p:cNvPr id="11" name="Rectangle 10"/>
          <p:cNvSpPr/>
          <p:nvPr/>
        </p:nvSpPr>
        <p:spPr>
          <a:xfrm>
            <a:off x="777240" y="4666488"/>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19563" y="4666488"/>
            <a:ext cx="2330196"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2nd-reader workload </a:t>
            </a:r>
            <a:r>
              <a:rPr sz="1100">
                <a:solidFill>
                  <a:srgbClr val="ECEFF3"/>
                </a:solidFill>
                <a:latin typeface="Consolas"/>
              </a:rPr>
              <a:t>−88%</a:t>
            </a:r>
          </a:p>
        </p:txBody>
      </p:sp>
      <p:sp>
        <p:nvSpPr>
          <p:cNvPr id="13" name="Rectangle 12"/>
          <p:cNvSpPr/>
          <p:nvPr/>
        </p:nvSpPr>
        <p:spPr>
          <a:xfrm>
            <a:off x="3619563" y="4666488"/>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0264"/>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Results are promising — but again, only on clean, curated data.</a:t>
            </a:r>
          </a:p>
        </p:txBody>
      </p:sp>
      <p:sp>
        <p:nvSpPr>
          <p:cNvPr id="15" name="Rounded Rectangle 14"/>
          <p:cNvSpPr/>
          <p:nvPr/>
        </p:nvSpPr>
        <p:spPr>
          <a:xfrm>
            <a:off x="7753803" y="832104"/>
            <a:ext cx="3100433" cy="5193792"/>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_6cb54df20e.png"/>
          <p:cNvPicPr>
            <a:picLocks noChangeAspect="1"/>
          </p:cNvPicPr>
          <p:nvPr/>
        </p:nvPicPr>
        <p:blipFill>
          <a:blip r:embed="rId3"/>
          <a:stretch>
            <a:fillRect/>
          </a:stretch>
        </p:blipFill>
        <p:spPr>
          <a:xfrm>
            <a:off x="7836099" y="914400"/>
            <a:ext cx="2935841" cy="50292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a:t>
            </a:r>
          </a:p>
        </p:txBody>
      </p:sp>
      <p:sp>
        <p:nvSpPr>
          <p:cNvPr id="4" name="TextBox 3"/>
          <p:cNvSpPr txBox="1"/>
          <p:nvPr/>
        </p:nvSpPr>
        <p:spPr>
          <a:xfrm>
            <a:off x="777240" y="1897887"/>
            <a:ext cx="5989320" cy="1274064"/>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2020: three commercial models, independently validated on </a:t>
            </a:r>
            <a:r>
              <a:rPr sz="2600" b="0">
                <a:solidFill>
                  <a:srgbClr val="E7AC51"/>
                </a:solidFill>
                <a:latin typeface="Arial"/>
              </a:rPr>
              <a:t>8,800 women.</a:t>
            </a:r>
          </a:p>
        </p:txBody>
      </p:sp>
      <p:sp>
        <p:nvSpPr>
          <p:cNvPr id="5" name="TextBox 4"/>
          <p:cNvSpPr txBox="1"/>
          <p:nvPr/>
        </p:nvSpPr>
        <p:spPr>
          <a:xfrm>
            <a:off x="777240" y="3171952"/>
            <a:ext cx="5989320" cy="574040"/>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Salim et al., JAMA Oncology 2020</a:t>
            </a:r>
            <a:r>
              <a:rPr sz="1400" b="0">
                <a:solidFill>
                  <a:srgbClr val="9DA9B5"/>
                </a:solidFill>
                <a:latin typeface="Arial"/>
              </a:rPr>
              <a:t> tested three commercial algorithms on an external Stockholm cohort.</a:t>
            </a:r>
          </a:p>
        </p:txBody>
      </p:sp>
      <p:sp>
        <p:nvSpPr>
          <p:cNvPr id="6" name="Rounded Rectangle 5"/>
          <p:cNvSpPr/>
          <p:nvPr/>
        </p:nvSpPr>
        <p:spPr>
          <a:xfrm>
            <a:off x="777240" y="3745992"/>
            <a:ext cx="384467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AUC — AI-1 </a:t>
            </a:r>
            <a:r>
              <a:rPr sz="1100">
                <a:solidFill>
                  <a:srgbClr val="ECEFF3"/>
                </a:solidFill>
                <a:latin typeface="Consolas"/>
              </a:rPr>
              <a:t>0.956</a:t>
            </a:r>
            <a:r>
              <a:rPr sz="1100">
                <a:solidFill>
                  <a:srgbClr val="ECEFF3"/>
                </a:solidFill>
                <a:latin typeface="Consolas"/>
              </a:rPr>
              <a:t> · AI-2 </a:t>
            </a:r>
            <a:r>
              <a:rPr sz="1100">
                <a:solidFill>
                  <a:srgbClr val="ECEFF3"/>
                </a:solidFill>
                <a:latin typeface="Consolas"/>
              </a:rPr>
              <a:t>0.922</a:t>
            </a:r>
            <a:r>
              <a:rPr sz="1100">
                <a:solidFill>
                  <a:srgbClr val="ECEFF3"/>
                </a:solidFill>
                <a:latin typeface="Consolas"/>
              </a:rPr>
              <a:t> · AI-3 </a:t>
            </a:r>
            <a:r>
              <a:rPr sz="1100">
                <a:solidFill>
                  <a:srgbClr val="ECEFF3"/>
                </a:solidFill>
                <a:latin typeface="Consolas"/>
              </a:rPr>
              <a:t>0.920</a:t>
            </a:r>
          </a:p>
        </p:txBody>
      </p:sp>
      <p:sp>
        <p:nvSpPr>
          <p:cNvPr id="7" name="Rectangle 6"/>
          <p:cNvSpPr/>
          <p:nvPr/>
        </p:nvSpPr>
        <p:spPr>
          <a:xfrm>
            <a:off x="777240" y="3745992"/>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4184904"/>
            <a:ext cx="620052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at radiologists' specificity (</a:t>
            </a:r>
            <a:r>
              <a:rPr sz="1100">
                <a:solidFill>
                  <a:srgbClr val="ECEFF3"/>
                </a:solidFill>
                <a:latin typeface="Consolas"/>
              </a:rPr>
              <a:t>96.6%</a:t>
            </a:r>
            <a:r>
              <a:rPr sz="1100">
                <a:solidFill>
                  <a:srgbClr val="ECEFF3"/>
                </a:solidFill>
                <a:latin typeface="Consolas"/>
              </a:rPr>
              <a:t>): AI-1 </a:t>
            </a:r>
            <a:r>
              <a:rPr sz="1100">
                <a:solidFill>
                  <a:srgbClr val="ECEFF3"/>
                </a:solidFill>
                <a:latin typeface="Consolas"/>
              </a:rPr>
              <a:t>81.9%</a:t>
            </a:r>
            <a:r>
              <a:rPr sz="1100">
                <a:solidFill>
                  <a:srgbClr val="ECEFF3"/>
                </a:solidFill>
                <a:latin typeface="Consolas"/>
              </a:rPr>
              <a:t> sens vs readers </a:t>
            </a:r>
            <a:r>
              <a:rPr sz="1100">
                <a:solidFill>
                  <a:srgbClr val="ECEFF3"/>
                </a:solidFill>
                <a:latin typeface="Consolas"/>
              </a:rPr>
              <a:t>77.4%</a:t>
            </a:r>
          </a:p>
        </p:txBody>
      </p:sp>
      <p:sp>
        <p:nvSpPr>
          <p:cNvPr id="9" name="Rectangle 8"/>
          <p:cNvSpPr/>
          <p:nvPr/>
        </p:nvSpPr>
        <p:spPr>
          <a:xfrm>
            <a:off x="777240" y="4184904"/>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4623816"/>
            <a:ext cx="451777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AI + reader: </a:t>
            </a:r>
            <a:r>
              <a:rPr sz="1100">
                <a:solidFill>
                  <a:srgbClr val="ECEFF3"/>
                </a:solidFill>
                <a:latin typeface="Consolas"/>
              </a:rPr>
              <a:t>+77%</a:t>
            </a:r>
            <a:r>
              <a:rPr sz="1100">
                <a:solidFill>
                  <a:srgbClr val="ECEFF3"/>
                </a:solidFill>
                <a:latin typeface="Consolas"/>
              </a:rPr>
              <a:t> abnormal calls for </a:t>
            </a:r>
            <a:r>
              <a:rPr sz="1100">
                <a:solidFill>
                  <a:srgbClr val="ECEFF3"/>
                </a:solidFill>
                <a:latin typeface="Consolas"/>
              </a:rPr>
              <a:t>+8%</a:t>
            </a:r>
            <a:r>
              <a:rPr sz="1100">
                <a:solidFill>
                  <a:srgbClr val="ECEFF3"/>
                </a:solidFill>
                <a:latin typeface="Consolas"/>
              </a:rPr>
              <a:t> detection</a:t>
            </a:r>
          </a:p>
        </p:txBody>
      </p:sp>
      <p:sp>
        <p:nvSpPr>
          <p:cNvPr id="11" name="Rectangle 10"/>
          <p:cNvSpPr/>
          <p:nvPr/>
        </p:nvSpPr>
        <p:spPr>
          <a:xfrm>
            <a:off x="777240" y="4623816"/>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117592"/>
            <a:ext cx="598932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The combination's recall cost is the </a:t>
            </a:r>
            <a:r>
              <a:rPr sz="1400" b="0">
                <a:solidFill>
                  <a:srgbClr val="E7AC51"/>
                </a:solidFill>
                <a:latin typeface="Arial"/>
              </a:rPr>
              <a:t>operating-point tension in miniature.</a:t>
            </a:r>
          </a:p>
        </p:txBody>
      </p:sp>
      <p:sp>
        <p:nvSpPr>
          <p:cNvPr id="13" name="Rounded Rectangle 12"/>
          <p:cNvSpPr/>
          <p:nvPr/>
        </p:nvSpPr>
        <p:spPr>
          <a:xfrm>
            <a:off x="6912864" y="1987081"/>
            <a:ext cx="4782312" cy="2883836"/>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_1a0b098745.png"/>
          <p:cNvPicPr>
            <a:picLocks noChangeAspect="1"/>
          </p:cNvPicPr>
          <p:nvPr/>
        </p:nvPicPr>
        <p:blipFill>
          <a:blip r:embed="rId3"/>
          <a:stretch>
            <a:fillRect/>
          </a:stretch>
        </p:blipFill>
        <p:spPr>
          <a:xfrm>
            <a:off x="6995160" y="2069377"/>
            <a:ext cx="4617720" cy="271924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a:t>
            </a:r>
          </a:p>
        </p:txBody>
      </p:sp>
      <p:sp>
        <p:nvSpPr>
          <p:cNvPr id="4" name="TextBox 3"/>
          <p:cNvSpPr txBox="1"/>
          <p:nvPr/>
        </p:nvSpPr>
        <p:spPr>
          <a:xfrm>
            <a:off x="777240" y="2110994"/>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2023: MASAI publishes its </a:t>
            </a:r>
            <a:r>
              <a:rPr sz="2600" b="0">
                <a:solidFill>
                  <a:srgbClr val="E7AC51"/>
                </a:solidFill>
                <a:latin typeface="Arial"/>
              </a:rPr>
              <a:t>safety analysis.</a:t>
            </a:r>
          </a:p>
        </p:txBody>
      </p:sp>
      <p:sp>
        <p:nvSpPr>
          <p:cNvPr id="5" name="TextBox 4"/>
          <p:cNvSpPr txBox="1"/>
          <p:nvPr/>
        </p:nvSpPr>
        <p:spPr>
          <a:xfrm>
            <a:off x="777240" y="264541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 randomized trial, </a:t>
            </a:r>
            <a:r>
              <a:rPr sz="1400" b="1">
                <a:solidFill>
                  <a:srgbClr val="ECEFF3"/>
                </a:solidFill>
                <a:latin typeface="Arial"/>
              </a:rPr>
              <a:t>~80,000 women</a:t>
            </a:r>
            <a:r>
              <a:rPr sz="1400" b="0">
                <a:solidFill>
                  <a:srgbClr val="9DA9B5"/>
                </a:solidFill>
                <a:latin typeface="Arial"/>
              </a:rPr>
              <a:t> (≈40,000 per arm) — AI-supported reading vs standard double reading.</a:t>
            </a:r>
          </a:p>
        </p:txBody>
      </p:sp>
      <p:sp>
        <p:nvSpPr>
          <p:cNvPr id="6" name="TextBox 5"/>
          <p:cNvSpPr txBox="1"/>
          <p:nvPr/>
        </p:nvSpPr>
        <p:spPr>
          <a:xfrm>
            <a:off x="777240" y="2991866"/>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6.1 </a:t>
            </a:r>
            <a:r>
              <a:rPr sz="1400" b="0">
                <a:solidFill>
                  <a:srgbClr val="9DA9B5"/>
                </a:solidFill>
                <a:latin typeface="Arial"/>
              </a:rPr>
              <a:t>vs</a:t>
            </a:r>
            <a:r>
              <a:rPr sz="1400" b="0">
                <a:solidFill>
                  <a:srgbClr val="9DA9B5"/>
                </a:solidFill>
                <a:latin typeface="Arial"/>
              </a:rPr>
              <a:t> 5.1</a:t>
            </a:r>
            <a:r>
              <a:rPr sz="1400" b="0">
                <a:solidFill>
                  <a:srgbClr val="9DA9B5"/>
                </a:solidFill>
                <a:latin typeface="Arial"/>
              </a:rPr>
              <a:t>CDR per 1,000 · ratio 1.2 (95% CI 1.0–1.5)</a:t>
            </a:r>
          </a:p>
        </p:txBody>
      </p:sp>
      <p:graphicFrame>
        <p:nvGraphicFramePr>
          <p:cNvPr id="7" name="Table 6"/>
          <p:cNvGraphicFramePr>
            <a:graphicFrameLocks noGrp="1"/>
          </p:cNvGraphicFramePr>
          <p:nvPr/>
        </p:nvGraphicFramePr>
        <p:xfrm>
          <a:off x="777240" y="3338322"/>
          <a:ext cx="6949440" cy="1554480"/>
        </p:xfrm>
        <a:graphic>
          <a:graphicData uri="http://schemas.openxmlformats.org/drawingml/2006/table">
            <a:tbl>
              <a:tblPr firstRow="1" bandRow="1">
                <a:tableStyleId>{5C22544A-7EE6-4342-B048-85BDC9FD1C3A}</a:tableStyleId>
              </a:tblPr>
              <a:tblGrid>
                <a:gridCol w="2316480"/>
                <a:gridCol w="2316480"/>
                <a:gridCol w="2316480"/>
              </a:tblGrid>
              <a:tr h="310896">
                <a:tc>
                  <a:txBody>
                    <a:bodyPr/>
                    <a:lstStyle/>
                    <a:p>
                      <a:pPr algn="l"/>
                      <a:r>
                        <a:rPr sz="1000" b="1">
                          <a:solidFill>
                            <a:srgbClr val="E7AC51"/>
                          </a:solidFill>
                          <a:latin typeface="Arial"/>
                        </a:rPr>
                        <a:t>Measure</a:t>
                      </a:r>
                    </a:p>
                  </a:txBody>
                  <a:tcPr marL="50800" marR="50800" marT="12700" marB="12700">
                    <a:solidFill>
                      <a:srgbClr val="1B232D"/>
                    </a:solidFill>
                  </a:tcPr>
                </a:tc>
                <a:tc>
                  <a:txBody>
                    <a:bodyPr/>
                    <a:lstStyle/>
                    <a:p>
                      <a:pPr algn="ctr"/>
                      <a:r>
                        <a:rPr sz="1000" b="1">
                          <a:solidFill>
                            <a:srgbClr val="E7AC51"/>
                          </a:solidFill>
                          <a:latin typeface="Arial"/>
                        </a:rPr>
                        <a:t>AI</a:t>
                      </a:r>
                    </a:p>
                  </a:txBody>
                  <a:tcPr marL="50800" marR="50800" marT="12700" marB="12700">
                    <a:solidFill>
                      <a:srgbClr val="1B232D"/>
                    </a:solidFill>
                  </a:tcPr>
                </a:tc>
                <a:tc>
                  <a:txBody>
                    <a:bodyPr/>
                    <a:lstStyle/>
                    <a:p>
                      <a:pPr algn="ctr"/>
                      <a:r>
                        <a:rPr sz="1000" b="1">
                          <a:solidFill>
                            <a:srgbClr val="E7AC51"/>
                          </a:solidFill>
                          <a:latin typeface="Arial"/>
                        </a:rPr>
                        <a:t>Control</a:t>
                      </a:r>
                    </a:p>
                  </a:txBody>
                  <a:tcPr marL="50800" marR="50800" marT="12700" marB="12700">
                    <a:solidFill>
                      <a:srgbClr val="1B232D"/>
                    </a:solidFill>
                  </a:tcPr>
                </a:tc>
              </a:tr>
              <a:tr h="310896">
                <a:tc>
                  <a:txBody>
                    <a:bodyPr/>
                    <a:lstStyle/>
                    <a:p>
                      <a:pPr algn="l"/>
                      <a:r>
                        <a:rPr sz="1000" b="0">
                          <a:solidFill>
                            <a:srgbClr val="ECEFF3"/>
                          </a:solidFill>
                          <a:latin typeface="Arial"/>
                        </a:rPr>
                        <a:t>Recall rate</a:t>
                      </a:r>
                    </a:p>
                  </a:txBody>
                  <a:tcPr marL="50800" marR="50800" marT="12700" marB="12700">
                    <a:solidFill>
                      <a:srgbClr val="0F141A"/>
                    </a:solidFill>
                  </a:tcPr>
                </a:tc>
                <a:tc>
                  <a:txBody>
                    <a:bodyPr/>
                    <a:lstStyle/>
                    <a:p>
                      <a:pPr algn="ctr"/>
                      <a:r>
                        <a:rPr sz="1000" b="0">
                          <a:solidFill>
                            <a:srgbClr val="9DA9B5"/>
                          </a:solidFill>
                          <a:latin typeface="Arial"/>
                        </a:rPr>
                        <a:t>2.2%</a:t>
                      </a:r>
                    </a:p>
                  </a:txBody>
                  <a:tcPr marL="50800" marR="50800" marT="12700" marB="12700">
                    <a:solidFill>
                      <a:srgbClr val="0F141A"/>
                    </a:solidFill>
                  </a:tcPr>
                </a:tc>
                <a:tc>
                  <a:txBody>
                    <a:bodyPr/>
                    <a:lstStyle/>
                    <a:p>
                      <a:pPr algn="ctr"/>
                      <a:r>
                        <a:rPr sz="1000" b="0">
                          <a:solidFill>
                            <a:srgbClr val="9DA9B5"/>
                          </a:solidFill>
                          <a:latin typeface="Arial"/>
                        </a:rPr>
                        <a:t>2.0%</a:t>
                      </a:r>
                    </a:p>
                  </a:txBody>
                  <a:tcPr marL="50800" marR="50800" marT="12700" marB="12700">
                    <a:solidFill>
                      <a:srgbClr val="0F141A"/>
                    </a:solidFill>
                  </a:tcPr>
                </a:tc>
              </a:tr>
              <a:tr h="310896">
                <a:tc>
                  <a:txBody>
                    <a:bodyPr/>
                    <a:lstStyle/>
                    <a:p>
                      <a:pPr algn="l"/>
                      <a:r>
                        <a:rPr sz="1000" b="0">
                          <a:solidFill>
                            <a:srgbClr val="ECEFF3"/>
                          </a:solidFill>
                          <a:latin typeface="Arial"/>
                        </a:rPr>
                        <a:t>False-positive rate</a:t>
                      </a:r>
                    </a:p>
                  </a:txBody>
                  <a:tcPr marL="50800" marR="50800" marT="12700" marB="12700">
                    <a:solidFill>
                      <a:srgbClr val="0F141A"/>
                    </a:solidFill>
                  </a:tcPr>
                </a:tc>
                <a:tc>
                  <a:txBody>
                    <a:bodyPr/>
                    <a:lstStyle/>
                    <a:p>
                      <a:pPr algn="ctr"/>
                      <a:r>
                        <a:rPr sz="1000" b="0">
                          <a:solidFill>
                            <a:srgbClr val="9DA9B5"/>
                          </a:solidFill>
                          <a:latin typeface="Arial"/>
                        </a:rPr>
                        <a:t>1.5%</a:t>
                      </a:r>
                    </a:p>
                  </a:txBody>
                  <a:tcPr marL="50800" marR="50800" marT="12700" marB="12700">
                    <a:solidFill>
                      <a:srgbClr val="0F141A"/>
                    </a:solidFill>
                  </a:tcPr>
                </a:tc>
                <a:tc>
                  <a:txBody>
                    <a:bodyPr/>
                    <a:lstStyle/>
                    <a:p>
                      <a:pPr algn="ctr"/>
                      <a:r>
                        <a:rPr sz="1000" b="0">
                          <a:solidFill>
                            <a:srgbClr val="9DA9B5"/>
                          </a:solidFill>
                          <a:latin typeface="Arial"/>
                        </a:rPr>
                        <a:t>1.5%</a:t>
                      </a:r>
                    </a:p>
                  </a:txBody>
                  <a:tcPr marL="50800" marR="50800" marT="12700" marB="12700">
                    <a:solidFill>
                      <a:srgbClr val="0F141A"/>
                    </a:solidFill>
                  </a:tcPr>
                </a:tc>
              </a:tr>
              <a:tr h="310896">
                <a:tc>
                  <a:txBody>
                    <a:bodyPr/>
                    <a:lstStyle/>
                    <a:p>
                      <a:pPr algn="l"/>
                      <a:r>
                        <a:rPr sz="1000" b="0">
                          <a:solidFill>
                            <a:srgbClr val="ECEFF3"/>
                          </a:solidFill>
                          <a:latin typeface="Arial"/>
                        </a:rPr>
                        <a:t>PPV of recall</a:t>
                      </a:r>
                    </a:p>
                  </a:txBody>
                  <a:tcPr marL="50800" marR="50800" marT="12700" marB="12700">
                    <a:solidFill>
                      <a:srgbClr val="0F141A"/>
                    </a:solidFill>
                  </a:tcPr>
                </a:tc>
                <a:tc>
                  <a:txBody>
                    <a:bodyPr/>
                    <a:lstStyle/>
                    <a:p>
                      <a:pPr algn="ctr"/>
                      <a:r>
                        <a:rPr sz="1000" b="0">
                          <a:solidFill>
                            <a:srgbClr val="9DA9B5"/>
                          </a:solidFill>
                          <a:latin typeface="Arial"/>
                        </a:rPr>
                        <a:t>28.3%</a:t>
                      </a:r>
                    </a:p>
                  </a:txBody>
                  <a:tcPr marL="50800" marR="50800" marT="12700" marB="12700">
                    <a:solidFill>
                      <a:srgbClr val="0F141A"/>
                    </a:solidFill>
                  </a:tcPr>
                </a:tc>
                <a:tc>
                  <a:txBody>
                    <a:bodyPr/>
                    <a:lstStyle/>
                    <a:p>
                      <a:pPr algn="ctr"/>
                      <a:r>
                        <a:rPr sz="1000" b="0">
                          <a:solidFill>
                            <a:srgbClr val="9DA9B5"/>
                          </a:solidFill>
                          <a:latin typeface="Arial"/>
                        </a:rPr>
                        <a:t>24.8%</a:t>
                      </a:r>
                    </a:p>
                  </a:txBody>
                  <a:tcPr marL="50800" marR="50800" marT="12700" marB="12700">
                    <a:solidFill>
                      <a:srgbClr val="0F141A"/>
                    </a:solidFill>
                  </a:tcPr>
                </a:tc>
              </a:tr>
              <a:tr h="310896">
                <a:tc>
                  <a:txBody>
                    <a:bodyPr/>
                    <a:lstStyle/>
                    <a:p>
                      <a:pPr algn="l"/>
                      <a:r>
                        <a:rPr sz="1000" b="0">
                          <a:solidFill>
                            <a:srgbClr val="ECEFF3"/>
                          </a:solidFill>
                          <a:latin typeface="Arial"/>
                        </a:rPr>
                        <a:t>Invasive cancers</a:t>
                      </a:r>
                    </a:p>
                  </a:txBody>
                  <a:tcPr marL="50800" marR="50800" marT="12700" marB="12700">
                    <a:solidFill>
                      <a:srgbClr val="0F141A"/>
                    </a:solidFill>
                  </a:tcPr>
                </a:tc>
                <a:tc>
                  <a:txBody>
                    <a:bodyPr/>
                    <a:lstStyle/>
                    <a:p>
                      <a:pPr algn="ctr"/>
                      <a:r>
                        <a:rPr sz="1000" b="0">
                          <a:solidFill>
                            <a:srgbClr val="9DA9B5"/>
                          </a:solidFill>
                          <a:latin typeface="Arial"/>
                        </a:rPr>
                        <a:t>75%</a:t>
                      </a:r>
                    </a:p>
                  </a:txBody>
                  <a:tcPr marL="50800" marR="50800" marT="12700" marB="12700">
                    <a:solidFill>
                      <a:srgbClr val="0F141A"/>
                    </a:solidFill>
                  </a:tcPr>
                </a:tc>
                <a:tc>
                  <a:txBody>
                    <a:bodyPr/>
                    <a:lstStyle/>
                    <a:p>
                      <a:pPr algn="ctr"/>
                      <a:r>
                        <a:rPr sz="1000" b="0">
                          <a:solidFill>
                            <a:srgbClr val="9DA9B5"/>
                          </a:solidFill>
                          <a:latin typeface="Arial"/>
                        </a:rPr>
                        <a:t>81%</a:t>
                      </a:r>
                    </a:p>
                  </a:txBody>
                  <a:tcPr marL="50800" marR="50800" marT="12700" marB="12700">
                    <a:solidFill>
                      <a:srgbClr val="0F141A"/>
                    </a:solidFill>
                  </a:tcPr>
                </a:tc>
              </a:tr>
            </a:tbl>
          </a:graphicData>
        </a:graphic>
      </p:graphicFrame>
      <p:sp>
        <p:nvSpPr>
          <p:cNvPr id="8" name="TextBox 7"/>
          <p:cNvSpPr txBox="1"/>
          <p:nvPr/>
        </p:nvSpPr>
        <p:spPr>
          <a:xfrm>
            <a:off x="777240" y="5057394"/>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Lång et al., Lancet Oncology 2023 — above the lowest acceptable detection limit for safety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a:t>
            </a:r>
          </a:p>
        </p:txBody>
      </p:sp>
      <p:sp>
        <p:nvSpPr>
          <p:cNvPr id="4" name="TextBox 3"/>
          <p:cNvSpPr txBox="1"/>
          <p:nvPr/>
        </p:nvSpPr>
        <p:spPr>
          <a:xfrm>
            <a:off x="777240" y="1712468"/>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Data isn't enough to </a:t>
            </a:r>
            <a:r>
              <a:rPr sz="2600" b="0">
                <a:solidFill>
                  <a:srgbClr val="E7AC51"/>
                </a:solidFill>
                <a:latin typeface="Arial"/>
              </a:rPr>
              <a:t>drive adoption.</a:t>
            </a:r>
          </a:p>
        </p:txBody>
      </p:sp>
      <p:sp>
        <p:nvSpPr>
          <p:cNvPr id="5" name="TextBox 4"/>
          <p:cNvSpPr txBox="1"/>
          <p:nvPr/>
        </p:nvSpPr>
        <p:spPr>
          <a:xfrm>
            <a:off x="777240" y="2246884"/>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Enriched cases, lab conditions, no real workflow — CAD had good numbers too. The bar is prospective deployment, and real-world uptake has been slow.</a:t>
            </a:r>
          </a:p>
        </p:txBody>
      </p:sp>
      <p:sp>
        <p:nvSpPr>
          <p:cNvPr id="6" name="TextBox 5"/>
          <p:cNvSpPr txBox="1"/>
          <p:nvPr/>
        </p:nvSpPr>
        <p:spPr>
          <a:xfrm>
            <a:off x="777240" y="2820924"/>
            <a:ext cx="1060704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48%</a:t>
            </a:r>
          </a:p>
        </p:txBody>
      </p:sp>
      <p:sp>
        <p:nvSpPr>
          <p:cNvPr id="7" name="TextBox 6"/>
          <p:cNvSpPr txBox="1"/>
          <p:nvPr/>
        </p:nvSpPr>
        <p:spPr>
          <a:xfrm>
            <a:off x="777240" y="3346704"/>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European radiologists use AI (2024) — up from 20% in 2018</a:t>
            </a:r>
          </a:p>
        </p:txBody>
      </p:sp>
      <p:sp>
        <p:nvSpPr>
          <p:cNvPr id="8" name="TextBox 7"/>
          <p:cNvSpPr txBox="1"/>
          <p:nvPr/>
        </p:nvSpPr>
        <p:spPr>
          <a:xfrm>
            <a:off x="777240" y="3693160"/>
            <a:ext cx="1060704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13.7%</a:t>
            </a:r>
          </a:p>
        </p:txBody>
      </p:sp>
      <p:sp>
        <p:nvSpPr>
          <p:cNvPr id="9" name="TextBox 8"/>
          <p:cNvSpPr txBox="1"/>
          <p:nvPr/>
        </p:nvSpPr>
        <p:spPr>
          <a:xfrm>
            <a:off x="777240" y="421894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of them, for breast imaging — </a:t>
            </a:r>
            <a:r>
              <a:rPr sz="1400" b="0">
                <a:solidFill>
                  <a:srgbClr val="5FB7C9"/>
                </a:solidFill>
                <a:latin typeface="Arial"/>
              </a:rPr>
              <a:t>about 1 in 8</a:t>
            </a:r>
          </a:p>
        </p:txBody>
      </p:sp>
      <p:sp>
        <p:nvSpPr>
          <p:cNvPr id="10" name="TextBox 9"/>
          <p:cNvSpPr txBox="1"/>
          <p:nvPr/>
        </p:nvSpPr>
        <p:spPr>
          <a:xfrm>
            <a:off x="777240" y="4565396"/>
            <a:ext cx="1060704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~2%</a:t>
            </a:r>
          </a:p>
        </p:txBody>
      </p:sp>
      <p:sp>
        <p:nvSpPr>
          <p:cNvPr id="11" name="TextBox 10"/>
          <p:cNvSpPr txBox="1"/>
          <p:nvPr/>
        </p:nvSpPr>
        <p:spPr>
          <a:xfrm>
            <a:off x="777240" y="5091176"/>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of US practices, by one estimate</a:t>
            </a:r>
          </a:p>
        </p:txBody>
      </p:sp>
      <p:sp>
        <p:nvSpPr>
          <p:cNvPr id="12" name="TextBox 11"/>
          <p:cNvSpPr txBox="1"/>
          <p:nvPr/>
        </p:nvSpPr>
        <p:spPr>
          <a:xfrm>
            <a:off x="777240" y="5437632"/>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ESR EuroAIM/EuSoMII survey, Insights Imaging 2024 (n=572) · US estimate: industry report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56408"/>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Era II · 2026</a:t>
            </a:r>
          </a:p>
        </p:txBody>
      </p:sp>
      <p:sp>
        <p:nvSpPr>
          <p:cNvPr id="4" name="TextBox 3"/>
          <p:cNvSpPr txBox="1"/>
          <p:nvPr/>
        </p:nvSpPr>
        <p:spPr>
          <a:xfrm>
            <a:off x="777240" y="3102864"/>
            <a:ext cx="5989320" cy="790447"/>
          </a:xfrm>
          <a:prstGeom prst="rect">
            <a:avLst/>
          </a:prstGeom>
          <a:noFill/>
        </p:spPr>
        <p:txBody>
          <a:bodyPr wrap="square" lIns="25400" rIns="25400" tIns="12700" bIns="12700">
            <a:noAutofit/>
          </a:bodyPr>
          <a:lstStyle/>
          <a:p>
            <a:pPr algn="l">
              <a:lnSpc>
                <a:spcPct val="106000"/>
              </a:lnSpc>
              <a:spcAft>
                <a:spcPts val="400"/>
              </a:spcAft>
            </a:pPr>
            <a:r>
              <a:rPr sz="4400" b="0">
                <a:solidFill>
                  <a:srgbClr val="ECEFF3"/>
                </a:solidFill>
                <a:latin typeface="Arial"/>
              </a:rPr>
              <a:t>The year is </a:t>
            </a:r>
            <a:r>
              <a:rPr sz="4400" b="0">
                <a:solidFill>
                  <a:srgbClr val="E7AC51"/>
                </a:solidFill>
                <a:latin typeface="Arial"/>
              </a:rPr>
              <a:t>2026.</a:t>
            </a:r>
          </a:p>
        </p:txBody>
      </p:sp>
      <p:sp>
        <p:nvSpPr>
          <p:cNvPr id="5" name="TextBox 4"/>
          <p:cNvSpPr txBox="1"/>
          <p:nvPr/>
        </p:nvSpPr>
        <p:spPr>
          <a:xfrm>
            <a:off x="777240" y="3893312"/>
            <a:ext cx="598932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Ten years on, the early promise has been put to the test — </a:t>
            </a:r>
            <a:r>
              <a:rPr sz="1400" b="1">
                <a:solidFill>
                  <a:srgbClr val="ECEFF3"/>
                </a:solidFill>
                <a:latin typeface="Arial"/>
              </a:rPr>
              <a:t>prospectively, in real screening programs.</a:t>
            </a:r>
          </a:p>
        </p:txBody>
      </p:sp>
      <p:pic>
        <p:nvPicPr>
          <p:cNvPr id="6" name="Picture 5" descr="s_fc1c61fe68.png"/>
          <p:cNvPicPr>
            <a:picLocks noChangeAspect="1"/>
          </p:cNvPicPr>
          <p:nvPr/>
        </p:nvPicPr>
        <p:blipFill>
          <a:blip r:embed="rId3"/>
          <a:stretch>
            <a:fillRect/>
          </a:stretch>
        </p:blipFill>
        <p:spPr>
          <a:xfrm>
            <a:off x="6995160" y="2109651"/>
            <a:ext cx="4617720" cy="2638697"/>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 · 2026</a:t>
            </a:r>
          </a:p>
        </p:txBody>
      </p:sp>
      <p:sp>
        <p:nvSpPr>
          <p:cNvPr id="4" name="TextBox 3"/>
          <p:cNvSpPr txBox="1"/>
          <p:nvPr/>
        </p:nvSpPr>
        <p:spPr>
          <a:xfrm>
            <a:off x="777240" y="1164843"/>
            <a:ext cx="1060704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2026: two prospective studies show </a:t>
            </a:r>
            <a:r>
              <a:rPr sz="2600" b="0">
                <a:solidFill>
                  <a:srgbClr val="E7AC51"/>
                </a:solidFill>
                <a:latin typeface="Arial"/>
              </a:rPr>
              <a:t>AI screening works.</a:t>
            </a:r>
          </a:p>
        </p:txBody>
      </p:sp>
      <p:sp>
        <p:nvSpPr>
          <p:cNvPr id="5" name="TextBox 4"/>
          <p:cNvSpPr txBox="1"/>
          <p:nvPr/>
        </p:nvSpPr>
        <p:spPr>
          <a:xfrm>
            <a:off x="777240" y="2069083"/>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MASAI · Sweden · RCT (~105,000)</a:t>
            </a:r>
          </a:p>
        </p:txBody>
      </p:sp>
      <p:sp>
        <p:nvSpPr>
          <p:cNvPr id="6" name="TextBox 5"/>
          <p:cNvSpPr txBox="1"/>
          <p:nvPr/>
        </p:nvSpPr>
        <p:spPr>
          <a:xfrm>
            <a:off x="777240" y="2415539"/>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Interval cancers non-inferior </a:t>
            </a:r>
            <a:r>
              <a:rPr sz="1400" b="0">
                <a:solidFill>
                  <a:srgbClr val="9DA9B5"/>
                </a:solidFill>
                <a:latin typeface="Arial"/>
              </a:rPr>
              <a:t>(ratio 0.88)</a:t>
            </a:r>
          </a:p>
        </p:txBody>
      </p:sp>
      <p:sp>
        <p:nvSpPr>
          <p:cNvPr id="7" name="TextBox 6"/>
          <p:cNvSpPr txBox="1"/>
          <p:nvPr/>
        </p:nvSpPr>
        <p:spPr>
          <a:xfrm>
            <a:off x="777240" y="2761995"/>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Sensitivity </a:t>
            </a:r>
            <a:r>
              <a:rPr sz="1400" b="1">
                <a:solidFill>
                  <a:srgbClr val="ECEFF3"/>
                </a:solidFill>
                <a:latin typeface="Arial"/>
              </a:rPr>
              <a:t>80.5%</a:t>
            </a:r>
            <a:r>
              <a:rPr sz="1400" b="0">
                <a:solidFill>
                  <a:srgbClr val="9DA9B5"/>
                </a:solidFill>
                <a:latin typeface="Arial"/>
              </a:rPr>
              <a:t> vs 73.8% at matched specificity · </a:t>
            </a:r>
            <a:r>
              <a:rPr sz="1400" b="1">
                <a:solidFill>
                  <a:srgbClr val="ECEFF3"/>
                </a:solidFill>
                <a:latin typeface="Arial"/>
              </a:rPr>
              <a:t>~44%</a:t>
            </a:r>
            <a:r>
              <a:rPr sz="1400" b="0">
                <a:solidFill>
                  <a:srgbClr val="9DA9B5"/>
                </a:solidFill>
                <a:latin typeface="Arial"/>
              </a:rPr>
              <a:t> less reading workload.</a:t>
            </a:r>
          </a:p>
        </p:txBody>
      </p:sp>
      <p:sp>
        <p:nvSpPr>
          <p:cNvPr id="8" name="TextBox 7"/>
          <p:cNvSpPr txBox="1"/>
          <p:nvPr/>
        </p:nvSpPr>
        <p:spPr>
          <a:xfrm>
            <a:off x="777240" y="3108452"/>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Gommers/Lång et al., Lancet 2026;407:505–514</a:t>
            </a:r>
          </a:p>
        </p:txBody>
      </p:sp>
      <p:sp>
        <p:nvSpPr>
          <p:cNvPr id="9" name="TextBox 8"/>
          <p:cNvSpPr txBox="1"/>
          <p:nvPr/>
        </p:nvSpPr>
        <p:spPr>
          <a:xfrm>
            <a:off x="777240" y="3454908"/>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5FB7C9"/>
                </a:solidFill>
                <a:latin typeface="Arial"/>
              </a:rPr>
              <a:t>PRAIM · Germany · real-world (463,000)</a:t>
            </a:r>
          </a:p>
        </p:txBody>
      </p:sp>
      <p:sp>
        <p:nvSpPr>
          <p:cNvPr id="10" name="TextBox 9"/>
          <p:cNvSpPr txBox="1"/>
          <p:nvPr/>
        </p:nvSpPr>
        <p:spPr>
          <a:xfrm>
            <a:off x="777240" y="3801363"/>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+17.6%</a:t>
            </a:r>
            <a:r>
              <a:rPr sz="1400" b="0">
                <a:solidFill>
                  <a:srgbClr val="9DA9B5"/>
                </a:solidFill>
                <a:latin typeface="Arial"/>
              </a:rPr>
              <a:t> cancers detected</a:t>
            </a:r>
          </a:p>
        </p:txBody>
      </p:sp>
      <p:sp>
        <p:nvSpPr>
          <p:cNvPr id="11" name="TextBox 10"/>
          <p:cNvSpPr txBox="1"/>
          <p:nvPr/>
        </p:nvSpPr>
        <p:spPr>
          <a:xfrm>
            <a:off x="777240" y="4147819"/>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Recall </a:t>
            </a:r>
            <a:r>
              <a:rPr sz="1400" b="1">
                <a:solidFill>
                  <a:srgbClr val="ECEFF3"/>
                </a:solidFill>
                <a:latin typeface="Arial"/>
              </a:rPr>
              <a:t>non-inferior</a:t>
            </a:r>
            <a:r>
              <a:rPr sz="1400" b="0">
                <a:solidFill>
                  <a:srgbClr val="9DA9B5"/>
                </a:solidFill>
                <a:latin typeface="Arial"/>
              </a:rPr>
              <a:t> · 6.7 vs 5.7 CDR per 1,000 · 12 sites, 119 radiologists.</a:t>
            </a:r>
          </a:p>
        </p:txBody>
      </p:sp>
      <p:sp>
        <p:nvSpPr>
          <p:cNvPr id="12" name="TextBox 11"/>
          <p:cNvSpPr txBox="1"/>
          <p:nvPr/>
        </p:nvSpPr>
        <p:spPr>
          <a:xfrm>
            <a:off x="777240" y="4494275"/>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Eisemann et al., Nature Medicine 2025</a:t>
            </a:r>
          </a:p>
        </p:txBody>
      </p:sp>
      <p:sp>
        <p:nvSpPr>
          <p:cNvPr id="13" name="TextBox 12"/>
          <p:cNvSpPr txBox="1"/>
          <p:nvPr/>
        </p:nvSpPr>
        <p:spPr>
          <a:xfrm>
            <a:off x="777240" y="4840731"/>
            <a:ext cx="10607040" cy="1401064"/>
          </a:xfrm>
          <a:prstGeom prst="rect">
            <a:avLst/>
          </a:prstGeom>
          <a:noFill/>
        </p:spPr>
        <p:txBody>
          <a:bodyPr wrap="square" lIns="25400" rIns="25400" tIns="12700" bIns="12700">
            <a:noAutofit/>
          </a:bodyPr>
          <a:lstStyle/>
          <a:p>
            <a:pPr algn="l">
              <a:lnSpc>
                <a:spcPct val="130000"/>
              </a:lnSpc>
              <a:spcAft>
                <a:spcPts val="400"/>
              </a:spcAft>
            </a:pPr>
            <a:r>
              <a:rPr sz="1900" b="0">
                <a:solidFill>
                  <a:srgbClr val="ECEFF3"/>
                </a:solidFill>
                <a:latin typeface="Arial"/>
              </a:rPr>
              <a:t>A third is underway: </a:t>
            </a:r>
            <a:r>
              <a:rPr sz="1900" b="1">
                <a:solidFill>
                  <a:srgbClr val="ECEFF3"/>
                </a:solidFill>
                <a:latin typeface="Arial"/>
              </a:rPr>
              <a:t>PRISM</a:t>
            </a:r>
            <a:r>
              <a:rPr sz="1900" b="0">
                <a:solidFill>
                  <a:srgbClr val="ECEFF3"/>
                </a:solidFill>
                <a:latin typeface="Arial"/>
              </a:rPr>
              <a:t> — the first large randomized trial of screening AI in the United States (Transpara; $16M PCORI; 7 sites; announced Sept 2025, recruiting). Results are years away, but it tests the </a:t>
            </a:r>
            <a:r>
              <a:rPr sz="1900" b="1">
                <a:solidFill>
                  <a:srgbClr val="ECEFF3"/>
                </a:solidFill>
                <a:latin typeface="Arial"/>
              </a:rPr>
              <a:t>US single-reader workflow</a:t>
            </a:r>
            <a:r>
              <a:rPr sz="1900" b="0">
                <a:solidFill>
                  <a:srgbClr val="ECEFF3"/>
                </a:solidFill>
                <a:latin typeface="Arial"/>
              </a:rPr>
              <a:t> directly.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 · 2026</a:t>
            </a:r>
          </a:p>
        </p:txBody>
      </p:sp>
      <p:sp>
        <p:nvSpPr>
          <p:cNvPr id="4" name="TextBox 3"/>
          <p:cNvSpPr txBox="1"/>
          <p:nvPr/>
        </p:nvSpPr>
        <p:spPr>
          <a:xfrm>
            <a:off x="777240" y="2563368"/>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The averages look strong — but </a:t>
            </a:r>
            <a:r>
              <a:rPr sz="2600" b="0">
                <a:solidFill>
                  <a:srgbClr val="E7AC51"/>
                </a:solidFill>
                <a:latin typeface="Arial"/>
              </a:rPr>
              <a:t>what counts as the truth?</a:t>
            </a:r>
          </a:p>
        </p:txBody>
      </p:sp>
      <p:sp>
        <p:nvSpPr>
          <p:cNvPr id="5" name="TextBox 4"/>
          <p:cNvSpPr txBox="1"/>
          <p:nvPr/>
        </p:nvSpPr>
        <p:spPr>
          <a:xfrm>
            <a:off x="777240" y="3467608"/>
            <a:ext cx="5989320" cy="1029208"/>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The label is not in the image — it comes from follow-up and pathology. Assigning it is a cascade of judgment calls (~163,000 EMBED exams, AUC 0.91), and it sets the denominator for </a:t>
            </a:r>
            <a:r>
              <a:rPr sz="1400" b="1">
                <a:solidFill>
                  <a:srgbClr val="ECEFF3"/>
                </a:solidFill>
                <a:latin typeface="Arial"/>
              </a:rPr>
              <a:t>every downstream number.</a:t>
            </a:r>
          </a:p>
        </p:txBody>
      </p:sp>
      <p:sp>
        <p:nvSpPr>
          <p:cNvPr id="6" name="TextBox 5"/>
          <p:cNvSpPr txBox="1"/>
          <p:nvPr/>
        </p:nvSpPr>
        <p:spPr>
          <a:xfrm>
            <a:off x="777240" y="4496816"/>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 </a:t>
            </a:r>
            <a:r>
              <a:rPr sz="1400" b="0">
                <a:solidFill>
                  <a:srgbClr val="9DA9B5"/>
                </a:solidFill>
                <a:latin typeface="Arial"/>
              </a:rPr>
              <a:t> </a:t>
            </a:r>
          </a:p>
        </p:txBody>
      </p:sp>
      <p:sp>
        <p:nvSpPr>
          <p:cNvPr id="7" name="Rounded Rectangle 6"/>
          <p:cNvSpPr/>
          <p:nvPr/>
        </p:nvSpPr>
        <p:spPr>
          <a:xfrm>
            <a:off x="7087077" y="832104"/>
            <a:ext cx="4433885" cy="5193792"/>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_bee5b46b67.png"/>
          <p:cNvPicPr>
            <a:picLocks noChangeAspect="1"/>
          </p:cNvPicPr>
          <p:nvPr/>
        </p:nvPicPr>
        <p:blipFill>
          <a:blip r:embed="rId3"/>
          <a:stretch>
            <a:fillRect/>
          </a:stretch>
        </p:blipFill>
        <p:spPr>
          <a:xfrm>
            <a:off x="7169373" y="914400"/>
            <a:ext cx="4269293" cy="50292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 · 2026</a:t>
            </a:r>
          </a:p>
        </p:txBody>
      </p:sp>
      <p:sp>
        <p:nvSpPr>
          <p:cNvPr id="4" name="TextBox 3"/>
          <p:cNvSpPr txBox="1"/>
          <p:nvPr/>
        </p:nvSpPr>
        <p:spPr>
          <a:xfrm>
            <a:off x="777240" y="2430018"/>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Performance across </a:t>
            </a:r>
            <a:r>
              <a:rPr sz="2600" b="0">
                <a:solidFill>
                  <a:srgbClr val="E7AC51"/>
                </a:solidFill>
                <a:latin typeface="Arial"/>
              </a:rPr>
              <a:t>outcomes and cancer types.</a:t>
            </a:r>
          </a:p>
        </p:txBody>
      </p:sp>
      <p:sp>
        <p:nvSpPr>
          <p:cNvPr id="5" name="TextBox 4"/>
          <p:cNvSpPr txBox="1"/>
          <p:nvPr/>
        </p:nvSpPr>
        <p:spPr>
          <a:xfrm>
            <a:off x="777240" y="3334258"/>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 </a:t>
            </a:r>
            <a:r>
              <a:rPr sz="1400" b="0">
                <a:solidFill>
                  <a:srgbClr val="9DA9B5"/>
                </a:solidFill>
                <a:latin typeface="Arial"/>
              </a:rPr>
              <a:t> </a:t>
            </a:r>
          </a:p>
        </p:txBody>
      </p:sp>
      <p:sp>
        <p:nvSpPr>
          <p:cNvPr id="6" name="TextBox 5"/>
          <p:cNvSpPr txBox="1"/>
          <p:nvPr/>
        </p:nvSpPr>
        <p:spPr>
          <a:xfrm>
            <a:off x="777240" y="3680713"/>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By clinical outcome (Fig. 2)</a:t>
            </a:r>
          </a:p>
        </p:txBody>
      </p:sp>
      <p:sp>
        <p:nvSpPr>
          <p:cNvPr id="7" name="TextBox 6"/>
          <p:cNvSpPr txBox="1"/>
          <p:nvPr/>
        </p:nvSpPr>
        <p:spPr>
          <a:xfrm>
            <a:off x="777240" y="4027169"/>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 </a:t>
            </a:r>
            <a:r>
              <a:rPr sz="1400" b="0">
                <a:solidFill>
                  <a:srgbClr val="9DA9B5"/>
                </a:solidFill>
                <a:latin typeface="Arial"/>
              </a:rPr>
              <a:t> </a:t>
            </a:r>
          </a:p>
        </p:txBody>
      </p:sp>
      <p:sp>
        <p:nvSpPr>
          <p:cNvPr id="8" name="TextBox 7"/>
          <p:cNvSpPr txBox="1"/>
          <p:nvPr/>
        </p:nvSpPr>
        <p:spPr>
          <a:xfrm>
            <a:off x="777240" y="4373625"/>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By pathology (Fig. 3)</a:t>
            </a:r>
          </a:p>
        </p:txBody>
      </p:sp>
      <p:sp>
        <p:nvSpPr>
          <p:cNvPr id="9" name="TextBox 8"/>
          <p:cNvSpPr txBox="1"/>
          <p:nvPr/>
        </p:nvSpPr>
        <p:spPr>
          <a:xfrm>
            <a:off x="777240" y="4720081"/>
            <a:ext cx="598932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[your group], Nat Commun 2026 (DOI 10.1038/s41467-026-70637-3), Figs. 2–3.</a:t>
            </a:r>
          </a:p>
        </p:txBody>
      </p:sp>
      <p:sp>
        <p:nvSpPr>
          <p:cNvPr id="10" name="Rounded Rectangle 9"/>
          <p:cNvSpPr/>
          <p:nvPr/>
        </p:nvSpPr>
        <p:spPr>
          <a:xfrm>
            <a:off x="6912864" y="925361"/>
            <a:ext cx="4782312" cy="5007277"/>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_f7c7ba6b41.png"/>
          <p:cNvPicPr>
            <a:picLocks noChangeAspect="1"/>
          </p:cNvPicPr>
          <p:nvPr/>
        </p:nvPicPr>
        <p:blipFill>
          <a:blip r:embed="rId3"/>
          <a:stretch>
            <a:fillRect/>
          </a:stretch>
        </p:blipFill>
        <p:spPr>
          <a:xfrm>
            <a:off x="6995160" y="1007657"/>
            <a:ext cx="4617720" cy="4842685"/>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 · 2026</a:t>
            </a:r>
          </a:p>
        </p:txBody>
      </p:sp>
      <p:sp>
        <p:nvSpPr>
          <p:cNvPr id="4" name="TextBox 3"/>
          <p:cNvSpPr txBox="1"/>
          <p:nvPr/>
        </p:nvSpPr>
        <p:spPr>
          <a:xfrm>
            <a:off x="777240" y="2677160"/>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Performance across </a:t>
            </a:r>
            <a:r>
              <a:rPr sz="2600" b="0">
                <a:solidFill>
                  <a:srgbClr val="E7AC51"/>
                </a:solidFill>
                <a:latin typeface="Arial"/>
              </a:rPr>
              <a:t>imaging findings.</a:t>
            </a:r>
          </a:p>
        </p:txBody>
      </p:sp>
      <p:sp>
        <p:nvSpPr>
          <p:cNvPr id="5" name="TextBox 4"/>
          <p:cNvSpPr txBox="1"/>
          <p:nvPr/>
        </p:nvSpPr>
        <p:spPr>
          <a:xfrm>
            <a:off x="777240" y="3581400"/>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 </a:t>
            </a:r>
            <a:r>
              <a:rPr sz="1400" b="0">
                <a:solidFill>
                  <a:srgbClr val="9DA9B5"/>
                </a:solidFill>
                <a:latin typeface="Arial"/>
              </a:rPr>
              <a:t> </a:t>
            </a:r>
          </a:p>
        </p:txBody>
      </p:sp>
      <p:sp>
        <p:nvSpPr>
          <p:cNvPr id="6" name="TextBox 5"/>
          <p:cNvSpPr txBox="1"/>
          <p:nvPr/>
        </p:nvSpPr>
        <p:spPr>
          <a:xfrm>
            <a:off x="777240" y="3927856"/>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Exam-level model-score distributions by imaging feature, across clinical outcome. </a:t>
            </a:r>
            <a:r>
              <a:rPr sz="1400" b="1">
                <a:solidFill>
                  <a:srgbClr val="ECEFF3"/>
                </a:solidFill>
                <a:latin typeface="Arial"/>
              </a:rPr>
              <a:t>[your group], Nat Commun 2026 (DOI 10.1038/s41467-026-70637-3), Fig. 6.</a:t>
            </a:r>
          </a:p>
        </p:txBody>
      </p:sp>
      <p:sp>
        <p:nvSpPr>
          <p:cNvPr id="7" name="Rounded Rectangle 6"/>
          <p:cNvSpPr/>
          <p:nvPr/>
        </p:nvSpPr>
        <p:spPr>
          <a:xfrm>
            <a:off x="6912864" y="1769439"/>
            <a:ext cx="4782312" cy="3319121"/>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_59aec28596.png"/>
          <p:cNvPicPr>
            <a:picLocks noChangeAspect="1"/>
          </p:cNvPicPr>
          <p:nvPr/>
        </p:nvPicPr>
        <p:blipFill>
          <a:blip r:embed="rId3"/>
          <a:stretch>
            <a:fillRect/>
          </a:stretch>
        </p:blipFill>
        <p:spPr>
          <a:xfrm>
            <a:off x="6995160" y="1851735"/>
            <a:ext cx="4617720" cy="3154529"/>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 · 2026 · NOT ONLY BREAST</a:t>
            </a:r>
          </a:p>
        </p:txBody>
      </p:sp>
      <p:sp>
        <p:nvSpPr>
          <p:cNvPr id="4" name="TextBox 3"/>
          <p:cNvSpPr txBox="1"/>
          <p:nvPr/>
        </p:nvSpPr>
        <p:spPr>
          <a:xfrm>
            <a:off x="777240" y="1078992"/>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Head CT: </a:t>
            </a:r>
            <a:r>
              <a:rPr sz="2600" b="0">
                <a:solidFill>
                  <a:srgbClr val="E7AC51"/>
                </a:solidFill>
                <a:latin typeface="Arial"/>
              </a:rPr>
              <a:t>intracranial hemorrhage.</a:t>
            </a:r>
          </a:p>
        </p:txBody>
      </p:sp>
      <p:sp>
        <p:nvSpPr>
          <p:cNvPr id="5" name="TextBox 4"/>
          <p:cNvSpPr txBox="1"/>
          <p:nvPr/>
        </p:nvSpPr>
        <p:spPr>
          <a:xfrm>
            <a:off x="777240" y="1613408"/>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 commercial ICH detector looked strong overall — but sensitivity </a:t>
            </a:r>
            <a:r>
              <a:rPr sz="1400" b="1">
                <a:solidFill>
                  <a:srgbClr val="ECEFF3"/>
                </a:solidFill>
                <a:latin typeface="Arial"/>
              </a:rPr>
              <a:t>collapsed for subacute and chronic</a:t>
            </a:r>
            <a:r>
              <a:rPr sz="1400" b="0">
                <a:solidFill>
                  <a:srgbClr val="9DA9B5"/>
                </a:solidFill>
                <a:latin typeface="Arial"/>
              </a:rPr>
              <a:t> bleeds, and fell in the </a:t>
            </a:r>
            <a:r>
              <a:rPr sz="1400" b="1">
                <a:solidFill>
                  <a:srgbClr val="ECEFF3"/>
                </a:solidFill>
                <a:latin typeface="Arial"/>
              </a:rPr>
              <a:t>outpatient</a:t>
            </a:r>
            <a:r>
              <a:rPr sz="1400" b="0">
                <a:solidFill>
                  <a:srgbClr val="9DA9B5"/>
                </a:solidFill>
                <a:latin typeface="Arial"/>
              </a:rPr>
              <a:t> setting.</a:t>
            </a:r>
          </a:p>
        </p:txBody>
      </p:sp>
      <p:sp>
        <p:nvSpPr>
          <p:cNvPr id="6" name="TextBox 5"/>
          <p:cNvSpPr txBox="1"/>
          <p:nvPr/>
        </p:nvSpPr>
        <p:spPr>
          <a:xfrm>
            <a:off x="777240" y="2187448"/>
            <a:ext cx="1060704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82.2%</a:t>
            </a:r>
          </a:p>
        </p:txBody>
      </p:sp>
      <p:sp>
        <p:nvSpPr>
          <p:cNvPr id="7" name="TextBox 6"/>
          <p:cNvSpPr txBox="1"/>
          <p:nvPr/>
        </p:nvSpPr>
        <p:spPr>
          <a:xfrm>
            <a:off x="777240" y="2713228"/>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Overall sensitivity</a:t>
            </a:r>
          </a:p>
        </p:txBody>
      </p:sp>
      <p:sp>
        <p:nvSpPr>
          <p:cNvPr id="8" name="TextBox 7"/>
          <p:cNvSpPr txBox="1"/>
          <p:nvPr/>
        </p:nvSpPr>
        <p:spPr>
          <a:xfrm>
            <a:off x="777240" y="3059684"/>
            <a:ext cx="1060704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D9785B"/>
                </a:solidFill>
                <a:latin typeface="Arial"/>
              </a:rPr>
              <a:t>45.5%</a:t>
            </a:r>
          </a:p>
        </p:txBody>
      </p:sp>
      <p:sp>
        <p:nvSpPr>
          <p:cNvPr id="9" name="TextBox 8"/>
          <p:cNvSpPr txBox="1"/>
          <p:nvPr/>
        </p:nvSpPr>
        <p:spPr>
          <a:xfrm>
            <a:off x="777240" y="3585464"/>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Subacute bleeds</a:t>
            </a:r>
          </a:p>
        </p:txBody>
      </p:sp>
      <p:sp>
        <p:nvSpPr>
          <p:cNvPr id="10" name="TextBox 9"/>
          <p:cNvSpPr txBox="1"/>
          <p:nvPr/>
        </p:nvSpPr>
        <p:spPr>
          <a:xfrm>
            <a:off x="777240" y="3931920"/>
            <a:ext cx="1060704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D9785B"/>
                </a:solidFill>
                <a:latin typeface="Arial"/>
              </a:rPr>
              <a:t>54.8%</a:t>
            </a:r>
          </a:p>
        </p:txBody>
      </p:sp>
      <p:sp>
        <p:nvSpPr>
          <p:cNvPr id="11" name="TextBox 10"/>
          <p:cNvSpPr txBox="1"/>
          <p:nvPr/>
        </p:nvSpPr>
        <p:spPr>
          <a:xfrm>
            <a:off x="777240" y="445770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Chronic bleeds</a:t>
            </a:r>
          </a:p>
        </p:txBody>
      </p:sp>
      <p:sp>
        <p:nvSpPr>
          <p:cNvPr id="12" name="TextBox 11"/>
          <p:cNvSpPr txBox="1"/>
          <p:nvPr/>
        </p:nvSpPr>
        <p:spPr>
          <a:xfrm>
            <a:off x="777240" y="4804156"/>
            <a:ext cx="1060704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5FB7C9"/>
                </a:solidFill>
                <a:latin typeface="Arial"/>
              </a:rPr>
              <a:t>72.2%</a:t>
            </a:r>
          </a:p>
        </p:txBody>
      </p:sp>
      <p:sp>
        <p:nvSpPr>
          <p:cNvPr id="13" name="TextBox 12"/>
          <p:cNvSpPr txBox="1"/>
          <p:nvPr/>
        </p:nvSpPr>
        <p:spPr>
          <a:xfrm>
            <a:off x="777240" y="5329936"/>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Outpatient setting</a:t>
            </a:r>
          </a:p>
        </p:txBody>
      </p:sp>
      <p:sp>
        <p:nvSpPr>
          <p:cNvPr id="14" name="TextBox 13"/>
          <p:cNvSpPr txBox="1"/>
          <p:nvPr/>
        </p:nvSpPr>
        <p:spPr>
          <a:xfrm>
            <a:off x="777240" y="5676392"/>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[your group], npj Digital Medicine 2025.</a:t>
            </a:r>
          </a:p>
        </p:txBody>
      </p:sp>
      <p:sp>
        <p:nvSpPr>
          <p:cNvPr id="15" name="TextBox 14"/>
          <p:cNvSpPr txBox="1"/>
          <p:nvPr/>
        </p:nvSpPr>
        <p:spPr>
          <a:xfrm>
            <a:off x="777240" y="6022847"/>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GIF</a:t>
            </a:r>
          </a:p>
        </p:txBody>
      </p:sp>
      <p:sp>
        <p:nvSpPr>
          <p:cNvPr id="16" name="TextBox 15"/>
          <p:cNvSpPr txBox="1"/>
          <p:nvPr/>
        </p:nvSpPr>
        <p:spPr>
          <a:xfrm>
            <a:off x="777240" y="6369303"/>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 to be added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 · 2026 · NOT ONLY BREAST</a:t>
            </a:r>
          </a:p>
        </p:txBody>
      </p:sp>
      <p:sp>
        <p:nvSpPr>
          <p:cNvPr id="4" name="TextBox 3"/>
          <p:cNvSpPr txBox="1"/>
          <p:nvPr/>
        </p:nvSpPr>
        <p:spPr>
          <a:xfrm>
            <a:off x="777240" y="2639568"/>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Chest CT: </a:t>
            </a:r>
            <a:r>
              <a:rPr sz="2600" b="0">
                <a:solidFill>
                  <a:srgbClr val="E7AC51"/>
                </a:solidFill>
                <a:latin typeface="Arial"/>
              </a:rPr>
              <a:t>pulmonary embolism.</a:t>
            </a:r>
          </a:p>
        </p:txBody>
      </p:sp>
      <p:sp>
        <p:nvSpPr>
          <p:cNvPr id="5" name="TextBox 4"/>
          <p:cNvSpPr txBox="1"/>
          <p:nvPr/>
        </p:nvSpPr>
        <p:spPr>
          <a:xfrm>
            <a:off x="777240" y="3543808"/>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An FDA-cleared model (</a:t>
            </a:r>
            <a:r>
              <a:rPr sz="1400" b="1">
                <a:solidFill>
                  <a:srgbClr val="ECEFF3"/>
                </a:solidFill>
                <a:latin typeface="Arial"/>
              </a:rPr>
              <a:t>510(k): 94.9% sens</a:t>
            </a:r>
            <a:r>
              <a:rPr sz="1400" b="0">
                <a:solidFill>
                  <a:srgbClr val="9DA9B5"/>
                </a:solidFill>
                <a:latin typeface="Arial"/>
              </a:rPr>
              <a:t>) on two years of real-world CTPA: </a:t>
            </a:r>
            <a:r>
              <a:rPr sz="1400" b="1">
                <a:solidFill>
                  <a:srgbClr val="ECEFF3"/>
                </a:solidFill>
                <a:latin typeface="Arial"/>
              </a:rPr>
              <a:t>86.8%</a:t>
            </a:r>
            <a:r>
              <a:rPr sz="1400" b="0">
                <a:solidFill>
                  <a:srgbClr val="9DA9B5"/>
                </a:solidFill>
                <a:latin typeface="Arial"/>
              </a:rPr>
              <a:t> overall — but far lower for non-acute, small (subsegmental), left-sided, and </a:t>
            </a:r>
            <a:r>
              <a:rPr sz="1400" b="1">
                <a:solidFill>
                  <a:srgbClr val="ECEFF3"/>
                </a:solidFill>
                <a:latin typeface="Arial"/>
              </a:rPr>
              <a:t>incidental</a:t>
            </a:r>
            <a:r>
              <a:rPr sz="1400" b="0">
                <a:solidFill>
                  <a:srgbClr val="9DA9B5"/>
                </a:solidFill>
                <a:latin typeface="Arial"/>
              </a:rPr>
              <a:t> clots.</a:t>
            </a:r>
          </a:p>
        </p:txBody>
      </p:sp>
      <p:sp>
        <p:nvSpPr>
          <p:cNvPr id="6" name="TextBox 5"/>
          <p:cNvSpPr txBox="1"/>
          <p:nvPr/>
        </p:nvSpPr>
        <p:spPr>
          <a:xfrm>
            <a:off x="777240" y="4345432"/>
            <a:ext cx="5989320" cy="4216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Sensitivity vs FDA 510(k) clearance. [your group], unpublished — Aidoc PE / iPE triage evaluation, 30,678 CTPA + 37,272 routine CT (2023–2025).</a:t>
            </a:r>
          </a:p>
        </p:txBody>
      </p:sp>
      <p:pic>
        <p:nvPicPr>
          <p:cNvPr id="7" name="Picture 6" descr="s_f751375401.png"/>
          <p:cNvPicPr>
            <a:picLocks noChangeAspect="1"/>
          </p:cNvPicPr>
          <p:nvPr/>
        </p:nvPicPr>
        <p:blipFill>
          <a:blip r:embed="rId3"/>
          <a:stretch>
            <a:fillRect/>
          </a:stretch>
        </p:blipFill>
        <p:spPr>
          <a:xfrm>
            <a:off x="6995160" y="2498008"/>
            <a:ext cx="4617720" cy="1861983"/>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 · 2026 · OPEN DATA</a:t>
            </a:r>
          </a:p>
        </p:txBody>
      </p:sp>
      <p:sp>
        <p:nvSpPr>
          <p:cNvPr id="4" name="TextBox 3"/>
          <p:cNvSpPr txBox="1"/>
          <p:nvPr/>
        </p:nvSpPr>
        <p:spPr>
          <a:xfrm>
            <a:off x="777240" y="2030221"/>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Emory Breast Imaging Dataset </a:t>
            </a:r>
            <a:r>
              <a:rPr sz="2600" b="0">
                <a:solidFill>
                  <a:srgbClr val="E7AC51"/>
                </a:solidFill>
                <a:latin typeface="Arial"/>
              </a:rPr>
              <a:t>(EMBED).</a:t>
            </a:r>
          </a:p>
        </p:txBody>
      </p:sp>
      <p:sp>
        <p:nvSpPr>
          <p:cNvPr id="5" name="TextBox 4"/>
          <p:cNvSpPr txBox="1"/>
          <p:nvPr/>
        </p:nvSpPr>
        <p:spPr>
          <a:xfrm>
            <a:off x="777240" y="2564637"/>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Free to researchers through the </a:t>
            </a:r>
            <a:r>
              <a:rPr sz="1400" b="1">
                <a:solidFill>
                  <a:srgbClr val="ECEFF3"/>
                </a:solidFill>
                <a:latin typeface="Arial"/>
              </a:rPr>
              <a:t>AWS Open Data Program.</a:t>
            </a:r>
          </a:p>
        </p:txBody>
      </p:sp>
      <p:sp>
        <p:nvSpPr>
          <p:cNvPr id="6" name="TextBox 5"/>
          <p:cNvSpPr txBox="1"/>
          <p:nvPr/>
        </p:nvSpPr>
        <p:spPr>
          <a:xfrm>
            <a:off x="777240" y="2911094"/>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EMBED v2 — in progress</a:t>
            </a:r>
          </a:p>
        </p:txBody>
      </p:sp>
      <p:sp>
        <p:nvSpPr>
          <p:cNvPr id="7" name="Rounded Rectangle 6"/>
          <p:cNvSpPr/>
          <p:nvPr/>
        </p:nvSpPr>
        <p:spPr>
          <a:xfrm>
            <a:off x="777240" y="3257550"/>
            <a:ext cx="1741233"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~300,000 </a:t>
            </a:r>
            <a:r>
              <a:rPr sz="1100">
                <a:solidFill>
                  <a:srgbClr val="ECEFF3"/>
                </a:solidFill>
                <a:latin typeface="Consolas"/>
              </a:rPr>
              <a:t>patients</a:t>
            </a:r>
          </a:p>
        </p:txBody>
      </p:sp>
      <p:sp>
        <p:nvSpPr>
          <p:cNvPr id="8" name="Rectangle 7"/>
          <p:cNvSpPr/>
          <p:nvPr/>
        </p:nvSpPr>
        <p:spPr>
          <a:xfrm>
            <a:off x="777240" y="325755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609913" y="3257550"/>
            <a:ext cx="2919158"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~1M </a:t>
            </a:r>
            <a:r>
              <a:rPr sz="1100">
                <a:solidFill>
                  <a:srgbClr val="ECEFF3"/>
                </a:solidFill>
                <a:latin typeface="Consolas"/>
              </a:rPr>
              <a:t>exams</a:t>
            </a:r>
            <a:r>
              <a:rPr sz="1100">
                <a:solidFill>
                  <a:srgbClr val="ECEFF3"/>
                </a:solidFill>
                <a:latin typeface="Consolas"/>
              </a:rPr>
              <a:t> (2D · DBT · US · MRI)</a:t>
            </a:r>
          </a:p>
        </p:txBody>
      </p:sp>
      <p:sp>
        <p:nvSpPr>
          <p:cNvPr id="10" name="Rectangle 9"/>
          <p:cNvSpPr/>
          <p:nvPr/>
        </p:nvSpPr>
        <p:spPr>
          <a:xfrm>
            <a:off x="2609913" y="325755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620512" y="3257550"/>
            <a:ext cx="1741233"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Free-text </a:t>
            </a:r>
            <a:r>
              <a:rPr sz="1100">
                <a:solidFill>
                  <a:srgbClr val="ECEFF3"/>
                </a:solidFill>
                <a:latin typeface="Consolas"/>
              </a:rPr>
              <a:t>reports</a:t>
            </a:r>
          </a:p>
        </p:txBody>
      </p:sp>
      <p:sp>
        <p:nvSpPr>
          <p:cNvPr id="12" name="Rectangle 11"/>
          <p:cNvSpPr/>
          <p:nvPr/>
        </p:nvSpPr>
        <p:spPr>
          <a:xfrm>
            <a:off x="5620512" y="325755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53185" y="3257550"/>
            <a:ext cx="1741233"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Patient </a:t>
            </a:r>
            <a:r>
              <a:rPr sz="1100">
                <a:solidFill>
                  <a:srgbClr val="ECEFF3"/>
                </a:solidFill>
                <a:latin typeface="Consolas"/>
              </a:rPr>
              <a:t>risk data</a:t>
            </a:r>
          </a:p>
        </p:txBody>
      </p:sp>
      <p:sp>
        <p:nvSpPr>
          <p:cNvPr id="14" name="Rectangle 13"/>
          <p:cNvSpPr/>
          <p:nvPr/>
        </p:nvSpPr>
        <p:spPr>
          <a:xfrm>
            <a:off x="7453185" y="325755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3696462"/>
            <a:ext cx="2666746"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Outcomes </a:t>
            </a:r>
            <a:r>
              <a:rPr sz="1100">
                <a:solidFill>
                  <a:srgbClr val="ECEFF3"/>
                </a:solidFill>
                <a:latin typeface="Consolas"/>
              </a:rPr>
              <a:t>registry-harmonized</a:t>
            </a:r>
          </a:p>
        </p:txBody>
      </p:sp>
      <p:sp>
        <p:nvSpPr>
          <p:cNvPr id="16" name="Rectangle 15"/>
          <p:cNvSpPr/>
          <p:nvPr/>
        </p:nvSpPr>
        <p:spPr>
          <a:xfrm>
            <a:off x="777240" y="3696462"/>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190238"/>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v1: [your group], Radiology: Artificial Intelligence 2023 (Fig. 1). — aws.amazon.com/opendata</a:t>
            </a:r>
          </a:p>
        </p:txBody>
      </p:sp>
      <p:sp>
        <p:nvSpPr>
          <p:cNvPr id="18" name="TextBox 17"/>
          <p:cNvSpPr txBox="1"/>
          <p:nvPr/>
        </p:nvSpPr>
        <p:spPr>
          <a:xfrm>
            <a:off x="777240" y="4446778"/>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Map — EMBED users by country</a:t>
            </a:r>
          </a:p>
        </p:txBody>
      </p:sp>
      <p:sp>
        <p:nvSpPr>
          <p:cNvPr id="19" name="TextBox 18"/>
          <p:cNvSpPr txBox="1"/>
          <p:nvPr/>
        </p:nvSpPr>
        <p:spPr>
          <a:xfrm>
            <a:off x="777240" y="4793234"/>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 drop in PNG ]</a:t>
            </a:r>
          </a:p>
        </p:txBody>
      </p:sp>
      <p:sp>
        <p:nvSpPr>
          <p:cNvPr id="20" name="TextBox 19"/>
          <p:cNvSpPr txBox="1"/>
          <p:nvPr/>
        </p:nvSpPr>
        <p:spPr>
          <a:xfrm>
            <a:off x="777240" y="513969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opt: EMBED v1 schematic — Radiology: AI, Fig. 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 · 2026 → ERA III</a:t>
            </a:r>
          </a:p>
        </p:txBody>
      </p:sp>
      <p:sp>
        <p:nvSpPr>
          <p:cNvPr id="4" name="TextBox 3"/>
          <p:cNvSpPr txBox="1"/>
          <p:nvPr/>
        </p:nvSpPr>
        <p:spPr>
          <a:xfrm>
            <a:off x="777240" y="2733802"/>
            <a:ext cx="10607040" cy="591312"/>
          </a:xfrm>
          <a:prstGeom prst="rect">
            <a:avLst/>
          </a:prstGeom>
          <a:noFill/>
        </p:spPr>
        <p:txBody>
          <a:bodyPr wrap="square" lIns="25400" rIns="25400" tIns="12700" bIns="12700">
            <a:noAutofit/>
          </a:bodyPr>
          <a:lstStyle/>
          <a:p>
            <a:pPr algn="l">
              <a:lnSpc>
                <a:spcPct val="106000"/>
              </a:lnSpc>
              <a:spcAft>
                <a:spcPts val="400"/>
              </a:spcAft>
            </a:pPr>
            <a:r>
              <a:rPr sz="3000" b="0">
                <a:solidFill>
                  <a:srgbClr val="ECEFF3"/>
                </a:solidFill>
                <a:latin typeface="Arial"/>
              </a:rPr>
              <a:t>We are at the </a:t>
            </a:r>
            <a:r>
              <a:rPr sz="3000" b="0">
                <a:solidFill>
                  <a:srgbClr val="E7AC51"/>
                </a:solidFill>
                <a:latin typeface="Arial"/>
              </a:rPr>
              <a:t>brink of Era III.</a:t>
            </a:r>
          </a:p>
        </p:txBody>
      </p:sp>
      <p:sp>
        <p:nvSpPr>
          <p:cNvPr id="5" name="TextBox 4"/>
          <p:cNvSpPr txBox="1"/>
          <p:nvPr/>
        </p:nvSpPr>
        <p:spPr>
          <a:xfrm>
            <a:off x="777240" y="3325114"/>
            <a:ext cx="10607040" cy="773684"/>
          </a:xfrm>
          <a:prstGeom prst="rect">
            <a:avLst/>
          </a:prstGeom>
          <a:noFill/>
        </p:spPr>
        <p:txBody>
          <a:bodyPr wrap="square" lIns="25400" rIns="25400" tIns="12700" bIns="12700">
            <a:noAutofit/>
          </a:bodyPr>
          <a:lstStyle/>
          <a:p>
            <a:pPr algn="l">
              <a:lnSpc>
                <a:spcPct val="130000"/>
              </a:lnSpc>
              <a:spcAft>
                <a:spcPts val="400"/>
              </a:spcAft>
            </a:pPr>
            <a:r>
              <a:rPr sz="1900" b="0">
                <a:solidFill>
                  <a:srgbClr val="ECEFF3"/>
                </a:solidFill>
                <a:latin typeface="Arial"/>
              </a:rPr>
              <a:t>Detection is proven. But the same 2026 image — and the tissue that follows it — already tells us more than </a:t>
            </a:r>
            <a:r>
              <a:rPr sz="1900" b="1">
                <a:solidFill>
                  <a:srgbClr val="ECEFF3"/>
                </a:solidFill>
                <a:latin typeface="Arial"/>
              </a:rPr>
              <a:t>"is there cancer today?"</a:t>
            </a:r>
          </a:p>
        </p:txBody>
      </p:sp>
      <p:sp>
        <p:nvSpPr>
          <p:cNvPr id="6" name="TextBox 5"/>
          <p:cNvSpPr txBox="1"/>
          <p:nvPr/>
        </p:nvSpPr>
        <p:spPr>
          <a:xfrm>
            <a:off x="777240" y="4098798"/>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From one screening mammogram and its biopsy: a </a:t>
            </a:r>
            <a:r>
              <a:rPr sz="1400" b="1">
                <a:solidFill>
                  <a:srgbClr val="ECEFF3"/>
                </a:solidFill>
                <a:latin typeface="Arial"/>
              </a:rPr>
              <a:t>future-risk</a:t>
            </a:r>
            <a:r>
              <a:rPr sz="1400" b="0">
                <a:solidFill>
                  <a:srgbClr val="9DA9B5"/>
                </a:solidFill>
                <a:latin typeface="Arial"/>
              </a:rPr>
              <a:t> estimate, a </a:t>
            </a:r>
            <a:r>
              <a:rPr sz="1400" b="1">
                <a:solidFill>
                  <a:srgbClr val="ECEFF3"/>
                </a:solidFill>
                <a:latin typeface="Arial"/>
              </a:rPr>
              <a:t>cardiovascular</a:t>
            </a:r>
            <a:r>
              <a:rPr sz="1400" b="0">
                <a:solidFill>
                  <a:srgbClr val="9DA9B5"/>
                </a:solidFill>
                <a:latin typeface="Arial"/>
              </a:rPr>
              <a:t> signal, and a </a:t>
            </a:r>
            <a:r>
              <a:rPr sz="1400" b="1">
                <a:solidFill>
                  <a:srgbClr val="ECEFF3"/>
                </a:solidFill>
                <a:latin typeface="Arial"/>
              </a:rPr>
              <a:t>molecular recurrence</a:t>
            </a:r>
            <a:r>
              <a:rPr sz="1400" b="0">
                <a:solidFill>
                  <a:srgbClr val="9DA9B5"/>
                </a:solidFill>
                <a:latin typeface="Arial"/>
              </a:rPr>
              <a:t> score. The shift from finding the lesion to </a:t>
            </a:r>
            <a:r>
              <a:rPr sz="1400" b="1">
                <a:solidFill>
                  <a:srgbClr val="ECEFF3"/>
                </a:solidFill>
                <a:latin typeface="Arial"/>
              </a:rPr>
              <a:t>characterizing the patient</a:t>
            </a:r>
            <a:r>
              <a:rPr sz="1400" b="0">
                <a:solidFill>
                  <a:srgbClr val="9DA9B5"/>
                </a:solidFill>
                <a:latin typeface="Arial"/>
              </a:rPr>
              <a:t> — and much of it is available now.</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2308098"/>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For 40 years, the only risk signal we could read off the image was </a:t>
            </a:r>
            <a:r>
              <a:rPr sz="1400" b="0">
                <a:solidFill>
                  <a:srgbClr val="E7AC51"/>
                </a:solidFill>
                <a:latin typeface="Arial"/>
              </a:rPr>
              <a:t>density</a:t>
            </a:r>
            <a:r>
              <a:rPr sz="1400" b="0">
                <a:solidFill>
                  <a:srgbClr val="9DA9B5"/>
                </a:solidFill>
                <a:latin typeface="Arial"/>
              </a:rPr>
              <a:t>. The clinical models layered on top — </a:t>
            </a:r>
            <a:r>
              <a:rPr sz="1400" b="0">
                <a:solidFill>
                  <a:srgbClr val="E7AC51"/>
                </a:solidFill>
                <a:latin typeface="Arial"/>
              </a:rPr>
              <a:t>Gail</a:t>
            </a:r>
            <a:r>
              <a:rPr sz="1400" b="0">
                <a:solidFill>
                  <a:srgbClr val="9DA9B5"/>
                </a:solidFill>
                <a:latin typeface="Arial"/>
              </a:rPr>
              <a:t> and </a:t>
            </a:r>
            <a:r>
              <a:rPr sz="1400" b="0">
                <a:solidFill>
                  <a:srgbClr val="E7AC51"/>
                </a:solidFill>
                <a:latin typeface="Arial"/>
              </a:rPr>
              <a:t>Tyrer-Cuzick</a:t>
            </a:r>
            <a:r>
              <a:rPr sz="1400" b="0">
                <a:solidFill>
                  <a:srgbClr val="9DA9B5"/>
                </a:solidFill>
                <a:latin typeface="Arial"/>
              </a:rPr>
              <a:t> — were hardly better than a coin flip.</a:t>
            </a:r>
          </a:p>
        </p:txBody>
      </p:sp>
      <p:sp>
        <p:nvSpPr>
          <p:cNvPr id="5" name="TextBox 4"/>
          <p:cNvSpPr txBox="1"/>
          <p:nvPr/>
        </p:nvSpPr>
        <p:spPr>
          <a:xfrm>
            <a:off x="777240" y="2882138"/>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Gail · Tyrer-Cuzick · BCSC — questionnaire + density models</a:t>
            </a:r>
          </a:p>
        </p:txBody>
      </p:sp>
      <p:sp>
        <p:nvSpPr>
          <p:cNvPr id="6" name="TextBox 5"/>
          <p:cNvSpPr txBox="1"/>
          <p:nvPr/>
        </p:nvSpPr>
        <p:spPr>
          <a:xfrm>
            <a:off x="777240" y="3138677"/>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~0.62</a:t>
            </a:r>
          </a:p>
        </p:txBody>
      </p:sp>
      <p:sp>
        <p:nvSpPr>
          <p:cNvPr id="7" name="TextBox 6"/>
          <p:cNvSpPr txBox="1"/>
          <p:nvPr/>
        </p:nvSpPr>
        <p:spPr>
          <a:xfrm>
            <a:off x="777240" y="3485134"/>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Tyrer-Cuzick v8 · 5-yr AUC</a:t>
            </a:r>
          </a:p>
        </p:txBody>
      </p:sp>
      <p:sp>
        <p:nvSpPr>
          <p:cNvPr id="8" name="TextBox 7"/>
          <p:cNvSpPr txBox="1"/>
          <p:nvPr/>
        </p:nvSpPr>
        <p:spPr>
          <a:xfrm>
            <a:off x="777240" y="3831589"/>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~0.55–0.58</a:t>
            </a:r>
          </a:p>
        </p:txBody>
      </p:sp>
      <p:sp>
        <p:nvSpPr>
          <p:cNvPr id="9" name="TextBox 8"/>
          <p:cNvSpPr txBox="1"/>
          <p:nvPr/>
        </p:nvSpPr>
        <p:spPr>
          <a:xfrm>
            <a:off x="777240" y="4178045"/>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Gail model · 5-yr AUC</a:t>
            </a:r>
          </a:p>
        </p:txBody>
      </p:sp>
      <p:sp>
        <p:nvSpPr>
          <p:cNvPr id="10" name="TextBox 9"/>
          <p:cNvSpPr txBox="1"/>
          <p:nvPr/>
        </p:nvSpPr>
        <p:spPr>
          <a:xfrm>
            <a:off x="777240" y="4524501"/>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Coin flip is 0.50.</a:t>
            </a:r>
          </a:p>
          <a:p>
            <a:pPr algn="l">
              <a:lnSpc>
                <a:spcPct val="128000"/>
              </a:lnSpc>
              <a:spcAft>
                <a:spcPts val="400"/>
              </a:spcAft>
            </a:pPr>
            <a:r>
              <a:rPr sz="1400" b="0">
                <a:solidFill>
                  <a:srgbClr val="9DA9B5"/>
                </a:solidFill>
                <a:latin typeface="Arial"/>
              </a:rPr>
              <a:t>For the woman in front of you, barely above it.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2378964"/>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7AC51"/>
                </a:solidFill>
                <a:latin typeface="Arial"/>
              </a:rPr>
              <a:t>Image-based risk</a:t>
            </a:r>
            <a:r>
              <a:rPr sz="2600" b="0">
                <a:solidFill>
                  <a:srgbClr val="ECEFF3"/>
                </a:solidFill>
                <a:latin typeface="Arial"/>
              </a:rPr>
              <a:t> — Mirai and a de novo FDA clearance.</a:t>
            </a:r>
          </a:p>
        </p:txBody>
      </p:sp>
      <p:sp>
        <p:nvSpPr>
          <p:cNvPr id="5" name="TextBox 4"/>
          <p:cNvSpPr txBox="1"/>
          <p:nvPr/>
        </p:nvSpPr>
        <p:spPr>
          <a:xfrm>
            <a:off x="777240" y="3283204"/>
            <a:ext cx="598932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0.76–0.81</a:t>
            </a:r>
          </a:p>
        </p:txBody>
      </p:sp>
      <p:sp>
        <p:nvSpPr>
          <p:cNvPr id="6" name="TextBox 5"/>
          <p:cNvSpPr txBox="1"/>
          <p:nvPr/>
        </p:nvSpPr>
        <p:spPr>
          <a:xfrm>
            <a:off x="777240" y="3808984"/>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Mirai C-index · 3 countries</a:t>
            </a:r>
          </a:p>
        </p:txBody>
      </p:sp>
      <p:sp>
        <p:nvSpPr>
          <p:cNvPr id="7" name="TextBox 6"/>
          <p:cNvSpPr txBox="1"/>
          <p:nvPr/>
        </p:nvSpPr>
        <p:spPr>
          <a:xfrm>
            <a:off x="777240" y="4155440"/>
            <a:ext cx="598932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&lt; 5 yr</a:t>
            </a:r>
          </a:p>
        </p:txBody>
      </p:sp>
      <p:sp>
        <p:nvSpPr>
          <p:cNvPr id="8" name="TextBox 7"/>
          <p:cNvSpPr txBox="1"/>
          <p:nvPr/>
        </p:nvSpPr>
        <p:spPr>
          <a:xfrm>
            <a:off x="777240" y="4681220"/>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research → cleared → guideline</a:t>
            </a:r>
          </a:p>
        </p:txBody>
      </p:sp>
      <p:pic>
        <p:nvPicPr>
          <p:cNvPr id="9" name="Picture 8" descr="s_39113bbbe0.png"/>
          <p:cNvPicPr>
            <a:picLocks noChangeAspect="1"/>
          </p:cNvPicPr>
          <p:nvPr/>
        </p:nvPicPr>
        <p:blipFill>
          <a:blip r:embed="rId3"/>
          <a:stretch>
            <a:fillRect/>
          </a:stretch>
        </p:blipFill>
        <p:spPr>
          <a:xfrm>
            <a:off x="6995160" y="1697355"/>
            <a:ext cx="4617720" cy="346329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3401822"/>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AsymMirai — </a:t>
            </a:r>
            <a:r>
              <a:rPr sz="1400" b="0">
                <a:solidFill>
                  <a:srgbClr val="E7AC51"/>
                </a:solidFill>
                <a:latin typeface="Arial"/>
              </a:rPr>
              <a:t>an explainable risk model.</a:t>
            </a:r>
          </a:p>
        </p:txBody>
      </p:sp>
      <p:sp>
        <p:nvSpPr>
          <p:cNvPr id="5" name="TextBox 4"/>
          <p:cNvSpPr txBox="1"/>
          <p:nvPr/>
        </p:nvSpPr>
        <p:spPr>
          <a:xfrm>
            <a:off x="777240" y="3748277"/>
            <a:ext cx="5989320" cy="256540"/>
          </a:xfrm>
          <a:prstGeom prst="rect">
            <a:avLst/>
          </a:prstGeom>
          <a:noFill/>
        </p:spPr>
        <p:txBody>
          <a:bodyPr wrap="square" lIns="25400" rIns="25400" tIns="12700" bIns="12700">
            <a:noAutofit/>
          </a:bodyPr>
          <a:lstStyle/>
          <a:p>
            <a:pPr algn="l">
              <a:lnSpc>
                <a:spcPct val="130000"/>
              </a:lnSpc>
              <a:spcAft>
                <a:spcPts val="400"/>
              </a:spcAft>
            </a:pPr>
            <a:r>
              <a:rPr sz="1000" b="1">
                <a:solidFill>
                  <a:srgbClr val="E7AC51"/>
                </a:solidFill>
                <a:latin typeface="Consolas"/>
              </a:rPr>
              <a:t>1-yr AUC 0.79</a:t>
            </a:r>
            <a:r>
              <a:rPr sz="1000" b="0">
                <a:solidFill>
                  <a:srgbClr val="5C6975"/>
                </a:solidFill>
                <a:latin typeface="Consolas"/>
              </a:rPr>
              <a:t> vs Mirai 0.84 · </a:t>
            </a:r>
            <a:r>
              <a:rPr sz="1000" b="1">
                <a:solidFill>
                  <a:srgbClr val="E7AC51"/>
                </a:solidFill>
                <a:latin typeface="Consolas"/>
              </a:rPr>
              <a:t>3-yr AUC 0.92</a:t>
            </a:r>
            <a:r>
              <a:rPr sz="1000" b="0">
                <a:solidFill>
                  <a:srgbClr val="5C6975"/>
                </a:solidFill>
                <a:latin typeface="Consolas"/>
              </a:rPr>
              <a:t> (stable tissue)</a:t>
            </a:r>
          </a:p>
        </p:txBody>
      </p:sp>
      <p:sp>
        <p:nvSpPr>
          <p:cNvPr id="6" name="Rounded Rectangle 5"/>
          <p:cNvSpPr/>
          <p:nvPr/>
        </p:nvSpPr>
        <p:spPr>
          <a:xfrm>
            <a:off x="6912864" y="2004434"/>
            <a:ext cx="4782312" cy="2849130"/>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_a5bc477317.jpg"/>
          <p:cNvPicPr>
            <a:picLocks noChangeAspect="1"/>
          </p:cNvPicPr>
          <p:nvPr/>
        </p:nvPicPr>
        <p:blipFill>
          <a:blip r:embed="rId3"/>
          <a:stretch>
            <a:fillRect/>
          </a:stretch>
        </p:blipFill>
        <p:spPr>
          <a:xfrm>
            <a:off x="6995160" y="2086730"/>
            <a:ext cx="4617720" cy="268453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2454656"/>
            <a:ext cx="5989320" cy="1274064"/>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Breast Arterial Calcification (BAC) as a </a:t>
            </a:r>
            <a:r>
              <a:rPr sz="2600" b="0">
                <a:solidFill>
                  <a:srgbClr val="E7AC51"/>
                </a:solidFill>
                <a:latin typeface="Arial"/>
              </a:rPr>
              <a:t>continuous measurement (mm²).</a:t>
            </a:r>
          </a:p>
        </p:txBody>
      </p:sp>
      <p:sp>
        <p:nvSpPr>
          <p:cNvPr id="5" name="TextBox 4"/>
          <p:cNvSpPr txBox="1"/>
          <p:nvPr/>
        </p:nvSpPr>
        <p:spPr>
          <a:xfrm>
            <a:off x="777240" y="3728719"/>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 transformer segments breast arterial calcification on the routine mammogram and quantifies its area — turning an incidental finding into a </a:t>
            </a:r>
            <a:r>
              <a:rPr sz="1400" b="1">
                <a:solidFill>
                  <a:srgbClr val="ECEFF3"/>
                </a:solidFill>
                <a:latin typeface="Arial"/>
              </a:rPr>
              <a:t>graded, quantitative risk marker.</a:t>
            </a:r>
          </a:p>
        </p:txBody>
      </p:sp>
      <p:sp>
        <p:nvSpPr>
          <p:cNvPr id="6" name="TextBox 5"/>
          <p:cNvSpPr txBox="1"/>
          <p:nvPr/>
        </p:nvSpPr>
        <p:spPr>
          <a:xfrm>
            <a:off x="777240" y="4530344"/>
            <a:ext cx="5989320" cy="4216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Segmentation: SCU-Net (your group). Dapamede et al., Eur Heart J 2026;47(18):2206–2220.</a:t>
            </a:r>
          </a:p>
        </p:txBody>
      </p:sp>
      <p:sp>
        <p:nvSpPr>
          <p:cNvPr id="7" name="Rounded Rectangle 6"/>
          <p:cNvSpPr/>
          <p:nvPr/>
        </p:nvSpPr>
        <p:spPr>
          <a:xfrm>
            <a:off x="7819391" y="832104"/>
            <a:ext cx="2969257" cy="5193792"/>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_ebbc2d2c9e.jpg"/>
          <p:cNvPicPr>
            <a:picLocks noChangeAspect="1"/>
          </p:cNvPicPr>
          <p:nvPr/>
        </p:nvPicPr>
        <p:blipFill>
          <a:blip r:embed="rId3"/>
          <a:stretch>
            <a:fillRect/>
          </a:stretch>
        </p:blipFill>
        <p:spPr>
          <a:xfrm>
            <a:off x="7901687" y="914400"/>
            <a:ext cx="2804665" cy="50292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3032251"/>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BAC predicts MACE — </a:t>
            </a:r>
            <a:r>
              <a:rPr sz="1400" b="0">
                <a:solidFill>
                  <a:srgbClr val="E7AC51"/>
                </a:solidFill>
                <a:latin typeface="Arial"/>
              </a:rPr>
              <a:t>more calcium, more risk.</a:t>
            </a:r>
          </a:p>
        </p:txBody>
      </p:sp>
      <p:sp>
        <p:nvSpPr>
          <p:cNvPr id="5" name="TextBox 4"/>
          <p:cNvSpPr txBox="1"/>
          <p:nvPr/>
        </p:nvSpPr>
        <p:spPr>
          <a:xfrm>
            <a:off x="777240" y="3378708"/>
            <a:ext cx="5989320" cy="574040"/>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~120,000 women</a:t>
            </a:r>
            <a:r>
              <a:rPr sz="1400" b="0">
                <a:solidFill>
                  <a:srgbClr val="9DA9B5"/>
                </a:solidFill>
                <a:latin typeface="Arial"/>
              </a:rPr>
              <a:t>, two sites, racially diverse. Dose-response: </a:t>
            </a:r>
            <a:r>
              <a:rPr sz="1400" b="1">
                <a:solidFill>
                  <a:srgbClr val="ECEFF3"/>
                </a:solidFill>
                <a:latin typeface="Arial"/>
              </a:rPr>
              <a:t>mild HR 1.18–1.22 · moderate 1.38–1.47 · severe 2.03–2.22</a:t>
            </a:r>
            <a:r>
              <a:rPr sz="1400" b="0">
                <a:solidFill>
                  <a:srgbClr val="9DA9B5"/>
                </a:solidFill>
                <a:latin typeface="Arial"/>
              </a:rPr>
              <a:t>.</a:t>
            </a:r>
          </a:p>
        </p:txBody>
      </p:sp>
      <p:sp>
        <p:nvSpPr>
          <p:cNvPr id="6" name="TextBox 5"/>
          <p:cNvSpPr txBox="1"/>
          <p:nvPr/>
        </p:nvSpPr>
        <p:spPr>
          <a:xfrm>
            <a:off x="777240" y="3952748"/>
            <a:ext cx="5989320" cy="4216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Event-free survival by BAC severity — Any MACE, AMI, stroke, HF, death. </a:t>
            </a:r>
            <a:r>
              <a:rPr sz="1000" b="1">
                <a:solidFill>
                  <a:srgbClr val="ECEFF3"/>
                </a:solidFill>
                <a:latin typeface="Consolas"/>
              </a:rPr>
              <a:t>Dapamede et al., Eur Heart J Open 2025.</a:t>
            </a:r>
          </a:p>
        </p:txBody>
      </p:sp>
      <p:sp>
        <p:nvSpPr>
          <p:cNvPr id="7" name="Rounded Rectangle 6"/>
          <p:cNvSpPr/>
          <p:nvPr/>
        </p:nvSpPr>
        <p:spPr>
          <a:xfrm>
            <a:off x="6912864" y="2931891"/>
            <a:ext cx="4782312" cy="994216"/>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_06d0d2a955.jpg"/>
          <p:cNvPicPr>
            <a:picLocks noChangeAspect="1"/>
          </p:cNvPicPr>
          <p:nvPr/>
        </p:nvPicPr>
        <p:blipFill>
          <a:blip r:embed="rId3"/>
          <a:stretch>
            <a:fillRect/>
          </a:stretch>
        </p:blipFill>
        <p:spPr>
          <a:xfrm>
            <a:off x="6995160" y="3014187"/>
            <a:ext cx="4617720" cy="829624"/>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2620010"/>
            <a:ext cx="598932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BAC and </a:t>
            </a:r>
            <a:r>
              <a:rPr sz="2600" b="0">
                <a:solidFill>
                  <a:srgbClr val="E7AC51"/>
                </a:solidFill>
                <a:latin typeface="Arial"/>
              </a:rPr>
              <a:t>PAD.</a:t>
            </a:r>
          </a:p>
        </p:txBody>
      </p:sp>
      <p:sp>
        <p:nvSpPr>
          <p:cNvPr id="5" name="TextBox 4"/>
          <p:cNvSpPr txBox="1"/>
          <p:nvPr/>
        </p:nvSpPr>
        <p:spPr>
          <a:xfrm>
            <a:off x="777240" y="3154426"/>
            <a:ext cx="5989320" cy="1029208"/>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BAC is </a:t>
            </a:r>
            <a:r>
              <a:rPr sz="1400" b="1">
                <a:solidFill>
                  <a:srgbClr val="ECEFF3"/>
                </a:solidFill>
                <a:latin typeface="Arial"/>
              </a:rPr>
              <a:t>medial</a:t>
            </a:r>
            <a:r>
              <a:rPr sz="1400" b="0">
                <a:solidFill>
                  <a:srgbClr val="9DA9B5"/>
                </a:solidFill>
                <a:latin typeface="Arial"/>
              </a:rPr>
              <a:t> calcification (Mönckeberg's) — the pattern that dominates PAD. In </a:t>
            </a:r>
            <a:r>
              <a:rPr sz="1400" b="1">
                <a:solidFill>
                  <a:srgbClr val="ECEFF3"/>
                </a:solidFill>
                <a:latin typeface="Arial"/>
              </a:rPr>
              <a:t>59,854 women</a:t>
            </a:r>
            <a:r>
              <a:rPr sz="1400" b="0">
                <a:solidFill>
                  <a:srgbClr val="9DA9B5"/>
                </a:solidFill>
                <a:latin typeface="Arial"/>
              </a:rPr>
              <a:t> (~8-yr follow-up), it graded the risk of </a:t>
            </a:r>
            <a:r>
              <a:rPr sz="1400" b="1">
                <a:solidFill>
                  <a:srgbClr val="ECEFF3"/>
                </a:solidFill>
                <a:latin typeface="Arial"/>
              </a:rPr>
              <a:t>vascular intervention</a:t>
            </a:r>
            <a:r>
              <a:rPr sz="1400" b="0">
                <a:solidFill>
                  <a:srgbClr val="9DA9B5"/>
                </a:solidFill>
                <a:latin typeface="Arial"/>
              </a:rPr>
              <a:t> — overall and within every high-risk subgroup (severe BAC vs zero).</a:t>
            </a:r>
          </a:p>
        </p:txBody>
      </p:sp>
      <p:sp>
        <p:nvSpPr>
          <p:cNvPr id="6" name="TextBox 5"/>
          <p:cNvSpPr txBox="1"/>
          <p:nvPr/>
        </p:nvSpPr>
        <p:spPr>
          <a:xfrm>
            <a:off x="777240" y="4183634"/>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[your group], abstract — adj. age, DM, HTN, HLD, CKD, smoking.</a:t>
            </a:r>
          </a:p>
        </p:txBody>
      </p:sp>
      <p:sp>
        <p:nvSpPr>
          <p:cNvPr id="7" name="TextBox 6"/>
          <p:cNvSpPr txBox="1"/>
          <p:nvPr/>
        </p:nvSpPr>
        <p:spPr>
          <a:xfrm>
            <a:off x="777240" y="4530090"/>
            <a:ext cx="598932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Peripheral angiogram (PAD). Source: Radiopaedia.org (CC).</a:t>
            </a:r>
          </a:p>
        </p:txBody>
      </p:sp>
      <p:sp>
        <p:nvSpPr>
          <p:cNvPr id="8" name="Rounded Rectangle 7"/>
          <p:cNvSpPr/>
          <p:nvPr/>
        </p:nvSpPr>
        <p:spPr>
          <a:xfrm>
            <a:off x="7301774" y="832104"/>
            <a:ext cx="4004490" cy="5193792"/>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_72dc4dd0ee.jpg"/>
          <p:cNvPicPr>
            <a:picLocks noChangeAspect="1"/>
          </p:cNvPicPr>
          <p:nvPr/>
        </p:nvPicPr>
        <p:blipFill>
          <a:blip r:embed="rId3"/>
          <a:stretch>
            <a:fillRect/>
          </a:stretch>
        </p:blipFill>
        <p:spPr>
          <a:xfrm>
            <a:off x="7384070" y="914400"/>
            <a:ext cx="3839898" cy="50292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2790190"/>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BAC and </a:t>
            </a:r>
            <a:r>
              <a:rPr sz="1400" b="0">
                <a:solidFill>
                  <a:srgbClr val="E7AC51"/>
                </a:solidFill>
                <a:latin typeface="Arial"/>
              </a:rPr>
              <a:t>valvular disease.</a:t>
            </a:r>
          </a:p>
        </p:txBody>
      </p:sp>
      <p:sp>
        <p:nvSpPr>
          <p:cNvPr id="5" name="TextBox 4"/>
          <p:cNvSpPr txBox="1"/>
          <p:nvPr/>
        </p:nvSpPr>
        <p:spPr>
          <a:xfrm>
            <a:off x="777240" y="3136646"/>
            <a:ext cx="5989320" cy="801623"/>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122,011 women.</a:t>
            </a:r>
            <a:r>
              <a:rPr sz="1400" b="0">
                <a:solidFill>
                  <a:srgbClr val="9DA9B5"/>
                </a:solidFill>
                <a:latin typeface="Arial"/>
              </a:rPr>
              <a:t> Severe BAC vs none — </a:t>
            </a:r>
            <a:r>
              <a:rPr sz="1400" b="1">
                <a:solidFill>
                  <a:srgbClr val="ECEFF3"/>
                </a:solidFill>
                <a:latin typeface="Arial"/>
              </a:rPr>
              <a:t>AS 11.4 · AR 3.1 · MR 2.6 · TR 2.3</a:t>
            </a:r>
            <a:r>
              <a:rPr sz="1400" b="0">
                <a:solidFill>
                  <a:srgbClr val="9DA9B5"/>
                </a:solidFill>
                <a:latin typeface="Arial"/>
              </a:rPr>
              <a:t>; </a:t>
            </a:r>
            <a:r>
              <a:rPr sz="1400" b="1">
                <a:solidFill>
                  <a:srgbClr val="ECEFF3"/>
                </a:solidFill>
                <a:latin typeface="Arial"/>
              </a:rPr>
              <a:t>mitral stenosis null</a:t>
            </a:r>
            <a:r>
              <a:rPr sz="1400" b="0">
                <a:solidFill>
                  <a:srgbClr val="9DA9B5"/>
                </a:solidFill>
                <a:latin typeface="Arial"/>
              </a:rPr>
              <a:t> (negative control). 5-yr any-VHD </a:t>
            </a:r>
            <a:r>
              <a:rPr sz="1400" b="1">
                <a:solidFill>
                  <a:srgbClr val="ECEFF3"/>
                </a:solidFill>
                <a:latin typeface="Arial"/>
              </a:rPr>
              <a:t>19.3% vs 4.6%</a:t>
            </a:r>
            <a:r>
              <a:rPr sz="1400" b="0">
                <a:solidFill>
                  <a:srgbClr val="9DA9B5"/>
                </a:solidFill>
                <a:latin typeface="Arial"/>
              </a:rPr>
              <a:t> (NNS 7).</a:t>
            </a:r>
          </a:p>
        </p:txBody>
      </p:sp>
      <p:sp>
        <p:nvSpPr>
          <p:cNvPr id="6" name="TextBox 5"/>
          <p:cNvSpPr txBox="1"/>
          <p:nvPr/>
        </p:nvSpPr>
        <p:spPr>
          <a:xfrm>
            <a:off x="777240" y="3938270"/>
            <a:ext cx="598932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Any VHD by BAC severity. </a:t>
            </a:r>
            <a:r>
              <a:rPr sz="1000" b="1">
                <a:solidFill>
                  <a:srgbClr val="ECEFF3"/>
                </a:solidFill>
                <a:latin typeface="Consolas"/>
              </a:rPr>
              <a:t>Dapamede et al., Fig. 1.</a:t>
            </a:r>
          </a:p>
        </p:txBody>
      </p:sp>
      <p:sp>
        <p:nvSpPr>
          <p:cNvPr id="7" name="TextBox 6"/>
          <p:cNvSpPr txBox="1"/>
          <p:nvPr/>
        </p:nvSpPr>
        <p:spPr>
          <a:xfrm>
            <a:off x="777240" y="4194810"/>
            <a:ext cx="5989320" cy="4216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Calcific valve disease, cardiac MRI. Source: ECR 2024 EPOS #166904 (used with permission).</a:t>
            </a:r>
          </a:p>
        </p:txBody>
      </p:sp>
      <p:sp>
        <p:nvSpPr>
          <p:cNvPr id="8" name="Rounded Rectangle 7"/>
          <p:cNvSpPr/>
          <p:nvPr/>
        </p:nvSpPr>
        <p:spPr>
          <a:xfrm>
            <a:off x="6912864" y="1654939"/>
            <a:ext cx="4782312" cy="3548121"/>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_748c07e4e3.jpg"/>
          <p:cNvPicPr>
            <a:picLocks noChangeAspect="1"/>
          </p:cNvPicPr>
          <p:nvPr/>
        </p:nvPicPr>
        <p:blipFill>
          <a:blip r:embed="rId3"/>
          <a:stretch>
            <a:fillRect/>
          </a:stretch>
        </p:blipFill>
        <p:spPr>
          <a:xfrm>
            <a:off x="6995160" y="1737235"/>
            <a:ext cx="4617720" cy="3383529"/>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2560574"/>
            <a:ext cx="598932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BAC and </a:t>
            </a:r>
            <a:r>
              <a:rPr sz="2600" b="0">
                <a:solidFill>
                  <a:srgbClr val="E7AC51"/>
                </a:solidFill>
                <a:latin typeface="Arial"/>
              </a:rPr>
              <a:t>CAC.</a:t>
            </a:r>
          </a:p>
        </p:txBody>
      </p:sp>
      <p:sp>
        <p:nvSpPr>
          <p:cNvPr id="5" name="TextBox 4"/>
          <p:cNvSpPr txBox="1"/>
          <p:nvPr/>
        </p:nvSpPr>
        <p:spPr>
          <a:xfrm>
            <a:off x="777240" y="3094989"/>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In </a:t>
            </a:r>
            <a:r>
              <a:rPr sz="1400" b="1">
                <a:solidFill>
                  <a:srgbClr val="ECEFF3"/>
                </a:solidFill>
                <a:latin typeface="Arial"/>
              </a:rPr>
              <a:t>2,079 women</a:t>
            </a:r>
            <a:r>
              <a:rPr sz="1400" b="0">
                <a:solidFill>
                  <a:srgbClr val="9DA9B5"/>
                </a:solidFill>
                <a:latin typeface="Arial"/>
              </a:rPr>
              <a:t> who later had a cardiac CT, detectable </a:t>
            </a:r>
            <a:r>
              <a:rPr sz="1400" b="1">
                <a:solidFill>
                  <a:srgbClr val="ECEFF3"/>
                </a:solidFill>
                <a:latin typeface="Arial"/>
              </a:rPr>
              <a:t>coronary calcium rose 38% → 67%</a:t>
            </a:r>
            <a:r>
              <a:rPr sz="1400" b="0">
                <a:solidFill>
                  <a:srgbClr val="9DA9B5"/>
                </a:solidFill>
                <a:latin typeface="Arial"/>
              </a:rPr>
              <a:t> across BAC tiers; CAC&gt;100 up </a:t>
            </a:r>
            <a:r>
              <a:rPr sz="1400" b="1">
                <a:solidFill>
                  <a:srgbClr val="ECEFF3"/>
                </a:solidFill>
                <a:latin typeface="Arial"/>
              </a:rPr>
              <a:t>2.5×</a:t>
            </a:r>
            <a:r>
              <a:rPr sz="1400" b="0">
                <a:solidFill>
                  <a:srgbClr val="9DA9B5"/>
                </a:solidFill>
                <a:latin typeface="Arial"/>
              </a:rPr>
              <a:t>. BAC independently predicted CAC, age-adjusted (</a:t>
            </a:r>
            <a:r>
              <a:rPr sz="1400" b="1">
                <a:solidFill>
                  <a:srgbClr val="ECEFF3"/>
                </a:solidFill>
                <a:latin typeface="Arial"/>
              </a:rPr>
              <a:t>OR 1.32 / SD</a:t>
            </a:r>
            <a:r>
              <a:rPr sz="1400" b="0">
                <a:solidFill>
                  <a:srgbClr val="9DA9B5"/>
                </a:solidFill>
                <a:latin typeface="Arial"/>
              </a:rPr>
              <a:t>).</a:t>
            </a:r>
          </a:p>
        </p:txBody>
      </p:sp>
      <p:sp>
        <p:nvSpPr>
          <p:cNvPr id="6" name="TextBox 5"/>
          <p:cNvSpPr txBox="1"/>
          <p:nvPr/>
        </p:nvSpPr>
        <p:spPr>
          <a:xfrm>
            <a:off x="777240" y="3896614"/>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The mammogram previews the coronary CT.</a:t>
            </a:r>
          </a:p>
        </p:txBody>
      </p:sp>
      <p:sp>
        <p:nvSpPr>
          <p:cNvPr id="7" name="TextBox 6"/>
          <p:cNvSpPr txBox="1"/>
          <p:nvPr/>
        </p:nvSpPr>
        <p:spPr>
          <a:xfrm>
            <a:off x="777240" y="4243070"/>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[your group], RSNA 2026 abstract (BAC–CAC).</a:t>
            </a:r>
          </a:p>
        </p:txBody>
      </p:sp>
      <p:sp>
        <p:nvSpPr>
          <p:cNvPr id="8" name="TextBox 7"/>
          <p:cNvSpPr txBox="1"/>
          <p:nvPr/>
        </p:nvSpPr>
        <p:spPr>
          <a:xfrm>
            <a:off x="777240" y="4589525"/>
            <a:ext cx="598932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CAC detection by BAC tier (n=2,079).</a:t>
            </a:r>
          </a:p>
        </p:txBody>
      </p:sp>
      <p:sp>
        <p:nvSpPr>
          <p:cNvPr id="9" name="Rounded Rectangle 8"/>
          <p:cNvSpPr/>
          <p:nvPr/>
        </p:nvSpPr>
        <p:spPr>
          <a:xfrm>
            <a:off x="6912864" y="1967801"/>
            <a:ext cx="4782312" cy="2922397"/>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_3e559c34cb.jpg"/>
          <p:cNvPicPr>
            <a:picLocks noChangeAspect="1"/>
          </p:cNvPicPr>
          <p:nvPr/>
        </p:nvPicPr>
        <p:blipFill>
          <a:blip r:embed="rId3"/>
          <a:stretch>
            <a:fillRect/>
          </a:stretch>
        </p:blipFill>
        <p:spPr>
          <a:xfrm>
            <a:off x="6995160" y="2050097"/>
            <a:ext cx="4617720" cy="2757805"/>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1288541"/>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BAC and </a:t>
            </a:r>
            <a:r>
              <a:rPr sz="2600" b="0">
                <a:solidFill>
                  <a:srgbClr val="E7AC51"/>
                </a:solidFill>
                <a:latin typeface="Arial"/>
              </a:rPr>
              <a:t>costochondral calcification.</a:t>
            </a:r>
          </a:p>
        </p:txBody>
      </p:sp>
      <p:sp>
        <p:nvSpPr>
          <p:cNvPr id="5" name="TextBox 4"/>
          <p:cNvSpPr txBox="1"/>
          <p:nvPr/>
        </p:nvSpPr>
        <p:spPr>
          <a:xfrm>
            <a:off x="777240" y="1822958"/>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 </a:t>
            </a:r>
            <a:r>
              <a:rPr sz="1400" b="1">
                <a:solidFill>
                  <a:srgbClr val="ECEFF3"/>
                </a:solidFill>
                <a:latin typeface="Arial"/>
              </a:rPr>
              <a:t>non-vascular</a:t>
            </a:r>
            <a:r>
              <a:rPr sz="1400" b="0">
                <a:solidFill>
                  <a:srgbClr val="9DA9B5"/>
                </a:solidFill>
                <a:latin typeface="Arial"/>
              </a:rPr>
              <a:t> marker — calcification in the costal cartilage on chest CT (</a:t>
            </a:r>
            <a:r>
              <a:rPr sz="1400" b="1">
                <a:solidFill>
                  <a:srgbClr val="ECEFF3"/>
                </a:solidFill>
                <a:latin typeface="Arial"/>
              </a:rPr>
              <a:t>n=1,311</a:t>
            </a:r>
            <a:r>
              <a:rPr sz="1400" b="0">
                <a:solidFill>
                  <a:srgbClr val="9DA9B5"/>
                </a:solidFill>
                <a:latin typeface="Arial"/>
              </a:rPr>
              <a:t>). Correlated with BAC (ρ=0.089, p=0.001).</a:t>
            </a:r>
          </a:p>
        </p:txBody>
      </p:sp>
      <p:sp>
        <p:nvSpPr>
          <p:cNvPr id="6" name="TextBox 5"/>
          <p:cNvSpPr txBox="1"/>
          <p:nvPr/>
        </p:nvSpPr>
        <p:spPr>
          <a:xfrm>
            <a:off x="777240" y="2396998"/>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High BAC vs zero (ΔCCC)</a:t>
            </a:r>
          </a:p>
        </p:txBody>
      </p:sp>
      <p:sp>
        <p:nvSpPr>
          <p:cNvPr id="7" name="TextBox 6"/>
          <p:cNvSpPr txBox="1"/>
          <p:nvPr/>
        </p:nvSpPr>
        <p:spPr>
          <a:xfrm>
            <a:off x="777240" y="2743454"/>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adj. p</a:t>
            </a:r>
          </a:p>
        </p:txBody>
      </p:sp>
      <p:sp>
        <p:nvSpPr>
          <p:cNvPr id="8" name="TextBox 7"/>
          <p:cNvSpPr txBox="1"/>
          <p:nvPr/>
        </p:nvSpPr>
        <p:spPr>
          <a:xfrm>
            <a:off x="777240" y="308991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Median (q0.50)</a:t>
            </a:r>
          </a:p>
        </p:txBody>
      </p:sp>
      <p:sp>
        <p:nvSpPr>
          <p:cNvPr id="9" name="TextBox 8"/>
          <p:cNvSpPr txBox="1"/>
          <p:nvPr/>
        </p:nvSpPr>
        <p:spPr>
          <a:xfrm>
            <a:off x="777240" y="3436366"/>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NS · 0.47</a:t>
            </a:r>
          </a:p>
        </p:txBody>
      </p:sp>
      <p:sp>
        <p:nvSpPr>
          <p:cNvPr id="10" name="TextBox 9"/>
          <p:cNvSpPr txBox="1"/>
          <p:nvPr/>
        </p:nvSpPr>
        <p:spPr>
          <a:xfrm>
            <a:off x="777240" y="3782822"/>
            <a:ext cx="10607040" cy="346456"/>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75th pct (q0.75)</a:t>
            </a:r>
            <a:r>
              <a:rPr sz="1400" b="0">
                <a:solidFill>
                  <a:srgbClr val="9DA9B5"/>
                </a:solidFill>
                <a:latin typeface="Arial"/>
              </a:rPr>
              <a:t> </a:t>
            </a:r>
            <a:r>
              <a:rPr sz="1400" b="0">
                <a:solidFill>
                  <a:srgbClr val="E7AC51"/>
                </a:solidFill>
                <a:latin typeface="Arial"/>
              </a:rPr>
              <a:t>+3,408 mm³</a:t>
            </a:r>
          </a:p>
        </p:txBody>
      </p:sp>
      <p:sp>
        <p:nvSpPr>
          <p:cNvPr id="11" name="TextBox 10"/>
          <p:cNvSpPr txBox="1"/>
          <p:nvPr/>
        </p:nvSpPr>
        <p:spPr>
          <a:xfrm>
            <a:off x="777240" y="4129278"/>
            <a:ext cx="10607040" cy="346456"/>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&lt;0.001</a:t>
            </a:r>
          </a:p>
        </p:txBody>
      </p:sp>
      <p:sp>
        <p:nvSpPr>
          <p:cNvPr id="12" name="TextBox 11"/>
          <p:cNvSpPr txBox="1"/>
          <p:nvPr/>
        </p:nvSpPr>
        <p:spPr>
          <a:xfrm>
            <a:off x="777240" y="4475734"/>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Vascular + valvular + skeletal — one free mammographic finding.</a:t>
            </a:r>
          </a:p>
        </p:txBody>
      </p:sp>
      <p:sp>
        <p:nvSpPr>
          <p:cNvPr id="13" name="TextBox 12"/>
          <p:cNvSpPr txBox="1"/>
          <p:nvPr/>
        </p:nvSpPr>
        <p:spPr>
          <a:xfrm>
            <a:off x="777240" y="4822189"/>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[your group], RSNA 2026 abstract (BAC–CCC) · quantile regression, adj. age + DM.</a:t>
            </a:r>
          </a:p>
        </p:txBody>
      </p:sp>
      <p:sp>
        <p:nvSpPr>
          <p:cNvPr id="14" name="TextBox 13"/>
          <p:cNvSpPr txBox="1"/>
          <p:nvPr/>
        </p:nvSpPr>
        <p:spPr>
          <a:xfrm>
            <a:off x="777240" y="5168645"/>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Costochondral calcification</a:t>
            </a:r>
          </a:p>
        </p:txBody>
      </p:sp>
      <p:sp>
        <p:nvSpPr>
          <p:cNvPr id="15" name="TextBox 14"/>
          <p:cNvSpPr txBox="1"/>
          <p:nvPr/>
        </p:nvSpPr>
        <p:spPr>
          <a:xfrm>
            <a:off x="777240" y="5515101"/>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 drop in — confirm reuse rights ]</a:t>
            </a:r>
          </a:p>
        </p:txBody>
      </p:sp>
      <p:sp>
        <p:nvSpPr>
          <p:cNvPr id="16" name="TextBox 15"/>
          <p:cNvSpPr txBox="1"/>
          <p:nvPr/>
        </p:nvSpPr>
        <p:spPr>
          <a:xfrm>
            <a:off x="777240" y="5861557"/>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Illustrative. Source: Sariyıldız et al., via ResearchGate.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a:t>
            </a:r>
          </a:p>
        </p:txBody>
      </p:sp>
      <p:sp>
        <p:nvSpPr>
          <p:cNvPr id="4" name="TextBox 3"/>
          <p:cNvSpPr txBox="1"/>
          <p:nvPr/>
        </p:nvSpPr>
        <p:spPr>
          <a:xfrm>
            <a:off x="777240" y="1928622"/>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Closing the loop: the </a:t>
            </a:r>
            <a:r>
              <a:rPr sz="2600" b="0">
                <a:solidFill>
                  <a:srgbClr val="E7AC51"/>
                </a:solidFill>
                <a:latin typeface="Arial"/>
              </a:rPr>
              <a:t>I-BAC pragmatic trial.</a:t>
            </a:r>
          </a:p>
        </p:txBody>
      </p:sp>
      <p:sp>
        <p:nvSpPr>
          <p:cNvPr id="5" name="TextBox 4"/>
          <p:cNvSpPr txBox="1"/>
          <p:nvPr/>
        </p:nvSpPr>
        <p:spPr>
          <a:xfrm>
            <a:off x="777240" y="2832862"/>
            <a:ext cx="5989320" cy="1256792"/>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The gap: </a:t>
            </a:r>
            <a:r>
              <a:rPr sz="1400" b="1">
                <a:solidFill>
                  <a:srgbClr val="ECEFF3"/>
                </a:solidFill>
                <a:latin typeface="Arial"/>
              </a:rPr>
              <a:t>&lt;7% (Emory) / 15% (Mayo)</a:t>
            </a:r>
            <a:r>
              <a:rPr sz="1400" b="0">
                <a:solidFill>
                  <a:srgbClr val="9DA9B5"/>
                </a:solidFill>
                <a:latin typeface="Arial"/>
              </a:rPr>
              <a:t> of women had the chart data to even compute a PREVENT/ASCVD score — including women with severe BAC. </a:t>
            </a:r>
            <a:r>
              <a:rPr sz="1400" b="1">
                <a:solidFill>
                  <a:srgbClr val="ECEFF3"/>
                </a:solidFill>
                <a:latin typeface="Arial"/>
              </a:rPr>
              <a:t>I-BAC</a:t>
            </a:r>
            <a:r>
              <a:rPr sz="1400" b="0">
                <a:solidFill>
                  <a:srgbClr val="9DA9B5"/>
                </a:solidFill>
                <a:latin typeface="Arial"/>
              </a:rPr>
              <a:t> (R01HL167811) is a Hybrid Type 1 pragmatic RCT across Emory + Mayo AZ (~225,000 mammograms/yr).</a:t>
            </a:r>
          </a:p>
        </p:txBody>
      </p:sp>
      <p:sp>
        <p:nvSpPr>
          <p:cNvPr id="6" name="TextBox 5"/>
          <p:cNvSpPr txBox="1"/>
          <p:nvPr/>
        </p:nvSpPr>
        <p:spPr>
          <a:xfrm>
            <a:off x="777240" y="4089654"/>
            <a:ext cx="5989320" cy="5867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Deployment + pragmatic-trial structure (Aim 2): PACS BAC model → Epic/CareBricks auto-review → randomize → I-BAC notification vs usual care → RE-AIM.</a:t>
            </a:r>
          </a:p>
        </p:txBody>
      </p:sp>
      <p:sp>
        <p:nvSpPr>
          <p:cNvPr id="7" name="TextBox 6"/>
          <p:cNvSpPr txBox="1"/>
          <p:nvPr/>
        </p:nvSpPr>
        <p:spPr>
          <a:xfrm>
            <a:off x="777240" y="4676394"/>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Primary endpoint: 6-month composite of </a:t>
            </a:r>
            <a:r>
              <a:rPr sz="1400" b="1">
                <a:solidFill>
                  <a:srgbClr val="ECEFF3"/>
                </a:solidFill>
                <a:latin typeface="Arial"/>
              </a:rPr>
              <a:t>lipid panel · preventive-med change · CAC testing.</a:t>
            </a:r>
            <a:r>
              <a:rPr sz="1400" b="0">
                <a:solidFill>
                  <a:srgbClr val="9DA9B5"/>
                </a:solidFill>
                <a:latin typeface="Arial"/>
              </a:rPr>
              <a:t> Precedent: NOTIFY-PICTURE — but BAC has no management guideline yet.</a:t>
            </a:r>
          </a:p>
        </p:txBody>
      </p:sp>
      <p:sp>
        <p:nvSpPr>
          <p:cNvPr id="8" name="Rounded Rectangle 7"/>
          <p:cNvSpPr/>
          <p:nvPr/>
        </p:nvSpPr>
        <p:spPr>
          <a:xfrm>
            <a:off x="6912864" y="2707327"/>
            <a:ext cx="4782312" cy="1443345"/>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_955cf64bac.jpg"/>
          <p:cNvPicPr>
            <a:picLocks noChangeAspect="1"/>
          </p:cNvPicPr>
          <p:nvPr/>
        </p:nvPicPr>
        <p:blipFill>
          <a:blip r:embed="rId3"/>
          <a:stretch>
            <a:fillRect/>
          </a:stretch>
        </p:blipFill>
        <p:spPr>
          <a:xfrm>
            <a:off x="6995160" y="2789623"/>
            <a:ext cx="4617720" cy="1278753"/>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2026 → 2035</a:t>
            </a:r>
          </a:p>
        </p:txBody>
      </p:sp>
      <p:sp>
        <p:nvSpPr>
          <p:cNvPr id="4" name="TextBox 3"/>
          <p:cNvSpPr txBox="1"/>
          <p:nvPr/>
        </p:nvSpPr>
        <p:spPr>
          <a:xfrm>
            <a:off x="777240" y="2520442"/>
            <a:ext cx="10607040" cy="1018032"/>
          </a:xfrm>
          <a:prstGeom prst="rect">
            <a:avLst/>
          </a:prstGeom>
          <a:noFill/>
        </p:spPr>
        <p:txBody>
          <a:bodyPr wrap="square" lIns="25400" rIns="25400" tIns="12700" bIns="12700">
            <a:noAutofit/>
          </a:bodyPr>
          <a:lstStyle/>
          <a:p>
            <a:pPr algn="l">
              <a:lnSpc>
                <a:spcPct val="106000"/>
              </a:lnSpc>
              <a:spcAft>
                <a:spcPts val="400"/>
              </a:spcAft>
            </a:pPr>
            <a:r>
              <a:rPr sz="3000" b="0">
                <a:solidFill>
                  <a:srgbClr val="ECEFF3"/>
                </a:solidFill>
                <a:latin typeface="Arial"/>
              </a:rPr>
              <a:t>And we are on the verge of </a:t>
            </a:r>
            <a:r>
              <a:rPr sz="3000" b="0">
                <a:solidFill>
                  <a:srgbClr val="E7AC51"/>
                </a:solidFill>
                <a:latin typeface="Arial"/>
              </a:rPr>
              <a:t>multimodal, multi-omics.</a:t>
            </a:r>
          </a:p>
        </p:txBody>
      </p:sp>
      <p:sp>
        <p:nvSpPr>
          <p:cNvPr id="5" name="TextBox 4"/>
          <p:cNvSpPr txBox="1"/>
          <p:nvPr/>
        </p:nvSpPr>
        <p:spPr>
          <a:xfrm>
            <a:off x="777240" y="3538474"/>
            <a:ext cx="10607040" cy="773684"/>
          </a:xfrm>
          <a:prstGeom prst="rect">
            <a:avLst/>
          </a:prstGeom>
          <a:noFill/>
        </p:spPr>
        <p:txBody>
          <a:bodyPr wrap="square" lIns="25400" rIns="25400" tIns="12700" bIns="12700">
            <a:noAutofit/>
          </a:bodyPr>
          <a:lstStyle/>
          <a:p>
            <a:pPr algn="l">
              <a:lnSpc>
                <a:spcPct val="130000"/>
              </a:lnSpc>
              <a:spcAft>
                <a:spcPts val="400"/>
              </a:spcAft>
            </a:pPr>
            <a:r>
              <a:rPr sz="1900" b="0">
                <a:solidFill>
                  <a:srgbClr val="ECEFF3"/>
                </a:solidFill>
                <a:latin typeface="Arial"/>
              </a:rPr>
              <a:t>Everything so far is still </a:t>
            </a:r>
            <a:r>
              <a:rPr sz="1900" b="1">
                <a:solidFill>
                  <a:srgbClr val="ECEFF3"/>
                </a:solidFill>
                <a:latin typeface="Arial"/>
              </a:rPr>
              <a:t>one model, one modality</a:t>
            </a:r>
            <a:r>
              <a:rPr sz="1900" b="0">
                <a:solidFill>
                  <a:srgbClr val="ECEFF3"/>
                </a:solidFill>
                <a:latin typeface="Arial"/>
              </a:rPr>
              <a:t> — the image, or the calcium, or the tissue, read separately.</a:t>
            </a:r>
          </a:p>
        </p:txBody>
      </p:sp>
      <p:sp>
        <p:nvSpPr>
          <p:cNvPr id="6" name="TextBox 5"/>
          <p:cNvSpPr txBox="1"/>
          <p:nvPr/>
        </p:nvSpPr>
        <p:spPr>
          <a:xfrm>
            <a:off x="777240" y="4312158"/>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The frontier is to combine them — </a:t>
            </a:r>
            <a:r>
              <a:rPr sz="1400" b="1">
                <a:solidFill>
                  <a:srgbClr val="ECEFF3"/>
                </a:solidFill>
                <a:latin typeface="Arial"/>
              </a:rPr>
              <a:t>imaging + pathology + genomics + the clinical record</a:t>
            </a:r>
            <a:r>
              <a:rPr sz="1400" b="0">
                <a:solidFill>
                  <a:srgbClr val="9DA9B5"/>
                </a:solidFill>
                <a:latin typeface="Arial"/>
              </a:rPr>
              <a:t> — into a single model of the patient. To see where that goes, we have to leave 2026.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642616"/>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Era III · 2035</a:t>
            </a:r>
          </a:p>
        </p:txBody>
      </p:sp>
      <p:sp>
        <p:nvSpPr>
          <p:cNvPr id="4" name="TextBox 3"/>
          <p:cNvSpPr txBox="1"/>
          <p:nvPr/>
        </p:nvSpPr>
        <p:spPr>
          <a:xfrm>
            <a:off x="777240" y="2989072"/>
            <a:ext cx="5989320" cy="790447"/>
          </a:xfrm>
          <a:prstGeom prst="rect">
            <a:avLst/>
          </a:prstGeom>
          <a:noFill/>
        </p:spPr>
        <p:txBody>
          <a:bodyPr wrap="square" lIns="25400" rIns="25400" tIns="12700" bIns="12700">
            <a:noAutofit/>
          </a:bodyPr>
          <a:lstStyle/>
          <a:p>
            <a:pPr algn="l">
              <a:lnSpc>
                <a:spcPct val="106000"/>
              </a:lnSpc>
              <a:spcAft>
                <a:spcPts val="400"/>
              </a:spcAft>
            </a:pPr>
            <a:r>
              <a:rPr sz="4400" b="0">
                <a:solidFill>
                  <a:srgbClr val="ECEFF3"/>
                </a:solidFill>
                <a:latin typeface="Arial"/>
              </a:rPr>
              <a:t>The year is </a:t>
            </a:r>
            <a:r>
              <a:rPr sz="4400" b="0">
                <a:solidFill>
                  <a:srgbClr val="E7AC51"/>
                </a:solidFill>
                <a:latin typeface="Arial"/>
              </a:rPr>
              <a:t>2035.</a:t>
            </a:r>
          </a:p>
        </p:txBody>
      </p:sp>
      <p:sp>
        <p:nvSpPr>
          <p:cNvPr id="5" name="TextBox 4"/>
          <p:cNvSpPr txBox="1"/>
          <p:nvPr/>
        </p:nvSpPr>
        <p:spPr>
          <a:xfrm>
            <a:off x="777240" y="3779520"/>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From here, today's models are a decade old. The real question: what happens when imaging, pathology, and omics finally converge — </a:t>
            </a:r>
            <a:r>
              <a:rPr sz="1400" b="1">
                <a:solidFill>
                  <a:srgbClr val="ECEFF3"/>
                </a:solidFill>
                <a:latin typeface="Arial"/>
              </a:rPr>
              <a:t>on one patient.</a:t>
            </a:r>
          </a:p>
        </p:txBody>
      </p:sp>
      <p:pic>
        <p:nvPicPr>
          <p:cNvPr id="6" name="Picture 5" descr="s_49b2a1b734.png"/>
          <p:cNvPicPr>
            <a:picLocks noChangeAspect="1"/>
          </p:cNvPicPr>
          <p:nvPr/>
        </p:nvPicPr>
        <p:blipFill>
          <a:blip r:embed="rId3"/>
          <a:stretch>
            <a:fillRect/>
          </a:stretch>
        </p:blipFill>
        <p:spPr>
          <a:xfrm>
            <a:off x="6995160" y="2109651"/>
            <a:ext cx="4617720" cy="2638697"/>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2035 · THE WHOLE PATIENT</a:t>
            </a:r>
          </a:p>
        </p:txBody>
      </p:sp>
      <p:sp>
        <p:nvSpPr>
          <p:cNvPr id="4" name="TextBox 3"/>
          <p:cNvSpPr txBox="1"/>
          <p:nvPr/>
        </p:nvSpPr>
        <p:spPr>
          <a:xfrm>
            <a:off x="777240" y="2639568"/>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She knows her risk </a:t>
            </a:r>
            <a:r>
              <a:rPr sz="2600" b="0">
                <a:solidFill>
                  <a:srgbClr val="E7AC51"/>
                </a:solidFill>
                <a:latin typeface="Arial"/>
              </a:rPr>
              <a:t>before she ever lies down.</a:t>
            </a:r>
          </a:p>
        </p:txBody>
      </p:sp>
      <p:sp>
        <p:nvSpPr>
          <p:cNvPr id="5" name="TextBox 4"/>
          <p:cNvSpPr txBox="1"/>
          <p:nvPr/>
        </p:nvSpPr>
        <p:spPr>
          <a:xfrm>
            <a:off x="777240" y="3543808"/>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Risk in 2035 is built from </a:t>
            </a:r>
            <a:r>
              <a:rPr sz="1400" b="1">
                <a:solidFill>
                  <a:srgbClr val="ECEFF3"/>
                </a:solidFill>
                <a:latin typeface="Arial"/>
              </a:rPr>
              <a:t>four independent inputs</a:t>
            </a:r>
            <a:r>
              <a:rPr sz="1400" b="0">
                <a:solidFill>
                  <a:srgbClr val="9DA9B5"/>
                </a:solidFill>
                <a:latin typeface="Arial"/>
              </a:rPr>
              <a:t> — polygenic, germline, clinical, and </a:t>
            </a:r>
            <a:r>
              <a:rPr sz="1400" b="1">
                <a:solidFill>
                  <a:srgbClr val="ECEFF3"/>
                </a:solidFill>
                <a:latin typeface="Arial"/>
              </a:rPr>
              <a:t>imaging</a:t>
            </a:r>
            <a:r>
              <a:rPr sz="1400" b="0">
                <a:solidFill>
                  <a:srgbClr val="9DA9B5"/>
                </a:solidFill>
                <a:latin typeface="Arial"/>
              </a:rPr>
              <a:t> (prior mammograms) — fused into one engine and updated at every scan.</a:t>
            </a:r>
          </a:p>
        </p:txBody>
      </p:sp>
      <p:sp>
        <p:nvSpPr>
          <p:cNvPr id="6" name="TextBox 5"/>
          <p:cNvSpPr txBox="1"/>
          <p:nvPr/>
        </p:nvSpPr>
        <p:spPr>
          <a:xfrm>
            <a:off x="777240" y="4345432"/>
            <a:ext cx="5989320" cy="4216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Shieh, JAMA Oncol 2026 · Esserman (WISDOM), JAMA 2025 · Yala (Mirai), Sci Transl Med 2021 · Clairity FDA De Novo 2025</a:t>
            </a:r>
          </a:p>
        </p:txBody>
      </p:sp>
      <p:pic>
        <p:nvPicPr>
          <p:cNvPr id="7" name="Picture 6" descr="s_a406efe943.png"/>
          <p:cNvPicPr>
            <a:picLocks noChangeAspect="1"/>
          </p:cNvPicPr>
          <p:nvPr/>
        </p:nvPicPr>
        <p:blipFill>
          <a:blip r:embed="rId3"/>
          <a:stretch>
            <a:fillRect/>
          </a:stretch>
        </p:blipFill>
        <p:spPr>
          <a:xfrm>
            <a:off x="6995160" y="1241658"/>
            <a:ext cx="4617720" cy="4374682"/>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2035 · THE WHOLE PATIENT</a:t>
            </a:r>
          </a:p>
        </p:txBody>
      </p:sp>
      <p:sp>
        <p:nvSpPr>
          <p:cNvPr id="4" name="TextBox 3"/>
          <p:cNvSpPr txBox="1"/>
          <p:nvPr/>
        </p:nvSpPr>
        <p:spPr>
          <a:xfrm>
            <a:off x="777240" y="1217422"/>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The second reader is now </a:t>
            </a:r>
            <a:r>
              <a:rPr sz="2600" b="0">
                <a:solidFill>
                  <a:srgbClr val="E7AC51"/>
                </a:solidFill>
                <a:latin typeface="Arial"/>
              </a:rPr>
              <a:t>software.</a:t>
            </a:r>
          </a:p>
        </p:txBody>
      </p:sp>
      <p:sp>
        <p:nvSpPr>
          <p:cNvPr id="5" name="TextBox 4"/>
          <p:cNvSpPr txBox="1"/>
          <p:nvPr/>
        </p:nvSpPr>
        <p:spPr>
          <a:xfrm>
            <a:off x="777240" y="2121662"/>
            <a:ext cx="5989320" cy="1029208"/>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Double reading has been replaced — not by one study, but by </a:t>
            </a:r>
            <a:r>
              <a:rPr sz="1400" b="1">
                <a:solidFill>
                  <a:srgbClr val="ECEFF3"/>
                </a:solidFill>
                <a:latin typeface="Arial"/>
              </a:rPr>
              <a:t>convergent RCT evidence across four continents</a:t>
            </a:r>
            <a:r>
              <a:rPr sz="1400" b="0">
                <a:solidFill>
                  <a:srgbClr val="9DA9B5"/>
                </a:solidFill>
                <a:latin typeface="Arial"/>
              </a:rPr>
              <a:t>. AI clears roughly two-thirds of normal screens; the radiologist takes the rest.</a:t>
            </a:r>
          </a:p>
        </p:txBody>
      </p:sp>
      <p:sp>
        <p:nvSpPr>
          <p:cNvPr id="6" name="TextBox 5"/>
          <p:cNvSpPr txBox="1"/>
          <p:nvPr/>
        </p:nvSpPr>
        <p:spPr>
          <a:xfrm>
            <a:off x="777240" y="3150870"/>
            <a:ext cx="598932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−44% / +29%</a:t>
            </a:r>
          </a:p>
        </p:txBody>
      </p:sp>
      <p:sp>
        <p:nvSpPr>
          <p:cNvPr id="7" name="TextBox 6"/>
          <p:cNvSpPr txBox="1"/>
          <p:nvPr/>
        </p:nvSpPr>
        <p:spPr>
          <a:xfrm>
            <a:off x="777240" y="3676650"/>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workload / cancers detected — MASAI (Lancet 2026)</a:t>
            </a:r>
          </a:p>
        </p:txBody>
      </p:sp>
      <p:sp>
        <p:nvSpPr>
          <p:cNvPr id="8" name="TextBox 7"/>
          <p:cNvSpPr txBox="1"/>
          <p:nvPr/>
        </p:nvSpPr>
        <p:spPr>
          <a:xfrm>
            <a:off x="777240" y="4023106"/>
            <a:ext cx="598932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−63.6%</a:t>
            </a:r>
          </a:p>
        </p:txBody>
      </p:sp>
      <p:sp>
        <p:nvSpPr>
          <p:cNvPr id="9" name="TextBox 8"/>
          <p:cNvSpPr txBox="1"/>
          <p:nvPr/>
        </p:nvSpPr>
        <p:spPr>
          <a:xfrm>
            <a:off x="777240" y="4548886"/>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radiologist workload — Elías-Cabot (Nat Med 2026)</a:t>
            </a:r>
          </a:p>
        </p:txBody>
      </p:sp>
      <p:sp>
        <p:nvSpPr>
          <p:cNvPr id="10" name="TextBox 9"/>
          <p:cNvSpPr txBox="1"/>
          <p:nvPr/>
        </p:nvSpPr>
        <p:spPr>
          <a:xfrm>
            <a:off x="777240" y="4895342"/>
            <a:ext cx="598932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5FB7C9"/>
                </a:solidFill>
                <a:latin typeface="Arial"/>
              </a:rPr>
              <a:t>~99.9%</a:t>
            </a:r>
          </a:p>
        </p:txBody>
      </p:sp>
      <p:sp>
        <p:nvSpPr>
          <p:cNvPr id="11" name="TextBox 10"/>
          <p:cNvSpPr txBox="1"/>
          <p:nvPr/>
        </p:nvSpPr>
        <p:spPr>
          <a:xfrm>
            <a:off x="777240" y="5421122"/>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NPV of AI-normal triage at ~6/1,000 prevalence</a:t>
            </a:r>
          </a:p>
        </p:txBody>
      </p:sp>
      <p:sp>
        <p:nvSpPr>
          <p:cNvPr id="12" name="TextBox 11"/>
          <p:cNvSpPr txBox="1"/>
          <p:nvPr/>
        </p:nvSpPr>
        <p:spPr>
          <a:xfrm>
            <a:off x="777240" y="5767578"/>
            <a:ext cx="5989320" cy="4216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MASAI, Lancet 2026 · PRAIM, Nat Med 2025 · Elías-Cabot, Nat Med 2026 · AI-STREAM · GEMINI · ScreenTrustCAD</a:t>
            </a:r>
          </a:p>
        </p:txBody>
      </p:sp>
      <p:pic>
        <p:nvPicPr>
          <p:cNvPr id="13" name="Picture 12" descr="s_54c4812462.png"/>
          <p:cNvPicPr>
            <a:picLocks noChangeAspect="1"/>
          </p:cNvPicPr>
          <p:nvPr/>
        </p:nvPicPr>
        <p:blipFill>
          <a:blip r:embed="rId3"/>
          <a:stretch>
            <a:fillRect/>
          </a:stretch>
        </p:blipFill>
        <p:spPr>
          <a:xfrm>
            <a:off x="6995160" y="1484696"/>
            <a:ext cx="4617720" cy="388860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2035 · THE WHOLE PATIENT</a:t>
            </a:r>
          </a:p>
        </p:txBody>
      </p:sp>
      <p:sp>
        <p:nvSpPr>
          <p:cNvPr id="4" name="TextBox 3"/>
          <p:cNvSpPr txBox="1"/>
          <p:nvPr/>
        </p:nvSpPr>
        <p:spPr>
          <a:xfrm>
            <a:off x="777240" y="1738375"/>
            <a:ext cx="5989320" cy="1643888"/>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From one score to a multimodal </a:t>
            </a:r>
            <a:r>
              <a:rPr sz="2600" b="0">
                <a:solidFill>
                  <a:srgbClr val="E7AC51"/>
                </a:solidFill>
                <a:latin typeface="Arial"/>
              </a:rPr>
              <a:t>detection, treatment, and recurrence engine.</a:t>
            </a:r>
          </a:p>
        </p:txBody>
      </p:sp>
      <p:sp>
        <p:nvSpPr>
          <p:cNvPr id="5" name="TextBox 4"/>
          <p:cNvSpPr txBox="1"/>
          <p:nvPr/>
        </p:nvSpPr>
        <p:spPr>
          <a:xfrm>
            <a:off x="777240" y="3382264"/>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Each layer's 2025 evidence, and where 2035 takes it — </a:t>
            </a:r>
            <a:r>
              <a:rPr sz="1400" b="1">
                <a:solidFill>
                  <a:srgbClr val="ECEFF3"/>
                </a:solidFill>
                <a:latin typeface="Arial"/>
              </a:rPr>
              <a:t>no single image makes the call, and no modality is acquired unless the model expects it to change the answer.</a:t>
            </a:r>
          </a:p>
        </p:txBody>
      </p:sp>
      <p:sp>
        <p:nvSpPr>
          <p:cNvPr id="6" name="TextBox 5"/>
          <p:cNvSpPr txBox="1"/>
          <p:nvPr/>
        </p:nvSpPr>
        <p:spPr>
          <a:xfrm>
            <a:off x="777240" y="4183888"/>
            <a:ext cx="5989320" cy="1484375"/>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Now (2025):</a:t>
            </a:r>
            <a:r>
              <a:rPr sz="1400" b="0">
                <a:solidFill>
                  <a:srgbClr val="9DA9B5"/>
                </a:solidFill>
                <a:latin typeface="Arial"/>
              </a:rPr>
              <a:t> the evidence shown → </a:t>
            </a:r>
            <a:r>
              <a:rPr sz="1400" b="1">
                <a:solidFill>
                  <a:srgbClr val="ECEFF3"/>
                </a:solidFill>
                <a:latin typeface="Arial"/>
              </a:rPr>
              <a:t>2035:</a:t>
            </a:r>
            <a:r>
              <a:rPr sz="1400" b="0">
                <a:solidFill>
                  <a:srgbClr val="9DA9B5"/>
                </a:solidFill>
                <a:latin typeface="Arial"/>
              </a:rPr>
              <a:t> one unified model gates acquisition and emits detection + recurrence + treatment. MASAI (Lancet 2026) · PRAIM (Nat Med 2025) · ScreenTrustMRI (Nat Med 2024) · BMU-Net (Nat Biomed Eng 2024) · UNI (Nat Med 2024) · BINDS (Nat Biomed Eng 2026) · ctDNA MRD (Ann Oncol 2025).</a:t>
            </a:r>
          </a:p>
        </p:txBody>
      </p:sp>
      <p:pic>
        <p:nvPicPr>
          <p:cNvPr id="7" name="Picture 6" descr="s_044a31649b.png"/>
          <p:cNvPicPr>
            <a:picLocks noChangeAspect="1"/>
          </p:cNvPicPr>
          <p:nvPr/>
        </p:nvPicPr>
        <p:blipFill>
          <a:blip r:embed="rId3"/>
          <a:stretch>
            <a:fillRect/>
          </a:stretch>
        </p:blipFill>
        <p:spPr>
          <a:xfrm>
            <a:off x="6995160" y="2385395"/>
            <a:ext cx="4617720" cy="2087209"/>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2035 · THE WHOLE PATIENT</a:t>
            </a:r>
          </a:p>
        </p:txBody>
      </p:sp>
      <p:sp>
        <p:nvSpPr>
          <p:cNvPr id="4" name="TextBox 3"/>
          <p:cNvSpPr txBox="1"/>
          <p:nvPr/>
        </p:nvSpPr>
        <p:spPr>
          <a:xfrm>
            <a:off x="777240" y="1078992"/>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The mammogram is now a </a:t>
            </a:r>
            <a:r>
              <a:rPr sz="2600" b="0">
                <a:solidFill>
                  <a:srgbClr val="E7AC51"/>
                </a:solidFill>
                <a:latin typeface="Arial"/>
              </a:rPr>
              <a:t>whole-body health visit.</a:t>
            </a:r>
          </a:p>
        </p:txBody>
      </p:sp>
      <p:sp>
        <p:nvSpPr>
          <p:cNvPr id="5" name="TextBox 4"/>
          <p:cNvSpPr txBox="1"/>
          <p:nvPr/>
        </p:nvSpPr>
        <p:spPr>
          <a:xfrm>
            <a:off x="777240" y="1983231"/>
            <a:ext cx="598932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We built a cancer screen and found a </a:t>
            </a:r>
            <a:r>
              <a:rPr sz="1400" b="1">
                <a:solidFill>
                  <a:srgbClr val="ECEFF3"/>
                </a:solidFill>
                <a:latin typeface="Arial"/>
              </a:rPr>
              <a:t>window into the entire body</a:t>
            </a:r>
            <a:r>
              <a:rPr sz="1400" b="0">
                <a:solidFill>
                  <a:srgbClr val="9DA9B5"/>
                </a:solidFill>
                <a:latin typeface="Arial"/>
              </a:rPr>
              <a:t> — and we are not the only ones.</a:t>
            </a:r>
          </a:p>
        </p:txBody>
      </p:sp>
      <p:sp>
        <p:nvSpPr>
          <p:cNvPr id="6" name="TextBox 5"/>
          <p:cNvSpPr txBox="1"/>
          <p:nvPr/>
        </p:nvSpPr>
        <p:spPr>
          <a:xfrm>
            <a:off x="777240" y="2557272"/>
            <a:ext cx="598932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2.8×</a:t>
            </a:r>
          </a:p>
        </p:txBody>
      </p:sp>
      <p:sp>
        <p:nvSpPr>
          <p:cNvPr id="7" name="TextBox 6"/>
          <p:cNvSpPr txBox="1"/>
          <p:nvPr/>
        </p:nvSpPr>
        <p:spPr>
          <a:xfrm>
            <a:off x="777240" y="3083051"/>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5-yr mortality, severe BAC — 123,762 (Eur Heart J 2026)</a:t>
            </a:r>
          </a:p>
        </p:txBody>
      </p:sp>
      <p:sp>
        <p:nvSpPr>
          <p:cNvPr id="8" name="TextBox 7"/>
          <p:cNvSpPr txBox="1"/>
          <p:nvPr/>
        </p:nvSpPr>
        <p:spPr>
          <a:xfrm>
            <a:off x="777240" y="3429507"/>
            <a:ext cx="598932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49,196</a:t>
            </a:r>
          </a:p>
        </p:txBody>
      </p:sp>
      <p:sp>
        <p:nvSpPr>
          <p:cNvPr id="9" name="TextBox 8"/>
          <p:cNvSpPr txBox="1"/>
          <p:nvPr/>
        </p:nvSpPr>
        <p:spPr>
          <a:xfrm>
            <a:off x="777240" y="3955287"/>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women: CVD from the image alone (Heart 2026)</a:t>
            </a:r>
          </a:p>
        </p:txBody>
      </p:sp>
      <p:sp>
        <p:nvSpPr>
          <p:cNvPr id="10" name="TextBox 9"/>
          <p:cNvSpPr txBox="1"/>
          <p:nvPr/>
        </p:nvSpPr>
        <p:spPr>
          <a:xfrm>
            <a:off x="777240" y="4301743"/>
            <a:ext cx="598932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5FB7C9"/>
                </a:solidFill>
                <a:latin typeface="Arial"/>
              </a:rPr>
              <a:t>biological age</a:t>
            </a:r>
          </a:p>
        </p:txBody>
      </p:sp>
      <p:sp>
        <p:nvSpPr>
          <p:cNvPr id="11" name="TextBox 10"/>
          <p:cNvSpPr txBox="1"/>
          <p:nvPr/>
        </p:nvSpPr>
        <p:spPr>
          <a:xfrm>
            <a:off x="777240" y="4827523"/>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from the mammogram, ±4–6 yr — Mammo-AGE</a:t>
            </a:r>
          </a:p>
        </p:txBody>
      </p:sp>
      <p:sp>
        <p:nvSpPr>
          <p:cNvPr id="12" name="TextBox 11"/>
          <p:cNvSpPr txBox="1"/>
          <p:nvPr/>
        </p:nvSpPr>
        <p:spPr>
          <a:xfrm>
            <a:off x="777240" y="5173979"/>
            <a:ext cx="5989320" cy="801623"/>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~40M US mammograms/yr</a:t>
            </a:r>
            <a:r>
              <a:rPr sz="1400" b="0">
                <a:solidFill>
                  <a:srgbClr val="9DA9B5"/>
                </a:solidFill>
                <a:latin typeface="Arial"/>
              </a:rPr>
              <a:t> — often her only reliable preventive touchpoint. By 2035 the modality stops mattering: one model, any routine image, one systemic-risk profile.</a:t>
            </a:r>
          </a:p>
        </p:txBody>
      </p:sp>
      <p:sp>
        <p:nvSpPr>
          <p:cNvPr id="13" name="TextBox 12"/>
          <p:cNvSpPr txBox="1"/>
          <p:nvPr/>
        </p:nvSpPr>
        <p:spPr>
          <a:xfrm>
            <a:off x="777240" y="5975603"/>
            <a:ext cx="5989320" cy="5867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Dapamede, Eur Heart J 2026 (our paper) · Barraclough, Heart 2026 · Pan (Mammo-AGE), Nat Commun 2025 · Pickhardt (CT), Nat Commun 2025 · RETFound, Nature 2023</a:t>
            </a:r>
          </a:p>
        </p:txBody>
      </p:sp>
      <p:pic>
        <p:nvPicPr>
          <p:cNvPr id="14" name="Picture 13" descr="s_0bd242d089.png"/>
          <p:cNvPicPr>
            <a:picLocks noChangeAspect="1"/>
          </p:cNvPicPr>
          <p:nvPr/>
        </p:nvPicPr>
        <p:blipFill>
          <a:blip r:embed="rId3"/>
          <a:stretch>
            <a:fillRect/>
          </a:stretch>
        </p:blipFill>
        <p:spPr>
          <a:xfrm>
            <a:off x="6995160" y="1626962"/>
            <a:ext cx="4617720" cy="3604074"/>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ERA III · 2035 · THE WHOLE PATIENT</a:t>
            </a:r>
          </a:p>
        </p:txBody>
      </p:sp>
      <p:sp>
        <p:nvSpPr>
          <p:cNvPr id="4" name="TextBox 3"/>
          <p:cNvSpPr txBox="1"/>
          <p:nvPr/>
        </p:nvSpPr>
        <p:spPr>
          <a:xfrm>
            <a:off x="777240" y="2042414"/>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The frontier plateaued. </a:t>
            </a:r>
            <a:r>
              <a:rPr sz="2600" b="0">
                <a:solidFill>
                  <a:srgbClr val="E7AC51"/>
                </a:solidFill>
                <a:latin typeface="Arial"/>
              </a:rPr>
              <a:t>The specialists compounded.</a:t>
            </a:r>
          </a:p>
        </p:txBody>
      </p:sp>
      <p:sp>
        <p:nvSpPr>
          <p:cNvPr id="5" name="TextBox 4"/>
          <p:cNvSpPr txBox="1"/>
          <p:nvPr/>
        </p:nvSpPr>
        <p:spPr>
          <a:xfrm>
            <a:off x="777240" y="2946654"/>
            <a:ext cx="598932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Scale was no silver bullet — the failure was </a:t>
            </a:r>
            <a:r>
              <a:rPr sz="1400" b="1">
                <a:solidFill>
                  <a:srgbClr val="E7AC51"/>
                </a:solidFill>
                <a:latin typeface="Arial"/>
              </a:rPr>
              <a:t>architectural.</a:t>
            </a:r>
          </a:p>
        </p:txBody>
      </p:sp>
      <p:sp>
        <p:nvSpPr>
          <p:cNvPr id="6" name="TextBox 5"/>
          <p:cNvSpPr txBox="1"/>
          <p:nvPr/>
        </p:nvSpPr>
        <p:spPr>
          <a:xfrm>
            <a:off x="777240" y="3293110"/>
            <a:ext cx="5989320" cy="1484375"/>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Frontier models aced the exam, then degraded on real clinical data — a model trained on the whole internet </a:t>
            </a:r>
            <a:r>
              <a:rPr sz="1400" b="1">
                <a:solidFill>
                  <a:srgbClr val="ECEFF3"/>
                </a:solidFill>
                <a:latin typeface="Arial"/>
              </a:rPr>
              <a:t>reasons from text priors, not the pixels in front of it.</a:t>
            </a:r>
            <a:r>
              <a:rPr sz="1400" b="0">
                <a:solidFill>
                  <a:srgbClr val="9DA9B5"/>
                </a:solidFill>
                <a:latin typeface="Arial"/>
              </a:rPr>
              <a:t> By 2035 that stopped being a footnote and became the market structure: generalists won the </a:t>
            </a:r>
            <a:r>
              <a:rPr sz="1400" b="1">
                <a:solidFill>
                  <a:srgbClr val="ECEFF3"/>
                </a:solidFill>
                <a:latin typeface="Arial"/>
              </a:rPr>
              <a:t>data tier</a:t>
            </a:r>
            <a:r>
              <a:rPr sz="1400" b="0">
                <a:solidFill>
                  <a:srgbClr val="9DA9B5"/>
                </a:solidFill>
                <a:latin typeface="Arial"/>
              </a:rPr>
              <a:t> (extract, harmonize, label — human signs off); domain models own the </a:t>
            </a:r>
            <a:r>
              <a:rPr sz="1400" b="1">
                <a:solidFill>
                  <a:srgbClr val="ECEFF3"/>
                </a:solidFill>
                <a:latin typeface="Arial"/>
              </a:rPr>
              <a:t>disease tier.</a:t>
            </a:r>
          </a:p>
        </p:txBody>
      </p:sp>
      <p:sp>
        <p:nvSpPr>
          <p:cNvPr id="7" name="TextBox 6"/>
          <p:cNvSpPr txBox="1"/>
          <p:nvPr/>
        </p:nvSpPr>
        <p:spPr>
          <a:xfrm>
            <a:off x="777240" y="4777486"/>
            <a:ext cx="5989320" cy="5867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Wu, JMIR 2025 (e84120) · Raji/Daneshjou/Alsentzer, NEJM AI 2025 · RadFlag, arXiv:2411.00299 · Abdullah &amp; Kim, JMIR Med Inform 2025 · ScaleMAI, arXiv:2501.03410 · Mammo-CLIP, ECCV 2024</a:t>
            </a:r>
          </a:p>
        </p:txBody>
      </p:sp>
      <p:pic>
        <p:nvPicPr>
          <p:cNvPr id="8" name="Picture 7" descr="s_2f6bf6fcb8.png"/>
          <p:cNvPicPr>
            <a:picLocks noChangeAspect="1"/>
          </p:cNvPicPr>
          <p:nvPr/>
        </p:nvPicPr>
        <p:blipFill>
          <a:blip r:embed="rId3"/>
          <a:stretch>
            <a:fillRect/>
          </a:stretch>
        </p:blipFill>
        <p:spPr>
          <a:xfrm>
            <a:off x="6995160" y="1314570"/>
            <a:ext cx="4617720" cy="4228859"/>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44348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Specialist</a:t>
            </a:r>
            <a:r>
              <a:rPr sz="1400" b="0">
                <a:solidFill>
                  <a:srgbClr val="9DA9B5"/>
                </a:solidFill>
                <a:latin typeface="Arial"/>
              </a:rPr>
              <a:t>vs</a:t>
            </a:r>
            <a:r>
              <a:rPr sz="1400" b="0">
                <a:solidFill>
                  <a:srgbClr val="9DA9B5"/>
                </a:solidFill>
                <a:latin typeface="Arial"/>
              </a:rPr>
              <a:t>Generalist</a:t>
            </a:r>
            <a:r>
              <a:rPr sz="1400" b="0">
                <a:solidFill>
                  <a:srgbClr val="9DA9B5"/>
                </a:solidFill>
                <a:latin typeface="Arial"/>
              </a:rPr>
              <a:t>·</a:t>
            </a:r>
            <a:r>
              <a:rPr sz="1400" b="0">
                <a:solidFill>
                  <a:srgbClr val="9DA9B5"/>
                </a:solidFill>
                <a:latin typeface="Arial"/>
              </a:rPr>
              <a:t>an open question</a:t>
            </a:r>
          </a:p>
        </p:txBody>
      </p:sp>
      <p:sp>
        <p:nvSpPr>
          <p:cNvPr id="4" name="TextBox 3"/>
          <p:cNvSpPr txBox="1"/>
          <p:nvPr/>
        </p:nvSpPr>
        <p:spPr>
          <a:xfrm>
            <a:off x="777240" y="2789936"/>
            <a:ext cx="10607040" cy="1416303"/>
          </a:xfrm>
          <a:prstGeom prst="rect">
            <a:avLst/>
          </a:prstGeom>
          <a:noFill/>
        </p:spPr>
        <p:txBody>
          <a:bodyPr wrap="square" lIns="25400" rIns="25400" tIns="12700" bIns="12700">
            <a:noAutofit/>
          </a:bodyPr>
          <a:lstStyle/>
          <a:p>
            <a:pPr algn="l">
              <a:lnSpc>
                <a:spcPct val="106000"/>
              </a:lnSpc>
              <a:spcAft>
                <a:spcPts val="400"/>
              </a:spcAft>
            </a:pPr>
            <a:r>
              <a:rPr sz="4400" b="0">
                <a:solidFill>
                  <a:srgbClr val="ECEFF3"/>
                </a:solidFill>
                <a:latin typeface="Arial"/>
              </a:rPr>
              <a:t>Will the generalists </a:t>
            </a:r>
            <a:r>
              <a:rPr sz="4400" b="0">
                <a:solidFill>
                  <a:srgbClr val="E7AC51"/>
                </a:solidFill>
                <a:latin typeface="Arial"/>
              </a:rPr>
              <a:t>absorb the field?</a:t>
            </a:r>
          </a:p>
        </p:txBody>
      </p:sp>
      <p:sp>
        <p:nvSpPr>
          <p:cNvPr id="5" name="TextBox 4"/>
          <p:cNvSpPr txBox="1"/>
          <p:nvPr/>
        </p:nvSpPr>
        <p:spPr>
          <a:xfrm>
            <a:off x="777240" y="4206240"/>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Every model in this talk was </a:t>
            </a:r>
            <a:r>
              <a:rPr sz="1400" b="1">
                <a:solidFill>
                  <a:srgbClr val="ECEFF3"/>
                </a:solidFill>
                <a:latin typeface="Arial"/>
              </a:rPr>
              <a:t>purpose-built.</a:t>
            </a:r>
            <a:r>
              <a:rPr sz="1400" b="0">
                <a:solidFill>
                  <a:srgbClr val="9DA9B5"/>
                </a:solidFill>
                <a:latin typeface="Arial"/>
              </a:rPr>
              <a:t> The frontier models from OpenAI, Google, and Anthropic were not built for medicine — yet they improve every few months. </a:t>
            </a:r>
            <a:r>
              <a:rPr sz="1400" b="1">
                <a:solidFill>
                  <a:srgbClr val="ECEFF3"/>
                </a:solidFill>
                <a:latin typeface="Arial"/>
              </a:rPr>
              <a:t>Do we still build our own?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FRONTIER MODELS</a:t>
            </a:r>
          </a:p>
        </p:txBody>
      </p:sp>
      <p:sp>
        <p:nvSpPr>
          <p:cNvPr id="4" name="TextBox 3"/>
          <p:cNvSpPr txBox="1"/>
          <p:nvPr/>
        </p:nvSpPr>
        <p:spPr>
          <a:xfrm>
            <a:off x="777240" y="2495550"/>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Where the generalists </a:t>
            </a:r>
            <a:r>
              <a:rPr sz="2600" b="0">
                <a:solidFill>
                  <a:srgbClr val="E7AC51"/>
                </a:solidFill>
                <a:latin typeface="Arial"/>
              </a:rPr>
              <a:t>already perform well.</a:t>
            </a:r>
          </a:p>
        </p:txBody>
      </p:sp>
      <p:sp>
        <p:nvSpPr>
          <p:cNvPr id="5" name="TextBox 4"/>
          <p:cNvSpPr txBox="1"/>
          <p:nvPr/>
        </p:nvSpPr>
        <p:spPr>
          <a:xfrm>
            <a:off x="777240" y="3029966"/>
            <a:ext cx="10607040" cy="801623"/>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Medical knowledge:</a:t>
            </a:r>
            <a:r>
              <a:rPr sz="1400" b="0">
                <a:solidFill>
                  <a:srgbClr val="9DA9B5"/>
                </a:solidFill>
                <a:latin typeface="Arial"/>
              </a:rPr>
              <a:t> frontier models score </a:t>
            </a:r>
            <a:r>
              <a:rPr sz="1400" b="1">
                <a:solidFill>
                  <a:srgbClr val="ECEFF3"/>
                </a:solidFill>
                <a:latin typeface="Arial"/>
              </a:rPr>
              <a:t>~90%+ on USMLE-style exams</a:t>
            </a:r>
            <a:r>
              <a:rPr sz="1400" b="0">
                <a:solidFill>
                  <a:srgbClr val="9DA9B5"/>
                </a:solidFill>
                <a:latin typeface="Arial"/>
              </a:rPr>
              <a:t> (Med-Gemini 91.1%), across the breadth of medicine. </a:t>
            </a:r>
            <a:r>
              <a:rPr sz="1400" b="1">
                <a:solidFill>
                  <a:srgbClr val="ECEFF3"/>
                </a:solidFill>
                <a:latin typeface="Arial"/>
              </a:rPr>
              <a:t>Rapid adaptation:</a:t>
            </a:r>
            <a:r>
              <a:rPr sz="1400" b="0">
                <a:solidFill>
                  <a:srgbClr val="9DA9B5"/>
                </a:solidFill>
                <a:latin typeface="Arial"/>
              </a:rPr>
              <a:t> fine-tuned on small labeled sets they often exceed bespoke models, and generalize better across sites, scanners, and populations.</a:t>
            </a:r>
          </a:p>
        </p:txBody>
      </p:sp>
      <p:sp>
        <p:nvSpPr>
          <p:cNvPr id="6" name="Rounded Rectangle 5"/>
          <p:cNvSpPr/>
          <p:nvPr/>
        </p:nvSpPr>
        <p:spPr>
          <a:xfrm>
            <a:off x="777240" y="3831590"/>
            <a:ext cx="2835020"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USMLE-style: </a:t>
            </a:r>
            <a:r>
              <a:rPr sz="1100">
                <a:solidFill>
                  <a:srgbClr val="ECEFF3"/>
                </a:solidFill>
                <a:latin typeface="Consolas"/>
              </a:rPr>
              <a:t>~91%</a:t>
            </a:r>
            <a:r>
              <a:rPr sz="1100">
                <a:solidFill>
                  <a:srgbClr val="ECEFF3"/>
                </a:solidFill>
                <a:latin typeface="Consolas"/>
              </a:rPr>
              <a:t> (Med-Gemini)</a:t>
            </a:r>
          </a:p>
        </p:txBody>
      </p:sp>
      <p:sp>
        <p:nvSpPr>
          <p:cNvPr id="7" name="Rectangle 6"/>
          <p:cNvSpPr/>
          <p:nvPr/>
        </p:nvSpPr>
        <p:spPr>
          <a:xfrm>
            <a:off x="777240" y="383159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703700" y="3831590"/>
            <a:ext cx="5022596"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2D CXR reports </a:t>
            </a:r>
            <a:r>
              <a:rPr sz="1100">
                <a:solidFill>
                  <a:srgbClr val="ECEFF3"/>
                </a:solidFill>
                <a:latin typeface="Consolas"/>
              </a:rPr>
              <a:t>"equivalent or better"</a:t>
            </a:r>
            <a:r>
              <a:rPr sz="1100">
                <a:solidFill>
                  <a:srgbClr val="ECEFF3"/>
                </a:solidFill>
                <a:latin typeface="Consolas"/>
              </a:rPr>
              <a:t> in </a:t>
            </a:r>
            <a:r>
              <a:rPr sz="1100">
                <a:solidFill>
                  <a:srgbClr val="ECEFF3"/>
                </a:solidFill>
                <a:latin typeface="Consolas"/>
              </a:rPr>
              <a:t>43–96%</a:t>
            </a:r>
            <a:r>
              <a:rPr sz="1100">
                <a:solidFill>
                  <a:srgbClr val="ECEFF3"/>
                </a:solidFill>
                <a:latin typeface="Consolas"/>
              </a:rPr>
              <a:t> of cases</a:t>
            </a:r>
          </a:p>
        </p:txBody>
      </p:sp>
      <p:sp>
        <p:nvSpPr>
          <p:cNvPr id="9" name="Rectangle 8"/>
          <p:cNvSpPr/>
          <p:nvPr/>
        </p:nvSpPr>
        <p:spPr>
          <a:xfrm>
            <a:off x="3703700" y="383159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4270502"/>
            <a:ext cx="350812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exceeded prior SOTA on </a:t>
            </a:r>
            <a:r>
              <a:rPr sz="1100">
                <a:solidFill>
                  <a:srgbClr val="ECEFF3"/>
                </a:solidFill>
                <a:latin typeface="Consolas"/>
              </a:rPr>
              <a:t>17/20</a:t>
            </a:r>
            <a:r>
              <a:rPr sz="1100">
                <a:solidFill>
                  <a:srgbClr val="ECEFF3"/>
                </a:solidFill>
                <a:latin typeface="Consolas"/>
              </a:rPr>
              <a:t> CXR tasks</a:t>
            </a:r>
          </a:p>
        </p:txBody>
      </p:sp>
      <p:sp>
        <p:nvSpPr>
          <p:cNvPr id="11" name="Rectangle 10"/>
          <p:cNvSpPr/>
          <p:nvPr/>
        </p:nvSpPr>
        <p:spPr>
          <a:xfrm>
            <a:off x="777240" y="4270502"/>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764278"/>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Med-Gemini — Yang et al., arXiv:2405.03162, 2024 (preprint)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FRONTIER MODELS</a:t>
            </a:r>
          </a:p>
        </p:txBody>
      </p:sp>
      <p:sp>
        <p:nvSpPr>
          <p:cNvPr id="4" name="TextBox 3"/>
          <p:cNvSpPr txBox="1"/>
          <p:nvPr/>
        </p:nvSpPr>
        <p:spPr>
          <a:xfrm>
            <a:off x="777240" y="2124964"/>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Where they still fall short — </a:t>
            </a:r>
            <a:r>
              <a:rPr sz="2600" b="0">
                <a:solidFill>
                  <a:srgbClr val="E7AC51"/>
                </a:solidFill>
                <a:latin typeface="Arial"/>
              </a:rPr>
              <a:t>the image itself.</a:t>
            </a:r>
          </a:p>
        </p:txBody>
      </p:sp>
      <p:sp>
        <p:nvSpPr>
          <p:cNvPr id="5" name="TextBox 4"/>
          <p:cNvSpPr txBox="1"/>
          <p:nvPr/>
        </p:nvSpPr>
        <p:spPr>
          <a:xfrm>
            <a:off x="777240" y="3029204"/>
            <a:ext cx="5989320" cy="1029208"/>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Their strength is </a:t>
            </a:r>
            <a:r>
              <a:rPr sz="1400" b="1">
                <a:solidFill>
                  <a:srgbClr val="ECEFF3"/>
                </a:solidFill>
                <a:latin typeface="Arial"/>
              </a:rPr>
              <a:t>text, not image content.</a:t>
            </a:r>
            <a:r>
              <a:rPr sz="1400" b="0">
                <a:solidFill>
                  <a:srgbClr val="9DA9B5"/>
                </a:solidFill>
                <a:latin typeface="Arial"/>
              </a:rPr>
              <a:t> On radiology interpretation, general VLM diagnostic accuracy ranges only </a:t>
            </a:r>
            <a:r>
              <a:rPr sz="1400" b="1">
                <a:solidFill>
                  <a:srgbClr val="ECEFF3"/>
                </a:solidFill>
                <a:latin typeface="Arial"/>
              </a:rPr>
              <a:t>~8–29%</a:t>
            </a:r>
            <a:r>
              <a:rPr sz="1400" b="0">
                <a:solidFill>
                  <a:srgbClr val="9DA9B5"/>
                </a:solidFill>
                <a:latin typeface="Arial"/>
              </a:rPr>
              <a:t>, and roughly </a:t>
            </a:r>
            <a:r>
              <a:rPr sz="1400" b="1">
                <a:solidFill>
                  <a:srgbClr val="ECEFF3"/>
                </a:solidFill>
                <a:latin typeface="Arial"/>
              </a:rPr>
              <a:t>22%</a:t>
            </a:r>
            <a:r>
              <a:rPr sz="1400" b="0">
                <a:solidFill>
                  <a:srgbClr val="9DA9B5"/>
                </a:solidFill>
                <a:latin typeface="Arial"/>
              </a:rPr>
              <a:t> of generated reports contain factual errors.</a:t>
            </a:r>
          </a:p>
        </p:txBody>
      </p:sp>
      <p:sp>
        <p:nvSpPr>
          <p:cNvPr id="6" name="TextBox 5"/>
          <p:cNvSpPr txBox="1"/>
          <p:nvPr/>
        </p:nvSpPr>
        <p:spPr>
          <a:xfrm>
            <a:off x="777240" y="4058412"/>
            <a:ext cx="598932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Purpose-built </a:t>
            </a:r>
            <a:r>
              <a:rPr sz="1400" b="1">
                <a:solidFill>
                  <a:srgbClr val="ECEFF3"/>
                </a:solidFill>
                <a:latin typeface="Arial"/>
              </a:rPr>
              <a:t>RadFM outperforms GPT-4V</a:t>
            </a:r>
            <a:r>
              <a:rPr sz="1400" b="0">
                <a:solidFill>
                  <a:srgbClr val="9DA9B5"/>
                </a:solidFill>
                <a:latin typeface="Arial"/>
              </a:rPr>
              <a:t> on radiology tasks. And 3D lags: Med-Gemini-</a:t>
            </a:r>
            <a:r>
              <a:rPr sz="1400" b="1">
                <a:solidFill>
                  <a:srgbClr val="ECEFF3"/>
                </a:solidFill>
                <a:latin typeface="Arial"/>
              </a:rPr>
              <a:t>3D</a:t>
            </a:r>
            <a:r>
              <a:rPr sz="1400" b="0">
                <a:solidFill>
                  <a:srgbClr val="9DA9B5"/>
                </a:solidFill>
                <a:latin typeface="Arial"/>
              </a:rPr>
              <a:t> CT reports were only </a:t>
            </a:r>
            <a:r>
              <a:rPr sz="1400" b="1">
                <a:solidFill>
                  <a:srgbClr val="ECEFF3"/>
                </a:solidFill>
                <a:latin typeface="Arial"/>
              </a:rPr>
              <a:t>53% clinically acceptable</a:t>
            </a:r>
            <a:r>
              <a:rPr sz="1400" b="0">
                <a:solidFill>
                  <a:srgbClr val="9DA9B5"/>
                </a:solidFill>
                <a:latin typeface="Arial"/>
              </a:rPr>
              <a:t> — fine for a 2D film, less so for a volume.</a:t>
            </a:r>
          </a:p>
        </p:txBody>
      </p:sp>
      <p:sp>
        <p:nvSpPr>
          <p:cNvPr id="7" name="TextBox 6"/>
          <p:cNvSpPr txBox="1"/>
          <p:nvPr/>
        </p:nvSpPr>
        <p:spPr>
          <a:xfrm>
            <a:off x="777240" y="4860036"/>
            <a:ext cx="5989320" cy="4216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Visual LLMs in Radiology, Life (MDPI) 2026;16(1):66 (PMID 41598221) · RadFM — Wu et al., Nat Commun 2025 · Med-Gemini, 2024</a:t>
            </a:r>
          </a:p>
        </p:txBody>
      </p:sp>
      <p:pic>
        <p:nvPicPr>
          <p:cNvPr id="8" name="Picture 7" descr="s_71478afbef.png"/>
          <p:cNvPicPr>
            <a:picLocks noChangeAspect="1"/>
          </p:cNvPicPr>
          <p:nvPr/>
        </p:nvPicPr>
        <p:blipFill>
          <a:blip r:embed="rId3"/>
          <a:stretch>
            <a:fillRect/>
          </a:stretch>
        </p:blipFill>
        <p:spPr>
          <a:xfrm>
            <a:off x="6995160" y="1825625"/>
            <a:ext cx="4617720" cy="320675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FRONTIER MODELS</a:t>
            </a:r>
          </a:p>
        </p:txBody>
      </p:sp>
      <p:sp>
        <p:nvSpPr>
          <p:cNvPr id="4" name="TextBox 3"/>
          <p:cNvSpPr txBox="1"/>
          <p:nvPr/>
        </p:nvSpPr>
        <p:spPr>
          <a:xfrm>
            <a:off x="777240" y="1724152"/>
            <a:ext cx="5989320" cy="904240"/>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Specializing a model </a:t>
            </a:r>
            <a:r>
              <a:rPr sz="2600" b="0">
                <a:solidFill>
                  <a:srgbClr val="E7AC51"/>
                </a:solidFill>
                <a:latin typeface="Arial"/>
              </a:rPr>
              <a:t>does not make it safer.</a:t>
            </a:r>
          </a:p>
        </p:txBody>
      </p:sp>
      <p:sp>
        <p:nvSpPr>
          <p:cNvPr id="5" name="TextBox 4"/>
          <p:cNvSpPr txBox="1"/>
          <p:nvPr/>
        </p:nvSpPr>
        <p:spPr>
          <a:xfrm>
            <a:off x="777240" y="2628392"/>
            <a:ext cx="5989320" cy="1029208"/>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Medical hallucination is not one failure but many — </a:t>
            </a:r>
            <a:r>
              <a:rPr sz="1400" b="1">
                <a:solidFill>
                  <a:srgbClr val="ECEFF3"/>
                </a:solidFill>
                <a:latin typeface="Arial"/>
              </a:rPr>
              <a:t>factual errors, outdated references, spurious correlations, fabricated sources, and broken chains of reasoning</a:t>
            </a:r>
            <a:r>
              <a:rPr sz="1400" b="0">
                <a:solidFill>
                  <a:srgbClr val="9DA9B5"/>
                </a:solidFill>
                <a:latin typeface="Arial"/>
              </a:rPr>
              <a:t> — across diagnosis, procedure, and research.</a:t>
            </a:r>
          </a:p>
        </p:txBody>
      </p:sp>
      <p:sp>
        <p:nvSpPr>
          <p:cNvPr id="6" name="TextBox 5"/>
          <p:cNvSpPr txBox="1"/>
          <p:nvPr/>
        </p:nvSpPr>
        <p:spPr>
          <a:xfrm>
            <a:off x="777240" y="3657600"/>
            <a:ext cx="5989320" cy="1029208"/>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On a hallucination benchmark (</a:t>
            </a:r>
            <a:r>
              <a:rPr sz="1400" b="1">
                <a:solidFill>
                  <a:srgbClr val="ECEFF3"/>
                </a:solidFill>
                <a:latin typeface="Arial"/>
              </a:rPr>
              <a:t>Med-HALT, 2025</a:t>
            </a:r>
            <a:r>
              <a:rPr sz="1400" b="0">
                <a:solidFill>
                  <a:srgbClr val="9DA9B5"/>
                </a:solidFill>
                <a:latin typeface="Arial"/>
              </a:rPr>
              <a:t>), general-purpose models were hallucination-free </a:t>
            </a:r>
            <a:r>
              <a:rPr sz="1400" b="1">
                <a:solidFill>
                  <a:srgbClr val="ECEFF3"/>
                </a:solidFill>
                <a:latin typeface="Arial"/>
              </a:rPr>
              <a:t>76.6%</a:t>
            </a:r>
            <a:r>
              <a:rPr sz="1400" b="0">
                <a:solidFill>
                  <a:srgbClr val="9DA9B5"/>
                </a:solidFill>
                <a:latin typeface="Arial"/>
              </a:rPr>
              <a:t> of the time, versus only </a:t>
            </a:r>
            <a:r>
              <a:rPr sz="1400" b="1">
                <a:solidFill>
                  <a:srgbClr val="ECEFF3"/>
                </a:solidFill>
                <a:latin typeface="Arial"/>
              </a:rPr>
              <a:t>51.3%</a:t>
            </a:r>
            <a:r>
              <a:rPr sz="1400" b="0">
                <a:solidFill>
                  <a:srgbClr val="9DA9B5"/>
                </a:solidFill>
                <a:latin typeface="Arial"/>
              </a:rPr>
              <a:t> for medically "specialized" models. Narrowing a model can erode its calibration.</a:t>
            </a:r>
          </a:p>
        </p:txBody>
      </p:sp>
      <p:sp>
        <p:nvSpPr>
          <p:cNvPr id="7" name="TextBox 6"/>
          <p:cNvSpPr txBox="1"/>
          <p:nvPr/>
        </p:nvSpPr>
        <p:spPr>
          <a:xfrm>
            <a:off x="777240" y="4686808"/>
            <a:ext cx="598932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The specialist-versus-generalist question is unsettled — the instinct to </a:t>
            </a:r>
            <a:r>
              <a:rPr sz="1400" b="1">
                <a:solidFill>
                  <a:srgbClr val="ECEFF3"/>
                </a:solidFill>
                <a:latin typeface="Arial"/>
              </a:rPr>
              <a:t>buy the medical one may be wrong.</a:t>
            </a:r>
          </a:p>
        </p:txBody>
      </p:sp>
      <p:sp>
        <p:nvSpPr>
          <p:cNvPr id="8" name="TextBox 7"/>
          <p:cNvSpPr txBox="1"/>
          <p:nvPr/>
        </p:nvSpPr>
        <p:spPr>
          <a:xfrm>
            <a:off x="777240" y="5260848"/>
            <a:ext cx="5989320" cy="4216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Taxonomy: Kim, Jeong et al., "Medical Hallucination in Foundation Models," arXiv 2503.05777 (2025) · Med-HALT, arXiv 2307.15343</a:t>
            </a:r>
          </a:p>
        </p:txBody>
      </p:sp>
      <p:sp>
        <p:nvSpPr>
          <p:cNvPr id="9" name="Rounded Rectangle 8"/>
          <p:cNvSpPr/>
          <p:nvPr/>
        </p:nvSpPr>
        <p:spPr>
          <a:xfrm>
            <a:off x="6912864" y="1037844"/>
            <a:ext cx="4782312" cy="4782312"/>
          </a:xfrm>
          <a:prstGeom prst="roundRect">
            <a:avLst/>
          </a:prstGeom>
          <a:solidFill>
            <a:srgbClr val="FFFFFF"/>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_5f52a8ba52.png"/>
          <p:cNvPicPr>
            <a:picLocks noChangeAspect="1"/>
          </p:cNvPicPr>
          <p:nvPr/>
        </p:nvPicPr>
        <p:blipFill>
          <a:blip r:embed="rId3"/>
          <a:stretch>
            <a:fillRect/>
          </a:stretch>
        </p:blipFill>
        <p:spPr>
          <a:xfrm>
            <a:off x="6995160" y="1120140"/>
            <a:ext cx="4617720" cy="461772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FRONTIER MODELS</a:t>
            </a:r>
          </a:p>
        </p:txBody>
      </p:sp>
      <p:sp>
        <p:nvSpPr>
          <p:cNvPr id="4" name="TextBox 3"/>
          <p:cNvSpPr txBox="1"/>
          <p:nvPr/>
        </p:nvSpPr>
        <p:spPr>
          <a:xfrm>
            <a:off x="777240" y="2448687"/>
            <a:ext cx="10607040" cy="591312"/>
          </a:xfrm>
          <a:prstGeom prst="rect">
            <a:avLst/>
          </a:prstGeom>
          <a:noFill/>
        </p:spPr>
        <p:txBody>
          <a:bodyPr wrap="square" lIns="25400" rIns="25400" tIns="12700" bIns="12700">
            <a:noAutofit/>
          </a:bodyPr>
          <a:lstStyle/>
          <a:p>
            <a:pPr algn="l">
              <a:lnSpc>
                <a:spcPct val="106000"/>
              </a:lnSpc>
              <a:spcAft>
                <a:spcPts val="400"/>
              </a:spcAft>
            </a:pPr>
            <a:r>
              <a:rPr sz="3000" b="0">
                <a:solidFill>
                  <a:srgbClr val="ECEFF3"/>
                </a:solidFill>
                <a:latin typeface="Arial"/>
              </a:rPr>
              <a:t>The thesis: </a:t>
            </a:r>
            <a:r>
              <a:rPr sz="3000" b="0">
                <a:solidFill>
                  <a:srgbClr val="E7AC51"/>
                </a:solidFill>
                <a:latin typeface="Arial"/>
              </a:rPr>
              <a:t>the "bitter lesson."</a:t>
            </a:r>
          </a:p>
        </p:txBody>
      </p:sp>
      <p:sp>
        <p:nvSpPr>
          <p:cNvPr id="5" name="TextBox 4"/>
          <p:cNvSpPr txBox="1"/>
          <p:nvPr/>
        </p:nvSpPr>
        <p:spPr>
          <a:xfrm>
            <a:off x="777240" y="3039998"/>
            <a:ext cx="10607040" cy="1087374"/>
          </a:xfrm>
          <a:prstGeom prst="rect">
            <a:avLst/>
          </a:prstGeom>
          <a:noFill/>
        </p:spPr>
        <p:txBody>
          <a:bodyPr wrap="square" lIns="25400" rIns="25400" tIns="12700" bIns="12700">
            <a:noAutofit/>
          </a:bodyPr>
          <a:lstStyle/>
          <a:p>
            <a:pPr algn="l">
              <a:lnSpc>
                <a:spcPct val="130000"/>
              </a:lnSpc>
              <a:spcAft>
                <a:spcPts val="400"/>
              </a:spcAft>
            </a:pPr>
            <a:r>
              <a:rPr sz="1900" b="0">
                <a:solidFill>
                  <a:srgbClr val="ECEFF3"/>
                </a:solidFill>
                <a:latin typeface="Arial"/>
              </a:rPr>
              <a:t>Over decades, </a:t>
            </a:r>
            <a:r>
              <a:rPr sz="1900" b="1">
                <a:solidFill>
                  <a:srgbClr val="ECEFF3"/>
                </a:solidFill>
                <a:latin typeface="Arial"/>
              </a:rPr>
              <a:t>general methods that scale with data and compute</a:t>
            </a:r>
            <a:r>
              <a:rPr sz="1900" b="0">
                <a:solidFill>
                  <a:srgbClr val="ECEFF3"/>
                </a:solidFill>
                <a:latin typeface="Arial"/>
              </a:rPr>
              <a:t> have repeatedly outperformed systems built on handcrafted domain knowledge — in chess, in vision, in language.</a:t>
            </a:r>
          </a:p>
        </p:txBody>
      </p:sp>
      <p:sp>
        <p:nvSpPr>
          <p:cNvPr id="6" name="TextBox 5"/>
          <p:cNvSpPr txBox="1"/>
          <p:nvPr/>
        </p:nvSpPr>
        <p:spPr>
          <a:xfrm>
            <a:off x="777240" y="4127373"/>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Radiology AI has spent fifteen years handcrafting. The trajectory of other fields suggests the generalists eventually take over perception too. </a:t>
            </a:r>
            <a:r>
              <a:rPr sz="1400" b="1">
                <a:solidFill>
                  <a:srgbClr val="ECEFF3"/>
                </a:solidFill>
                <a:latin typeface="Arial"/>
              </a:rPr>
              <a:t>The open question is when — and what we build in the meantime.</a:t>
            </a:r>
          </a:p>
        </p:txBody>
      </p:sp>
      <p:sp>
        <p:nvSpPr>
          <p:cNvPr id="7" name="TextBox 6"/>
          <p:cNvSpPr txBox="1"/>
          <p:nvPr/>
        </p:nvSpPr>
        <p:spPr>
          <a:xfrm>
            <a:off x="777240" y="4701413"/>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Rich Sutton, "The Bitter Lesson," 2019 essay (an argument, not a study)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FRONTIER MODELS</a:t>
            </a:r>
          </a:p>
        </p:txBody>
      </p:sp>
      <p:sp>
        <p:nvSpPr>
          <p:cNvPr id="4" name="TextBox 3"/>
          <p:cNvSpPr txBox="1"/>
          <p:nvPr/>
        </p:nvSpPr>
        <p:spPr>
          <a:xfrm>
            <a:off x="777240" y="2336800"/>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A likely answer: </a:t>
            </a:r>
            <a:r>
              <a:rPr sz="2600" b="0">
                <a:solidFill>
                  <a:srgbClr val="E7AC51"/>
                </a:solidFill>
                <a:latin typeface="Arial"/>
              </a:rPr>
              <a:t>orchestration.</a:t>
            </a:r>
          </a:p>
        </p:txBody>
      </p:sp>
      <p:sp>
        <p:nvSpPr>
          <p:cNvPr id="5" name="TextBox 4"/>
          <p:cNvSpPr txBox="1"/>
          <p:nvPr/>
        </p:nvSpPr>
        <p:spPr>
          <a:xfrm>
            <a:off x="777240" y="2871215"/>
            <a:ext cx="1060704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The probable future is a </a:t>
            </a:r>
            <a:r>
              <a:rPr sz="1400" b="1">
                <a:solidFill>
                  <a:srgbClr val="ECEFF3"/>
                </a:solidFill>
                <a:latin typeface="Arial"/>
              </a:rPr>
              <a:t>stack</a:t>
            </a:r>
            <a:r>
              <a:rPr sz="1400" b="0">
                <a:solidFill>
                  <a:srgbClr val="9DA9B5"/>
                </a:solidFill>
                <a:latin typeface="Arial"/>
              </a:rPr>
              <a:t>, not a replacement. A </a:t>
            </a:r>
            <a:r>
              <a:rPr sz="1400" b="1">
                <a:solidFill>
                  <a:srgbClr val="ECEFF3"/>
                </a:solidFill>
                <a:latin typeface="Arial"/>
              </a:rPr>
              <a:t>frontier model as the reasoning and orchestration layer</a:t>
            </a:r>
            <a:r>
              <a:rPr sz="1400" b="0">
                <a:solidFill>
                  <a:srgbClr val="9DA9B5"/>
                </a:solidFill>
                <a:latin typeface="Arial"/>
              </a:rPr>
              <a:t> — it reads the EHR, talks to the patient, writes the report, decides the next step — calling </a:t>
            </a:r>
            <a:r>
              <a:rPr sz="1400" b="1">
                <a:solidFill>
                  <a:srgbClr val="ECEFF3"/>
                </a:solidFill>
                <a:latin typeface="Arial"/>
              </a:rPr>
              <a:t>specialist models as instruments:</a:t>
            </a:r>
            <a:r>
              <a:rPr sz="1400" b="0">
                <a:solidFill>
                  <a:srgbClr val="9DA9B5"/>
                </a:solidFill>
                <a:latin typeface="Arial"/>
              </a:rPr>
              <a:t> the detector, the risk model, the BAC quantifier, the tissue model.</a:t>
            </a:r>
          </a:p>
        </p:txBody>
      </p:sp>
      <p:sp>
        <p:nvSpPr>
          <p:cNvPr id="6" name="Rounded Rectangle 5"/>
          <p:cNvSpPr/>
          <p:nvPr/>
        </p:nvSpPr>
        <p:spPr>
          <a:xfrm>
            <a:off x="777240" y="3672840"/>
            <a:ext cx="350812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generalist = reasoning &amp; orchestration</a:t>
            </a:r>
          </a:p>
        </p:txBody>
      </p:sp>
      <p:sp>
        <p:nvSpPr>
          <p:cNvPr id="7" name="Rectangle 6"/>
          <p:cNvSpPr/>
          <p:nvPr/>
        </p:nvSpPr>
        <p:spPr>
          <a:xfrm>
            <a:off x="777240" y="367284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76801" y="3672840"/>
            <a:ext cx="350812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specialists = the instruments it calls</a:t>
            </a:r>
          </a:p>
        </p:txBody>
      </p:sp>
      <p:sp>
        <p:nvSpPr>
          <p:cNvPr id="9" name="Rectangle 8"/>
          <p:cNvSpPr/>
          <p:nvPr/>
        </p:nvSpPr>
        <p:spPr>
          <a:xfrm>
            <a:off x="4376801" y="367284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4111752"/>
            <a:ext cx="3676395"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increasingly </a:t>
            </a:r>
            <a:r>
              <a:rPr sz="1100">
                <a:solidFill>
                  <a:srgbClr val="ECEFF3"/>
                </a:solidFill>
                <a:latin typeface="Consolas"/>
              </a:rPr>
              <a:t>domain-adapted</a:t>
            </a:r>
            <a:r>
              <a:rPr sz="1100">
                <a:solidFill>
                  <a:srgbClr val="ECEFF3"/>
                </a:solidFill>
                <a:latin typeface="Consolas"/>
              </a:rPr>
              <a:t> (Med-Gemini)</a:t>
            </a:r>
          </a:p>
        </p:txBody>
      </p:sp>
      <p:sp>
        <p:nvSpPr>
          <p:cNvPr id="11" name="Rectangle 10"/>
          <p:cNvSpPr/>
          <p:nvPr/>
        </p:nvSpPr>
        <p:spPr>
          <a:xfrm>
            <a:off x="777240" y="4111752"/>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605528"/>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Measurement still rewards purpose-built precision and calibration. "Agentic radiology": the generalist conducts; the specialists play.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FRONTIER MODELS</a:t>
            </a:r>
          </a:p>
        </p:txBody>
      </p:sp>
      <p:sp>
        <p:nvSpPr>
          <p:cNvPr id="4" name="TextBox 3"/>
          <p:cNvSpPr txBox="1"/>
          <p:nvPr/>
        </p:nvSpPr>
        <p:spPr>
          <a:xfrm>
            <a:off x="777240" y="2141346"/>
            <a:ext cx="10607040" cy="591312"/>
          </a:xfrm>
          <a:prstGeom prst="rect">
            <a:avLst/>
          </a:prstGeom>
          <a:noFill/>
        </p:spPr>
        <p:txBody>
          <a:bodyPr wrap="square" lIns="25400" rIns="25400" tIns="12700" bIns="12700">
            <a:noAutofit/>
          </a:bodyPr>
          <a:lstStyle/>
          <a:p>
            <a:pPr algn="l">
              <a:lnSpc>
                <a:spcPct val="106000"/>
              </a:lnSpc>
              <a:spcAft>
                <a:spcPts val="400"/>
              </a:spcAft>
            </a:pPr>
            <a:r>
              <a:rPr sz="3000" b="0">
                <a:solidFill>
                  <a:srgbClr val="ECEFF3"/>
                </a:solidFill>
                <a:latin typeface="Arial"/>
              </a:rPr>
              <a:t>What it means </a:t>
            </a:r>
            <a:r>
              <a:rPr sz="3000" b="0">
                <a:solidFill>
                  <a:srgbClr val="E7AC51"/>
                </a:solidFill>
                <a:latin typeface="Arial"/>
              </a:rPr>
              <a:t>for this room.</a:t>
            </a:r>
          </a:p>
        </p:txBody>
      </p:sp>
      <p:sp>
        <p:nvSpPr>
          <p:cNvPr id="5" name="Rounded Rectangle 4"/>
          <p:cNvSpPr/>
          <p:nvPr/>
        </p:nvSpPr>
        <p:spPr>
          <a:xfrm>
            <a:off x="777240" y="2732658"/>
            <a:ext cx="5611558"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Value moves</a:t>
            </a:r>
            <a:r>
              <a:rPr sz="1100">
                <a:solidFill>
                  <a:srgbClr val="ECEFF3"/>
                </a:solidFill>
                <a:latin typeface="Consolas"/>
              </a:rPr>
              <a:t> to data, validation, integration — not architecture</a:t>
            </a:r>
          </a:p>
        </p:txBody>
      </p:sp>
      <p:sp>
        <p:nvSpPr>
          <p:cNvPr id="6" name="Rectangle 5"/>
          <p:cNvSpPr/>
          <p:nvPr/>
        </p:nvSpPr>
        <p:spPr>
          <a:xfrm>
            <a:off x="777240" y="2732658"/>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3171570"/>
            <a:ext cx="5695696"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Concentration</a:t>
            </a:r>
            <a:r>
              <a:rPr sz="1100">
                <a:solidFill>
                  <a:srgbClr val="ECEFF3"/>
                </a:solidFill>
                <a:latin typeface="Consolas"/>
              </a:rPr>
              <a:t> is a governance problem: cost, sovereignty, access</a:t>
            </a:r>
          </a:p>
        </p:txBody>
      </p:sp>
      <p:sp>
        <p:nvSpPr>
          <p:cNvPr id="8" name="Rectangle 7"/>
          <p:cNvSpPr/>
          <p:nvPr/>
        </p:nvSpPr>
        <p:spPr>
          <a:xfrm>
            <a:off x="777240" y="3171570"/>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3610482"/>
            <a:ext cx="4854321" cy="365760"/>
          </a:xfrm>
          <a:prstGeom prst="roundRect">
            <a:avLst/>
          </a:prstGeom>
          <a:solidFill>
            <a:srgbClr val="1B232D"/>
          </a:solidFill>
          <a:ln w="9525">
            <a:solidFill>
              <a:srgbClr val="2A333E"/>
            </a:solidFill>
          </a:ln>
          <a:effectLst/>
        </p:spPr>
        <p:style>
          <a:lnRef idx="1">
            <a:schemeClr val="accent1"/>
          </a:lnRef>
          <a:fillRef idx="3">
            <a:schemeClr val="accent1"/>
          </a:fillRef>
          <a:effectRef idx="2">
            <a:schemeClr val="accent1"/>
          </a:effectRef>
          <a:fontRef idx="minor">
            <a:schemeClr val="lt1"/>
          </a:fontRef>
        </p:style>
        <p:txBody>
          <a:bodyPr rtlCol="0" anchor="ctr" wrap="none" lIns="109728" rIns="73152" tIns="0" bIns="0"/>
          <a:lstStyle/>
          <a:p>
            <a:pPr algn="ctr"/>
            <a:r>
              <a:rPr sz="1100">
                <a:solidFill>
                  <a:srgbClr val="ECEFF3"/>
                </a:solidFill>
                <a:latin typeface="Consolas"/>
              </a:rPr>
              <a:t>The radiologist</a:t>
            </a:r>
            <a:r>
              <a:rPr sz="1100">
                <a:solidFill>
                  <a:srgbClr val="ECEFF3"/>
                </a:solidFill>
                <a:latin typeface="Consolas"/>
              </a:rPr>
              <a:t> shifts toward validator &amp; orchestrator</a:t>
            </a:r>
          </a:p>
        </p:txBody>
      </p:sp>
      <p:sp>
        <p:nvSpPr>
          <p:cNvPr id="10" name="Rectangle 9"/>
          <p:cNvSpPr/>
          <p:nvPr/>
        </p:nvSpPr>
        <p:spPr>
          <a:xfrm>
            <a:off x="777240" y="3610482"/>
            <a:ext cx="36576" cy="36576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104258"/>
            <a:ext cx="10607040" cy="1087374"/>
          </a:xfrm>
          <a:prstGeom prst="rect">
            <a:avLst/>
          </a:prstGeom>
          <a:noFill/>
        </p:spPr>
        <p:txBody>
          <a:bodyPr wrap="square" lIns="25400" rIns="25400" tIns="12700" bIns="12700">
            <a:noAutofit/>
          </a:bodyPr>
          <a:lstStyle/>
          <a:p>
            <a:pPr algn="l">
              <a:lnSpc>
                <a:spcPct val="130000"/>
              </a:lnSpc>
              <a:spcAft>
                <a:spcPts val="400"/>
              </a:spcAft>
            </a:pPr>
            <a:r>
              <a:rPr sz="1900" b="0">
                <a:solidFill>
                  <a:srgbClr val="ECEFF3"/>
                </a:solidFill>
                <a:latin typeface="Arial"/>
              </a:rPr>
              <a:t>Whether the result is a specialist model or a frontier generalist, built in Palo Alto or in this room, it does not change what makes it safe. </a:t>
            </a:r>
            <a:r>
              <a:rPr sz="1900" b="1">
                <a:solidFill>
                  <a:srgbClr val="ECEFF3"/>
                </a:solidFill>
                <a:latin typeface="Arial"/>
              </a:rPr>
              <a:t>The bar is the same one CAD failed and MASAI cleared.</a:t>
            </a:r>
          </a:p>
        </p:txBody>
      </p:sp>
      <p:sp>
        <p:nvSpPr>
          <p:cNvPr id="12" name="TextBox 11"/>
          <p:cNvSpPr txBox="1"/>
          <p:nvPr/>
        </p:nvSpPr>
        <p:spPr>
          <a:xfrm>
            <a:off x="777240" y="5191633"/>
            <a:ext cx="10607040" cy="2565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Connects to §6 equity · bridges to §7 — the close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ADOPTION</a:t>
            </a:r>
          </a:p>
        </p:txBody>
      </p:sp>
      <p:sp>
        <p:nvSpPr>
          <p:cNvPr id="4" name="TextBox 3"/>
          <p:cNvSpPr txBox="1"/>
          <p:nvPr/>
        </p:nvSpPr>
        <p:spPr>
          <a:xfrm>
            <a:off x="777240" y="2569971"/>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One model for everything is </a:t>
            </a:r>
            <a:r>
              <a:rPr sz="2600" b="0">
                <a:solidFill>
                  <a:srgbClr val="E7AC51"/>
                </a:solidFill>
                <a:latin typeface="Arial"/>
              </a:rPr>
              <a:t>the wrong goal.</a:t>
            </a:r>
          </a:p>
        </p:txBody>
      </p:sp>
      <p:sp>
        <p:nvSpPr>
          <p:cNvPr id="5" name="TextBox 4"/>
          <p:cNvSpPr txBox="1"/>
          <p:nvPr/>
        </p:nvSpPr>
        <p:spPr>
          <a:xfrm>
            <a:off x="777240" y="3104387"/>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We chased better detection for three decades. But look at what we ask a </a:t>
            </a:r>
            <a:r>
              <a:rPr sz="1400" b="1">
                <a:solidFill>
                  <a:srgbClr val="ECEFF3"/>
                </a:solidFill>
                <a:latin typeface="Arial"/>
              </a:rPr>
              <a:t>single</a:t>
            </a:r>
            <a:r>
              <a:rPr sz="1400" b="0">
                <a:solidFill>
                  <a:srgbClr val="9DA9B5"/>
                </a:solidFill>
                <a:latin typeface="Arial"/>
              </a:rPr>
              <a:t> model to do at once:</a:t>
            </a:r>
          </a:p>
        </p:txBody>
      </p:sp>
      <p:sp>
        <p:nvSpPr>
          <p:cNvPr id="6" name="TextBox 5"/>
          <p:cNvSpPr txBox="1"/>
          <p:nvPr/>
        </p:nvSpPr>
        <p:spPr>
          <a:xfrm>
            <a:off x="777240" y="3450843"/>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01</a:t>
            </a:r>
            <a:r>
              <a:rPr sz="1400" b="0">
                <a:solidFill>
                  <a:srgbClr val="9DA9B5"/>
                </a:solidFill>
                <a:latin typeface="Arial"/>
              </a:rPr>
              <a:t>Hold up across </a:t>
            </a:r>
            <a:r>
              <a:rPr sz="1400" b="1">
                <a:solidFill>
                  <a:srgbClr val="ECEFF3"/>
                </a:solidFill>
                <a:latin typeface="Arial"/>
              </a:rPr>
              <a:t>every scanner and vendor</a:t>
            </a:r>
            <a:r>
              <a:rPr sz="1400" b="0">
                <a:solidFill>
                  <a:srgbClr val="9DA9B5"/>
                </a:solidFill>
                <a:latin typeface="Arial"/>
              </a:rPr>
              <a:t> in the field</a:t>
            </a:r>
          </a:p>
        </p:txBody>
      </p:sp>
      <p:sp>
        <p:nvSpPr>
          <p:cNvPr id="7" name="TextBox 6"/>
          <p:cNvSpPr txBox="1"/>
          <p:nvPr/>
        </p:nvSpPr>
        <p:spPr>
          <a:xfrm>
            <a:off x="777240" y="379730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02</a:t>
            </a:r>
            <a:r>
              <a:rPr sz="1400" b="0">
                <a:solidFill>
                  <a:srgbClr val="9DA9B5"/>
                </a:solidFill>
                <a:latin typeface="Arial"/>
              </a:rPr>
              <a:t>Perform in women of </a:t>
            </a:r>
            <a:r>
              <a:rPr sz="1400" b="1">
                <a:solidFill>
                  <a:srgbClr val="ECEFF3"/>
                </a:solidFill>
                <a:latin typeface="Arial"/>
              </a:rPr>
              <a:t>all ages, all densities, all risk types</a:t>
            </a:r>
          </a:p>
        </p:txBody>
      </p:sp>
      <p:sp>
        <p:nvSpPr>
          <p:cNvPr id="8" name="TextBox 7"/>
          <p:cNvSpPr txBox="1"/>
          <p:nvPr/>
        </p:nvSpPr>
        <p:spPr>
          <a:xfrm>
            <a:off x="777240" y="4143755"/>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03</a:t>
            </a:r>
            <a:r>
              <a:rPr sz="1400" b="0">
                <a:solidFill>
                  <a:srgbClr val="9DA9B5"/>
                </a:solidFill>
                <a:latin typeface="Arial"/>
              </a:rPr>
              <a:t>Serve both the </a:t>
            </a:r>
            <a:r>
              <a:rPr sz="1400" b="1">
                <a:solidFill>
                  <a:srgbClr val="ECEFF3"/>
                </a:solidFill>
                <a:latin typeface="Arial"/>
              </a:rPr>
              <a:t>expert breast radiologist</a:t>
            </a:r>
            <a:r>
              <a:rPr sz="1400" b="0">
                <a:solidFill>
                  <a:srgbClr val="9DA9B5"/>
                </a:solidFill>
                <a:latin typeface="Arial"/>
              </a:rPr>
              <a:t> and the </a:t>
            </a:r>
            <a:r>
              <a:rPr sz="1400" b="1">
                <a:solidFill>
                  <a:srgbClr val="ECEFF3"/>
                </a:solidFill>
                <a:latin typeface="Arial"/>
              </a:rPr>
              <a:t>generalist who reads mammo one day a week</a:t>
            </a:r>
          </a:p>
        </p:txBody>
      </p:sp>
      <p:sp>
        <p:nvSpPr>
          <p:cNvPr id="9" name="TextBox 8"/>
          <p:cNvSpPr txBox="1"/>
          <p:nvPr/>
        </p:nvSpPr>
        <p:spPr>
          <a:xfrm>
            <a:off x="777240" y="4490211"/>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We should seriously reframe how we consider </a:t>
            </a:r>
            <a:r>
              <a:rPr sz="1400" b="1">
                <a:solidFill>
                  <a:srgbClr val="ECEFF3"/>
                </a:solidFill>
                <a:latin typeface="Arial"/>
              </a:rPr>
              <a:t>mammography-model deployment.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ADOPTION</a:t>
            </a:r>
          </a:p>
        </p:txBody>
      </p:sp>
      <p:sp>
        <p:nvSpPr>
          <p:cNvPr id="4" name="TextBox 3"/>
          <p:cNvSpPr txBox="1"/>
          <p:nvPr/>
        </p:nvSpPr>
        <p:spPr>
          <a:xfrm>
            <a:off x="777240" y="2077211"/>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How we should deploy </a:t>
            </a:r>
            <a:r>
              <a:rPr sz="2600" b="0">
                <a:solidFill>
                  <a:srgbClr val="E7AC51"/>
                </a:solidFill>
                <a:latin typeface="Arial"/>
              </a:rPr>
              <a:t>instead.</a:t>
            </a:r>
          </a:p>
        </p:txBody>
      </p:sp>
      <p:sp>
        <p:nvSpPr>
          <p:cNvPr id="5" name="TextBox 4"/>
          <p:cNvSpPr txBox="1"/>
          <p:nvPr/>
        </p:nvSpPr>
        <p:spPr>
          <a:xfrm>
            <a:off x="777240" y="2611627"/>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Not one model imposed everywhere — three reframes:</a:t>
            </a:r>
          </a:p>
        </p:txBody>
      </p:sp>
      <p:sp>
        <p:nvSpPr>
          <p:cNvPr id="6" name="TextBox 5"/>
          <p:cNvSpPr txBox="1"/>
          <p:nvPr/>
        </p:nvSpPr>
        <p:spPr>
          <a:xfrm>
            <a:off x="777240" y="2958084"/>
            <a:ext cx="10607040" cy="801623"/>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1</a:t>
            </a:r>
            <a:r>
              <a:rPr sz="1400" b="1">
                <a:solidFill>
                  <a:srgbClr val="ECEFF3"/>
                </a:solidFill>
                <a:latin typeface="Arial"/>
              </a:rPr>
              <a:t>Operating points, not one threshold.</a:t>
            </a:r>
            <a:r>
              <a:rPr sz="1400" b="0">
                <a:solidFill>
                  <a:srgbClr val="9DA9B5"/>
                </a:solidFill>
                <a:latin typeface="Arial"/>
              </a:rPr>
              <a:t> Sensitivity vs. false positives is a </a:t>
            </a:r>
            <a:r>
              <a:rPr sz="1400" b="1">
                <a:solidFill>
                  <a:srgbClr val="ECEFF3"/>
                </a:solidFill>
                <a:latin typeface="Arial"/>
              </a:rPr>
              <a:t>value judgment</a:t>
            </a:r>
            <a:r>
              <a:rPr sz="1400" b="0">
                <a:solidFill>
                  <a:srgbClr val="9DA9B5"/>
                </a:solidFill>
                <a:latin typeface="Arial"/>
              </a:rPr>
              <a:t>, not a setting. Let a model run at a range of operating points, </a:t>
            </a:r>
            <a:r>
              <a:rPr sz="1400" b="1">
                <a:solidFill>
                  <a:srgbClr val="ECEFF3"/>
                </a:solidFill>
                <a:latin typeface="Arial"/>
              </a:rPr>
              <a:t>tailored to the site and the radiologist</a:t>
            </a:r>
            <a:r>
              <a:rPr sz="1400" b="0">
                <a:solidFill>
                  <a:srgbClr val="9DA9B5"/>
                </a:solidFill>
                <a:latin typeface="Arial"/>
              </a:rPr>
              <a:t> — the expert and the once-a-week reader don't want the same one.</a:t>
            </a:r>
          </a:p>
        </p:txBody>
      </p:sp>
      <p:sp>
        <p:nvSpPr>
          <p:cNvPr id="7" name="TextBox 6"/>
          <p:cNvSpPr txBox="1"/>
          <p:nvPr/>
        </p:nvSpPr>
        <p:spPr>
          <a:xfrm>
            <a:off x="777240" y="3759707"/>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2</a:t>
            </a:r>
            <a:r>
              <a:rPr sz="1400" b="1">
                <a:solidFill>
                  <a:srgbClr val="ECEFF3"/>
                </a:solidFill>
                <a:latin typeface="Arial"/>
              </a:rPr>
              <a:t>Multimodal — and soon.</a:t>
            </a:r>
            <a:r>
              <a:rPr sz="1400" b="0">
                <a:solidFill>
                  <a:srgbClr val="9DA9B5"/>
                </a:solidFill>
                <a:latin typeface="Arial"/>
              </a:rPr>
              <a:t> A model on imaging alone, or </a:t>
            </a:r>
            <a:r>
              <a:rPr sz="1400" b="1">
                <a:solidFill>
                  <a:srgbClr val="ECEFF3"/>
                </a:solidFill>
                <a:latin typeface="Arial"/>
              </a:rPr>
              <a:t>imaging plus basic clinical data</a:t>
            </a:r>
            <a:r>
              <a:rPr sz="1400" b="0">
                <a:solidFill>
                  <a:srgbClr val="9DA9B5"/>
                </a:solidFill>
                <a:latin typeface="Arial"/>
              </a:rPr>
              <a:t>, will end in user frustration. The model a radiologist trusts pulls in </a:t>
            </a:r>
            <a:r>
              <a:rPr sz="1400" b="1">
                <a:solidFill>
                  <a:srgbClr val="ECEFF3"/>
                </a:solidFill>
                <a:latin typeface="Arial"/>
              </a:rPr>
              <a:t>image, clinical context, risk, and history</a:t>
            </a:r>
            <a:r>
              <a:rPr sz="1400" b="0">
                <a:solidFill>
                  <a:srgbClr val="9DA9B5"/>
                </a:solidFill>
                <a:latin typeface="Arial"/>
              </a:rPr>
              <a:t> together.</a:t>
            </a:r>
          </a:p>
        </p:txBody>
      </p:sp>
      <p:sp>
        <p:nvSpPr>
          <p:cNvPr id="8" name="TextBox 7"/>
          <p:cNvSpPr txBox="1"/>
          <p:nvPr/>
        </p:nvSpPr>
        <p:spPr>
          <a:xfrm>
            <a:off x="777240" y="4333748"/>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3</a:t>
            </a:r>
            <a:r>
              <a:rPr sz="1400" b="1">
                <a:solidFill>
                  <a:srgbClr val="ECEFF3"/>
                </a:solidFill>
                <a:latin typeface="Arial"/>
              </a:rPr>
              <a:t>The integration tax.</a:t>
            </a:r>
            <a:r>
              <a:rPr sz="1400" b="0">
                <a:solidFill>
                  <a:srgbClr val="9DA9B5"/>
                </a:solidFill>
                <a:latin typeface="Arial"/>
              </a:rPr>
              <a:t> A perfect model dies if it can't reach PACS. One-off integrations don't scale; onboarding happens through a platform or vendor you already run.</a:t>
            </a:r>
          </a:p>
        </p:txBody>
      </p:sp>
      <p:sp>
        <p:nvSpPr>
          <p:cNvPr id="9" name="TextBox 8"/>
          <p:cNvSpPr txBox="1"/>
          <p:nvPr/>
        </p:nvSpPr>
        <p:spPr>
          <a:xfrm>
            <a:off x="777240" y="4907788"/>
            <a:ext cx="10607040" cy="421640"/>
          </a:xfrm>
          <a:prstGeom prst="rect">
            <a:avLst/>
          </a:prstGeom>
          <a:noFill/>
        </p:spPr>
        <p:txBody>
          <a:bodyPr wrap="square" lIns="25400" rIns="25400" tIns="12700" bIns="12700">
            <a:noAutofit/>
          </a:bodyPr>
          <a:lstStyle/>
          <a:p>
            <a:pPr algn="l">
              <a:lnSpc>
                <a:spcPct val="130000"/>
              </a:lnSpc>
              <a:spcAft>
                <a:spcPts val="400"/>
              </a:spcAft>
            </a:pPr>
            <a:r>
              <a:rPr sz="1000" b="0">
                <a:solidFill>
                  <a:srgbClr val="5C6975"/>
                </a:solidFill>
                <a:latin typeface="Consolas"/>
              </a:rPr>
              <a:t>Sharma N, et al. BMC Cancer 2023;23:460 (275,900 mammograms; multi-vendor) · Eisemann N, et al. Nat Med 2025;31:917–924 (PRAIM) · Tejani AS, et al. Radiology 2024;311:e232653 · Allen B, et al. Mayo Clin Proc Digit Health 2024;2(4)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756408"/>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Lesion</a:t>
            </a:r>
            <a:r>
              <a:rPr sz="1400" b="0">
                <a:solidFill>
                  <a:srgbClr val="9DA9B5"/>
                </a:solidFill>
                <a:latin typeface="Arial"/>
              </a:rPr>
              <a:t>→</a:t>
            </a:r>
            <a:r>
              <a:rPr sz="1400" b="0">
                <a:solidFill>
                  <a:srgbClr val="9DA9B5"/>
                </a:solidFill>
                <a:latin typeface="Arial"/>
              </a:rPr>
              <a:t>Image</a:t>
            </a:r>
            <a:r>
              <a:rPr sz="1400" b="0">
                <a:solidFill>
                  <a:srgbClr val="9DA9B5"/>
                </a:solidFill>
                <a:latin typeface="Arial"/>
              </a:rPr>
              <a:t>→</a:t>
            </a:r>
            <a:r>
              <a:rPr sz="1400" b="0">
                <a:solidFill>
                  <a:srgbClr val="9DA9B5"/>
                </a:solidFill>
                <a:latin typeface="Arial"/>
              </a:rPr>
              <a:t>Patient</a:t>
            </a:r>
          </a:p>
        </p:txBody>
      </p:sp>
      <p:sp>
        <p:nvSpPr>
          <p:cNvPr id="4" name="TextBox 3"/>
          <p:cNvSpPr txBox="1"/>
          <p:nvPr/>
        </p:nvSpPr>
        <p:spPr>
          <a:xfrm>
            <a:off x="777240" y="3102864"/>
            <a:ext cx="10607040" cy="790447"/>
          </a:xfrm>
          <a:prstGeom prst="rect">
            <a:avLst/>
          </a:prstGeom>
          <a:noFill/>
        </p:spPr>
        <p:txBody>
          <a:bodyPr wrap="square" lIns="25400" rIns="25400" tIns="12700" bIns="12700">
            <a:noAutofit/>
          </a:bodyPr>
          <a:lstStyle/>
          <a:p>
            <a:pPr algn="l">
              <a:lnSpc>
                <a:spcPct val="106000"/>
              </a:lnSpc>
              <a:spcAft>
                <a:spcPts val="400"/>
              </a:spcAft>
            </a:pPr>
            <a:r>
              <a:rPr sz="4400" b="0">
                <a:solidFill>
                  <a:srgbClr val="ECEFF3"/>
                </a:solidFill>
                <a:latin typeface="Arial"/>
              </a:rPr>
              <a:t>What thirty years </a:t>
            </a:r>
            <a:r>
              <a:rPr sz="4400" b="0">
                <a:solidFill>
                  <a:srgbClr val="E7AC51"/>
                </a:solidFill>
                <a:latin typeface="Arial"/>
              </a:rPr>
              <a:t>taught us.</a:t>
            </a:r>
          </a:p>
        </p:txBody>
      </p:sp>
      <p:sp>
        <p:nvSpPr>
          <p:cNvPr id="5" name="TextBox 4"/>
          <p:cNvSpPr txBox="1"/>
          <p:nvPr/>
        </p:nvSpPr>
        <p:spPr>
          <a:xfrm>
            <a:off x="777240" y="3893312"/>
            <a:ext cx="10607040" cy="574040"/>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Technology is fallible.</a:t>
            </a:r>
            <a:r>
              <a:rPr sz="1400" b="0">
                <a:solidFill>
                  <a:srgbClr val="9DA9B5"/>
                </a:solidFill>
                <a:latin typeface="Arial"/>
              </a:rPr>
              <a:t> We keep getting better at looking ahead — but the consequences of what we deploy are not always ones we foresee.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CLOSE</a:t>
            </a:r>
          </a:p>
        </p:txBody>
      </p:sp>
      <p:sp>
        <p:nvSpPr>
          <p:cNvPr id="4" name="TextBox 3"/>
          <p:cNvSpPr txBox="1"/>
          <p:nvPr/>
        </p:nvSpPr>
        <p:spPr>
          <a:xfrm>
            <a:off x="777240" y="2282951"/>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Lesion, image, </a:t>
            </a:r>
            <a:r>
              <a:rPr sz="2600" b="0">
                <a:solidFill>
                  <a:srgbClr val="E7AC51"/>
                </a:solidFill>
                <a:latin typeface="Arial"/>
              </a:rPr>
              <a:t>patient.</a:t>
            </a:r>
          </a:p>
        </p:txBody>
      </p:sp>
      <p:sp>
        <p:nvSpPr>
          <p:cNvPr id="5" name="TextBox 4"/>
          <p:cNvSpPr txBox="1"/>
          <p:nvPr/>
        </p:nvSpPr>
        <p:spPr>
          <a:xfrm>
            <a:off x="777240" y="2817367"/>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Lesion</a:t>
            </a:r>
          </a:p>
        </p:txBody>
      </p:sp>
      <p:sp>
        <p:nvSpPr>
          <p:cNvPr id="6" name="TextBox 5"/>
          <p:cNvSpPr txBox="1"/>
          <p:nvPr/>
        </p:nvSpPr>
        <p:spPr>
          <a:xfrm>
            <a:off x="777240" y="3163823"/>
            <a:ext cx="10607040" cy="346456"/>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Find the spot.</a:t>
            </a:r>
            <a:r>
              <a:rPr sz="1400" b="0">
                <a:solidFill>
                  <a:srgbClr val="9DA9B5"/>
                </a:solidFill>
                <a:latin typeface="Arial"/>
              </a:rPr>
              <a:t> CAD failed at it; whole-image detection later earned the randomized evidence CAD never had.</a:t>
            </a:r>
          </a:p>
        </p:txBody>
      </p:sp>
      <p:sp>
        <p:nvSpPr>
          <p:cNvPr id="7" name="TextBox 6"/>
          <p:cNvSpPr txBox="1"/>
          <p:nvPr/>
        </p:nvSpPr>
        <p:spPr>
          <a:xfrm>
            <a:off x="777240" y="3510279"/>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5FB7C9"/>
                </a:solidFill>
                <a:latin typeface="Arial"/>
              </a:rPr>
              <a:t>Image</a:t>
            </a:r>
          </a:p>
        </p:txBody>
      </p:sp>
      <p:sp>
        <p:nvSpPr>
          <p:cNvPr id="8" name="TextBox 7"/>
          <p:cNvSpPr txBox="1"/>
          <p:nvPr/>
        </p:nvSpPr>
        <p:spPr>
          <a:xfrm>
            <a:off x="777240" y="3856735"/>
            <a:ext cx="10607040" cy="574040"/>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Beyond the lesion.</a:t>
            </a:r>
            <a:r>
              <a:rPr sz="1400" b="0">
                <a:solidFill>
                  <a:srgbClr val="9DA9B5"/>
                </a:solidFill>
                <a:latin typeface="Arial"/>
              </a:rPr>
              <a:t> The whole image reads a woman's future </a:t>
            </a:r>
            <a:r>
              <a:rPr sz="1400" b="1">
                <a:solidFill>
                  <a:srgbClr val="5FB7C9"/>
                </a:solidFill>
                <a:latin typeface="Arial"/>
              </a:rPr>
              <a:t>risk</a:t>
            </a:r>
            <a:r>
              <a:rPr sz="1400" b="0">
                <a:solidFill>
                  <a:srgbClr val="9DA9B5"/>
                </a:solidFill>
                <a:latin typeface="Arial"/>
              </a:rPr>
              <a:t> and a </a:t>
            </a:r>
            <a:r>
              <a:rPr sz="1400" b="1">
                <a:solidFill>
                  <a:srgbClr val="5FB7C9"/>
                </a:solidFill>
                <a:latin typeface="Arial"/>
              </a:rPr>
              <a:t>cardiovascular</a:t>
            </a:r>
            <a:r>
              <a:rPr sz="1400" b="0">
                <a:solidFill>
                  <a:srgbClr val="9DA9B5"/>
                </a:solidFill>
                <a:latin typeface="Arial"/>
              </a:rPr>
              <a:t> signal — from the same mammogram.</a:t>
            </a:r>
          </a:p>
        </p:txBody>
      </p:sp>
      <p:sp>
        <p:nvSpPr>
          <p:cNvPr id="9" name="TextBox 8"/>
          <p:cNvSpPr txBox="1"/>
          <p:nvPr/>
        </p:nvSpPr>
        <p:spPr>
          <a:xfrm>
            <a:off x="777240" y="4430775"/>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Patient</a:t>
            </a:r>
          </a:p>
        </p:txBody>
      </p:sp>
      <p:sp>
        <p:nvSpPr>
          <p:cNvPr id="10" name="TextBox 9"/>
          <p:cNvSpPr txBox="1"/>
          <p:nvPr/>
        </p:nvSpPr>
        <p:spPr>
          <a:xfrm>
            <a:off x="777240" y="4777231"/>
            <a:ext cx="10607040" cy="346456"/>
          </a:xfrm>
          <a:prstGeom prst="rect">
            <a:avLst/>
          </a:prstGeom>
          <a:noFill/>
        </p:spPr>
        <p:txBody>
          <a:bodyPr wrap="square" lIns="25400" rIns="25400" tIns="12700" bIns="12700">
            <a:noAutofit/>
          </a:bodyPr>
          <a:lstStyle/>
          <a:p>
            <a:pPr algn="l">
              <a:lnSpc>
                <a:spcPct val="128000"/>
              </a:lnSpc>
              <a:spcAft>
                <a:spcPts val="400"/>
              </a:spcAft>
            </a:pPr>
            <a:r>
              <a:rPr sz="1400" b="1">
                <a:solidFill>
                  <a:srgbClr val="ECEFF3"/>
                </a:solidFill>
                <a:latin typeface="Arial"/>
              </a:rPr>
              <a:t>The whole person.</a:t>
            </a:r>
            <a:r>
              <a:rPr sz="1400" b="0">
                <a:solidFill>
                  <a:srgbClr val="9DA9B5"/>
                </a:solidFill>
                <a:latin typeface="Arial"/>
              </a:rPr>
              <a:t> Image, tissue, gene, and history together — risk known </a:t>
            </a:r>
            <a:r>
              <a:rPr sz="1400" b="1">
                <a:solidFill>
                  <a:srgbClr val="E7AC51"/>
                </a:solidFill>
                <a:latin typeface="Arial"/>
              </a:rPr>
              <a:t>before she enters the scanner.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CLOSE</a:t>
            </a:r>
          </a:p>
        </p:txBody>
      </p:sp>
      <p:sp>
        <p:nvSpPr>
          <p:cNvPr id="4" name="TextBox 3"/>
          <p:cNvSpPr txBox="1"/>
          <p:nvPr/>
        </p:nvSpPr>
        <p:spPr>
          <a:xfrm>
            <a:off x="777240" y="2688844"/>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The discipline, </a:t>
            </a:r>
            <a:r>
              <a:rPr sz="2600" b="0">
                <a:solidFill>
                  <a:srgbClr val="E7AC51"/>
                </a:solidFill>
                <a:latin typeface="Arial"/>
              </a:rPr>
              <a:t>in three lines.</a:t>
            </a:r>
          </a:p>
        </p:txBody>
      </p:sp>
      <p:sp>
        <p:nvSpPr>
          <p:cNvPr id="5" name="TextBox 4"/>
          <p:cNvSpPr txBox="1"/>
          <p:nvPr/>
        </p:nvSpPr>
        <p:spPr>
          <a:xfrm>
            <a:off x="777240" y="3223260"/>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01</a:t>
            </a:r>
            <a:r>
              <a:rPr sz="1400" b="1">
                <a:solidFill>
                  <a:srgbClr val="ECEFF3"/>
                </a:solidFill>
                <a:latin typeface="Arial"/>
              </a:rPr>
              <a:t>Prove it before you scale it.</a:t>
            </a:r>
            <a:r>
              <a:rPr sz="1400" b="0">
                <a:solidFill>
                  <a:srgbClr val="9DA9B5"/>
                </a:solidFill>
                <a:latin typeface="Arial"/>
              </a:rPr>
              <a:t> Prospective, randomized evidence — MASAI is the bar, not a retrospective AUC.</a:t>
            </a:r>
          </a:p>
        </p:txBody>
      </p:sp>
      <p:sp>
        <p:nvSpPr>
          <p:cNvPr id="6" name="TextBox 5"/>
          <p:cNvSpPr txBox="1"/>
          <p:nvPr/>
        </p:nvSpPr>
        <p:spPr>
          <a:xfrm>
            <a:off x="777240" y="3569716"/>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02</a:t>
            </a:r>
            <a:r>
              <a:rPr sz="1400" b="1">
                <a:solidFill>
                  <a:srgbClr val="ECEFF3"/>
                </a:solidFill>
                <a:latin typeface="Arial"/>
              </a:rPr>
              <a:t>Audit the blind spots.</a:t>
            </a:r>
            <a:r>
              <a:rPr sz="1400" b="0">
                <a:solidFill>
                  <a:srgbClr val="9DA9B5"/>
                </a:solidFill>
                <a:latin typeface="Arial"/>
              </a:rPr>
              <a:t> Explainability and subgroup performance are release criteria — a headline AUC is a sales number.</a:t>
            </a:r>
          </a:p>
        </p:txBody>
      </p:sp>
      <p:sp>
        <p:nvSpPr>
          <p:cNvPr id="7" name="TextBox 6"/>
          <p:cNvSpPr txBox="1"/>
          <p:nvPr/>
        </p:nvSpPr>
        <p:spPr>
          <a:xfrm>
            <a:off x="777240" y="4143756"/>
            <a:ext cx="10607040" cy="574040"/>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03</a:t>
            </a:r>
            <a:r>
              <a:rPr sz="1400" b="1">
                <a:solidFill>
                  <a:srgbClr val="ECEFF3"/>
                </a:solidFill>
                <a:latin typeface="Arial"/>
              </a:rPr>
              <a:t>Preserve clinical judgment; guard against de-skilling.</a:t>
            </a:r>
            <a:r>
              <a:rPr sz="1400" b="0">
                <a:solidFill>
                  <a:srgbClr val="9DA9B5"/>
                </a:solidFill>
                <a:latin typeface="Arial"/>
              </a:rPr>
              <a:t> Design against automation bias — the clinician should stay a clinician, not a rubber stamp.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11480"/>
            <a:ext cx="8686800" cy="365760"/>
          </a:xfrm>
          <a:prstGeom prst="rect">
            <a:avLst/>
          </a:prstGeom>
          <a:noFill/>
        </p:spPr>
        <p:txBody>
          <a:bodyPr wrap="square" lIns="25400" rIns="25400" tIns="12700" bIns="12700">
            <a:noAutofit/>
          </a:bodyPr>
          <a:lstStyle/>
          <a:p>
            <a:pPr algn="l">
              <a:lnSpc>
                <a:spcPct val="128000"/>
              </a:lnSpc>
              <a:spcAft>
                <a:spcPts val="400"/>
              </a:spcAft>
            </a:pPr>
            <a:r>
              <a:rPr sz="1100" b="1">
                <a:solidFill>
                  <a:srgbClr val="E7AC51"/>
                </a:solidFill>
                <a:latin typeface="Consolas"/>
              </a:rPr>
              <a:t>CLOSE</a:t>
            </a:r>
          </a:p>
        </p:txBody>
      </p:sp>
      <p:sp>
        <p:nvSpPr>
          <p:cNvPr id="4" name="TextBox 3"/>
          <p:cNvSpPr txBox="1"/>
          <p:nvPr/>
        </p:nvSpPr>
        <p:spPr>
          <a:xfrm>
            <a:off x="777240" y="2650616"/>
            <a:ext cx="10607040" cy="1018032"/>
          </a:xfrm>
          <a:prstGeom prst="rect">
            <a:avLst/>
          </a:prstGeom>
          <a:noFill/>
        </p:spPr>
        <p:txBody>
          <a:bodyPr wrap="square" lIns="25400" rIns="25400" tIns="12700" bIns="12700">
            <a:noAutofit/>
          </a:bodyPr>
          <a:lstStyle/>
          <a:p>
            <a:pPr algn="l">
              <a:lnSpc>
                <a:spcPct val="106000"/>
              </a:lnSpc>
              <a:spcAft>
                <a:spcPts val="400"/>
              </a:spcAft>
            </a:pPr>
            <a:r>
              <a:rPr sz="3000" b="0">
                <a:solidFill>
                  <a:srgbClr val="ECEFF3"/>
                </a:solidFill>
                <a:latin typeface="Arial"/>
              </a:rPr>
              <a:t>The image hasn't changed — </a:t>
            </a:r>
            <a:r>
              <a:rPr sz="3000" b="0">
                <a:solidFill>
                  <a:srgbClr val="E7AC51"/>
                </a:solidFill>
                <a:latin typeface="Arial"/>
              </a:rPr>
              <a:t>what we read from it will.</a:t>
            </a:r>
          </a:p>
        </p:txBody>
      </p:sp>
      <p:sp>
        <p:nvSpPr>
          <p:cNvPr id="5" name="TextBox 4"/>
          <p:cNvSpPr txBox="1"/>
          <p:nvPr/>
        </p:nvSpPr>
        <p:spPr>
          <a:xfrm>
            <a:off x="777240" y="3668648"/>
            <a:ext cx="10607040" cy="1087374"/>
          </a:xfrm>
          <a:prstGeom prst="rect">
            <a:avLst/>
          </a:prstGeom>
          <a:noFill/>
        </p:spPr>
        <p:txBody>
          <a:bodyPr wrap="square" lIns="25400" rIns="25400" tIns="12700" bIns="12700">
            <a:noAutofit/>
          </a:bodyPr>
          <a:lstStyle/>
          <a:p>
            <a:pPr algn="l">
              <a:lnSpc>
                <a:spcPct val="130000"/>
              </a:lnSpc>
              <a:spcAft>
                <a:spcPts val="400"/>
              </a:spcAft>
            </a:pPr>
            <a:r>
              <a:rPr sz="1900" b="0">
                <a:solidFill>
                  <a:srgbClr val="ECEFF3"/>
                </a:solidFill>
                <a:latin typeface="Arial"/>
              </a:rPr>
              <a:t>Twenty-five years ago we could barely mark a suspicious spot. From that same image today: a woman's </a:t>
            </a:r>
            <a:r>
              <a:rPr sz="1900" b="1">
                <a:solidFill>
                  <a:srgbClr val="ECEFF3"/>
                </a:solidFill>
                <a:latin typeface="Arial"/>
              </a:rPr>
              <a:t>cancer risk</a:t>
            </a:r>
            <a:r>
              <a:rPr sz="1900" b="0">
                <a:solidFill>
                  <a:srgbClr val="ECEFF3"/>
                </a:solidFill>
                <a:latin typeface="Arial"/>
              </a:rPr>
              <a:t> years ahead, her </a:t>
            </a:r>
            <a:r>
              <a:rPr sz="1900" b="1">
                <a:solidFill>
                  <a:srgbClr val="ECEFF3"/>
                </a:solidFill>
                <a:latin typeface="Arial"/>
              </a:rPr>
              <a:t>cardiovascular risk</a:t>
            </a:r>
            <a:r>
              <a:rPr sz="1900" b="0">
                <a:solidFill>
                  <a:srgbClr val="ECEFF3"/>
                </a:solidFill>
                <a:latin typeface="Arial"/>
              </a:rPr>
              <a:t>, and a link to her </a:t>
            </a:r>
            <a:r>
              <a:rPr sz="1900" b="1">
                <a:solidFill>
                  <a:srgbClr val="ECEFF3"/>
                </a:solidFill>
                <a:latin typeface="Arial"/>
              </a:rPr>
              <a:t>tissue and genome.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12191695"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388870"/>
            <a:ext cx="10607040" cy="534416"/>
          </a:xfrm>
          <a:prstGeom prst="rect">
            <a:avLst/>
          </a:prstGeom>
          <a:noFill/>
        </p:spPr>
        <p:txBody>
          <a:bodyPr wrap="square" lIns="25400" rIns="25400" tIns="12700" bIns="12700">
            <a:noAutofit/>
          </a:bodyPr>
          <a:lstStyle/>
          <a:p>
            <a:pPr algn="l">
              <a:lnSpc>
                <a:spcPct val="106000"/>
              </a:lnSpc>
              <a:spcAft>
                <a:spcPts val="400"/>
              </a:spcAft>
            </a:pPr>
            <a:r>
              <a:rPr sz="2600" b="0">
                <a:solidFill>
                  <a:srgbClr val="ECEFF3"/>
                </a:solidFill>
                <a:latin typeface="Arial"/>
              </a:rPr>
              <a:t>Thank you.</a:t>
            </a:r>
          </a:p>
        </p:txBody>
      </p:sp>
      <p:sp>
        <p:nvSpPr>
          <p:cNvPr id="4" name="TextBox 3"/>
          <p:cNvSpPr txBox="1"/>
          <p:nvPr/>
        </p:nvSpPr>
        <p:spPr>
          <a:xfrm>
            <a:off x="777240" y="2923285"/>
            <a:ext cx="10607040" cy="525780"/>
          </a:xfrm>
          <a:prstGeom prst="rect">
            <a:avLst/>
          </a:prstGeom>
          <a:noFill/>
        </p:spPr>
        <p:txBody>
          <a:bodyPr wrap="square" lIns="25400" rIns="25400" tIns="12700" bIns="12700">
            <a:noAutofit/>
          </a:bodyPr>
          <a:lstStyle/>
          <a:p>
            <a:pPr algn="l">
              <a:lnSpc>
                <a:spcPct val="112000"/>
              </a:lnSpc>
              <a:spcAft>
                <a:spcPts val="400"/>
              </a:spcAft>
            </a:pPr>
            <a:r>
              <a:rPr sz="3000" b="0">
                <a:solidFill>
                  <a:srgbClr val="E7AC51"/>
                </a:solidFill>
                <a:latin typeface="Arial"/>
              </a:rPr>
              <a:t>EMORY</a:t>
            </a:r>
          </a:p>
        </p:txBody>
      </p:sp>
      <p:sp>
        <p:nvSpPr>
          <p:cNvPr id="5" name="TextBox 4"/>
          <p:cNvSpPr txBox="1"/>
          <p:nvPr/>
        </p:nvSpPr>
        <p:spPr>
          <a:xfrm>
            <a:off x="777240" y="3449066"/>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Radiology &amp; Imaging Sciences</a:t>
            </a:r>
          </a:p>
        </p:txBody>
      </p:sp>
      <p:sp>
        <p:nvSpPr>
          <p:cNvPr id="6" name="TextBox 5"/>
          <p:cNvSpPr txBox="1"/>
          <p:nvPr/>
        </p:nvSpPr>
        <p:spPr>
          <a:xfrm>
            <a:off x="777240" y="3795521"/>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E7AC51"/>
                </a:solidFill>
                <a:latin typeface="Arial"/>
              </a:rPr>
              <a:t>HITI Lab</a:t>
            </a:r>
          </a:p>
        </p:txBody>
      </p:sp>
      <p:sp>
        <p:nvSpPr>
          <p:cNvPr id="7" name="TextBox 6"/>
          <p:cNvSpPr txBox="1"/>
          <p:nvPr/>
        </p:nvSpPr>
        <p:spPr>
          <a:xfrm>
            <a:off x="777240" y="4141977"/>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 logo to be added ]</a:t>
            </a:r>
          </a:p>
        </p:txBody>
      </p:sp>
      <p:sp>
        <p:nvSpPr>
          <p:cNvPr id="8" name="TextBox 7"/>
          <p:cNvSpPr txBox="1"/>
          <p:nvPr/>
        </p:nvSpPr>
        <p:spPr>
          <a:xfrm>
            <a:off x="777240" y="4488433"/>
            <a:ext cx="10607040" cy="346456"/>
          </a:xfrm>
          <a:prstGeom prst="rect">
            <a:avLst/>
          </a:prstGeom>
          <a:noFill/>
        </p:spPr>
        <p:txBody>
          <a:bodyPr wrap="square" lIns="25400" rIns="25400" tIns="12700" bIns="12700">
            <a:noAutofit/>
          </a:bodyPr>
          <a:lstStyle/>
          <a:p>
            <a:pPr algn="l">
              <a:lnSpc>
                <a:spcPct val="128000"/>
              </a:lnSpc>
              <a:spcAft>
                <a:spcPts val="400"/>
              </a:spcAft>
            </a:pPr>
            <a:r>
              <a:rPr sz="1400" b="0">
                <a:solidFill>
                  <a:srgbClr val="9DA9B5"/>
                </a:solidFill>
                <a:latin typeface="Arial"/>
              </a:rPr>
              <a:t>Hari Trivedi, MD · Emory University · IWBI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