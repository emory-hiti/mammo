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year is 2020. You're a radiologist, and you've spent the last four years hearing about AI. Maybe you're impressed; maybe you're worried about being replaced. And the reading room is still feeling the burn from CAD — some colleagues are running CAD and AI in tandem, which only adds to the confusion. So the question is simple: what does mammography AI actually look like, and what is the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optimism wasn't new in 2020. Back in 2016 came the first large-scale effort to build breast-cancer AI: the Digital Mammography DREAM Challenge. Over a thousand participants, 126 teams from 44 countries, on roughly 640,000 mammograms; we took part. There was an incredible surge of optimism that this would simply solve breast AI. On the held-out evaluation set, the best single model reached an AUC of 0.858; the ensemble of the eight best models reached 0.895; and the ensemble plus a single radiologist reached 0.942. The winner, Therapixel, spun out a company whose product, MammoScreen, is still in clinical use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was the early evidence? In 2020, McKinney and colleagues at Google Health, in Nature, reported an AI that on US data cut false positives by 5.7% and false negatives by 9.4%, exceeded the average radiologist's AUC by over 11 points, and could cut a second reader's workload by 88%. The figure shows example cases the model localized. On paper, superhuman — but retrospective.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it held up independently. Salim and colleagues, in JAMA Oncology, took three commercial AI algorithms and tested them on an external Stockholm cohort of about 8,800 women. The best — Algorithm 1 here — reached an AUC of 0.956, and combined with a first reader it reached 88.6% sensitivity at 93% specificity, exceeding two human readers. Three different vendors, external data — the evidence is looking good.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here is the discipline this talk runs on. Retrospective reader studies have well-known limits: enriched case sets, lab conditions, no real workflow. CAD had good retrospective numbers too. That kind of data is not enough to drive adoption. And it shows: a 2024 European survey found about 48% of radiologists use AI, but of those only 13.7% use it for breast imaging, about one in eight. In the US, by one estimate, only around 2% of practices use it at all.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2023, MASAI published its clinical safety analysis — a randomized trial of about eighty thousand women, roughly forty thousand per arm. Cancer detection was 6.1 per thousand with AI versus 5.1 in controls, a ratio of 1.2, above the lowest acceptable safety limit. Recall was essentially identical, 2.2 versus 2.0 percent; the false-positive rate was 1.5 percent in both; and the positive predictive value of recall was higher with AI, 28 versus 25 percent. Three-quarters of detected cancers were invasive. So: safe, and detecting more — the green light to continue.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it hold in routine practice? PRAIM is the largest real-world dataset: 463,000 women across 12 German sites, 119 radiologists, with about 261,000 read with AI support from the Vara system. Detection was 6.7 per thousand with AI, a 17.6 percent relative increase, statistically superior to 5.7 in controls; recall was non-inferior, and the predictive value of both recall and biopsy improved. The MASAI result holds outside a controlled trial.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year, the result everyone was waiting for: MASAI's interval-cancer study, about 105,000 women. The design is a triage — high-risk exams went to standard human double reading, low-risk exams to a single radiologist. The interval-cancer rate — the cancers that surface between screens — was 12 percent lower, non-inferior. Sensitivity was 80.5 percent with AI versus 73.8 in controls, a near seven-point gain, at the same specificity of 98.5 percent, and the results held across age and breast-density subgroups. This is the level-1 evidence CAD never had.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it is 2026 — where do we actually stand? The averages look strong, but a single AUC describes average performance and says nothing about where a model fails. In our audit of a commercial DBT model across 163,000 exams, the overall AUC was 0.91 — but detection drops sharply by histologic subtype. The common invasive ductal cancers are flagged about 86 percent of the time; the rarer special subtypes — tubular, papillary, colloid — far less, 57 to 62 percent, though on small numbers. Sensitivity also falls on dense breasts, in-situ disease, and calcifications even as the AUC stays high. And in our Beyond Screening work, the models did not transfer to diagnostic exams or to women with implants. The two gaps: subgroup performance, and explainability.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one recent result points straight at the next era. Hickman and colleagues, in Radiology this year, ran three commercial detection systems across sequential screening mammograms. For people later diagnosed with cancer, the AI detection score is already elevated up to ten years before diagnosis and rises steadily toward it; in cancer-free people it stays flat. The score we trained to find today's cancer already carries a signal about tomorrow's. Detection is blurring into risk — and that is exactly where Era III begins. We stop asking the image about the lesion, and start asking it about the whole image, and the patient.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658368"/>
            <a:ext cx="5486400" cy="36576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a:t>
            </a:r>
          </a:p>
        </p:txBody>
      </p:sp>
      <p:sp>
        <p:nvSpPr>
          <p:cNvPr id="4" name="TextBox 3"/>
          <p:cNvSpPr txBox="1"/>
          <p:nvPr/>
        </p:nvSpPr>
        <p:spPr>
          <a:xfrm>
            <a:off x="777240" y="1554480"/>
            <a:ext cx="5852160" cy="1280160"/>
          </a:xfrm>
          <a:prstGeom prst="rect">
            <a:avLst/>
          </a:prstGeom>
          <a:noFill/>
        </p:spPr>
        <p:txBody>
          <a:bodyPr wrap="square" anchor="t" lIns="0" rIns="0" tIns="0" bIns="0">
            <a:spAutoFit/>
          </a:bodyPr>
          <a:lstStyle/>
          <a:p>
            <a:pPr algn="l">
              <a:lnSpc>
                <a:spcPct val="100000"/>
              </a:lnSpc>
            </a:pPr>
            <a:r>
              <a:rPr sz="5000" b="1" i="0">
                <a:solidFill>
                  <a:srgbClr val="ECEFF3"/>
                </a:solidFill>
                <a:latin typeface="Arial"/>
              </a:rPr>
              <a:t>The year is </a:t>
            </a:r>
            <a:r>
              <a:rPr sz="5000" b="1" i="0">
                <a:solidFill>
                  <a:srgbClr val="E7AC51"/>
                </a:solidFill>
                <a:latin typeface="Arial"/>
              </a:rPr>
              <a:t>2020.</a:t>
            </a:r>
          </a:p>
        </p:txBody>
      </p:sp>
      <p:sp>
        <p:nvSpPr>
          <p:cNvPr id="5" name="TextBox 4"/>
          <p:cNvSpPr txBox="1"/>
          <p:nvPr/>
        </p:nvSpPr>
        <p:spPr>
          <a:xfrm>
            <a:off x="777240" y="3063240"/>
            <a:ext cx="6035040" cy="1463040"/>
          </a:xfrm>
          <a:prstGeom prst="rect">
            <a:avLst/>
          </a:prstGeom>
          <a:noFill/>
        </p:spPr>
        <p:txBody>
          <a:bodyPr wrap="square" anchor="t" lIns="0" rIns="0" tIns="0" bIns="0">
            <a:spAutoFit/>
          </a:bodyPr>
          <a:lstStyle/>
          <a:p>
            <a:pPr algn="l">
              <a:lnSpc>
                <a:spcPct val="140000"/>
              </a:lnSpc>
            </a:pPr>
            <a:r>
              <a:rPr sz="1500" b="0" i="0">
                <a:solidFill>
                  <a:srgbClr val="9DA9B5"/>
                </a:solidFill>
                <a:latin typeface="Arial"/>
              </a:rPr>
              <a:t>You've spent four years hearing about AI — impressed, or worried about your job. The reading room is </a:t>
            </a:r>
            <a:r>
              <a:rPr sz="1500" b="1" i="0">
                <a:solidFill>
                  <a:srgbClr val="ECEFF3"/>
                </a:solidFill>
                <a:latin typeface="Arial"/>
              </a:rPr>
              <a:t>still feeling the burn from CAD</a:t>
            </a:r>
            <a:r>
              <a:rPr sz="1500" b="0" i="0">
                <a:solidFill>
                  <a:srgbClr val="9DA9B5"/>
                </a:solidFill>
                <a:latin typeface="Arial"/>
              </a:rPr>
              <a:t>; some run CAD and AI in tandem, which only adds to the confusion.</a:t>
            </a:r>
          </a:p>
        </p:txBody>
      </p:sp>
      <p:sp>
        <p:nvSpPr>
          <p:cNvPr id="6" name="TextBox 5"/>
          <p:cNvSpPr txBox="1"/>
          <p:nvPr/>
        </p:nvSpPr>
        <p:spPr>
          <a:xfrm>
            <a:off x="777240" y="4754880"/>
            <a:ext cx="6035040" cy="914400"/>
          </a:xfrm>
          <a:prstGeom prst="rect">
            <a:avLst/>
          </a:prstGeom>
          <a:noFill/>
        </p:spPr>
        <p:txBody>
          <a:bodyPr wrap="square" anchor="t" lIns="0" rIns="0" tIns="0" bIns="0">
            <a:spAutoFit/>
          </a:bodyPr>
          <a:lstStyle/>
          <a:p>
            <a:pPr algn="l">
              <a:lnSpc>
                <a:spcPct val="140000"/>
              </a:lnSpc>
            </a:pPr>
            <a:r>
              <a:rPr sz="1500" b="0" i="0">
                <a:solidFill>
                  <a:srgbClr val="5C6975"/>
                </a:solidFill>
                <a:latin typeface="Arial"/>
              </a:rPr>
              <a:t>So: what does mammography AI actually look like — and what is the evidence?</a:t>
            </a:r>
          </a:p>
        </p:txBody>
      </p:sp>
      <p:sp>
        <p:nvSpPr>
          <p:cNvPr id="7" name="Rectangle 6"/>
          <p:cNvSpPr/>
          <p:nvPr/>
        </p:nvSpPr>
        <p:spPr>
          <a:xfrm>
            <a:off x="7260336" y="2034472"/>
            <a:ext cx="4224528" cy="2789054"/>
          </a:xfrm>
          <a:prstGeom prst="rect">
            <a:avLst/>
          </a:prstGeom>
          <a:solidFill>
            <a:srgbClr val="06090C"/>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2_img0.jpg"/>
          <p:cNvPicPr>
            <a:picLocks noChangeAspect="1"/>
          </p:cNvPicPr>
          <p:nvPr/>
        </p:nvPicPr>
        <p:blipFill>
          <a:blip r:embed="rId2"/>
          <a:stretch>
            <a:fillRect/>
          </a:stretch>
        </p:blipFill>
        <p:spPr>
          <a:xfrm>
            <a:off x="7315200" y="2089336"/>
            <a:ext cx="4114800" cy="2679326"/>
          </a:xfrm>
          <a:prstGeom prst="rect">
            <a:avLst/>
          </a:prstGeom>
        </p:spPr>
      </p:pic>
      <p:sp>
        <p:nvSpPr>
          <p:cNvPr id="9" name="TextBox 8"/>
          <p:cNvSpPr txBox="1"/>
          <p:nvPr/>
        </p:nvSpPr>
        <p:spPr>
          <a:xfrm>
            <a:off x="7315200" y="5623560"/>
            <a:ext cx="4114800" cy="640080"/>
          </a:xfrm>
          <a:prstGeom prst="rect">
            <a:avLst/>
          </a:prstGeom>
          <a:noFill/>
        </p:spPr>
        <p:txBody>
          <a:bodyPr wrap="square" anchor="t" lIns="0" rIns="0" tIns="0" bIns="0">
            <a:spAutoFit/>
          </a:bodyPr>
          <a:lstStyle/>
          <a:p>
            <a:pPr algn="ctr">
              <a:lnSpc>
                <a:spcPct val="130000"/>
              </a:lnSpc>
            </a:pPr>
            <a:r>
              <a:rPr sz="900" b="0" i="0">
                <a:solidFill>
                  <a:srgbClr val="5C6975"/>
                </a:solidFill>
                <a:latin typeface="Consolas"/>
              </a:rPr>
              <a:t>Example AI detection output (vendor removed): a suspicion score plus a localizing heatmap.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73152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a:t>
            </a:r>
          </a:p>
        </p:txBody>
      </p:sp>
      <p:sp>
        <p:nvSpPr>
          <p:cNvPr id="4" name="TextBox 3"/>
          <p:cNvSpPr txBox="1"/>
          <p:nvPr/>
        </p:nvSpPr>
        <p:spPr>
          <a:xfrm>
            <a:off x="777240" y="1051560"/>
            <a:ext cx="5852160" cy="1188720"/>
          </a:xfrm>
          <a:prstGeom prst="rect">
            <a:avLst/>
          </a:prstGeom>
          <a:noFill/>
        </p:spPr>
        <p:txBody>
          <a:bodyPr wrap="square" anchor="t" lIns="0" rIns="0" tIns="0" bIns="0">
            <a:spAutoFit/>
          </a:bodyPr>
          <a:lstStyle/>
          <a:p>
            <a:pPr algn="l">
              <a:lnSpc>
                <a:spcPct val="110000"/>
              </a:lnSpc>
            </a:pPr>
            <a:r>
              <a:rPr sz="2500" b="1" i="0">
                <a:solidFill>
                  <a:srgbClr val="ECEFF3"/>
                </a:solidFill>
                <a:latin typeface="Arial"/>
              </a:rPr>
              <a:t>2016: the first large-scale push — and a </a:t>
            </a:r>
            <a:r>
              <a:rPr sz="2500" b="1" i="0">
                <a:solidFill>
                  <a:srgbClr val="E7AC51"/>
                </a:solidFill>
                <a:latin typeface="Arial"/>
              </a:rPr>
              <a:t>surge of optimism.</a:t>
            </a:r>
          </a:p>
        </p:txBody>
      </p:sp>
      <p:sp>
        <p:nvSpPr>
          <p:cNvPr id="5" name="TextBox 4"/>
          <p:cNvSpPr txBox="1"/>
          <p:nvPr/>
        </p:nvSpPr>
        <p:spPr>
          <a:xfrm>
            <a:off x="777240" y="2286000"/>
            <a:ext cx="5852160" cy="914400"/>
          </a:xfrm>
          <a:prstGeom prst="rect">
            <a:avLst/>
          </a:prstGeom>
          <a:noFill/>
        </p:spPr>
        <p:txBody>
          <a:bodyPr wrap="square" anchor="t" lIns="0" rIns="0" tIns="0" bIns="0">
            <a:spAutoFit/>
          </a:bodyPr>
          <a:lstStyle/>
          <a:p>
            <a:pPr algn="l">
              <a:lnSpc>
                <a:spcPct val="135000"/>
              </a:lnSpc>
            </a:pPr>
            <a:r>
              <a:rPr sz="1400" b="0" i="0">
                <a:solidFill>
                  <a:srgbClr val="9DA9B5"/>
                </a:solidFill>
                <a:latin typeface="Arial"/>
              </a:rPr>
              <a:t>The </a:t>
            </a:r>
            <a:r>
              <a:rPr sz="1400" b="1" i="0">
                <a:solidFill>
                  <a:srgbClr val="ECEFF3"/>
                </a:solidFill>
                <a:latin typeface="Arial"/>
              </a:rPr>
              <a:t>Digital Mammography DREAM Challenge</a:t>
            </a:r>
            <a:r>
              <a:rPr sz="1400" b="0" i="0">
                <a:solidFill>
                  <a:srgbClr val="9DA9B5"/>
                </a:solidFill>
                <a:latin typeface="Arial"/>
              </a:rPr>
              <a:t> was the first large-scale effort to build breast-cancer AI — and we took part. The hope was that a crowdsourced competition would simply solve it.</a:t>
            </a:r>
          </a:p>
        </p:txBody>
      </p:sp>
      <p:sp>
        <p:nvSpPr>
          <p:cNvPr id="6" name="Rounded Rectangle 5"/>
          <p:cNvSpPr/>
          <p:nvPr/>
        </p:nvSpPr>
        <p:spPr>
          <a:xfrm>
            <a:off x="777240" y="3246120"/>
            <a:ext cx="2743200" cy="548640"/>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1" i="0">
                <a:solidFill>
                  <a:srgbClr val="5FB7C9"/>
                </a:solidFill>
                <a:latin typeface="Consolas"/>
              </a:rPr>
              <a:t>1,000+</a:t>
            </a:r>
            <a:r>
              <a:rPr sz="1050" b="0" i="0">
                <a:solidFill>
                  <a:srgbClr val="ECEFF3"/>
                </a:solidFill>
                <a:latin typeface="Consolas"/>
              </a:rPr>
              <a:t> participants · 126 teams · 44 countries</a:t>
            </a:r>
          </a:p>
        </p:txBody>
      </p:sp>
      <p:sp>
        <p:nvSpPr>
          <p:cNvPr id="7" name="Rounded Rectangle 6"/>
          <p:cNvSpPr/>
          <p:nvPr/>
        </p:nvSpPr>
        <p:spPr>
          <a:xfrm>
            <a:off x="3657600" y="3246120"/>
            <a:ext cx="2377440" cy="548640"/>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1" i="0">
                <a:solidFill>
                  <a:srgbClr val="5FB7C9"/>
                </a:solidFill>
                <a:latin typeface="Consolas"/>
              </a:rPr>
              <a:t>~640,000</a:t>
            </a:r>
            <a:r>
              <a:rPr sz="1050" b="0" i="0">
                <a:solidFill>
                  <a:srgbClr val="ECEFF3"/>
                </a:solidFill>
                <a:latin typeface="Consolas"/>
              </a:rPr>
              <a:t> mammograms</a:t>
            </a:r>
          </a:p>
        </p:txBody>
      </p:sp>
      <p:sp>
        <p:nvSpPr>
          <p:cNvPr id="8" name="TextBox 7"/>
          <p:cNvSpPr txBox="1"/>
          <p:nvPr/>
        </p:nvSpPr>
        <p:spPr>
          <a:xfrm>
            <a:off x="777240" y="3977639"/>
            <a:ext cx="5852160" cy="914400"/>
          </a:xfrm>
          <a:prstGeom prst="rect">
            <a:avLst/>
          </a:prstGeom>
          <a:noFill/>
        </p:spPr>
        <p:txBody>
          <a:bodyPr wrap="square" anchor="t" lIns="0" rIns="0" tIns="0" bIns="0">
            <a:spAutoFit/>
          </a:bodyPr>
          <a:lstStyle/>
          <a:p>
            <a:pPr algn="l">
              <a:lnSpc>
                <a:spcPct val="135000"/>
              </a:lnSpc>
            </a:pPr>
            <a:r>
              <a:rPr sz="1400" b="0" i="0">
                <a:solidFill>
                  <a:srgbClr val="9DA9B5"/>
                </a:solidFill>
                <a:latin typeface="Arial"/>
              </a:rPr>
              <a:t>Best model </a:t>
            </a:r>
            <a:r>
              <a:rPr sz="1400" b="1" i="0">
                <a:solidFill>
                  <a:srgbClr val="ECEFF3"/>
                </a:solidFill>
                <a:latin typeface="Arial"/>
              </a:rPr>
              <a:t>AUC 0.858</a:t>
            </a:r>
            <a:r>
              <a:rPr sz="1400" b="0" i="0">
                <a:solidFill>
                  <a:srgbClr val="9DA9B5"/>
                </a:solidFill>
                <a:latin typeface="Arial"/>
              </a:rPr>
              <a:t> → ensemble </a:t>
            </a:r>
            <a:r>
              <a:rPr sz="1400" b="1" i="0">
                <a:solidFill>
                  <a:srgbClr val="ECEFF3"/>
                </a:solidFill>
                <a:latin typeface="Arial"/>
              </a:rPr>
              <a:t>0.895</a:t>
            </a:r>
            <a:r>
              <a:rPr sz="1400" b="0" i="0">
                <a:solidFill>
                  <a:srgbClr val="9DA9B5"/>
                </a:solidFill>
                <a:latin typeface="Arial"/>
              </a:rPr>
              <a:t> → ensemble + a radiologist </a:t>
            </a:r>
            <a:r>
              <a:rPr sz="1400" b="1" i="0">
                <a:solidFill>
                  <a:srgbClr val="ECEFF3"/>
                </a:solidFill>
                <a:latin typeface="Arial"/>
              </a:rPr>
              <a:t>0.942</a:t>
            </a:r>
            <a:r>
              <a:rPr sz="1400" b="0" i="0">
                <a:solidFill>
                  <a:srgbClr val="9DA9B5"/>
                </a:solidFill>
                <a:latin typeface="Arial"/>
              </a:rPr>
              <a:t>. The winner, Therapixel, spun out </a:t>
            </a:r>
            <a:r>
              <a:rPr sz="1400" b="1" i="0">
                <a:solidFill>
                  <a:srgbClr val="ECEFF3"/>
                </a:solidFill>
                <a:latin typeface="Arial"/>
              </a:rPr>
              <a:t>MammoScreen</a:t>
            </a:r>
            <a:r>
              <a:rPr sz="1400" b="0" i="0">
                <a:solidFill>
                  <a:srgbClr val="9DA9B5"/>
                </a:solidFill>
                <a:latin typeface="Arial"/>
              </a:rPr>
              <a:t> — still in clinical use today.</a:t>
            </a:r>
          </a:p>
        </p:txBody>
      </p:sp>
      <p:sp>
        <p:nvSpPr>
          <p:cNvPr id="9" name="TextBox 8"/>
          <p:cNvSpPr txBox="1"/>
          <p:nvPr/>
        </p:nvSpPr>
        <p:spPr>
          <a:xfrm>
            <a:off x="777240" y="4983480"/>
            <a:ext cx="5852160" cy="36576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Schaffter et al., JAMA Network Open 2020;3(3):e200265.</a:t>
            </a:r>
          </a:p>
        </p:txBody>
      </p:sp>
      <p:sp>
        <p:nvSpPr>
          <p:cNvPr id="10" name="Rectangle 9"/>
          <p:cNvSpPr/>
          <p:nvPr/>
        </p:nvSpPr>
        <p:spPr>
          <a:xfrm>
            <a:off x="7511731" y="1133856"/>
            <a:ext cx="3721736" cy="4133088"/>
          </a:xfrm>
          <a:prstGeom prst="rect">
            <a:avLst/>
          </a:prstGeom>
          <a:solidFill>
            <a:srgbClr val="06090C"/>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2_img1.png"/>
          <p:cNvPicPr>
            <a:picLocks noChangeAspect="1"/>
          </p:cNvPicPr>
          <p:nvPr/>
        </p:nvPicPr>
        <p:blipFill>
          <a:blip r:embed="rId2"/>
          <a:stretch>
            <a:fillRect/>
          </a:stretch>
        </p:blipFill>
        <p:spPr>
          <a:xfrm>
            <a:off x="7566595" y="1188720"/>
            <a:ext cx="3612008" cy="4023360"/>
          </a:xfrm>
          <a:prstGeom prst="rect">
            <a:avLst/>
          </a:prstGeom>
        </p:spPr>
      </p:pic>
      <p:sp>
        <p:nvSpPr>
          <p:cNvPr id="12" name="TextBox 11"/>
          <p:cNvSpPr txBox="1"/>
          <p:nvPr/>
        </p:nvSpPr>
        <p:spPr>
          <a:xfrm>
            <a:off x="7040880" y="5349240"/>
            <a:ext cx="4663440" cy="822960"/>
          </a:xfrm>
          <a:prstGeom prst="rect">
            <a:avLst/>
          </a:prstGeom>
          <a:noFill/>
        </p:spPr>
        <p:txBody>
          <a:bodyPr wrap="square" anchor="t" lIns="0" rIns="0" tIns="0" bIns="0">
            <a:spAutoFit/>
          </a:bodyPr>
          <a:lstStyle/>
          <a:p>
            <a:pPr algn="ctr">
              <a:lnSpc>
                <a:spcPct val="130000"/>
              </a:lnSpc>
            </a:pPr>
            <a:r>
              <a:rPr sz="900" b="0" i="0">
                <a:solidFill>
                  <a:srgbClr val="5C6975"/>
                </a:solidFill>
                <a:latin typeface="Consolas"/>
              </a:rPr>
              <a:t>Source: Schaffter et al., JAMA Netw Open 2020. Orange = best model (0.858); blue = ensemble (0.895); dark = ensemble + radiologist (0.942).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73152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a:t>
            </a:r>
          </a:p>
        </p:txBody>
      </p:sp>
      <p:sp>
        <p:nvSpPr>
          <p:cNvPr id="4" name="TextBox 3"/>
          <p:cNvSpPr txBox="1"/>
          <p:nvPr/>
        </p:nvSpPr>
        <p:spPr>
          <a:xfrm>
            <a:off x="777240" y="1051560"/>
            <a:ext cx="6949440" cy="1097280"/>
          </a:xfrm>
          <a:prstGeom prst="rect">
            <a:avLst/>
          </a:prstGeom>
          <a:noFill/>
        </p:spPr>
        <p:txBody>
          <a:bodyPr wrap="square" anchor="t" lIns="0" rIns="0" tIns="0" bIns="0">
            <a:spAutoFit/>
          </a:bodyPr>
          <a:lstStyle/>
          <a:p>
            <a:pPr algn="l">
              <a:lnSpc>
                <a:spcPct val="110000"/>
              </a:lnSpc>
            </a:pPr>
            <a:r>
              <a:rPr sz="2500" b="1" i="0">
                <a:solidFill>
                  <a:srgbClr val="ECEFF3"/>
                </a:solidFill>
                <a:latin typeface="Arial"/>
              </a:rPr>
              <a:t>2020: Google publishes its </a:t>
            </a:r>
            <a:r>
              <a:rPr sz="2500" b="1" i="0">
                <a:solidFill>
                  <a:srgbClr val="E7AC51"/>
                </a:solidFill>
                <a:latin typeface="Arial"/>
              </a:rPr>
              <a:t>breast-cancer AI model.</a:t>
            </a:r>
          </a:p>
        </p:txBody>
      </p:sp>
      <p:sp>
        <p:nvSpPr>
          <p:cNvPr id="5" name="TextBox 4"/>
          <p:cNvSpPr txBox="1"/>
          <p:nvPr/>
        </p:nvSpPr>
        <p:spPr>
          <a:xfrm>
            <a:off x="777240" y="2240280"/>
            <a:ext cx="6949440" cy="731520"/>
          </a:xfrm>
          <a:prstGeom prst="rect">
            <a:avLst/>
          </a:prstGeom>
          <a:noFill/>
        </p:spPr>
        <p:txBody>
          <a:bodyPr wrap="square" anchor="t" lIns="0" rIns="0" tIns="0" bIns="0">
            <a:spAutoFit/>
          </a:bodyPr>
          <a:lstStyle/>
          <a:p>
            <a:pPr algn="l">
              <a:lnSpc>
                <a:spcPct val="135000"/>
              </a:lnSpc>
            </a:pPr>
            <a:r>
              <a:rPr sz="1400" b="1" i="0">
                <a:solidFill>
                  <a:srgbClr val="ECEFF3"/>
                </a:solidFill>
                <a:latin typeface="Arial"/>
              </a:rPr>
              <a:t>McKinney et al., Nature 2020</a:t>
            </a:r>
            <a:r>
              <a:rPr sz="1400" b="0" i="0">
                <a:solidFill>
                  <a:srgbClr val="9DA9B5"/>
                </a:solidFill>
                <a:latin typeface="Arial"/>
              </a:rPr>
              <a:t> (Google Health, UK + US) — a deep-learning system read screening mammograms stand-alone.</a:t>
            </a:r>
          </a:p>
        </p:txBody>
      </p:sp>
      <p:sp>
        <p:nvSpPr>
          <p:cNvPr id="6" name="Rounded Rectangle 5"/>
          <p:cNvSpPr/>
          <p:nvPr/>
        </p:nvSpPr>
        <p:spPr>
          <a:xfrm>
            <a:off x="777240" y="3063240"/>
            <a:ext cx="342900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0" i="0">
                <a:solidFill>
                  <a:srgbClr val="ECEFF3"/>
                </a:solidFill>
                <a:latin typeface="Consolas"/>
              </a:rPr>
              <a:t>false positives </a:t>
            </a:r>
            <a:r>
              <a:rPr sz="1050" b="1" i="0">
                <a:solidFill>
                  <a:srgbClr val="5FB7C9"/>
                </a:solidFill>
                <a:latin typeface="Consolas"/>
              </a:rPr>
              <a:t>−5.7% US / −1.2% UK</a:t>
            </a:r>
          </a:p>
        </p:txBody>
      </p:sp>
      <p:sp>
        <p:nvSpPr>
          <p:cNvPr id="7" name="Rounded Rectangle 6"/>
          <p:cNvSpPr/>
          <p:nvPr/>
        </p:nvSpPr>
        <p:spPr>
          <a:xfrm>
            <a:off x="4389120" y="3063240"/>
            <a:ext cx="342900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0" i="0">
                <a:solidFill>
                  <a:srgbClr val="ECEFF3"/>
                </a:solidFill>
                <a:latin typeface="Consolas"/>
              </a:rPr>
              <a:t>false negatives </a:t>
            </a:r>
            <a:r>
              <a:rPr sz="1050" b="1" i="0">
                <a:solidFill>
                  <a:srgbClr val="5FB7C9"/>
                </a:solidFill>
                <a:latin typeface="Consolas"/>
              </a:rPr>
              <a:t>−9.4% US / −2.7% UK</a:t>
            </a:r>
          </a:p>
        </p:txBody>
      </p:sp>
      <p:sp>
        <p:nvSpPr>
          <p:cNvPr id="8" name="Rounded Rectangle 7"/>
          <p:cNvSpPr/>
          <p:nvPr/>
        </p:nvSpPr>
        <p:spPr>
          <a:xfrm>
            <a:off x="777240" y="3721608"/>
            <a:ext cx="342900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0" i="0">
                <a:solidFill>
                  <a:srgbClr val="ECEFF3"/>
                </a:solidFill>
                <a:latin typeface="Consolas"/>
              </a:rPr>
              <a:t>AUC </a:t>
            </a:r>
            <a:r>
              <a:rPr sz="1050" b="1" i="0">
                <a:solidFill>
                  <a:srgbClr val="5FB7C9"/>
                </a:solidFill>
                <a:latin typeface="Consolas"/>
              </a:rPr>
              <a:t>+11.5%</a:t>
            </a:r>
            <a:r>
              <a:rPr sz="1050" b="0" i="0">
                <a:solidFill>
                  <a:srgbClr val="ECEFF3"/>
                </a:solidFill>
                <a:latin typeface="Consolas"/>
              </a:rPr>
              <a:t> vs avg radiologist</a:t>
            </a:r>
          </a:p>
        </p:txBody>
      </p:sp>
      <p:sp>
        <p:nvSpPr>
          <p:cNvPr id="9" name="Rounded Rectangle 8"/>
          <p:cNvSpPr/>
          <p:nvPr/>
        </p:nvSpPr>
        <p:spPr>
          <a:xfrm>
            <a:off x="4389120" y="3721608"/>
            <a:ext cx="342900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0" i="0">
                <a:solidFill>
                  <a:srgbClr val="ECEFF3"/>
                </a:solidFill>
                <a:latin typeface="Consolas"/>
              </a:rPr>
              <a:t>2nd-reader workload </a:t>
            </a:r>
            <a:r>
              <a:rPr sz="1050" b="1" i="0">
                <a:solidFill>
                  <a:srgbClr val="5FB7C9"/>
                </a:solidFill>
                <a:latin typeface="Consolas"/>
              </a:rPr>
              <a:t>−88%</a:t>
            </a:r>
          </a:p>
        </p:txBody>
      </p:sp>
      <p:sp>
        <p:nvSpPr>
          <p:cNvPr id="10" name="TextBox 9"/>
          <p:cNvSpPr txBox="1"/>
          <p:nvPr/>
        </p:nvSpPr>
        <p:spPr>
          <a:xfrm>
            <a:off x="777240" y="4526280"/>
            <a:ext cx="6949440" cy="640080"/>
          </a:xfrm>
          <a:prstGeom prst="rect">
            <a:avLst/>
          </a:prstGeom>
          <a:noFill/>
        </p:spPr>
        <p:txBody>
          <a:bodyPr wrap="square" anchor="t" lIns="0" rIns="0" tIns="0" bIns="0">
            <a:spAutoFit/>
          </a:bodyPr>
          <a:lstStyle/>
          <a:p>
            <a:pPr algn="l">
              <a:lnSpc>
                <a:spcPct val="130000"/>
              </a:lnSpc>
            </a:pPr>
            <a:r>
              <a:rPr sz="1500" b="1" i="0">
                <a:solidFill>
                  <a:srgbClr val="ECEFF3"/>
                </a:solidFill>
                <a:latin typeface="Arial"/>
              </a:rPr>
              <a:t>Results are promising — but again, only on retrospective, clean data.</a:t>
            </a:r>
          </a:p>
        </p:txBody>
      </p:sp>
      <p:sp>
        <p:nvSpPr>
          <p:cNvPr id="11" name="Rectangle 10"/>
          <p:cNvSpPr/>
          <p:nvPr/>
        </p:nvSpPr>
        <p:spPr>
          <a:xfrm>
            <a:off x="8394742" y="1042415"/>
            <a:ext cx="2778675" cy="4681728"/>
          </a:xfrm>
          <a:prstGeom prst="rect">
            <a:avLst/>
          </a:prstGeom>
          <a:solidFill>
            <a:srgbClr val="06090C"/>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2_img2.png"/>
          <p:cNvPicPr>
            <a:picLocks noChangeAspect="1"/>
          </p:cNvPicPr>
          <p:nvPr/>
        </p:nvPicPr>
        <p:blipFill>
          <a:blip r:embed="rId2"/>
          <a:stretch>
            <a:fillRect/>
          </a:stretch>
        </p:blipFill>
        <p:spPr>
          <a:xfrm>
            <a:off x="8449606" y="1097280"/>
            <a:ext cx="2668947" cy="4572000"/>
          </a:xfrm>
          <a:prstGeom prst="rect">
            <a:avLst/>
          </a:prstGeom>
        </p:spPr>
      </p:pic>
      <p:sp>
        <p:nvSpPr>
          <p:cNvPr id="13" name="TextBox 12"/>
          <p:cNvSpPr txBox="1"/>
          <p:nvPr/>
        </p:nvSpPr>
        <p:spPr>
          <a:xfrm>
            <a:off x="7955279" y="5715000"/>
            <a:ext cx="3657600" cy="640080"/>
          </a:xfrm>
          <a:prstGeom prst="rect">
            <a:avLst/>
          </a:prstGeom>
          <a:noFill/>
        </p:spPr>
        <p:txBody>
          <a:bodyPr wrap="square" anchor="t" lIns="0" rIns="0" tIns="0" bIns="0">
            <a:spAutoFit/>
          </a:bodyPr>
          <a:lstStyle/>
          <a:p>
            <a:pPr algn="ctr">
              <a:lnSpc>
                <a:spcPct val="130000"/>
              </a:lnSpc>
            </a:pPr>
            <a:r>
              <a:rPr sz="900" b="0" i="0">
                <a:solidFill>
                  <a:srgbClr val="5C6975"/>
                </a:solidFill>
                <a:latin typeface="Consolas"/>
              </a:rPr>
              <a:t>Source: McKinney et al., Nature 2020 (Fig. 4). Orange boxes = AI-localized findings.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73152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a:t>
            </a:r>
          </a:p>
        </p:txBody>
      </p:sp>
      <p:sp>
        <p:nvSpPr>
          <p:cNvPr id="4" name="TextBox 3"/>
          <p:cNvSpPr txBox="1"/>
          <p:nvPr/>
        </p:nvSpPr>
        <p:spPr>
          <a:xfrm>
            <a:off x="777240" y="1051560"/>
            <a:ext cx="5852160" cy="1188720"/>
          </a:xfrm>
          <a:prstGeom prst="rect">
            <a:avLst/>
          </a:prstGeom>
          <a:noFill/>
        </p:spPr>
        <p:txBody>
          <a:bodyPr wrap="square" anchor="t" lIns="0" rIns="0" tIns="0" bIns="0">
            <a:spAutoFit/>
          </a:bodyPr>
          <a:lstStyle/>
          <a:p>
            <a:pPr algn="l">
              <a:lnSpc>
                <a:spcPct val="110000"/>
              </a:lnSpc>
            </a:pPr>
            <a:r>
              <a:rPr sz="2300" b="1" i="0">
                <a:solidFill>
                  <a:srgbClr val="ECEFF3"/>
                </a:solidFill>
                <a:latin typeface="Arial"/>
              </a:rPr>
              <a:t>Three commercial models, independently validated on </a:t>
            </a:r>
            <a:r>
              <a:rPr sz="2300" b="1" i="0">
                <a:solidFill>
                  <a:srgbClr val="E7AC51"/>
                </a:solidFill>
                <a:latin typeface="Arial"/>
              </a:rPr>
              <a:t>8,800 women.</a:t>
            </a:r>
          </a:p>
        </p:txBody>
      </p:sp>
      <p:sp>
        <p:nvSpPr>
          <p:cNvPr id="5" name="TextBox 4"/>
          <p:cNvSpPr txBox="1"/>
          <p:nvPr/>
        </p:nvSpPr>
        <p:spPr>
          <a:xfrm>
            <a:off x="777240" y="2423160"/>
            <a:ext cx="5852160" cy="640080"/>
          </a:xfrm>
          <a:prstGeom prst="rect">
            <a:avLst/>
          </a:prstGeom>
          <a:noFill/>
        </p:spPr>
        <p:txBody>
          <a:bodyPr wrap="square" anchor="t" lIns="0" rIns="0" tIns="0" bIns="0">
            <a:spAutoFit/>
          </a:bodyPr>
          <a:lstStyle/>
          <a:p>
            <a:pPr algn="l">
              <a:lnSpc>
                <a:spcPct val="135000"/>
              </a:lnSpc>
            </a:pPr>
            <a:r>
              <a:rPr sz="1400" b="1" i="0">
                <a:solidFill>
                  <a:srgbClr val="ECEFF3"/>
                </a:solidFill>
                <a:latin typeface="Arial"/>
              </a:rPr>
              <a:t>Salim et al., JAMA Oncology 2020</a:t>
            </a:r>
            <a:r>
              <a:rPr sz="1400" b="0" i="0">
                <a:solidFill>
                  <a:srgbClr val="9DA9B5"/>
                </a:solidFill>
                <a:latin typeface="Arial"/>
              </a:rPr>
              <a:t> tested three commercial algorithms on an external Stockholm cohort.</a:t>
            </a:r>
          </a:p>
        </p:txBody>
      </p:sp>
      <p:sp>
        <p:nvSpPr>
          <p:cNvPr id="6" name="Rounded Rectangle 5"/>
          <p:cNvSpPr/>
          <p:nvPr/>
        </p:nvSpPr>
        <p:spPr>
          <a:xfrm>
            <a:off x="777240" y="3200400"/>
            <a:ext cx="530352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0" i="0">
                <a:solidFill>
                  <a:srgbClr val="ECEFF3"/>
                </a:solidFill>
                <a:latin typeface="Consolas"/>
              </a:rPr>
              <a:t>best (Algorithm 1) </a:t>
            </a:r>
            <a:r>
              <a:rPr sz="1050" b="1" i="0">
                <a:solidFill>
                  <a:srgbClr val="5FB7C9"/>
                </a:solidFill>
                <a:latin typeface="Consolas"/>
              </a:rPr>
              <a:t>AUC 0.956</a:t>
            </a:r>
          </a:p>
        </p:txBody>
      </p:sp>
      <p:sp>
        <p:nvSpPr>
          <p:cNvPr id="7" name="Rounded Rectangle 6"/>
          <p:cNvSpPr/>
          <p:nvPr/>
        </p:nvSpPr>
        <p:spPr>
          <a:xfrm>
            <a:off x="777240" y="3858768"/>
            <a:ext cx="530352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0" i="0">
                <a:solidFill>
                  <a:srgbClr val="ECEFF3"/>
                </a:solidFill>
                <a:latin typeface="Consolas"/>
              </a:rPr>
              <a:t>AI + first reader </a:t>
            </a:r>
            <a:r>
              <a:rPr sz="1050" b="1" i="0">
                <a:solidFill>
                  <a:srgbClr val="5FB7C9"/>
                </a:solidFill>
                <a:latin typeface="Consolas"/>
              </a:rPr>
              <a:t>88.6% sens @ 93% spec</a:t>
            </a:r>
          </a:p>
        </p:txBody>
      </p:sp>
      <p:sp>
        <p:nvSpPr>
          <p:cNvPr id="8" name="Rounded Rectangle 7"/>
          <p:cNvSpPr/>
          <p:nvPr/>
        </p:nvSpPr>
        <p:spPr>
          <a:xfrm>
            <a:off x="777240" y="4517136"/>
            <a:ext cx="5303520" cy="566928"/>
          </a:xfrm>
          <a:prstGeom prst="roundRect">
            <a:avLst/>
          </a:prstGeom>
          <a:solidFill>
            <a:srgbClr val="1B232D"/>
          </a:solidFill>
          <a:ln w="12700">
            <a:solidFill>
              <a:srgbClr val="5FB7C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tIns="36576" bIns="36576"/>
          <a:lstStyle/>
          <a:p>
            <a:pPr algn="l">
              <a:lnSpc>
                <a:spcPct val="105000"/>
              </a:lnSpc>
            </a:pPr>
            <a:r>
              <a:rPr sz="1050" b="0" i="0">
                <a:solidFill>
                  <a:srgbClr val="ECEFF3"/>
                </a:solidFill>
                <a:latin typeface="Consolas"/>
              </a:rPr>
              <a:t>exceeded </a:t>
            </a:r>
            <a:r>
              <a:rPr sz="1050" b="1" i="0">
                <a:solidFill>
                  <a:srgbClr val="5FB7C9"/>
                </a:solidFill>
                <a:latin typeface="Consolas"/>
              </a:rPr>
              <a:t>two human readers</a:t>
            </a:r>
          </a:p>
        </p:txBody>
      </p:sp>
      <p:sp>
        <p:nvSpPr>
          <p:cNvPr id="9" name="TextBox 8"/>
          <p:cNvSpPr txBox="1"/>
          <p:nvPr/>
        </p:nvSpPr>
        <p:spPr>
          <a:xfrm>
            <a:off x="777240" y="5303520"/>
            <a:ext cx="5852160" cy="548640"/>
          </a:xfrm>
          <a:prstGeom prst="rect">
            <a:avLst/>
          </a:prstGeom>
          <a:noFill/>
        </p:spPr>
        <p:txBody>
          <a:bodyPr wrap="square" anchor="t" lIns="0" rIns="0" tIns="0" bIns="0">
            <a:spAutoFit/>
          </a:bodyPr>
          <a:lstStyle/>
          <a:p>
            <a:pPr algn="l">
              <a:lnSpc>
                <a:spcPct val="130000"/>
              </a:lnSpc>
            </a:pPr>
            <a:r>
              <a:rPr sz="1500" b="1" i="0">
                <a:solidFill>
                  <a:srgbClr val="ECEFF3"/>
                </a:solidFill>
                <a:latin typeface="Arial"/>
              </a:rPr>
              <a:t>Three vendors, external data — the evidence is looking good.</a:t>
            </a:r>
          </a:p>
        </p:txBody>
      </p:sp>
      <p:sp>
        <p:nvSpPr>
          <p:cNvPr id="10" name="Rectangle 9"/>
          <p:cNvSpPr/>
          <p:nvPr/>
        </p:nvSpPr>
        <p:spPr>
          <a:xfrm>
            <a:off x="6894576" y="1963458"/>
            <a:ext cx="4590288" cy="2748203"/>
          </a:xfrm>
          <a:prstGeom prst="rect">
            <a:avLst/>
          </a:prstGeom>
          <a:solidFill>
            <a:srgbClr val="06090C"/>
          </a:solidFill>
          <a:ln w="9525">
            <a:solidFill>
              <a:srgbClr val="C98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2_img3.png"/>
          <p:cNvPicPr>
            <a:picLocks noChangeAspect="1"/>
          </p:cNvPicPr>
          <p:nvPr/>
        </p:nvPicPr>
        <p:blipFill>
          <a:blip r:embed="rId2"/>
          <a:stretch>
            <a:fillRect/>
          </a:stretch>
        </p:blipFill>
        <p:spPr>
          <a:xfrm>
            <a:off x="6949440" y="2018322"/>
            <a:ext cx="4480560" cy="2638475"/>
          </a:xfrm>
          <a:prstGeom prst="rect">
            <a:avLst/>
          </a:prstGeom>
        </p:spPr>
      </p:pic>
      <p:sp>
        <p:nvSpPr>
          <p:cNvPr id="12" name="TextBox 11"/>
          <p:cNvSpPr txBox="1"/>
          <p:nvPr/>
        </p:nvSpPr>
        <p:spPr>
          <a:xfrm>
            <a:off x="6949440" y="5440680"/>
            <a:ext cx="4480560" cy="640080"/>
          </a:xfrm>
          <a:prstGeom prst="rect">
            <a:avLst/>
          </a:prstGeom>
          <a:noFill/>
        </p:spPr>
        <p:txBody>
          <a:bodyPr wrap="square" anchor="t" lIns="0" rIns="0" tIns="0" bIns="0">
            <a:spAutoFit/>
          </a:bodyPr>
          <a:lstStyle/>
          <a:p>
            <a:pPr algn="ctr">
              <a:lnSpc>
                <a:spcPct val="130000"/>
              </a:lnSpc>
            </a:pPr>
            <a:r>
              <a:rPr sz="900" b="0" i="0">
                <a:solidFill>
                  <a:srgbClr val="5C6975"/>
                </a:solidFill>
                <a:latin typeface="Consolas"/>
              </a:rPr>
              <a:t>Source: Salim et al., JAMA Oncology 2020 — ROC of Algorithms 1–3 on 8,805 women.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73152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a:t>
            </a:r>
          </a:p>
        </p:txBody>
      </p:sp>
      <p:sp>
        <p:nvSpPr>
          <p:cNvPr id="4" name="TextBox 3"/>
          <p:cNvSpPr txBox="1"/>
          <p:nvPr/>
        </p:nvSpPr>
        <p:spPr>
          <a:xfrm>
            <a:off x="777240" y="1051560"/>
            <a:ext cx="10607040" cy="914400"/>
          </a:xfrm>
          <a:prstGeom prst="rect">
            <a:avLst/>
          </a:prstGeom>
          <a:noFill/>
        </p:spPr>
        <p:txBody>
          <a:bodyPr wrap="square" anchor="t" lIns="0" rIns="0" tIns="0" bIns="0">
            <a:spAutoFit/>
          </a:bodyPr>
          <a:lstStyle/>
          <a:p>
            <a:pPr algn="l">
              <a:lnSpc>
                <a:spcPct val="110000"/>
              </a:lnSpc>
            </a:pPr>
            <a:r>
              <a:rPr sz="3000" b="1" i="0">
                <a:solidFill>
                  <a:srgbClr val="ECEFF3"/>
                </a:solidFill>
                <a:latin typeface="Arial"/>
              </a:rPr>
              <a:t>Retrospective data isn't enough to </a:t>
            </a:r>
            <a:r>
              <a:rPr sz="3000" b="1" i="0">
                <a:solidFill>
                  <a:srgbClr val="E7AC51"/>
                </a:solidFill>
                <a:latin typeface="Arial"/>
              </a:rPr>
              <a:t>drive adoption.</a:t>
            </a:r>
          </a:p>
        </p:txBody>
      </p:sp>
      <p:sp>
        <p:nvSpPr>
          <p:cNvPr id="5" name="Rectangle 4"/>
          <p:cNvSpPr/>
          <p:nvPr/>
        </p:nvSpPr>
        <p:spPr>
          <a:xfrm>
            <a:off x="777240" y="2240280"/>
            <a:ext cx="45720" cy="9144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240280"/>
            <a:ext cx="10332720" cy="914400"/>
          </a:xfrm>
          <a:prstGeom prst="rect">
            <a:avLst/>
          </a:prstGeom>
          <a:noFill/>
        </p:spPr>
        <p:txBody>
          <a:bodyPr wrap="square" anchor="t" lIns="0" rIns="0" tIns="0" bIns="0">
            <a:spAutoFit/>
          </a:bodyPr>
          <a:lstStyle/>
          <a:p>
            <a:pPr algn="l">
              <a:lnSpc>
                <a:spcPct val="135000"/>
              </a:lnSpc>
            </a:pPr>
            <a:r>
              <a:rPr sz="1600" b="0" i="0">
                <a:solidFill>
                  <a:srgbClr val="ECEFF3"/>
                </a:solidFill>
                <a:latin typeface="Arial"/>
              </a:rPr>
              <a:t>Enriched cases, lab conditions, no real workflow — CAD had good retrospective numbers too. The bar is prospective deployment, and real-world uptake has been slow.</a:t>
            </a:r>
          </a:p>
        </p:txBody>
      </p:sp>
      <p:sp>
        <p:nvSpPr>
          <p:cNvPr id="7" name="TextBox 6"/>
          <p:cNvSpPr txBox="1"/>
          <p:nvPr/>
        </p:nvSpPr>
        <p:spPr>
          <a:xfrm>
            <a:off x="777240" y="3520440"/>
            <a:ext cx="3383280" cy="1097280"/>
          </a:xfrm>
          <a:prstGeom prst="rect">
            <a:avLst/>
          </a:prstGeom>
          <a:noFill/>
        </p:spPr>
        <p:txBody>
          <a:bodyPr wrap="square" anchor="t" lIns="0" rIns="0" tIns="0" bIns="0">
            <a:spAutoFit/>
          </a:bodyPr>
          <a:lstStyle/>
          <a:p>
            <a:pPr algn="l">
              <a:lnSpc>
                <a:spcPct val="100000"/>
              </a:lnSpc>
            </a:pPr>
            <a:r>
              <a:rPr sz="5600" b="1" i="0">
                <a:solidFill>
                  <a:srgbClr val="E7AC51"/>
                </a:solidFill>
                <a:latin typeface="Arial"/>
              </a:rPr>
              <a:t>48%</a:t>
            </a:r>
          </a:p>
        </p:txBody>
      </p:sp>
      <p:sp>
        <p:nvSpPr>
          <p:cNvPr id="8" name="TextBox 7"/>
          <p:cNvSpPr txBox="1"/>
          <p:nvPr/>
        </p:nvSpPr>
        <p:spPr>
          <a:xfrm>
            <a:off x="777240" y="4709160"/>
            <a:ext cx="3291840" cy="914400"/>
          </a:xfrm>
          <a:prstGeom prst="rect">
            <a:avLst/>
          </a:prstGeom>
          <a:noFill/>
        </p:spPr>
        <p:txBody>
          <a:bodyPr wrap="square" anchor="t" lIns="0" rIns="0" tIns="0" bIns="0">
            <a:spAutoFit/>
          </a:bodyPr>
          <a:lstStyle/>
          <a:p>
            <a:pPr algn="l">
              <a:lnSpc>
                <a:spcPct val="135000"/>
              </a:lnSpc>
            </a:pPr>
            <a:r>
              <a:rPr sz="1100" b="0" i="0">
                <a:solidFill>
                  <a:srgbClr val="ECEFF3"/>
                </a:solidFill>
                <a:latin typeface="Consolas"/>
              </a:rPr>
              <a:t>European radiologists use AI (2024) — up from 20% in 2018</a:t>
            </a:r>
          </a:p>
        </p:txBody>
      </p:sp>
      <p:sp>
        <p:nvSpPr>
          <p:cNvPr id="9" name="TextBox 8"/>
          <p:cNvSpPr txBox="1"/>
          <p:nvPr/>
        </p:nvSpPr>
        <p:spPr>
          <a:xfrm>
            <a:off x="4434840" y="3520440"/>
            <a:ext cx="3383280" cy="1097280"/>
          </a:xfrm>
          <a:prstGeom prst="rect">
            <a:avLst/>
          </a:prstGeom>
          <a:noFill/>
        </p:spPr>
        <p:txBody>
          <a:bodyPr wrap="square" anchor="t" lIns="0" rIns="0" tIns="0" bIns="0">
            <a:spAutoFit/>
          </a:bodyPr>
          <a:lstStyle/>
          <a:p>
            <a:pPr algn="l">
              <a:lnSpc>
                <a:spcPct val="100000"/>
              </a:lnSpc>
            </a:pPr>
            <a:r>
              <a:rPr sz="5600" b="1" i="0">
                <a:solidFill>
                  <a:srgbClr val="E7AC51"/>
                </a:solidFill>
                <a:latin typeface="Arial"/>
              </a:rPr>
              <a:t>13.7%</a:t>
            </a:r>
          </a:p>
        </p:txBody>
      </p:sp>
      <p:sp>
        <p:nvSpPr>
          <p:cNvPr id="10" name="TextBox 9"/>
          <p:cNvSpPr txBox="1"/>
          <p:nvPr/>
        </p:nvSpPr>
        <p:spPr>
          <a:xfrm>
            <a:off x="4434840" y="4709160"/>
            <a:ext cx="3291840" cy="914400"/>
          </a:xfrm>
          <a:prstGeom prst="rect">
            <a:avLst/>
          </a:prstGeom>
          <a:noFill/>
        </p:spPr>
        <p:txBody>
          <a:bodyPr wrap="square" anchor="t" lIns="0" rIns="0" tIns="0" bIns="0">
            <a:spAutoFit/>
          </a:bodyPr>
          <a:lstStyle/>
          <a:p>
            <a:pPr algn="l">
              <a:lnSpc>
                <a:spcPct val="135000"/>
              </a:lnSpc>
            </a:pPr>
            <a:r>
              <a:rPr sz="1100" b="0" i="0">
                <a:solidFill>
                  <a:srgbClr val="ECEFF3"/>
                </a:solidFill>
                <a:latin typeface="Consolas"/>
              </a:rPr>
              <a:t>of them, for breast imaging — about 1 in 8</a:t>
            </a:r>
          </a:p>
        </p:txBody>
      </p:sp>
      <p:sp>
        <p:nvSpPr>
          <p:cNvPr id="11" name="TextBox 10"/>
          <p:cNvSpPr txBox="1"/>
          <p:nvPr/>
        </p:nvSpPr>
        <p:spPr>
          <a:xfrm>
            <a:off x="8092440" y="3520440"/>
            <a:ext cx="3383280" cy="1097280"/>
          </a:xfrm>
          <a:prstGeom prst="rect">
            <a:avLst/>
          </a:prstGeom>
          <a:noFill/>
        </p:spPr>
        <p:txBody>
          <a:bodyPr wrap="square" anchor="t" lIns="0" rIns="0" tIns="0" bIns="0">
            <a:spAutoFit/>
          </a:bodyPr>
          <a:lstStyle/>
          <a:p>
            <a:pPr algn="l">
              <a:lnSpc>
                <a:spcPct val="100000"/>
              </a:lnSpc>
            </a:pPr>
            <a:r>
              <a:rPr sz="5600" b="1" i="0">
                <a:solidFill>
                  <a:srgbClr val="E7AC51"/>
                </a:solidFill>
                <a:latin typeface="Arial"/>
              </a:rPr>
              <a:t>~2%</a:t>
            </a:r>
          </a:p>
        </p:txBody>
      </p:sp>
      <p:sp>
        <p:nvSpPr>
          <p:cNvPr id="12" name="TextBox 11"/>
          <p:cNvSpPr txBox="1"/>
          <p:nvPr/>
        </p:nvSpPr>
        <p:spPr>
          <a:xfrm>
            <a:off x="8092440" y="4709160"/>
            <a:ext cx="3291840" cy="914400"/>
          </a:xfrm>
          <a:prstGeom prst="rect">
            <a:avLst/>
          </a:prstGeom>
          <a:noFill/>
        </p:spPr>
        <p:txBody>
          <a:bodyPr wrap="square" anchor="t" lIns="0" rIns="0" tIns="0" bIns="0">
            <a:spAutoFit/>
          </a:bodyPr>
          <a:lstStyle/>
          <a:p>
            <a:pPr algn="l">
              <a:lnSpc>
                <a:spcPct val="135000"/>
              </a:lnSpc>
            </a:pPr>
            <a:r>
              <a:rPr sz="1100" b="0" i="0">
                <a:solidFill>
                  <a:srgbClr val="ECEFF3"/>
                </a:solidFill>
                <a:latin typeface="Consolas"/>
              </a:rPr>
              <a:t>of US practices, by one estimate</a:t>
            </a:r>
          </a:p>
        </p:txBody>
      </p:sp>
      <p:sp>
        <p:nvSpPr>
          <p:cNvPr id="13" name="TextBox 12"/>
          <p:cNvSpPr txBox="1"/>
          <p:nvPr/>
        </p:nvSpPr>
        <p:spPr>
          <a:xfrm>
            <a:off x="777240" y="5989320"/>
            <a:ext cx="10607040" cy="36576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ESR EuroAIM/EuSoMII survey, Insights Imaging 2024 (n=572) · US estimate: industry report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73152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a:t>
            </a:r>
          </a:p>
        </p:txBody>
      </p:sp>
      <p:sp>
        <p:nvSpPr>
          <p:cNvPr id="4" name="TextBox 3"/>
          <p:cNvSpPr txBox="1"/>
          <p:nvPr/>
        </p:nvSpPr>
        <p:spPr>
          <a:xfrm>
            <a:off x="777240" y="1051560"/>
            <a:ext cx="10607040" cy="822960"/>
          </a:xfrm>
          <a:prstGeom prst="rect">
            <a:avLst/>
          </a:prstGeom>
          <a:noFill/>
        </p:spPr>
        <p:txBody>
          <a:bodyPr wrap="square" anchor="t" lIns="0" rIns="0" tIns="0" bIns="0">
            <a:spAutoFit/>
          </a:bodyPr>
          <a:lstStyle/>
          <a:p>
            <a:pPr algn="l">
              <a:lnSpc>
                <a:spcPct val="100000"/>
              </a:lnSpc>
            </a:pPr>
            <a:r>
              <a:rPr sz="2800" b="1" i="0">
                <a:solidFill>
                  <a:srgbClr val="ECEFF3"/>
                </a:solidFill>
                <a:latin typeface="Arial"/>
              </a:rPr>
              <a:t>2023: MASAI publishes its </a:t>
            </a:r>
            <a:r>
              <a:rPr sz="2800" b="1" i="0">
                <a:solidFill>
                  <a:srgbClr val="E7AC51"/>
                </a:solidFill>
                <a:latin typeface="Arial"/>
              </a:rPr>
              <a:t>safety analysis.</a:t>
            </a:r>
          </a:p>
        </p:txBody>
      </p:sp>
      <p:sp>
        <p:nvSpPr>
          <p:cNvPr id="5" name="TextBox 4"/>
          <p:cNvSpPr txBox="1"/>
          <p:nvPr/>
        </p:nvSpPr>
        <p:spPr>
          <a:xfrm>
            <a:off x="777240" y="1920240"/>
            <a:ext cx="10607040" cy="548640"/>
          </a:xfrm>
          <a:prstGeom prst="rect">
            <a:avLst/>
          </a:prstGeom>
          <a:noFill/>
        </p:spPr>
        <p:txBody>
          <a:bodyPr wrap="square" anchor="t" lIns="0" rIns="0" tIns="0" bIns="0">
            <a:spAutoFit/>
          </a:bodyPr>
          <a:lstStyle/>
          <a:p>
            <a:pPr algn="l">
              <a:lnSpc>
                <a:spcPct val="130000"/>
              </a:lnSpc>
            </a:pPr>
            <a:r>
              <a:rPr sz="1500" b="0" i="0">
                <a:solidFill>
                  <a:srgbClr val="9DA9B5"/>
                </a:solidFill>
                <a:latin typeface="Arial"/>
              </a:rPr>
              <a:t>A randomized trial, </a:t>
            </a:r>
            <a:r>
              <a:rPr sz="1500" b="1" i="0">
                <a:solidFill>
                  <a:srgbClr val="ECEFF3"/>
                </a:solidFill>
                <a:latin typeface="Arial"/>
              </a:rPr>
              <a:t>~80,000 women</a:t>
            </a:r>
            <a:r>
              <a:rPr sz="1500" b="0" i="0">
                <a:solidFill>
                  <a:srgbClr val="9DA9B5"/>
                </a:solidFill>
                <a:latin typeface="Arial"/>
              </a:rPr>
              <a:t> (≈40,000 per arm) — AI-supported reading vs standard double reading.</a:t>
            </a:r>
          </a:p>
        </p:txBody>
      </p:sp>
      <p:sp>
        <p:nvSpPr>
          <p:cNvPr id="6" name="TextBox 5"/>
          <p:cNvSpPr txBox="1"/>
          <p:nvPr/>
        </p:nvSpPr>
        <p:spPr>
          <a:xfrm>
            <a:off x="777240" y="2606040"/>
            <a:ext cx="5486400" cy="914400"/>
          </a:xfrm>
          <a:prstGeom prst="rect">
            <a:avLst/>
          </a:prstGeom>
          <a:noFill/>
        </p:spPr>
        <p:txBody>
          <a:bodyPr wrap="square" anchor="ctr" lIns="0" rIns="0" tIns="0" bIns="0">
            <a:spAutoFit/>
          </a:bodyPr>
          <a:lstStyle/>
          <a:p>
            <a:pPr algn="l">
              <a:lnSpc>
                <a:spcPct val="100000"/>
              </a:lnSpc>
            </a:pPr>
            <a:r>
              <a:rPr sz="5000" b="1" i="0">
                <a:solidFill>
                  <a:srgbClr val="E7AC51"/>
                </a:solidFill>
                <a:latin typeface="Arial"/>
              </a:rPr>
              <a:t>6.1 </a:t>
            </a:r>
            <a:r>
              <a:rPr sz="3000" b="0" i="0">
                <a:solidFill>
                  <a:srgbClr val="5C6975"/>
                </a:solidFill>
                <a:latin typeface="Arial"/>
              </a:rPr>
              <a:t>vs</a:t>
            </a:r>
            <a:r>
              <a:rPr sz="5000" b="1" i="0">
                <a:solidFill>
                  <a:srgbClr val="E7AC51"/>
                </a:solidFill>
                <a:latin typeface="Arial"/>
              </a:rPr>
              <a:t> 5.1</a:t>
            </a:r>
          </a:p>
        </p:txBody>
      </p:sp>
      <p:sp>
        <p:nvSpPr>
          <p:cNvPr id="7" name="TextBox 6"/>
          <p:cNvSpPr txBox="1"/>
          <p:nvPr/>
        </p:nvSpPr>
        <p:spPr>
          <a:xfrm>
            <a:off x="777240" y="3611880"/>
            <a:ext cx="5852160" cy="457200"/>
          </a:xfrm>
          <a:prstGeom prst="rect">
            <a:avLst/>
          </a:prstGeom>
          <a:noFill/>
        </p:spPr>
        <p:txBody>
          <a:bodyPr wrap="square" anchor="t" lIns="0" rIns="0" tIns="0" bIns="0">
            <a:spAutoFit/>
          </a:bodyPr>
          <a:lstStyle/>
          <a:p>
            <a:pPr algn="l">
              <a:lnSpc>
                <a:spcPct val="100000"/>
              </a:lnSpc>
            </a:pPr>
            <a:r>
              <a:rPr sz="1200" b="0" i="0">
                <a:solidFill>
                  <a:srgbClr val="ECEFF3"/>
                </a:solidFill>
                <a:latin typeface="Consolas"/>
              </a:rPr>
              <a:t>CDR per 1,000 · ratio 1.2 (95% CI 1.0–1.5)</a:t>
            </a:r>
          </a:p>
        </p:txBody>
      </p:sp>
      <p:graphicFrame>
        <p:nvGraphicFramePr>
          <p:cNvPr id="8" name="Table 7"/>
          <p:cNvGraphicFramePr>
            <a:graphicFrameLocks noGrp="1"/>
          </p:cNvGraphicFramePr>
          <p:nvPr/>
        </p:nvGraphicFramePr>
        <p:xfrm>
          <a:off x="777240" y="4251960"/>
          <a:ext cx="5669280" cy="1920240"/>
        </p:xfrm>
        <a:graphic>
          <a:graphicData uri="http://schemas.openxmlformats.org/drawingml/2006/table">
            <a:tbl>
              <a:tblPr firstRow="1" bandRow="1">
                <a:tableStyleId>{5C22544A-7EE6-4342-B048-85BDC9FD1C3A}</a:tableStyleId>
              </a:tblPr>
              <a:tblGrid>
                <a:gridCol w="3108960"/>
                <a:gridCol w="1280160"/>
                <a:gridCol w="1280160"/>
              </a:tblGrid>
              <a:tr h="384048">
                <a:tc>
                  <a:txBody>
                    <a:bodyPr/>
                    <a:lstStyle/>
                    <a:p>
                      <a:pPr algn="l"/>
                      <a:r>
                        <a:rPr sz="1050" b="1">
                          <a:solidFill>
                            <a:srgbClr val="9DA9B5"/>
                          </a:solidFill>
                          <a:latin typeface="Consolas"/>
                        </a:rPr>
                        <a:t>Measure</a:t>
                      </a:r>
                    </a:p>
                  </a:txBody>
                  <a:tcPr anchor="ctr" marL="73152" marR="73152" marT="18288" marB="18288">
                    <a:solidFill>
                      <a:srgbClr val="0F141A"/>
                    </a:solidFill>
                  </a:tcPr>
                </a:tc>
                <a:tc>
                  <a:txBody>
                    <a:bodyPr/>
                    <a:lstStyle/>
                    <a:p>
                      <a:pPr algn="r"/>
                      <a:r>
                        <a:rPr sz="1050" b="1">
                          <a:solidFill>
                            <a:srgbClr val="9DA9B5"/>
                          </a:solidFill>
                          <a:latin typeface="Consolas"/>
                        </a:rPr>
                        <a:t>AI</a:t>
                      </a:r>
                    </a:p>
                  </a:txBody>
                  <a:tcPr anchor="ctr" marL="73152" marR="73152" marT="18288" marB="18288">
                    <a:solidFill>
                      <a:srgbClr val="0F141A"/>
                    </a:solidFill>
                  </a:tcPr>
                </a:tc>
                <a:tc>
                  <a:txBody>
                    <a:bodyPr/>
                    <a:lstStyle/>
                    <a:p>
                      <a:pPr algn="r"/>
                      <a:r>
                        <a:rPr sz="1050" b="1">
                          <a:solidFill>
                            <a:srgbClr val="9DA9B5"/>
                          </a:solidFill>
                          <a:latin typeface="Consolas"/>
                        </a:rPr>
                        <a:t>Control</a:t>
                      </a:r>
                    </a:p>
                  </a:txBody>
                  <a:tcPr anchor="ctr" marL="73152" marR="73152" marT="18288" marB="18288">
                    <a:solidFill>
                      <a:srgbClr val="0F141A"/>
                    </a:solidFill>
                  </a:tcPr>
                </a:tc>
              </a:tr>
              <a:tr h="384048">
                <a:tc>
                  <a:txBody>
                    <a:bodyPr/>
                    <a:lstStyle/>
                    <a:p>
                      <a:pPr algn="l"/>
                      <a:r>
                        <a:rPr sz="1250">
                          <a:solidFill>
                            <a:srgbClr val="9DA9B5"/>
                          </a:solidFill>
                          <a:latin typeface="Arial"/>
                        </a:rPr>
                        <a:t>Recall rate</a:t>
                      </a:r>
                    </a:p>
                  </a:txBody>
                  <a:tcPr anchor="ctr" marL="73152" marR="73152" marT="18288" marB="18288">
                    <a:solidFill>
                      <a:srgbClr val="0F141A"/>
                    </a:solidFill>
                  </a:tcPr>
                </a:tc>
                <a:tc>
                  <a:txBody>
                    <a:bodyPr/>
                    <a:lstStyle/>
                    <a:p>
                      <a:pPr algn="r"/>
                      <a:r>
                        <a:rPr sz="1250" b="1">
                          <a:solidFill>
                            <a:srgbClr val="E7AC51"/>
                          </a:solidFill>
                          <a:latin typeface="Arial"/>
                        </a:rPr>
                        <a:t>2.2%</a:t>
                      </a:r>
                    </a:p>
                  </a:txBody>
                  <a:tcPr anchor="ctr" marL="73152" marR="73152" marT="18288" marB="18288">
                    <a:solidFill>
                      <a:srgbClr val="0F141A"/>
                    </a:solidFill>
                  </a:tcPr>
                </a:tc>
                <a:tc>
                  <a:txBody>
                    <a:bodyPr/>
                    <a:lstStyle/>
                    <a:p>
                      <a:pPr algn="r"/>
                      <a:r>
                        <a:rPr sz="1250">
                          <a:solidFill>
                            <a:srgbClr val="ECEFF3"/>
                          </a:solidFill>
                          <a:latin typeface="Arial"/>
                        </a:rPr>
                        <a:t>2.0%</a:t>
                      </a:r>
                    </a:p>
                  </a:txBody>
                  <a:tcPr anchor="ctr" marL="73152" marR="73152" marT="18288" marB="18288">
                    <a:solidFill>
                      <a:srgbClr val="0F141A"/>
                    </a:solidFill>
                  </a:tcPr>
                </a:tc>
              </a:tr>
              <a:tr h="384048">
                <a:tc>
                  <a:txBody>
                    <a:bodyPr/>
                    <a:lstStyle/>
                    <a:p>
                      <a:pPr algn="l"/>
                      <a:r>
                        <a:rPr sz="1250">
                          <a:solidFill>
                            <a:srgbClr val="9DA9B5"/>
                          </a:solidFill>
                          <a:latin typeface="Arial"/>
                        </a:rPr>
                        <a:t>False-positive rate</a:t>
                      </a:r>
                    </a:p>
                  </a:txBody>
                  <a:tcPr anchor="ctr" marL="73152" marR="73152" marT="18288" marB="18288">
                    <a:solidFill>
                      <a:srgbClr val="0F141A"/>
                    </a:solidFill>
                  </a:tcPr>
                </a:tc>
                <a:tc>
                  <a:txBody>
                    <a:bodyPr/>
                    <a:lstStyle/>
                    <a:p>
                      <a:pPr algn="r"/>
                      <a:r>
                        <a:rPr sz="1250" b="1">
                          <a:solidFill>
                            <a:srgbClr val="E7AC51"/>
                          </a:solidFill>
                          <a:latin typeface="Arial"/>
                        </a:rPr>
                        <a:t>1.5%</a:t>
                      </a:r>
                    </a:p>
                  </a:txBody>
                  <a:tcPr anchor="ctr" marL="73152" marR="73152" marT="18288" marB="18288">
                    <a:solidFill>
                      <a:srgbClr val="0F141A"/>
                    </a:solidFill>
                  </a:tcPr>
                </a:tc>
                <a:tc>
                  <a:txBody>
                    <a:bodyPr/>
                    <a:lstStyle/>
                    <a:p>
                      <a:pPr algn="r"/>
                      <a:r>
                        <a:rPr sz="1250">
                          <a:solidFill>
                            <a:srgbClr val="ECEFF3"/>
                          </a:solidFill>
                          <a:latin typeface="Arial"/>
                        </a:rPr>
                        <a:t>1.5%</a:t>
                      </a:r>
                    </a:p>
                  </a:txBody>
                  <a:tcPr anchor="ctr" marL="73152" marR="73152" marT="18288" marB="18288">
                    <a:solidFill>
                      <a:srgbClr val="0F141A"/>
                    </a:solidFill>
                  </a:tcPr>
                </a:tc>
              </a:tr>
              <a:tr h="384048">
                <a:tc>
                  <a:txBody>
                    <a:bodyPr/>
                    <a:lstStyle/>
                    <a:p>
                      <a:pPr algn="l"/>
                      <a:r>
                        <a:rPr sz="1250">
                          <a:solidFill>
                            <a:srgbClr val="9DA9B5"/>
                          </a:solidFill>
                          <a:latin typeface="Arial"/>
                        </a:rPr>
                        <a:t>PPV of recall</a:t>
                      </a:r>
                    </a:p>
                  </a:txBody>
                  <a:tcPr anchor="ctr" marL="73152" marR="73152" marT="18288" marB="18288">
                    <a:solidFill>
                      <a:srgbClr val="0F141A"/>
                    </a:solidFill>
                  </a:tcPr>
                </a:tc>
                <a:tc>
                  <a:txBody>
                    <a:bodyPr/>
                    <a:lstStyle/>
                    <a:p>
                      <a:pPr algn="r"/>
                      <a:r>
                        <a:rPr sz="1250" b="1">
                          <a:solidFill>
                            <a:srgbClr val="E7AC51"/>
                          </a:solidFill>
                          <a:latin typeface="Arial"/>
                        </a:rPr>
                        <a:t>28.3%</a:t>
                      </a:r>
                    </a:p>
                  </a:txBody>
                  <a:tcPr anchor="ctr" marL="73152" marR="73152" marT="18288" marB="18288">
                    <a:solidFill>
                      <a:srgbClr val="0F141A"/>
                    </a:solidFill>
                  </a:tcPr>
                </a:tc>
                <a:tc>
                  <a:txBody>
                    <a:bodyPr/>
                    <a:lstStyle/>
                    <a:p>
                      <a:pPr algn="r"/>
                      <a:r>
                        <a:rPr sz="1250">
                          <a:solidFill>
                            <a:srgbClr val="ECEFF3"/>
                          </a:solidFill>
                          <a:latin typeface="Arial"/>
                        </a:rPr>
                        <a:t>24.8%</a:t>
                      </a:r>
                    </a:p>
                  </a:txBody>
                  <a:tcPr anchor="ctr" marL="73152" marR="73152" marT="18288" marB="18288">
                    <a:solidFill>
                      <a:srgbClr val="0F141A"/>
                    </a:solidFill>
                  </a:tcPr>
                </a:tc>
              </a:tr>
              <a:tr h="384048">
                <a:tc>
                  <a:txBody>
                    <a:bodyPr/>
                    <a:lstStyle/>
                    <a:p>
                      <a:pPr algn="l"/>
                      <a:r>
                        <a:rPr sz="1250">
                          <a:solidFill>
                            <a:srgbClr val="9DA9B5"/>
                          </a:solidFill>
                          <a:latin typeface="Arial"/>
                        </a:rPr>
                        <a:t>Invasive cancers</a:t>
                      </a:r>
                    </a:p>
                  </a:txBody>
                  <a:tcPr anchor="ctr" marL="73152" marR="73152" marT="18288" marB="18288">
                    <a:solidFill>
                      <a:srgbClr val="0F141A"/>
                    </a:solidFill>
                  </a:tcPr>
                </a:tc>
                <a:tc>
                  <a:txBody>
                    <a:bodyPr/>
                    <a:lstStyle/>
                    <a:p>
                      <a:pPr algn="r"/>
                      <a:r>
                        <a:rPr sz="1250" b="1">
                          <a:solidFill>
                            <a:srgbClr val="E7AC51"/>
                          </a:solidFill>
                          <a:latin typeface="Arial"/>
                        </a:rPr>
                        <a:t>75%</a:t>
                      </a:r>
                    </a:p>
                  </a:txBody>
                  <a:tcPr anchor="ctr" marL="73152" marR="73152" marT="18288" marB="18288">
                    <a:solidFill>
                      <a:srgbClr val="0F141A"/>
                    </a:solidFill>
                  </a:tcPr>
                </a:tc>
                <a:tc>
                  <a:txBody>
                    <a:bodyPr/>
                    <a:lstStyle/>
                    <a:p>
                      <a:pPr algn="r"/>
                      <a:r>
                        <a:rPr sz="1250">
                          <a:solidFill>
                            <a:srgbClr val="ECEFF3"/>
                          </a:solidFill>
                          <a:latin typeface="Arial"/>
                        </a:rPr>
                        <a:t>81%</a:t>
                      </a:r>
                    </a:p>
                  </a:txBody>
                  <a:tcPr anchor="ctr" marL="73152" marR="73152" marT="18288" marB="18288">
                    <a:solidFill>
                      <a:srgbClr val="0F141A"/>
                    </a:solidFill>
                  </a:tcPr>
                </a:tc>
              </a:tr>
            </a:tbl>
          </a:graphicData>
        </a:graphic>
      </p:graphicFrame>
      <p:sp>
        <p:nvSpPr>
          <p:cNvPr id="9" name="TextBox 8"/>
          <p:cNvSpPr txBox="1"/>
          <p:nvPr/>
        </p:nvSpPr>
        <p:spPr>
          <a:xfrm>
            <a:off x="6766560" y="2743200"/>
            <a:ext cx="4663440" cy="1828800"/>
          </a:xfrm>
          <a:prstGeom prst="rect">
            <a:avLst/>
          </a:prstGeom>
          <a:noFill/>
        </p:spPr>
        <p:txBody>
          <a:bodyPr wrap="square" anchor="t" lIns="0" rIns="0" tIns="0" bIns="0">
            <a:spAutoFit/>
          </a:bodyPr>
          <a:lstStyle/>
          <a:p>
            <a:pPr algn="l">
              <a:lnSpc>
                <a:spcPct val="140000"/>
              </a:lnSpc>
            </a:pPr>
            <a:r>
              <a:rPr sz="1600" b="0" i="0">
                <a:solidFill>
                  <a:srgbClr val="9DA9B5"/>
                </a:solidFill>
                <a:latin typeface="Arial"/>
              </a:rPr>
              <a:t>Above the lowest acceptable detection limit for safety — safe, and detecting more.</a:t>
            </a:r>
          </a:p>
        </p:txBody>
      </p:sp>
      <p:sp>
        <p:nvSpPr>
          <p:cNvPr id="10" name="TextBox 9"/>
          <p:cNvSpPr txBox="1"/>
          <p:nvPr/>
        </p:nvSpPr>
        <p:spPr>
          <a:xfrm>
            <a:off x="777240" y="6355080"/>
            <a:ext cx="10607040" cy="36576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Lång et al., Lancet Oncology 2023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73152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a:t>
            </a:r>
          </a:p>
        </p:txBody>
      </p:sp>
      <p:sp>
        <p:nvSpPr>
          <p:cNvPr id="4" name="TextBox 3"/>
          <p:cNvSpPr txBox="1"/>
          <p:nvPr/>
        </p:nvSpPr>
        <p:spPr>
          <a:xfrm>
            <a:off x="777240" y="1051560"/>
            <a:ext cx="10607040" cy="822960"/>
          </a:xfrm>
          <a:prstGeom prst="rect">
            <a:avLst/>
          </a:prstGeom>
          <a:noFill/>
        </p:spPr>
        <p:txBody>
          <a:bodyPr wrap="square" anchor="t" lIns="0" rIns="0" tIns="0" bIns="0">
            <a:spAutoFit/>
          </a:bodyPr>
          <a:lstStyle/>
          <a:p>
            <a:pPr algn="l">
              <a:lnSpc>
                <a:spcPct val="100000"/>
              </a:lnSpc>
            </a:pPr>
            <a:r>
              <a:rPr sz="2800" b="1" i="0">
                <a:solidFill>
                  <a:srgbClr val="ECEFF3"/>
                </a:solidFill>
                <a:latin typeface="Arial"/>
              </a:rPr>
              <a:t>2025: PRAIM — </a:t>
            </a:r>
            <a:r>
              <a:rPr sz="2800" b="1" i="0">
                <a:solidFill>
                  <a:srgbClr val="E7AC51"/>
                </a:solidFill>
                <a:latin typeface="Arial"/>
              </a:rPr>
              <a:t>real-world data.</a:t>
            </a:r>
          </a:p>
        </p:txBody>
      </p:sp>
      <p:sp>
        <p:nvSpPr>
          <p:cNvPr id="5" name="TextBox 4"/>
          <p:cNvSpPr txBox="1"/>
          <p:nvPr/>
        </p:nvSpPr>
        <p:spPr>
          <a:xfrm>
            <a:off x="777240" y="1920240"/>
            <a:ext cx="10607040" cy="548640"/>
          </a:xfrm>
          <a:prstGeom prst="rect">
            <a:avLst/>
          </a:prstGeom>
          <a:noFill/>
        </p:spPr>
        <p:txBody>
          <a:bodyPr wrap="square" anchor="t" lIns="0" rIns="0" tIns="0" bIns="0">
            <a:spAutoFit/>
          </a:bodyPr>
          <a:lstStyle/>
          <a:p>
            <a:pPr algn="l">
              <a:lnSpc>
                <a:spcPct val="130000"/>
              </a:lnSpc>
            </a:pPr>
            <a:r>
              <a:rPr sz="1500" b="1" i="0">
                <a:solidFill>
                  <a:srgbClr val="ECEFF3"/>
                </a:solidFill>
                <a:latin typeface="Arial"/>
              </a:rPr>
              <a:t>463,000 women</a:t>
            </a:r>
            <a:r>
              <a:rPr sz="1500" b="0" i="0">
                <a:solidFill>
                  <a:srgbClr val="9DA9B5"/>
                </a:solidFill>
                <a:latin typeface="Arial"/>
              </a:rPr>
              <a:t> · 12 sites · 119 radiologists (Germany, 2021–23) — ~261,000 read with AI support (Vara).</a:t>
            </a:r>
          </a:p>
        </p:txBody>
      </p:sp>
      <p:sp>
        <p:nvSpPr>
          <p:cNvPr id="6" name="TextBox 5"/>
          <p:cNvSpPr txBox="1"/>
          <p:nvPr/>
        </p:nvSpPr>
        <p:spPr>
          <a:xfrm>
            <a:off x="777240" y="2606040"/>
            <a:ext cx="5852160" cy="914400"/>
          </a:xfrm>
          <a:prstGeom prst="rect">
            <a:avLst/>
          </a:prstGeom>
          <a:noFill/>
        </p:spPr>
        <p:txBody>
          <a:bodyPr wrap="square" anchor="ctr" lIns="0" rIns="0" tIns="0" bIns="0">
            <a:spAutoFit/>
          </a:bodyPr>
          <a:lstStyle/>
          <a:p>
            <a:pPr algn="l">
              <a:lnSpc>
                <a:spcPct val="100000"/>
              </a:lnSpc>
            </a:pPr>
            <a:r>
              <a:rPr sz="5000" b="1" i="0">
                <a:solidFill>
                  <a:srgbClr val="E7AC51"/>
                </a:solidFill>
                <a:latin typeface="Arial"/>
              </a:rPr>
              <a:t>6.7 </a:t>
            </a:r>
            <a:r>
              <a:rPr sz="3000" b="0" i="0">
                <a:solidFill>
                  <a:srgbClr val="5C6975"/>
                </a:solidFill>
                <a:latin typeface="Arial"/>
              </a:rPr>
              <a:t>vs</a:t>
            </a:r>
            <a:r>
              <a:rPr sz="5000" b="1" i="0">
                <a:solidFill>
                  <a:srgbClr val="E7AC51"/>
                </a:solidFill>
                <a:latin typeface="Arial"/>
              </a:rPr>
              <a:t> 5.7</a:t>
            </a:r>
          </a:p>
        </p:txBody>
      </p:sp>
      <p:sp>
        <p:nvSpPr>
          <p:cNvPr id="7" name="TextBox 6"/>
          <p:cNvSpPr txBox="1"/>
          <p:nvPr/>
        </p:nvSpPr>
        <p:spPr>
          <a:xfrm>
            <a:off x="777240" y="3611880"/>
            <a:ext cx="6035040" cy="457200"/>
          </a:xfrm>
          <a:prstGeom prst="rect">
            <a:avLst/>
          </a:prstGeom>
          <a:noFill/>
        </p:spPr>
        <p:txBody>
          <a:bodyPr wrap="square" anchor="t" lIns="0" rIns="0" tIns="0" bIns="0">
            <a:spAutoFit/>
          </a:bodyPr>
          <a:lstStyle/>
          <a:p>
            <a:pPr algn="l">
              <a:lnSpc>
                <a:spcPct val="100000"/>
              </a:lnSpc>
            </a:pPr>
            <a:r>
              <a:rPr sz="1200" b="0" i="0">
                <a:solidFill>
                  <a:srgbClr val="ECEFF3"/>
                </a:solidFill>
                <a:latin typeface="Consolas"/>
              </a:rPr>
              <a:t>CDR per 1,000 · +17.6% (95% CI +5.7% to +30.8%), superior</a:t>
            </a:r>
          </a:p>
        </p:txBody>
      </p:sp>
      <p:graphicFrame>
        <p:nvGraphicFramePr>
          <p:cNvPr id="8" name="Table 7"/>
          <p:cNvGraphicFramePr>
            <a:graphicFrameLocks noGrp="1"/>
          </p:cNvGraphicFramePr>
          <p:nvPr/>
        </p:nvGraphicFramePr>
        <p:xfrm>
          <a:off x="777240" y="4251960"/>
          <a:ext cx="5943600" cy="1536192"/>
        </p:xfrm>
        <a:graphic>
          <a:graphicData uri="http://schemas.openxmlformats.org/drawingml/2006/table">
            <a:tbl>
              <a:tblPr firstRow="1" bandRow="1">
                <a:tableStyleId>{5C22544A-7EE6-4342-B048-85BDC9FD1C3A}</a:tableStyleId>
              </a:tblPr>
              <a:tblGrid>
                <a:gridCol w="3383280"/>
                <a:gridCol w="1280160"/>
                <a:gridCol w="1280160"/>
              </a:tblGrid>
              <a:tr h="384048">
                <a:tc>
                  <a:txBody>
                    <a:bodyPr/>
                    <a:lstStyle/>
                    <a:p>
                      <a:pPr algn="l"/>
                      <a:r>
                        <a:rPr sz="1050" b="1">
                          <a:solidFill>
                            <a:srgbClr val="9DA9B5"/>
                          </a:solidFill>
                          <a:latin typeface="Consolas"/>
                        </a:rPr>
                        <a:t>Measure</a:t>
                      </a:r>
                    </a:p>
                  </a:txBody>
                  <a:tcPr anchor="ctr" marL="73152" marR="73152" marT="18288" marB="18288">
                    <a:solidFill>
                      <a:srgbClr val="0F141A"/>
                    </a:solidFill>
                  </a:tcPr>
                </a:tc>
                <a:tc>
                  <a:txBody>
                    <a:bodyPr/>
                    <a:lstStyle/>
                    <a:p>
                      <a:pPr algn="r"/>
                      <a:r>
                        <a:rPr sz="1050" b="1">
                          <a:solidFill>
                            <a:srgbClr val="9DA9B5"/>
                          </a:solidFill>
                          <a:latin typeface="Consolas"/>
                        </a:rPr>
                        <a:t>AI</a:t>
                      </a:r>
                    </a:p>
                  </a:txBody>
                  <a:tcPr anchor="ctr" marL="73152" marR="73152" marT="18288" marB="18288">
                    <a:solidFill>
                      <a:srgbClr val="0F141A"/>
                    </a:solidFill>
                  </a:tcPr>
                </a:tc>
                <a:tc>
                  <a:txBody>
                    <a:bodyPr/>
                    <a:lstStyle/>
                    <a:p>
                      <a:pPr algn="r"/>
                      <a:r>
                        <a:rPr sz="1050" b="1">
                          <a:solidFill>
                            <a:srgbClr val="9DA9B5"/>
                          </a:solidFill>
                          <a:latin typeface="Consolas"/>
                        </a:rPr>
                        <a:t>Control</a:t>
                      </a:r>
                    </a:p>
                  </a:txBody>
                  <a:tcPr anchor="ctr" marL="73152" marR="73152" marT="18288" marB="18288">
                    <a:solidFill>
                      <a:srgbClr val="0F141A"/>
                    </a:solidFill>
                  </a:tcPr>
                </a:tc>
              </a:tr>
              <a:tr h="384048">
                <a:tc>
                  <a:txBody>
                    <a:bodyPr/>
                    <a:lstStyle/>
                    <a:p>
                      <a:pPr algn="l"/>
                      <a:r>
                        <a:rPr sz="1250">
                          <a:solidFill>
                            <a:srgbClr val="9DA9B5"/>
                          </a:solidFill>
                          <a:latin typeface="Arial"/>
                        </a:rPr>
                        <a:t>Recall rate /1,000</a:t>
                      </a:r>
                    </a:p>
                  </a:txBody>
                  <a:tcPr anchor="ctr" marL="73152" marR="73152" marT="18288" marB="18288">
                    <a:solidFill>
                      <a:srgbClr val="0F141A"/>
                    </a:solidFill>
                  </a:tcPr>
                </a:tc>
                <a:tc>
                  <a:txBody>
                    <a:bodyPr/>
                    <a:lstStyle/>
                    <a:p>
                      <a:pPr algn="r"/>
                      <a:r>
                        <a:rPr sz="1250" b="1">
                          <a:solidFill>
                            <a:srgbClr val="E7AC51"/>
                          </a:solidFill>
                          <a:latin typeface="Arial"/>
                        </a:rPr>
                        <a:t>37.4</a:t>
                      </a:r>
                    </a:p>
                  </a:txBody>
                  <a:tcPr anchor="ctr" marL="73152" marR="73152" marT="18288" marB="18288">
                    <a:solidFill>
                      <a:srgbClr val="0F141A"/>
                    </a:solidFill>
                  </a:tcPr>
                </a:tc>
                <a:tc>
                  <a:txBody>
                    <a:bodyPr/>
                    <a:lstStyle/>
                    <a:p>
                      <a:pPr algn="r"/>
                      <a:r>
                        <a:rPr sz="1250">
                          <a:solidFill>
                            <a:srgbClr val="ECEFF3"/>
                          </a:solidFill>
                          <a:latin typeface="Arial"/>
                        </a:rPr>
                        <a:t>38.3</a:t>
                      </a:r>
                    </a:p>
                  </a:txBody>
                  <a:tcPr anchor="ctr" marL="73152" marR="73152" marT="18288" marB="18288">
                    <a:solidFill>
                      <a:srgbClr val="0F141A"/>
                    </a:solidFill>
                  </a:tcPr>
                </a:tc>
              </a:tr>
              <a:tr h="384048">
                <a:tc>
                  <a:txBody>
                    <a:bodyPr/>
                    <a:lstStyle/>
                    <a:p>
                      <a:pPr algn="l"/>
                      <a:r>
                        <a:rPr sz="1250">
                          <a:solidFill>
                            <a:srgbClr val="9DA9B5"/>
                          </a:solidFill>
                          <a:latin typeface="Arial"/>
                        </a:rPr>
                        <a:t>PPV of recall</a:t>
                      </a:r>
                    </a:p>
                  </a:txBody>
                  <a:tcPr anchor="ctr" marL="73152" marR="73152" marT="18288" marB="18288">
                    <a:solidFill>
                      <a:srgbClr val="0F141A"/>
                    </a:solidFill>
                  </a:tcPr>
                </a:tc>
                <a:tc>
                  <a:txBody>
                    <a:bodyPr/>
                    <a:lstStyle/>
                    <a:p>
                      <a:pPr algn="r"/>
                      <a:r>
                        <a:rPr sz="1250" b="1">
                          <a:solidFill>
                            <a:srgbClr val="E7AC51"/>
                          </a:solidFill>
                          <a:latin typeface="Arial"/>
                        </a:rPr>
                        <a:t>17.9%</a:t>
                      </a:r>
                    </a:p>
                  </a:txBody>
                  <a:tcPr anchor="ctr" marL="73152" marR="73152" marT="18288" marB="18288">
                    <a:solidFill>
                      <a:srgbClr val="0F141A"/>
                    </a:solidFill>
                  </a:tcPr>
                </a:tc>
                <a:tc>
                  <a:txBody>
                    <a:bodyPr/>
                    <a:lstStyle/>
                    <a:p>
                      <a:pPr algn="r"/>
                      <a:r>
                        <a:rPr sz="1250">
                          <a:solidFill>
                            <a:srgbClr val="ECEFF3"/>
                          </a:solidFill>
                          <a:latin typeface="Arial"/>
                        </a:rPr>
                        <a:t>14.9%</a:t>
                      </a:r>
                    </a:p>
                  </a:txBody>
                  <a:tcPr anchor="ctr" marL="73152" marR="73152" marT="18288" marB="18288">
                    <a:solidFill>
                      <a:srgbClr val="0F141A"/>
                    </a:solidFill>
                  </a:tcPr>
                </a:tc>
              </a:tr>
              <a:tr h="384048">
                <a:tc>
                  <a:txBody>
                    <a:bodyPr/>
                    <a:lstStyle/>
                    <a:p>
                      <a:pPr algn="l"/>
                      <a:r>
                        <a:rPr sz="1250">
                          <a:solidFill>
                            <a:srgbClr val="9DA9B5"/>
                          </a:solidFill>
                          <a:latin typeface="Arial"/>
                        </a:rPr>
                        <a:t>PPV of biopsy</a:t>
                      </a:r>
                    </a:p>
                  </a:txBody>
                  <a:tcPr anchor="ctr" marL="73152" marR="73152" marT="18288" marB="18288">
                    <a:solidFill>
                      <a:srgbClr val="0F141A"/>
                    </a:solidFill>
                  </a:tcPr>
                </a:tc>
                <a:tc>
                  <a:txBody>
                    <a:bodyPr/>
                    <a:lstStyle/>
                    <a:p>
                      <a:pPr algn="r"/>
                      <a:r>
                        <a:rPr sz="1250" b="1">
                          <a:solidFill>
                            <a:srgbClr val="E7AC51"/>
                          </a:solidFill>
                          <a:latin typeface="Arial"/>
                        </a:rPr>
                        <a:t>64.5%</a:t>
                      </a:r>
                    </a:p>
                  </a:txBody>
                  <a:tcPr anchor="ctr" marL="73152" marR="73152" marT="18288" marB="18288">
                    <a:solidFill>
                      <a:srgbClr val="0F141A"/>
                    </a:solidFill>
                  </a:tcPr>
                </a:tc>
                <a:tc>
                  <a:txBody>
                    <a:bodyPr/>
                    <a:lstStyle/>
                    <a:p>
                      <a:pPr algn="r"/>
                      <a:r>
                        <a:rPr sz="1250">
                          <a:solidFill>
                            <a:srgbClr val="ECEFF3"/>
                          </a:solidFill>
                          <a:latin typeface="Arial"/>
                        </a:rPr>
                        <a:t>59.2%</a:t>
                      </a:r>
                    </a:p>
                  </a:txBody>
                  <a:tcPr anchor="ctr" marL="73152" marR="73152" marT="18288" marB="18288">
                    <a:solidFill>
                      <a:srgbClr val="0F141A"/>
                    </a:solidFill>
                  </a:tcPr>
                </a:tc>
              </a:tr>
            </a:tbl>
          </a:graphicData>
        </a:graphic>
      </p:graphicFrame>
      <p:sp>
        <p:nvSpPr>
          <p:cNvPr id="9" name="TextBox 8"/>
          <p:cNvSpPr txBox="1"/>
          <p:nvPr/>
        </p:nvSpPr>
        <p:spPr>
          <a:xfrm>
            <a:off x="6949440" y="2743200"/>
            <a:ext cx="4480560" cy="1828800"/>
          </a:xfrm>
          <a:prstGeom prst="rect">
            <a:avLst/>
          </a:prstGeom>
          <a:noFill/>
        </p:spPr>
        <p:txBody>
          <a:bodyPr wrap="square" anchor="t" lIns="0" rIns="0" tIns="0" bIns="0">
            <a:spAutoFit/>
          </a:bodyPr>
          <a:lstStyle/>
          <a:p>
            <a:pPr algn="l">
              <a:lnSpc>
                <a:spcPct val="140000"/>
              </a:lnSpc>
            </a:pPr>
            <a:r>
              <a:rPr sz="1600" b="0" i="0">
                <a:solidFill>
                  <a:srgbClr val="9DA9B5"/>
                </a:solidFill>
                <a:latin typeface="Arial"/>
              </a:rPr>
              <a:t>The MASAI result holds outside a controlled trial — superior detection, non-inferior recall.</a:t>
            </a:r>
          </a:p>
        </p:txBody>
      </p:sp>
      <p:sp>
        <p:nvSpPr>
          <p:cNvPr id="10" name="TextBox 9"/>
          <p:cNvSpPr txBox="1"/>
          <p:nvPr/>
        </p:nvSpPr>
        <p:spPr>
          <a:xfrm>
            <a:off x="777240" y="6035040"/>
            <a:ext cx="10607040" cy="36576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Eisemann et al., Nature Medicine 2025 — observational, real-world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73152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a:t>
            </a:r>
          </a:p>
        </p:txBody>
      </p:sp>
      <p:sp>
        <p:nvSpPr>
          <p:cNvPr id="4" name="TextBox 3"/>
          <p:cNvSpPr txBox="1"/>
          <p:nvPr/>
        </p:nvSpPr>
        <p:spPr>
          <a:xfrm>
            <a:off x="777240" y="1051560"/>
            <a:ext cx="10607040" cy="822960"/>
          </a:xfrm>
          <a:prstGeom prst="rect">
            <a:avLst/>
          </a:prstGeom>
          <a:noFill/>
        </p:spPr>
        <p:txBody>
          <a:bodyPr wrap="square" anchor="t" lIns="0" rIns="0" tIns="0" bIns="0">
            <a:spAutoFit/>
          </a:bodyPr>
          <a:lstStyle/>
          <a:p>
            <a:pPr algn="l">
              <a:lnSpc>
                <a:spcPct val="100000"/>
              </a:lnSpc>
            </a:pPr>
            <a:r>
              <a:rPr sz="2800" b="1" i="0">
                <a:solidFill>
                  <a:srgbClr val="ECEFF3"/>
                </a:solidFill>
                <a:latin typeface="Arial"/>
              </a:rPr>
              <a:t>Today: MASAI </a:t>
            </a:r>
            <a:r>
              <a:rPr sz="2800" b="1" i="0">
                <a:solidFill>
                  <a:srgbClr val="E7AC51"/>
                </a:solidFill>
                <a:latin typeface="Arial"/>
              </a:rPr>
              <a:t>interval-cancer</a:t>
            </a:r>
            <a:r>
              <a:rPr sz="2800" b="1" i="0">
                <a:solidFill>
                  <a:srgbClr val="ECEFF3"/>
                </a:solidFill>
                <a:latin typeface="Arial"/>
              </a:rPr>
              <a:t> result.</a:t>
            </a:r>
          </a:p>
        </p:txBody>
      </p:sp>
      <p:sp>
        <p:nvSpPr>
          <p:cNvPr id="5" name="TextBox 4"/>
          <p:cNvSpPr txBox="1"/>
          <p:nvPr/>
        </p:nvSpPr>
        <p:spPr>
          <a:xfrm>
            <a:off x="777240" y="1920240"/>
            <a:ext cx="10607040" cy="640080"/>
          </a:xfrm>
          <a:prstGeom prst="rect">
            <a:avLst/>
          </a:prstGeom>
          <a:noFill/>
        </p:spPr>
        <p:txBody>
          <a:bodyPr wrap="square" anchor="t" lIns="0" rIns="0" tIns="0" bIns="0">
            <a:spAutoFit/>
          </a:bodyPr>
          <a:lstStyle/>
          <a:p>
            <a:pPr algn="l">
              <a:lnSpc>
                <a:spcPct val="130000"/>
              </a:lnSpc>
            </a:pPr>
            <a:r>
              <a:rPr sz="1500" b="0" i="0">
                <a:solidFill>
                  <a:srgbClr val="9DA9B5"/>
                </a:solidFill>
                <a:latin typeface="Arial"/>
              </a:rPr>
              <a:t>~105,000 women. A </a:t>
            </a:r>
            <a:r>
              <a:rPr sz="1500" b="1" i="0">
                <a:solidFill>
                  <a:srgbClr val="ECEFF3"/>
                </a:solidFill>
                <a:latin typeface="Arial"/>
              </a:rPr>
              <a:t>triage design</a:t>
            </a:r>
            <a:r>
              <a:rPr sz="1500" b="0" i="0">
                <a:solidFill>
                  <a:srgbClr val="9DA9B5"/>
                </a:solidFill>
                <a:latin typeface="Arial"/>
              </a:rPr>
              <a:t>: high-risk exams → standard double reading; low-risk → a single radiologist.</a:t>
            </a:r>
          </a:p>
        </p:txBody>
      </p:sp>
      <p:sp>
        <p:nvSpPr>
          <p:cNvPr id="6" name="TextBox 5"/>
          <p:cNvSpPr txBox="1"/>
          <p:nvPr/>
        </p:nvSpPr>
        <p:spPr>
          <a:xfrm>
            <a:off x="777240" y="2834640"/>
            <a:ext cx="4572000" cy="1280160"/>
          </a:xfrm>
          <a:prstGeom prst="rect">
            <a:avLst/>
          </a:prstGeom>
          <a:noFill/>
        </p:spPr>
        <p:txBody>
          <a:bodyPr wrap="square" anchor="t" lIns="0" rIns="0" tIns="0" bIns="0">
            <a:spAutoFit/>
          </a:bodyPr>
          <a:lstStyle/>
          <a:p>
            <a:pPr algn="l">
              <a:lnSpc>
                <a:spcPct val="100000"/>
              </a:lnSpc>
            </a:pPr>
            <a:r>
              <a:rPr sz="6400" b="1" i="0">
                <a:solidFill>
                  <a:srgbClr val="E7AC51"/>
                </a:solidFill>
                <a:latin typeface="Arial"/>
              </a:rPr>
              <a:t>−12%</a:t>
            </a:r>
          </a:p>
        </p:txBody>
      </p:sp>
      <p:sp>
        <p:nvSpPr>
          <p:cNvPr id="7" name="TextBox 6"/>
          <p:cNvSpPr txBox="1"/>
          <p:nvPr/>
        </p:nvSpPr>
        <p:spPr>
          <a:xfrm>
            <a:off x="777240" y="4160520"/>
            <a:ext cx="4389120" cy="822960"/>
          </a:xfrm>
          <a:prstGeom prst="rect">
            <a:avLst/>
          </a:prstGeom>
          <a:noFill/>
        </p:spPr>
        <p:txBody>
          <a:bodyPr wrap="square" anchor="t" lIns="0" rIns="0" tIns="0" bIns="0">
            <a:spAutoFit/>
          </a:bodyPr>
          <a:lstStyle/>
          <a:p>
            <a:pPr algn="l">
              <a:lnSpc>
                <a:spcPct val="135000"/>
              </a:lnSpc>
            </a:pPr>
            <a:r>
              <a:rPr sz="1200" b="0" i="0">
                <a:solidFill>
                  <a:srgbClr val="ECEFF3"/>
                </a:solidFill>
                <a:latin typeface="Consolas"/>
              </a:rPr>
              <a:t>interval-cancer rate — non-inferior (ratio 0.88)</a:t>
            </a:r>
          </a:p>
        </p:txBody>
      </p:sp>
      <p:sp>
        <p:nvSpPr>
          <p:cNvPr id="8" name="TextBox 7"/>
          <p:cNvSpPr txBox="1"/>
          <p:nvPr/>
        </p:nvSpPr>
        <p:spPr>
          <a:xfrm>
            <a:off x="5943600" y="2834640"/>
            <a:ext cx="5486400" cy="1280160"/>
          </a:xfrm>
          <a:prstGeom prst="rect">
            <a:avLst/>
          </a:prstGeom>
          <a:noFill/>
        </p:spPr>
        <p:txBody>
          <a:bodyPr wrap="square" anchor="t" lIns="0" rIns="0" tIns="0" bIns="0">
            <a:spAutoFit/>
          </a:bodyPr>
          <a:lstStyle/>
          <a:p>
            <a:pPr algn="l">
              <a:lnSpc>
                <a:spcPct val="100000"/>
              </a:lnSpc>
            </a:pPr>
            <a:r>
              <a:rPr sz="6400" b="1" i="0">
                <a:solidFill>
                  <a:srgbClr val="E7AC51"/>
                </a:solidFill>
                <a:latin typeface="Arial"/>
              </a:rPr>
              <a:t>80.5%</a:t>
            </a:r>
            <a:r>
              <a:rPr sz="2200" b="0" i="0">
                <a:solidFill>
                  <a:srgbClr val="5C6975"/>
                </a:solidFill>
                <a:latin typeface="Arial"/>
              </a:rPr>
              <a:t> vs 73.8%</a:t>
            </a:r>
          </a:p>
        </p:txBody>
      </p:sp>
      <p:sp>
        <p:nvSpPr>
          <p:cNvPr id="9" name="TextBox 8"/>
          <p:cNvSpPr txBox="1"/>
          <p:nvPr/>
        </p:nvSpPr>
        <p:spPr>
          <a:xfrm>
            <a:off x="5943600" y="4160520"/>
            <a:ext cx="5029200" cy="822960"/>
          </a:xfrm>
          <a:prstGeom prst="rect">
            <a:avLst/>
          </a:prstGeom>
          <a:noFill/>
        </p:spPr>
        <p:txBody>
          <a:bodyPr wrap="square" anchor="t" lIns="0" rIns="0" tIns="0" bIns="0">
            <a:spAutoFit/>
          </a:bodyPr>
          <a:lstStyle/>
          <a:p>
            <a:pPr algn="l">
              <a:lnSpc>
                <a:spcPct val="135000"/>
              </a:lnSpc>
            </a:pPr>
            <a:r>
              <a:rPr sz="1200" b="0" i="0">
                <a:solidFill>
                  <a:srgbClr val="ECEFF3"/>
                </a:solidFill>
                <a:latin typeface="Consolas"/>
              </a:rPr>
              <a:t>sensitivity — at the same specificity (98.5%)</a:t>
            </a:r>
          </a:p>
        </p:txBody>
      </p:sp>
      <p:sp>
        <p:nvSpPr>
          <p:cNvPr id="10" name="TextBox 9"/>
          <p:cNvSpPr txBox="1"/>
          <p:nvPr/>
        </p:nvSpPr>
        <p:spPr>
          <a:xfrm>
            <a:off x="777240" y="5303520"/>
            <a:ext cx="10607040" cy="365760"/>
          </a:xfrm>
          <a:prstGeom prst="rect">
            <a:avLst/>
          </a:prstGeom>
          <a:noFill/>
        </p:spPr>
        <p:txBody>
          <a:bodyPr wrap="square" anchor="t" lIns="0" rIns="0" tIns="0" bIns="0">
            <a:spAutoFit/>
          </a:bodyPr>
          <a:lstStyle/>
          <a:p>
            <a:pPr algn="l">
              <a:lnSpc>
                <a:spcPct val="100000"/>
              </a:lnSpc>
            </a:pPr>
            <a:r>
              <a:rPr sz="1000" b="0" i="0">
                <a:solidFill>
                  <a:srgbClr val="5C6975"/>
                </a:solidFill>
                <a:latin typeface="Consolas"/>
              </a:rPr>
              <a:t>Gommers et al. (…Lång), Lancet 2026;407(10527):505–514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73152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a:t>
            </a:r>
          </a:p>
        </p:txBody>
      </p:sp>
      <p:sp>
        <p:nvSpPr>
          <p:cNvPr id="4" name="TextBox 3"/>
          <p:cNvSpPr txBox="1"/>
          <p:nvPr/>
        </p:nvSpPr>
        <p:spPr>
          <a:xfrm>
            <a:off x="777240" y="1005840"/>
            <a:ext cx="5852160" cy="1280160"/>
          </a:xfrm>
          <a:prstGeom prst="rect">
            <a:avLst/>
          </a:prstGeom>
          <a:noFill/>
        </p:spPr>
        <p:txBody>
          <a:bodyPr wrap="square" anchor="t" lIns="0" rIns="0" tIns="0" bIns="0">
            <a:spAutoFit/>
          </a:bodyPr>
          <a:lstStyle/>
          <a:p>
            <a:pPr algn="l">
              <a:lnSpc>
                <a:spcPct val="110000"/>
              </a:lnSpc>
            </a:pPr>
            <a:r>
              <a:rPr sz="2200" b="1" i="0">
                <a:solidFill>
                  <a:srgbClr val="ECEFF3"/>
                </a:solidFill>
                <a:latin typeface="Arial"/>
              </a:rPr>
              <a:t>2026: the averages look strong — so where do these models </a:t>
            </a:r>
            <a:r>
              <a:rPr sz="2200" b="1" i="0">
                <a:solidFill>
                  <a:srgbClr val="E7AC51"/>
                </a:solidFill>
                <a:latin typeface="Arial"/>
              </a:rPr>
              <a:t>still fail?</a:t>
            </a:r>
          </a:p>
        </p:txBody>
      </p:sp>
      <p:sp>
        <p:nvSpPr>
          <p:cNvPr id="5" name="TextBox 4"/>
          <p:cNvSpPr txBox="1"/>
          <p:nvPr/>
        </p:nvSpPr>
        <p:spPr>
          <a:xfrm>
            <a:off x="777240" y="2331720"/>
            <a:ext cx="5852160" cy="640080"/>
          </a:xfrm>
          <a:prstGeom prst="rect">
            <a:avLst/>
          </a:prstGeom>
          <a:noFill/>
        </p:spPr>
        <p:txBody>
          <a:bodyPr wrap="square" anchor="t" lIns="0" rIns="0" tIns="0" bIns="0">
            <a:spAutoFit/>
          </a:bodyPr>
          <a:lstStyle/>
          <a:p>
            <a:pPr algn="l">
              <a:lnSpc>
                <a:spcPct val="130000"/>
              </a:lnSpc>
            </a:pPr>
            <a:r>
              <a:rPr sz="1300" b="1" i="0">
                <a:solidFill>
                  <a:srgbClr val="ECEFF3"/>
                </a:solidFill>
                <a:latin typeface="Arial"/>
              </a:rPr>
              <a:t>Our DBT audit</a:t>
            </a:r>
            <a:r>
              <a:rPr sz="1300" b="0" i="0">
                <a:solidFill>
                  <a:srgbClr val="9DA9B5"/>
                </a:solidFill>
                <a:latin typeface="Arial"/>
              </a:rPr>
              <a:t> (EMBED, 163,449 exams): overall AUC </a:t>
            </a:r>
            <a:r>
              <a:rPr sz="1300" b="1" i="0">
                <a:solidFill>
                  <a:srgbClr val="ECEFF3"/>
                </a:solidFill>
                <a:latin typeface="Arial"/>
              </a:rPr>
              <a:t>0.91</a:t>
            </a:r>
            <a:r>
              <a:rPr sz="1300" b="0" i="0">
                <a:solidFill>
                  <a:srgbClr val="9DA9B5"/>
                </a:solidFill>
                <a:latin typeface="Arial"/>
              </a:rPr>
              <a:t> — but detection drops by histologic subtype.</a:t>
            </a:r>
          </a:p>
        </p:txBody>
      </p:sp>
      <p:sp>
        <p:nvSpPr>
          <p:cNvPr id="6" name="TextBox 5"/>
          <p:cNvSpPr txBox="1"/>
          <p:nvPr/>
        </p:nvSpPr>
        <p:spPr>
          <a:xfrm>
            <a:off x="777240" y="3063240"/>
            <a:ext cx="5852160" cy="731520"/>
          </a:xfrm>
          <a:prstGeom prst="rect">
            <a:avLst/>
          </a:prstGeom>
          <a:noFill/>
        </p:spPr>
        <p:txBody>
          <a:bodyPr wrap="square" anchor="t" lIns="0" rIns="0" tIns="0" bIns="0">
            <a:spAutoFit/>
          </a:bodyPr>
          <a:lstStyle/>
          <a:p>
            <a:pPr algn="l">
              <a:lnSpc>
                <a:spcPct val="130000"/>
              </a:lnSpc>
            </a:pPr>
            <a:r>
              <a:rPr sz="1300" b="0" i="0">
                <a:solidFill>
                  <a:srgbClr val="9DA9B5"/>
                </a:solidFill>
                <a:latin typeface="Arial"/>
              </a:rPr>
              <a:t>Common </a:t>
            </a:r>
            <a:r>
              <a:rPr sz="1300" b="1" i="0">
                <a:solidFill>
                  <a:srgbClr val="ECEFF3"/>
                </a:solidFill>
                <a:latin typeface="Arial"/>
              </a:rPr>
              <a:t>ductal</a:t>
            </a:r>
            <a:r>
              <a:rPr sz="1300" b="0" i="0">
                <a:solidFill>
                  <a:srgbClr val="9DA9B5"/>
                </a:solidFill>
                <a:latin typeface="Arial"/>
              </a:rPr>
              <a:t> cancers are flagged </a:t>
            </a:r>
            <a:r>
              <a:rPr sz="1300" b="1" i="0">
                <a:solidFill>
                  <a:srgbClr val="E7AC51"/>
                </a:solidFill>
                <a:latin typeface="Arial"/>
              </a:rPr>
              <a:t>~86%</a:t>
            </a:r>
            <a:r>
              <a:rPr sz="1300" b="0" i="0">
                <a:solidFill>
                  <a:srgbClr val="9DA9B5"/>
                </a:solidFill>
                <a:latin typeface="Arial"/>
              </a:rPr>
              <a:t> of the time; rarer special subtypes — tubular, papillary, colloid — far less, </a:t>
            </a:r>
            <a:r>
              <a:rPr sz="1300" b="1" i="0">
                <a:solidFill>
                  <a:srgbClr val="D9785B"/>
                </a:solidFill>
                <a:latin typeface="Arial"/>
              </a:rPr>
              <a:t>57–62%</a:t>
            </a:r>
            <a:r>
              <a:rPr sz="1300" b="0" i="0">
                <a:solidFill>
                  <a:srgbClr val="9DA9B5"/>
                </a:solidFill>
                <a:latin typeface="Arial"/>
              </a:rPr>
              <a:t> (small n).</a:t>
            </a:r>
          </a:p>
        </p:txBody>
      </p:sp>
      <p:sp>
        <p:nvSpPr>
          <p:cNvPr id="7" name="TextBox 6"/>
          <p:cNvSpPr txBox="1"/>
          <p:nvPr/>
        </p:nvSpPr>
        <p:spPr>
          <a:xfrm>
            <a:off x="777240" y="3931920"/>
            <a:ext cx="5852160" cy="822960"/>
          </a:xfrm>
          <a:prstGeom prst="rect">
            <a:avLst/>
          </a:prstGeom>
          <a:noFill/>
        </p:spPr>
        <p:txBody>
          <a:bodyPr wrap="square" anchor="t" lIns="0" rIns="0" tIns="0" bIns="0">
            <a:spAutoFit/>
          </a:bodyPr>
          <a:lstStyle/>
          <a:p>
            <a:pPr algn="l">
              <a:lnSpc>
                <a:spcPct val="130000"/>
              </a:lnSpc>
            </a:pPr>
            <a:r>
              <a:rPr sz="1300" b="0" i="0">
                <a:solidFill>
                  <a:srgbClr val="9DA9B5"/>
                </a:solidFill>
                <a:latin typeface="Arial"/>
              </a:rPr>
              <a:t>Sensitivity also falls on </a:t>
            </a:r>
            <a:r>
              <a:rPr sz="1300" b="1" i="0">
                <a:solidFill>
                  <a:srgbClr val="ECEFF3"/>
                </a:solidFill>
                <a:latin typeface="Arial"/>
              </a:rPr>
              <a:t>dense breasts, in-situ, and calcifications</a:t>
            </a:r>
            <a:r>
              <a:rPr sz="1300" b="0" i="0">
                <a:solidFill>
                  <a:srgbClr val="9DA9B5"/>
                </a:solidFill>
                <a:latin typeface="Arial"/>
              </a:rPr>
              <a:t> (0.55–0.66) even as AUC stays ~0.80–0.88. And it </a:t>
            </a:r>
            <a:r>
              <a:rPr sz="1300" b="1" i="0">
                <a:solidFill>
                  <a:srgbClr val="ECEFF3"/>
                </a:solidFill>
                <a:latin typeface="Arial"/>
              </a:rPr>
              <a:t>doesn't transfer</a:t>
            </a:r>
            <a:r>
              <a:rPr sz="1300" b="0" i="0">
                <a:solidFill>
                  <a:srgbClr val="9DA9B5"/>
                </a:solidFill>
                <a:latin typeface="Arial"/>
              </a:rPr>
              <a:t> — specificity 31–54% on women with implants.</a:t>
            </a:r>
          </a:p>
        </p:txBody>
      </p:sp>
      <p:sp>
        <p:nvSpPr>
          <p:cNvPr id="8" name="TextBox 7"/>
          <p:cNvSpPr txBox="1"/>
          <p:nvPr/>
        </p:nvSpPr>
        <p:spPr>
          <a:xfrm>
            <a:off x="777240" y="5074920"/>
            <a:ext cx="5852160" cy="640080"/>
          </a:xfrm>
          <a:prstGeom prst="rect">
            <a:avLst/>
          </a:prstGeom>
          <a:noFill/>
        </p:spPr>
        <p:txBody>
          <a:bodyPr wrap="square" anchor="t" lIns="0" rIns="0" tIns="0" bIns="0">
            <a:spAutoFit/>
          </a:bodyPr>
          <a:lstStyle/>
          <a:p>
            <a:pPr algn="l">
              <a:lnSpc>
                <a:spcPct val="130000"/>
              </a:lnSpc>
            </a:pPr>
            <a:r>
              <a:rPr sz="950" b="0" i="0">
                <a:solidFill>
                  <a:srgbClr val="5C6975"/>
                </a:solidFill>
                <a:latin typeface="Consolas"/>
              </a:rPr>
              <a:t>Trivedi group — DBT subgroup audit (Nat Commun 2026) · Du H et al. "Beyond Screening" 2026. Chart redrawn from the subtype figure.</a:t>
            </a:r>
          </a:p>
        </p:txBody>
      </p:sp>
      <p:sp>
        <p:nvSpPr>
          <p:cNvPr id="9" name="TextBox 8"/>
          <p:cNvSpPr txBox="1"/>
          <p:nvPr/>
        </p:nvSpPr>
        <p:spPr>
          <a:xfrm>
            <a:off x="6766560" y="1005840"/>
            <a:ext cx="4937760" cy="365760"/>
          </a:xfrm>
          <a:prstGeom prst="rect">
            <a:avLst/>
          </a:prstGeom>
          <a:noFill/>
        </p:spPr>
        <p:txBody>
          <a:bodyPr wrap="square" anchor="t" lIns="0" rIns="0" tIns="0" bIns="0">
            <a:spAutoFit/>
          </a:bodyPr>
          <a:lstStyle/>
          <a:p>
            <a:pPr algn="ctr">
              <a:lnSpc>
                <a:spcPct val="100000"/>
              </a:lnSpc>
            </a:pPr>
            <a:r>
              <a:rPr sz="1050" b="0" i="0">
                <a:solidFill>
                  <a:srgbClr val="9DA9B5"/>
                </a:solidFill>
                <a:latin typeface="Consolas"/>
              </a:rPr>
              <a:t>% of cancers detected, by histologic subtype</a:t>
            </a:r>
          </a:p>
        </p:txBody>
      </p:sp>
      <p:sp>
        <p:nvSpPr>
          <p:cNvPr id="10" name="TextBox 9"/>
          <p:cNvSpPr txBox="1"/>
          <p:nvPr/>
        </p:nvSpPr>
        <p:spPr>
          <a:xfrm>
            <a:off x="6766560" y="1371600"/>
            <a:ext cx="1417320" cy="310896"/>
          </a:xfrm>
          <a:prstGeom prst="rect">
            <a:avLst/>
          </a:prstGeom>
          <a:noFill/>
        </p:spPr>
        <p:txBody>
          <a:bodyPr wrap="square" anchor="ctr" lIns="0" rIns="0" tIns="0" bIns="0">
            <a:spAutoFit/>
          </a:bodyPr>
          <a:lstStyle/>
          <a:p>
            <a:pPr algn="r">
              <a:lnSpc>
                <a:spcPct val="100000"/>
              </a:lnSpc>
            </a:pPr>
            <a:r>
              <a:rPr sz="900" b="0" i="0">
                <a:solidFill>
                  <a:srgbClr val="9DA9B5"/>
                </a:solidFill>
                <a:latin typeface="Arial"/>
              </a:rPr>
              <a:t>IDC (NOS) · n=544</a:t>
            </a:r>
          </a:p>
        </p:txBody>
      </p:sp>
      <p:sp>
        <p:nvSpPr>
          <p:cNvPr id="11" name="Rectangle 10"/>
          <p:cNvSpPr/>
          <p:nvPr/>
        </p:nvSpPr>
        <p:spPr>
          <a:xfrm>
            <a:off x="8229600" y="1389888"/>
            <a:ext cx="2909620" cy="27432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184940" y="1371600"/>
            <a:ext cx="640080" cy="310896"/>
          </a:xfrm>
          <a:prstGeom prst="rect">
            <a:avLst/>
          </a:prstGeom>
          <a:noFill/>
        </p:spPr>
        <p:txBody>
          <a:bodyPr wrap="square" anchor="ctr" lIns="0" rIns="0" tIns="0" bIns="0">
            <a:spAutoFit/>
          </a:bodyPr>
          <a:lstStyle/>
          <a:p>
            <a:pPr algn="l">
              <a:lnSpc>
                <a:spcPct val="100000"/>
              </a:lnSpc>
            </a:pPr>
            <a:r>
              <a:rPr sz="1000" b="1" i="0">
                <a:solidFill>
                  <a:srgbClr val="ECEFF3"/>
                </a:solidFill>
                <a:latin typeface="Arial"/>
              </a:rPr>
              <a:t>86%</a:t>
            </a:r>
          </a:p>
        </p:txBody>
      </p:sp>
      <p:sp>
        <p:nvSpPr>
          <p:cNvPr id="13" name="TextBox 12"/>
          <p:cNvSpPr txBox="1"/>
          <p:nvPr/>
        </p:nvSpPr>
        <p:spPr>
          <a:xfrm>
            <a:off x="6766560" y="1792224"/>
            <a:ext cx="1417320" cy="310896"/>
          </a:xfrm>
          <a:prstGeom prst="rect">
            <a:avLst/>
          </a:prstGeom>
          <a:noFill/>
        </p:spPr>
        <p:txBody>
          <a:bodyPr wrap="square" anchor="ctr" lIns="0" rIns="0" tIns="0" bIns="0">
            <a:spAutoFit/>
          </a:bodyPr>
          <a:lstStyle/>
          <a:p>
            <a:pPr algn="r">
              <a:lnSpc>
                <a:spcPct val="100000"/>
              </a:lnSpc>
            </a:pPr>
            <a:r>
              <a:rPr sz="900" b="0" i="0">
                <a:solidFill>
                  <a:srgbClr val="9DA9B5"/>
                </a:solidFill>
                <a:latin typeface="Arial"/>
              </a:rPr>
              <a:t>Mammary · n=67</a:t>
            </a:r>
          </a:p>
        </p:txBody>
      </p:sp>
      <p:sp>
        <p:nvSpPr>
          <p:cNvPr id="14" name="Rectangle 13"/>
          <p:cNvSpPr/>
          <p:nvPr/>
        </p:nvSpPr>
        <p:spPr>
          <a:xfrm>
            <a:off x="8229600" y="1810512"/>
            <a:ext cx="2841955" cy="27432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117275" y="1792224"/>
            <a:ext cx="640080" cy="310896"/>
          </a:xfrm>
          <a:prstGeom prst="rect">
            <a:avLst/>
          </a:prstGeom>
          <a:noFill/>
        </p:spPr>
        <p:txBody>
          <a:bodyPr wrap="square" anchor="ctr" lIns="0" rIns="0" tIns="0" bIns="0">
            <a:spAutoFit/>
          </a:bodyPr>
          <a:lstStyle/>
          <a:p>
            <a:pPr algn="l">
              <a:lnSpc>
                <a:spcPct val="100000"/>
              </a:lnSpc>
            </a:pPr>
            <a:r>
              <a:rPr sz="1000" b="1" i="0">
                <a:solidFill>
                  <a:srgbClr val="ECEFF3"/>
                </a:solidFill>
                <a:latin typeface="Arial"/>
              </a:rPr>
              <a:t>84%</a:t>
            </a:r>
          </a:p>
        </p:txBody>
      </p:sp>
      <p:sp>
        <p:nvSpPr>
          <p:cNvPr id="16" name="TextBox 15"/>
          <p:cNvSpPr txBox="1"/>
          <p:nvPr/>
        </p:nvSpPr>
        <p:spPr>
          <a:xfrm>
            <a:off x="6766560" y="2212848"/>
            <a:ext cx="1417320" cy="310896"/>
          </a:xfrm>
          <a:prstGeom prst="rect">
            <a:avLst/>
          </a:prstGeom>
          <a:noFill/>
        </p:spPr>
        <p:txBody>
          <a:bodyPr wrap="square" anchor="ctr" lIns="0" rIns="0" tIns="0" bIns="0">
            <a:spAutoFit/>
          </a:bodyPr>
          <a:lstStyle/>
          <a:p>
            <a:pPr algn="r">
              <a:lnSpc>
                <a:spcPct val="100000"/>
              </a:lnSpc>
            </a:pPr>
            <a:r>
              <a:rPr sz="900" b="0" i="0">
                <a:solidFill>
                  <a:srgbClr val="9DA9B5"/>
                </a:solidFill>
                <a:latin typeface="Arial"/>
              </a:rPr>
              <a:t>Lobular · n=100</a:t>
            </a:r>
          </a:p>
        </p:txBody>
      </p:sp>
      <p:sp>
        <p:nvSpPr>
          <p:cNvPr id="17" name="Rectangle 16"/>
          <p:cNvSpPr/>
          <p:nvPr/>
        </p:nvSpPr>
        <p:spPr>
          <a:xfrm>
            <a:off x="8229600" y="2231136"/>
            <a:ext cx="2774289" cy="27432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49609" y="2212848"/>
            <a:ext cx="640080" cy="310896"/>
          </a:xfrm>
          <a:prstGeom prst="rect">
            <a:avLst/>
          </a:prstGeom>
          <a:noFill/>
        </p:spPr>
        <p:txBody>
          <a:bodyPr wrap="square" anchor="ctr" lIns="0" rIns="0" tIns="0" bIns="0">
            <a:spAutoFit/>
          </a:bodyPr>
          <a:lstStyle/>
          <a:p>
            <a:pPr algn="l">
              <a:lnSpc>
                <a:spcPct val="100000"/>
              </a:lnSpc>
            </a:pPr>
            <a:r>
              <a:rPr sz="1000" b="1" i="0">
                <a:solidFill>
                  <a:srgbClr val="ECEFF3"/>
                </a:solidFill>
                <a:latin typeface="Arial"/>
              </a:rPr>
              <a:t>82%</a:t>
            </a:r>
          </a:p>
        </p:txBody>
      </p:sp>
      <p:sp>
        <p:nvSpPr>
          <p:cNvPr id="19" name="TextBox 18"/>
          <p:cNvSpPr txBox="1"/>
          <p:nvPr/>
        </p:nvSpPr>
        <p:spPr>
          <a:xfrm>
            <a:off x="6766560" y="2633472"/>
            <a:ext cx="1417320" cy="310896"/>
          </a:xfrm>
          <a:prstGeom prst="rect">
            <a:avLst/>
          </a:prstGeom>
          <a:noFill/>
        </p:spPr>
        <p:txBody>
          <a:bodyPr wrap="square" anchor="ctr" lIns="0" rIns="0" tIns="0" bIns="0">
            <a:spAutoFit/>
          </a:bodyPr>
          <a:lstStyle/>
          <a:p>
            <a:pPr algn="r">
              <a:lnSpc>
                <a:spcPct val="100000"/>
              </a:lnSpc>
            </a:pPr>
            <a:r>
              <a:rPr sz="900" b="0" i="0">
                <a:solidFill>
                  <a:srgbClr val="9DA9B5"/>
                </a:solidFill>
                <a:latin typeface="Arial"/>
              </a:rPr>
              <a:t>Papillary · n=8</a:t>
            </a:r>
          </a:p>
        </p:txBody>
      </p:sp>
      <p:sp>
        <p:nvSpPr>
          <p:cNvPr id="20" name="Rectangle 19"/>
          <p:cNvSpPr/>
          <p:nvPr/>
        </p:nvSpPr>
        <p:spPr>
          <a:xfrm>
            <a:off x="8229600" y="2651760"/>
            <a:ext cx="2097633" cy="274320"/>
          </a:xfrm>
          <a:prstGeom prst="rect">
            <a:avLst/>
          </a:prstGeom>
          <a:solidFill>
            <a:srgbClr val="D978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72953" y="2633472"/>
            <a:ext cx="640080" cy="310896"/>
          </a:xfrm>
          <a:prstGeom prst="rect">
            <a:avLst/>
          </a:prstGeom>
          <a:noFill/>
        </p:spPr>
        <p:txBody>
          <a:bodyPr wrap="square" anchor="ctr" lIns="0" rIns="0" tIns="0" bIns="0">
            <a:spAutoFit/>
          </a:bodyPr>
          <a:lstStyle/>
          <a:p>
            <a:pPr algn="l">
              <a:lnSpc>
                <a:spcPct val="100000"/>
              </a:lnSpc>
            </a:pPr>
            <a:r>
              <a:rPr sz="1000" b="1" i="0">
                <a:solidFill>
                  <a:srgbClr val="ECEFF3"/>
                </a:solidFill>
                <a:latin typeface="Arial"/>
              </a:rPr>
              <a:t>62%</a:t>
            </a:r>
          </a:p>
        </p:txBody>
      </p:sp>
      <p:sp>
        <p:nvSpPr>
          <p:cNvPr id="22" name="TextBox 21"/>
          <p:cNvSpPr txBox="1"/>
          <p:nvPr/>
        </p:nvSpPr>
        <p:spPr>
          <a:xfrm>
            <a:off x="6766560" y="3054096"/>
            <a:ext cx="1417320" cy="310896"/>
          </a:xfrm>
          <a:prstGeom prst="rect">
            <a:avLst/>
          </a:prstGeom>
          <a:noFill/>
        </p:spPr>
        <p:txBody>
          <a:bodyPr wrap="square" anchor="ctr" lIns="0" rIns="0" tIns="0" bIns="0">
            <a:spAutoFit/>
          </a:bodyPr>
          <a:lstStyle/>
          <a:p>
            <a:pPr algn="r">
              <a:lnSpc>
                <a:spcPct val="100000"/>
              </a:lnSpc>
            </a:pPr>
            <a:r>
              <a:rPr sz="900" b="0" i="0">
                <a:solidFill>
                  <a:srgbClr val="9DA9B5"/>
                </a:solidFill>
                <a:latin typeface="Arial"/>
              </a:rPr>
              <a:t>Tubular · n=7</a:t>
            </a:r>
          </a:p>
        </p:txBody>
      </p:sp>
      <p:sp>
        <p:nvSpPr>
          <p:cNvPr id="23" name="Rectangle 22"/>
          <p:cNvSpPr/>
          <p:nvPr/>
        </p:nvSpPr>
        <p:spPr>
          <a:xfrm>
            <a:off x="8229600" y="3072384"/>
            <a:ext cx="1928469" cy="274320"/>
          </a:xfrm>
          <a:prstGeom prst="rect">
            <a:avLst/>
          </a:prstGeom>
          <a:solidFill>
            <a:srgbClr val="D978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203789" y="3054096"/>
            <a:ext cx="640080" cy="310896"/>
          </a:xfrm>
          <a:prstGeom prst="rect">
            <a:avLst/>
          </a:prstGeom>
          <a:noFill/>
        </p:spPr>
        <p:txBody>
          <a:bodyPr wrap="square" anchor="ctr" lIns="0" rIns="0" tIns="0" bIns="0">
            <a:spAutoFit/>
          </a:bodyPr>
          <a:lstStyle/>
          <a:p>
            <a:pPr algn="l">
              <a:lnSpc>
                <a:spcPct val="100000"/>
              </a:lnSpc>
            </a:pPr>
            <a:r>
              <a:rPr sz="1000" b="1" i="0">
                <a:solidFill>
                  <a:srgbClr val="ECEFF3"/>
                </a:solidFill>
                <a:latin typeface="Arial"/>
              </a:rPr>
              <a:t>57%</a:t>
            </a:r>
          </a:p>
        </p:txBody>
      </p:sp>
      <p:sp>
        <p:nvSpPr>
          <p:cNvPr id="25" name="TextBox 24"/>
          <p:cNvSpPr txBox="1"/>
          <p:nvPr/>
        </p:nvSpPr>
        <p:spPr>
          <a:xfrm>
            <a:off x="6766560" y="3474720"/>
            <a:ext cx="1417320" cy="310896"/>
          </a:xfrm>
          <a:prstGeom prst="rect">
            <a:avLst/>
          </a:prstGeom>
          <a:noFill/>
        </p:spPr>
        <p:txBody>
          <a:bodyPr wrap="square" anchor="ctr" lIns="0" rIns="0" tIns="0" bIns="0">
            <a:spAutoFit/>
          </a:bodyPr>
          <a:lstStyle/>
          <a:p>
            <a:pPr algn="r">
              <a:lnSpc>
                <a:spcPct val="100000"/>
              </a:lnSpc>
            </a:pPr>
            <a:r>
              <a:rPr sz="900" b="0" i="0">
                <a:solidFill>
                  <a:srgbClr val="9DA9B5"/>
                </a:solidFill>
                <a:latin typeface="Arial"/>
              </a:rPr>
              <a:t>Colloid · n=7</a:t>
            </a:r>
          </a:p>
        </p:txBody>
      </p:sp>
      <p:sp>
        <p:nvSpPr>
          <p:cNvPr id="26" name="Rectangle 25"/>
          <p:cNvSpPr/>
          <p:nvPr/>
        </p:nvSpPr>
        <p:spPr>
          <a:xfrm>
            <a:off x="8229600" y="3493008"/>
            <a:ext cx="1928469" cy="274320"/>
          </a:xfrm>
          <a:prstGeom prst="rect">
            <a:avLst/>
          </a:prstGeom>
          <a:solidFill>
            <a:srgbClr val="D978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03789" y="3474720"/>
            <a:ext cx="640080" cy="310896"/>
          </a:xfrm>
          <a:prstGeom prst="rect">
            <a:avLst/>
          </a:prstGeom>
          <a:noFill/>
        </p:spPr>
        <p:txBody>
          <a:bodyPr wrap="square" anchor="ctr" lIns="0" rIns="0" tIns="0" bIns="0">
            <a:spAutoFit/>
          </a:bodyPr>
          <a:lstStyle/>
          <a:p>
            <a:pPr algn="l">
              <a:lnSpc>
                <a:spcPct val="100000"/>
              </a:lnSpc>
            </a:pPr>
            <a:r>
              <a:rPr sz="1000" b="1" i="0">
                <a:solidFill>
                  <a:srgbClr val="ECEFF3"/>
                </a:solidFill>
                <a:latin typeface="Arial"/>
              </a:rPr>
              <a:t>57%</a:t>
            </a:r>
          </a:p>
        </p:txBody>
      </p:sp>
      <p:sp>
        <p:nvSpPr>
          <p:cNvPr id="28" name="TextBox 27"/>
          <p:cNvSpPr txBox="1"/>
          <p:nvPr/>
        </p:nvSpPr>
        <p:spPr>
          <a:xfrm>
            <a:off x="6766560" y="3895344"/>
            <a:ext cx="1417320" cy="310896"/>
          </a:xfrm>
          <a:prstGeom prst="rect">
            <a:avLst/>
          </a:prstGeom>
          <a:noFill/>
        </p:spPr>
        <p:txBody>
          <a:bodyPr wrap="square" anchor="ctr" lIns="0" rIns="0" tIns="0" bIns="0">
            <a:spAutoFit/>
          </a:bodyPr>
          <a:lstStyle/>
          <a:p>
            <a:pPr algn="r">
              <a:lnSpc>
                <a:spcPct val="100000"/>
              </a:lnSpc>
            </a:pPr>
            <a:r>
              <a:rPr sz="900" b="0" i="0">
                <a:solidFill>
                  <a:srgbClr val="9DA9B5"/>
                </a:solidFill>
                <a:latin typeface="Arial"/>
              </a:rPr>
              <a:t>Medullary · n=1</a:t>
            </a:r>
          </a:p>
        </p:txBody>
      </p:sp>
      <p:sp>
        <p:nvSpPr>
          <p:cNvPr id="29" name="Rectangle 28"/>
          <p:cNvSpPr/>
          <p:nvPr/>
        </p:nvSpPr>
        <p:spPr>
          <a:xfrm>
            <a:off x="8229600" y="3913631"/>
            <a:ext cx="3383279" cy="274320"/>
          </a:xfrm>
          <a:prstGeom prst="rect">
            <a:avLst/>
          </a:prstGeom>
          <a:solidFill>
            <a:srgbClr val="5C69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1658600" y="3895344"/>
            <a:ext cx="640080" cy="310896"/>
          </a:xfrm>
          <a:prstGeom prst="rect">
            <a:avLst/>
          </a:prstGeom>
          <a:noFill/>
        </p:spPr>
        <p:txBody>
          <a:bodyPr wrap="square" anchor="ctr" lIns="0" rIns="0" tIns="0" bIns="0">
            <a:spAutoFit/>
          </a:bodyPr>
          <a:lstStyle/>
          <a:p>
            <a:pPr algn="l">
              <a:lnSpc>
                <a:spcPct val="100000"/>
              </a:lnSpc>
            </a:pPr>
            <a:r>
              <a:rPr sz="1000" b="1" i="0">
                <a:solidFill>
                  <a:srgbClr val="ECEFF3"/>
                </a:solidFill>
                <a:latin typeface="Arial"/>
              </a:rPr>
              <a:t>100%</a:t>
            </a:r>
          </a:p>
        </p:txBody>
      </p:sp>
      <p:sp>
        <p:nvSpPr>
          <p:cNvPr id="31" name="TextBox 30"/>
          <p:cNvSpPr txBox="1"/>
          <p:nvPr/>
        </p:nvSpPr>
        <p:spPr>
          <a:xfrm>
            <a:off x="8092440" y="4315968"/>
            <a:ext cx="365760" cy="274320"/>
          </a:xfrm>
          <a:prstGeom prst="rect">
            <a:avLst/>
          </a:prstGeom>
          <a:noFill/>
        </p:spPr>
        <p:txBody>
          <a:bodyPr wrap="square" anchor="t" lIns="0" rIns="0" tIns="0" bIns="0">
            <a:spAutoFit/>
          </a:bodyPr>
          <a:lstStyle/>
          <a:p>
            <a:pPr algn="ctr">
              <a:lnSpc>
                <a:spcPct val="100000"/>
              </a:lnSpc>
            </a:pPr>
            <a:r>
              <a:rPr sz="900" b="0" i="0">
                <a:solidFill>
                  <a:srgbClr val="5C6975"/>
                </a:solidFill>
                <a:latin typeface="Consolas"/>
              </a:rPr>
              <a:t>0</a:t>
            </a:r>
          </a:p>
        </p:txBody>
      </p:sp>
      <p:sp>
        <p:nvSpPr>
          <p:cNvPr id="32" name="TextBox 31"/>
          <p:cNvSpPr txBox="1"/>
          <p:nvPr/>
        </p:nvSpPr>
        <p:spPr>
          <a:xfrm>
            <a:off x="9738360" y="4315968"/>
            <a:ext cx="457200" cy="274320"/>
          </a:xfrm>
          <a:prstGeom prst="rect">
            <a:avLst/>
          </a:prstGeom>
          <a:noFill/>
        </p:spPr>
        <p:txBody>
          <a:bodyPr wrap="square" anchor="t" lIns="0" rIns="0" tIns="0" bIns="0">
            <a:spAutoFit/>
          </a:bodyPr>
          <a:lstStyle/>
          <a:p>
            <a:pPr algn="ctr">
              <a:lnSpc>
                <a:spcPct val="100000"/>
              </a:lnSpc>
            </a:pPr>
            <a:r>
              <a:rPr sz="900" b="0" i="0">
                <a:solidFill>
                  <a:srgbClr val="5C6975"/>
                </a:solidFill>
                <a:latin typeface="Consolas"/>
              </a:rPr>
              <a:t>50%</a:t>
            </a:r>
          </a:p>
        </p:txBody>
      </p:sp>
      <p:sp>
        <p:nvSpPr>
          <p:cNvPr id="33" name="TextBox 32"/>
          <p:cNvSpPr txBox="1"/>
          <p:nvPr/>
        </p:nvSpPr>
        <p:spPr>
          <a:xfrm>
            <a:off x="11384280" y="4315968"/>
            <a:ext cx="457200" cy="274320"/>
          </a:xfrm>
          <a:prstGeom prst="rect">
            <a:avLst/>
          </a:prstGeom>
          <a:noFill/>
        </p:spPr>
        <p:txBody>
          <a:bodyPr wrap="square" anchor="t" lIns="0" rIns="0" tIns="0" bIns="0">
            <a:spAutoFit/>
          </a:bodyPr>
          <a:lstStyle/>
          <a:p>
            <a:pPr algn="ctr">
              <a:lnSpc>
                <a:spcPct val="100000"/>
              </a:lnSpc>
            </a:pPr>
            <a:r>
              <a:rPr sz="900" b="0" i="0">
                <a:solidFill>
                  <a:srgbClr val="5C6975"/>
                </a:solidFill>
                <a:latin typeface="Consolas"/>
              </a:rPr>
              <a:t>100%</a:t>
            </a:r>
          </a:p>
        </p:txBody>
      </p:sp>
      <p:sp>
        <p:nvSpPr>
          <p:cNvPr id="34" name="TextBox 33"/>
          <p:cNvSpPr txBox="1"/>
          <p:nvPr/>
        </p:nvSpPr>
        <p:spPr>
          <a:xfrm>
            <a:off x="6766560" y="4636007"/>
            <a:ext cx="4937760" cy="365760"/>
          </a:xfrm>
          <a:prstGeom prst="rect">
            <a:avLst/>
          </a:prstGeom>
          <a:noFill/>
        </p:spPr>
        <p:txBody>
          <a:bodyPr wrap="square" anchor="t" lIns="0" rIns="0" tIns="0" bIns="0">
            <a:spAutoFit/>
          </a:bodyPr>
          <a:lstStyle/>
          <a:p>
            <a:pPr algn="ctr">
              <a:lnSpc>
                <a:spcPct val="100000"/>
              </a:lnSpc>
            </a:pPr>
            <a:r>
              <a:rPr sz="950" b="0" i="0">
                <a:solidFill>
                  <a:srgbClr val="5C6975"/>
                </a:solidFill>
                <a:latin typeface="Consolas"/>
              </a:rPr>
              <a:t>Rare special subtypes are detected far less often (small 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41A"/>
        </a:solidFill>
        <a:effectLst/>
      </p:bgPr>
    </p:bg>
    <p:spTree>
      <p:nvGrpSpPr>
        <p:cNvPr id="1" name=""/>
        <p:cNvGrpSpPr/>
        <p:nvPr/>
      </p:nvGrpSpPr>
      <p:grpSpPr/>
      <p:sp>
        <p:nvSpPr>
          <p:cNvPr id="2" name="Rectangle 1"/>
          <p:cNvSpPr/>
          <p:nvPr/>
        </p:nvSpPr>
        <p:spPr>
          <a:xfrm>
            <a:off x="0" y="0"/>
            <a:ext cx="5486400" cy="3810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502920"/>
            <a:ext cx="7315200" cy="320040"/>
          </a:xfrm>
          <a:prstGeom prst="rect">
            <a:avLst/>
          </a:prstGeom>
          <a:noFill/>
        </p:spPr>
        <p:txBody>
          <a:bodyPr wrap="square" anchor="t" lIns="0" rIns="0" tIns="0" bIns="0">
            <a:spAutoFit/>
          </a:bodyPr>
          <a:lstStyle/>
          <a:p>
            <a:pPr algn="l">
              <a:lnSpc>
                <a:spcPct val="100000"/>
              </a:lnSpc>
            </a:pPr>
            <a:r>
              <a:rPr sz="1100" b="1" i="0">
                <a:solidFill>
                  <a:srgbClr val="E7AC51"/>
                </a:solidFill>
                <a:latin typeface="Consolas"/>
              </a:rPr>
              <a:t>ERA II → ERA III</a:t>
            </a:r>
          </a:p>
        </p:txBody>
      </p:sp>
      <p:sp>
        <p:nvSpPr>
          <p:cNvPr id="4" name="TextBox 3"/>
          <p:cNvSpPr txBox="1"/>
          <p:nvPr/>
        </p:nvSpPr>
        <p:spPr>
          <a:xfrm>
            <a:off x="777240" y="1005840"/>
            <a:ext cx="5852160" cy="1188720"/>
          </a:xfrm>
          <a:prstGeom prst="rect">
            <a:avLst/>
          </a:prstGeom>
          <a:noFill/>
        </p:spPr>
        <p:txBody>
          <a:bodyPr wrap="square" anchor="t" lIns="0" rIns="0" tIns="0" bIns="0">
            <a:spAutoFit/>
          </a:bodyPr>
          <a:lstStyle/>
          <a:p>
            <a:pPr algn="l">
              <a:lnSpc>
                <a:spcPct val="110000"/>
              </a:lnSpc>
            </a:pPr>
            <a:r>
              <a:rPr sz="2300" b="1" i="0">
                <a:solidFill>
                  <a:srgbClr val="ECEFF3"/>
                </a:solidFill>
                <a:latin typeface="Arial"/>
              </a:rPr>
              <a:t>The detection score rises for </a:t>
            </a:r>
            <a:r>
              <a:rPr sz="2300" b="1" i="0">
                <a:solidFill>
                  <a:srgbClr val="E7AC51"/>
                </a:solidFill>
                <a:latin typeface="Arial"/>
              </a:rPr>
              <a:t>years before</a:t>
            </a:r>
            <a:r>
              <a:rPr sz="2300" b="1" i="0">
                <a:solidFill>
                  <a:srgbClr val="ECEFF3"/>
                </a:solidFill>
                <a:latin typeface="Arial"/>
              </a:rPr>
              <a:t> the cancer is visible.</a:t>
            </a:r>
          </a:p>
        </p:txBody>
      </p:sp>
      <p:sp>
        <p:nvSpPr>
          <p:cNvPr id="5" name="TextBox 4"/>
          <p:cNvSpPr txBox="1"/>
          <p:nvPr/>
        </p:nvSpPr>
        <p:spPr>
          <a:xfrm>
            <a:off x="777240" y="2331720"/>
            <a:ext cx="5852160" cy="1005840"/>
          </a:xfrm>
          <a:prstGeom prst="rect">
            <a:avLst/>
          </a:prstGeom>
          <a:noFill/>
        </p:spPr>
        <p:txBody>
          <a:bodyPr wrap="square" anchor="t" lIns="0" rIns="0" tIns="0" bIns="0">
            <a:spAutoFit/>
          </a:bodyPr>
          <a:lstStyle/>
          <a:p>
            <a:pPr algn="l">
              <a:lnSpc>
                <a:spcPct val="130000"/>
              </a:lnSpc>
            </a:pPr>
            <a:r>
              <a:rPr sz="1300" b="1" i="0">
                <a:solidFill>
                  <a:srgbClr val="ECEFF3"/>
                </a:solidFill>
                <a:latin typeface="Arial"/>
              </a:rPr>
              <a:t>Hickman et al., Radiology 2026</a:t>
            </a:r>
            <a:r>
              <a:rPr sz="1300" b="0" i="0">
                <a:solidFill>
                  <a:srgbClr val="9DA9B5"/>
                </a:solidFill>
                <a:latin typeface="Arial"/>
              </a:rPr>
              <a:t> — three detection systems across sequential screens (31,394 individuals). For future cancers the AI score is elevated up to </a:t>
            </a:r>
            <a:r>
              <a:rPr sz="1300" b="1" i="0">
                <a:solidFill>
                  <a:srgbClr val="ECEFF3"/>
                </a:solidFill>
                <a:latin typeface="Arial"/>
              </a:rPr>
              <a:t>10 years</a:t>
            </a:r>
            <a:r>
              <a:rPr sz="1300" b="0" i="0">
                <a:solidFill>
                  <a:srgbClr val="9DA9B5"/>
                </a:solidFill>
                <a:latin typeface="Arial"/>
              </a:rPr>
              <a:t> before diagnosis; cancer-free individuals stay flat.</a:t>
            </a:r>
          </a:p>
        </p:txBody>
      </p:sp>
      <p:sp>
        <p:nvSpPr>
          <p:cNvPr id="6" name="TextBox 5"/>
          <p:cNvSpPr txBox="1"/>
          <p:nvPr/>
        </p:nvSpPr>
        <p:spPr>
          <a:xfrm>
            <a:off x="777240" y="3429000"/>
            <a:ext cx="5852160" cy="457200"/>
          </a:xfrm>
          <a:prstGeom prst="rect">
            <a:avLst/>
          </a:prstGeom>
          <a:noFill/>
        </p:spPr>
        <p:txBody>
          <a:bodyPr wrap="square" anchor="t" lIns="0" rIns="0" tIns="0" bIns="0">
            <a:spAutoFit/>
          </a:bodyPr>
          <a:lstStyle/>
          <a:p>
            <a:pPr algn="l">
              <a:lnSpc>
                <a:spcPct val="130000"/>
              </a:lnSpc>
            </a:pPr>
            <a:r>
              <a:rPr sz="1300" b="0" i="0">
                <a:solidFill>
                  <a:srgbClr val="9DA9B5"/>
                </a:solidFill>
                <a:latin typeface="Arial"/>
              </a:rPr>
              <a:t>Combined predictive AUC </a:t>
            </a:r>
            <a:r>
              <a:rPr sz="1300" b="1" i="0">
                <a:solidFill>
                  <a:srgbClr val="ECEFF3"/>
                </a:solidFill>
                <a:latin typeface="Arial"/>
              </a:rPr>
              <a:t>0.63–0.67</a:t>
            </a:r>
            <a:r>
              <a:rPr sz="1300" b="0" i="0">
                <a:solidFill>
                  <a:srgbClr val="9DA9B5"/>
                </a:solidFill>
                <a:latin typeface="Arial"/>
              </a:rPr>
              <a:t> vs 0.57 for breast density.</a:t>
            </a:r>
          </a:p>
        </p:txBody>
      </p:sp>
      <p:sp>
        <p:nvSpPr>
          <p:cNvPr id="7" name="TextBox 6"/>
          <p:cNvSpPr txBox="1"/>
          <p:nvPr/>
        </p:nvSpPr>
        <p:spPr>
          <a:xfrm>
            <a:off x="777240" y="4023360"/>
            <a:ext cx="5852160" cy="914400"/>
          </a:xfrm>
          <a:prstGeom prst="rect">
            <a:avLst/>
          </a:prstGeom>
          <a:noFill/>
        </p:spPr>
        <p:txBody>
          <a:bodyPr wrap="square" anchor="t" lIns="0" rIns="0" tIns="0" bIns="0">
            <a:spAutoFit/>
          </a:bodyPr>
          <a:lstStyle/>
          <a:p>
            <a:pPr algn="l">
              <a:lnSpc>
                <a:spcPct val="135000"/>
              </a:lnSpc>
            </a:pPr>
            <a:r>
              <a:rPr sz="1400" b="1" i="0">
                <a:solidFill>
                  <a:srgbClr val="ECEFF3"/>
                </a:solidFill>
                <a:latin typeface="Arial"/>
              </a:rPr>
              <a:t>Detection is blurring into risk. We stop asking the image about the lesion — and start asking it about the patient. </a:t>
            </a:r>
            <a:r>
              <a:rPr sz="1400" b="1" i="0">
                <a:solidFill>
                  <a:srgbClr val="E7AC51"/>
                </a:solidFill>
                <a:latin typeface="Arial"/>
              </a:rPr>
              <a:t>That is Era III.</a:t>
            </a:r>
          </a:p>
        </p:txBody>
      </p:sp>
      <p:sp>
        <p:nvSpPr>
          <p:cNvPr id="8" name="TextBox 7"/>
          <p:cNvSpPr txBox="1"/>
          <p:nvPr/>
        </p:nvSpPr>
        <p:spPr>
          <a:xfrm>
            <a:off x="777240" y="5257800"/>
            <a:ext cx="5852160" cy="548640"/>
          </a:xfrm>
          <a:prstGeom prst="rect">
            <a:avLst/>
          </a:prstGeom>
          <a:noFill/>
        </p:spPr>
        <p:txBody>
          <a:bodyPr wrap="square" anchor="t" lIns="0" rIns="0" tIns="0" bIns="0">
            <a:spAutoFit/>
          </a:bodyPr>
          <a:lstStyle/>
          <a:p>
            <a:pPr algn="l">
              <a:lnSpc>
                <a:spcPct val="130000"/>
              </a:lnSpc>
            </a:pPr>
            <a:r>
              <a:rPr sz="950" b="0" i="0">
                <a:solidFill>
                  <a:srgbClr val="5C6975"/>
                </a:solidFill>
                <a:latin typeface="Consolas"/>
              </a:rPr>
              <a:t>Chart redrawn from Hickman et al., Radiology 2026;319(3):e251309 (Table 2 / Fig 2A).</a:t>
            </a:r>
          </a:p>
        </p:txBody>
      </p:sp>
      <p:sp>
        <p:nvSpPr>
          <p:cNvPr id="9" name="Rectangle 8"/>
          <p:cNvSpPr/>
          <p:nvPr/>
        </p:nvSpPr>
        <p:spPr>
          <a:xfrm>
            <a:off x="7589520" y="1828800"/>
            <a:ext cx="15240" cy="2926080"/>
          </a:xfrm>
          <a:prstGeom prst="rect">
            <a:avLst/>
          </a:prstGeom>
          <a:solidFill>
            <a:srgbClr val="2A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589520" y="4754880"/>
            <a:ext cx="3566160" cy="15240"/>
          </a:xfrm>
          <a:prstGeom prst="rect">
            <a:avLst/>
          </a:prstGeom>
          <a:solidFill>
            <a:srgbClr val="2A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4636008"/>
            <a:ext cx="777240" cy="274320"/>
          </a:xfrm>
          <a:prstGeom prst="rect">
            <a:avLst/>
          </a:prstGeom>
          <a:noFill/>
        </p:spPr>
        <p:txBody>
          <a:bodyPr wrap="square" anchor="t" lIns="0" rIns="0" tIns="0" bIns="0">
            <a:spAutoFit/>
          </a:bodyPr>
          <a:lstStyle/>
          <a:p>
            <a:pPr algn="r">
              <a:lnSpc>
                <a:spcPct val="100000"/>
              </a:lnSpc>
            </a:pPr>
            <a:r>
              <a:rPr sz="900" b="0" i="0">
                <a:solidFill>
                  <a:srgbClr val="5C6975"/>
                </a:solidFill>
                <a:latin typeface="Consolas"/>
              </a:rPr>
              <a:t>0</a:t>
            </a:r>
          </a:p>
        </p:txBody>
      </p:sp>
      <p:sp>
        <p:nvSpPr>
          <p:cNvPr id="12" name="TextBox 11"/>
          <p:cNvSpPr txBox="1"/>
          <p:nvPr/>
        </p:nvSpPr>
        <p:spPr>
          <a:xfrm>
            <a:off x="6766560" y="3172968"/>
            <a:ext cx="777240" cy="274320"/>
          </a:xfrm>
          <a:prstGeom prst="rect">
            <a:avLst/>
          </a:prstGeom>
          <a:noFill/>
        </p:spPr>
        <p:txBody>
          <a:bodyPr wrap="square" anchor="t" lIns="0" rIns="0" tIns="0" bIns="0">
            <a:spAutoFit/>
          </a:bodyPr>
          <a:lstStyle/>
          <a:p>
            <a:pPr algn="r">
              <a:lnSpc>
                <a:spcPct val="100000"/>
              </a:lnSpc>
            </a:pPr>
            <a:r>
              <a:rPr sz="900" b="0" i="0">
                <a:solidFill>
                  <a:srgbClr val="5C6975"/>
                </a:solidFill>
                <a:latin typeface="Consolas"/>
              </a:rPr>
              <a:t>25%</a:t>
            </a:r>
          </a:p>
        </p:txBody>
      </p:sp>
      <p:sp>
        <p:nvSpPr>
          <p:cNvPr id="13" name="TextBox 12"/>
          <p:cNvSpPr txBox="1"/>
          <p:nvPr/>
        </p:nvSpPr>
        <p:spPr>
          <a:xfrm>
            <a:off x="6766560" y="1709928"/>
            <a:ext cx="777240" cy="274320"/>
          </a:xfrm>
          <a:prstGeom prst="rect">
            <a:avLst/>
          </a:prstGeom>
          <a:noFill/>
        </p:spPr>
        <p:txBody>
          <a:bodyPr wrap="square" anchor="t" lIns="0" rIns="0" tIns="0" bIns="0">
            <a:spAutoFit/>
          </a:bodyPr>
          <a:lstStyle/>
          <a:p>
            <a:pPr algn="r">
              <a:lnSpc>
                <a:spcPct val="100000"/>
              </a:lnSpc>
            </a:pPr>
            <a:r>
              <a:rPr sz="900" b="0" i="0">
                <a:solidFill>
                  <a:srgbClr val="5C6975"/>
                </a:solidFill>
                <a:latin typeface="Consolas"/>
              </a:rPr>
              <a:t>50%</a:t>
            </a:r>
          </a:p>
        </p:txBody>
      </p:sp>
      <p:cxnSp>
        <p:nvCxnSpPr>
          <p:cNvPr id="14" name="Connector 13"/>
          <p:cNvCxnSpPr/>
          <p:nvPr/>
        </p:nvCxnSpPr>
        <p:spPr>
          <a:xfrm flipV="1">
            <a:off x="7726680" y="3847795"/>
            <a:ext cx="822960" cy="29261"/>
          </a:xfrm>
          <a:prstGeom prst="bentConnector3">
            <a:avLst/>
          </a:prstGeom>
          <a:ln w="33020">
            <a:solidFill>
              <a:srgbClr val="E7AC51"/>
            </a:solidFill>
          </a:ln>
          <a:effectLst/>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549640" y="3613708"/>
            <a:ext cx="757123" cy="234087"/>
          </a:xfrm>
          <a:prstGeom prst="bentConnector3">
            <a:avLst/>
          </a:prstGeom>
          <a:ln w="33020">
            <a:solidFill>
              <a:srgbClr val="E7AC51"/>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9306763" y="3350361"/>
            <a:ext cx="724205" cy="263347"/>
          </a:xfrm>
          <a:prstGeom prst="bentConnector3">
            <a:avLst/>
          </a:prstGeom>
          <a:ln w="33020">
            <a:solidFill>
              <a:srgbClr val="E7AC51"/>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0030968" y="2560320"/>
            <a:ext cx="658368" cy="790041"/>
          </a:xfrm>
          <a:prstGeom prst="bentConnector3">
            <a:avLst/>
          </a:prstGeom>
          <a:ln w="33020">
            <a:solidFill>
              <a:srgbClr val="E7AC51"/>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0689336" y="2121408"/>
            <a:ext cx="329184" cy="438912"/>
          </a:xfrm>
          <a:prstGeom prst="bentConnector3">
            <a:avLst/>
          </a:prstGeom>
          <a:ln w="33020">
            <a:solidFill>
              <a:srgbClr val="E7AC51"/>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726680" y="3964838"/>
            <a:ext cx="3291840" cy="0"/>
          </a:xfrm>
          <a:prstGeom prst="bentConnector3">
            <a:avLst/>
          </a:prstGeom>
          <a:ln w="27940">
            <a:solidFill>
              <a:srgbClr val="5FB7C9"/>
            </a:solidFill>
            <a:prstDash val="dash"/>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406640" y="4800600"/>
            <a:ext cx="640080" cy="274320"/>
          </a:xfrm>
          <a:prstGeom prst="rect">
            <a:avLst/>
          </a:prstGeom>
          <a:noFill/>
        </p:spPr>
        <p:txBody>
          <a:bodyPr wrap="square" anchor="t" lIns="0" rIns="0" tIns="0" bIns="0">
            <a:spAutoFit/>
          </a:bodyPr>
          <a:lstStyle/>
          <a:p>
            <a:pPr algn="ctr">
              <a:lnSpc>
                <a:spcPct val="100000"/>
              </a:lnSpc>
            </a:pPr>
            <a:r>
              <a:rPr sz="900" b="0" i="0">
                <a:solidFill>
                  <a:srgbClr val="9DA9B5"/>
                </a:solidFill>
                <a:latin typeface="Consolas"/>
              </a:rPr>
              <a:t>10 yr</a:t>
            </a:r>
          </a:p>
        </p:txBody>
      </p:sp>
      <p:sp>
        <p:nvSpPr>
          <p:cNvPr id="21" name="TextBox 20"/>
          <p:cNvSpPr txBox="1"/>
          <p:nvPr/>
        </p:nvSpPr>
        <p:spPr>
          <a:xfrm>
            <a:off x="8723376" y="4800600"/>
            <a:ext cx="640080" cy="274320"/>
          </a:xfrm>
          <a:prstGeom prst="rect">
            <a:avLst/>
          </a:prstGeom>
          <a:noFill/>
        </p:spPr>
        <p:txBody>
          <a:bodyPr wrap="square" anchor="t" lIns="0" rIns="0" tIns="0" bIns="0">
            <a:spAutoFit/>
          </a:bodyPr>
          <a:lstStyle/>
          <a:p>
            <a:pPr algn="ctr">
              <a:lnSpc>
                <a:spcPct val="100000"/>
              </a:lnSpc>
            </a:pPr>
            <a:r>
              <a:rPr sz="900" b="0" i="0">
                <a:solidFill>
                  <a:srgbClr val="9DA9B5"/>
                </a:solidFill>
                <a:latin typeface="Consolas"/>
              </a:rPr>
              <a:t>6 yr</a:t>
            </a:r>
          </a:p>
        </p:txBody>
      </p:sp>
      <p:sp>
        <p:nvSpPr>
          <p:cNvPr id="22" name="TextBox 21"/>
          <p:cNvSpPr txBox="1"/>
          <p:nvPr/>
        </p:nvSpPr>
        <p:spPr>
          <a:xfrm>
            <a:off x="9381744" y="4800600"/>
            <a:ext cx="640080" cy="274320"/>
          </a:xfrm>
          <a:prstGeom prst="rect">
            <a:avLst/>
          </a:prstGeom>
          <a:noFill/>
        </p:spPr>
        <p:txBody>
          <a:bodyPr wrap="square" anchor="t" lIns="0" rIns="0" tIns="0" bIns="0">
            <a:spAutoFit/>
          </a:bodyPr>
          <a:lstStyle/>
          <a:p>
            <a:pPr algn="ctr">
              <a:lnSpc>
                <a:spcPct val="100000"/>
              </a:lnSpc>
            </a:pPr>
            <a:r>
              <a:rPr sz="900" b="0" i="0">
                <a:solidFill>
                  <a:srgbClr val="9DA9B5"/>
                </a:solidFill>
                <a:latin typeface="Consolas"/>
              </a:rPr>
              <a:t>4 yr</a:t>
            </a:r>
          </a:p>
        </p:txBody>
      </p:sp>
      <p:sp>
        <p:nvSpPr>
          <p:cNvPr id="23" name="TextBox 22"/>
          <p:cNvSpPr txBox="1"/>
          <p:nvPr/>
        </p:nvSpPr>
        <p:spPr>
          <a:xfrm>
            <a:off x="10040112" y="4800600"/>
            <a:ext cx="640080" cy="274320"/>
          </a:xfrm>
          <a:prstGeom prst="rect">
            <a:avLst/>
          </a:prstGeom>
          <a:noFill/>
        </p:spPr>
        <p:txBody>
          <a:bodyPr wrap="square" anchor="t" lIns="0" rIns="0" tIns="0" bIns="0">
            <a:spAutoFit/>
          </a:bodyPr>
          <a:lstStyle/>
          <a:p>
            <a:pPr algn="ctr">
              <a:lnSpc>
                <a:spcPct val="100000"/>
              </a:lnSpc>
            </a:pPr>
            <a:r>
              <a:rPr sz="900" b="0" i="0">
                <a:solidFill>
                  <a:srgbClr val="9DA9B5"/>
                </a:solidFill>
                <a:latin typeface="Consolas"/>
              </a:rPr>
              <a:t>2 yr</a:t>
            </a:r>
          </a:p>
        </p:txBody>
      </p:sp>
      <p:sp>
        <p:nvSpPr>
          <p:cNvPr id="24" name="TextBox 23"/>
          <p:cNvSpPr txBox="1"/>
          <p:nvPr/>
        </p:nvSpPr>
        <p:spPr>
          <a:xfrm>
            <a:off x="10698480" y="4800600"/>
            <a:ext cx="640080" cy="274320"/>
          </a:xfrm>
          <a:prstGeom prst="rect">
            <a:avLst/>
          </a:prstGeom>
          <a:noFill/>
        </p:spPr>
        <p:txBody>
          <a:bodyPr wrap="square" anchor="t" lIns="0" rIns="0" tIns="0" bIns="0">
            <a:spAutoFit/>
          </a:bodyPr>
          <a:lstStyle/>
          <a:p>
            <a:pPr algn="ctr">
              <a:lnSpc>
                <a:spcPct val="100000"/>
              </a:lnSpc>
            </a:pPr>
            <a:r>
              <a:rPr sz="900" b="0" i="0">
                <a:solidFill>
                  <a:srgbClr val="9DA9B5"/>
                </a:solidFill>
                <a:latin typeface="Consolas"/>
              </a:rPr>
              <a:t>1 yr</a:t>
            </a:r>
          </a:p>
        </p:txBody>
      </p:sp>
      <p:sp>
        <p:nvSpPr>
          <p:cNvPr id="25" name="Rectangle 24"/>
          <p:cNvSpPr/>
          <p:nvPr/>
        </p:nvSpPr>
        <p:spPr>
          <a:xfrm>
            <a:off x="8778240" y="1417320"/>
            <a:ext cx="228600" cy="45720"/>
          </a:xfrm>
          <a:prstGeom prst="rect">
            <a:avLst/>
          </a:prstGeom>
          <a:solidFill>
            <a:srgbClr val="E7AC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0" y="1325880"/>
            <a:ext cx="1371600" cy="274320"/>
          </a:xfrm>
          <a:prstGeom prst="rect">
            <a:avLst/>
          </a:prstGeom>
          <a:noFill/>
        </p:spPr>
        <p:txBody>
          <a:bodyPr wrap="square" anchor="t" lIns="0" rIns="0" tIns="0" bIns="0">
            <a:spAutoFit/>
          </a:bodyPr>
          <a:lstStyle/>
          <a:p>
            <a:pPr algn="l">
              <a:lnSpc>
                <a:spcPct val="100000"/>
              </a:lnSpc>
            </a:pPr>
            <a:r>
              <a:rPr sz="950" b="0" i="0">
                <a:solidFill>
                  <a:srgbClr val="ECEFF3"/>
                </a:solidFill>
                <a:latin typeface="Consolas"/>
              </a:rPr>
              <a:t>future cancer</a:t>
            </a:r>
          </a:p>
        </p:txBody>
      </p:sp>
      <p:sp>
        <p:nvSpPr>
          <p:cNvPr id="27" name="Rectangle 26"/>
          <p:cNvSpPr/>
          <p:nvPr/>
        </p:nvSpPr>
        <p:spPr>
          <a:xfrm>
            <a:off x="10149840" y="1417320"/>
            <a:ext cx="228600" cy="45720"/>
          </a:xfrm>
          <a:prstGeom prst="rect">
            <a:avLst/>
          </a:prstGeom>
          <a:solidFill>
            <a:srgbClr val="5FB7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424160" y="1325880"/>
            <a:ext cx="1097280" cy="274320"/>
          </a:xfrm>
          <a:prstGeom prst="rect">
            <a:avLst/>
          </a:prstGeom>
          <a:noFill/>
        </p:spPr>
        <p:txBody>
          <a:bodyPr wrap="square" anchor="t" lIns="0" rIns="0" tIns="0" bIns="0">
            <a:spAutoFit/>
          </a:bodyPr>
          <a:lstStyle/>
          <a:p>
            <a:pPr algn="l">
              <a:lnSpc>
                <a:spcPct val="100000"/>
              </a:lnSpc>
            </a:pPr>
            <a:r>
              <a:rPr sz="950" b="0" i="0">
                <a:solidFill>
                  <a:srgbClr val="9DA9B5"/>
                </a:solidFill>
                <a:latin typeface="Consolas"/>
              </a:rPr>
              <a:t>cancer-free</a:t>
            </a:r>
          </a:p>
        </p:txBody>
      </p:sp>
      <p:sp>
        <p:nvSpPr>
          <p:cNvPr id="29" name="TextBox 28"/>
          <p:cNvSpPr txBox="1"/>
          <p:nvPr/>
        </p:nvSpPr>
        <p:spPr>
          <a:xfrm>
            <a:off x="6949440" y="5120640"/>
            <a:ext cx="4297680" cy="457200"/>
          </a:xfrm>
          <a:prstGeom prst="rect">
            <a:avLst/>
          </a:prstGeom>
          <a:noFill/>
        </p:spPr>
        <p:txBody>
          <a:bodyPr wrap="square" anchor="t" lIns="0" rIns="0" tIns="0" bIns="0">
            <a:spAutoFit/>
          </a:bodyPr>
          <a:lstStyle/>
          <a:p>
            <a:pPr algn="ctr">
              <a:lnSpc>
                <a:spcPct val="100000"/>
              </a:lnSpc>
            </a:pPr>
            <a:r>
              <a:rPr sz="950" b="0" i="0">
                <a:solidFill>
                  <a:srgbClr val="5C6975"/>
                </a:solidFill>
                <a:latin typeface="Consolas"/>
              </a:rPr>
              <a:t>% flagged at 90th-centile score · years before diagnosis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