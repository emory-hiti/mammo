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[Title card] Thirty Years, Three Eras: AI in Breast Imaging, from CAD to Clinical Intelligence. — Hari Trivedi, Emory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you all know, this is a screening mammogram. In fact, a normal one — and it was read as normal. This is a real, de-identified exam from Emory. This is what we do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radiologists read this and were right — there is no cancer to see today. So the question I want to pose is: what are we not seeing?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 want to describe by the end of this talk is how AI models — past, present, and future — read this same mammogram, and her eventual biopsy slide, and extract information that is not visible to us. The first estimates a high probability of breast cancer within about five years — which she did develop. The second quantifies calcification in her breast arteries — an independent cardiovascular risk marker, with a measurable dose-response. The third, applied to the slide from her eventual biopsy, estimates a recurrence score we currently send to a genomics lab for about four thousand dollars. None of these is hypothetical. Each is published and externally validated, and one is already in this year's screening guidelines.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about thirty years, we built tools to help us find the lesion — to mark the spot. That was CAD. What's changing now is the scope of the question we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over the next thirty minutes or so, I want to take you on a short journey of how we got here and where we can expect to go: from the lesion, to the image, to the patient. And I'll start with a cautionary tale, because this field has overpromised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understand where this is going, we have to start with where it has been — because this field has overpromised before. So let's step into a time machine and go back to the beginning, to 1998.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FB7C9"/>
                </a:solidFill>
                <a:latin typeface="Consolas"/>
              </a:rPr>
              <a:t>International Workshop on Breast Imaging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ECEFF3"/>
                </a:solidFill>
                <a:latin typeface="Arial"/>
              </a:rPr>
              <a:t>Thirty Years,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E7AC51"/>
                </a:solidFill>
                <a:latin typeface="Arial"/>
              </a:rPr>
              <a:t>Three Eras.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9DA9B5"/>
                </a:solidFill>
                <a:latin typeface="Arial"/>
              </a:rPr>
              <a:t>AI in Breast Imaging — from CAD to Clinical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Consolas"/>
              </a:rPr>
              <a:t>Hari Trivedi, MD</a:t>
            </a:r>
            <a:r>
              <a:rPr sz="1400" b="0" i="0">
                <a:solidFill>
                  <a:srgbClr val="5C6975"/>
                </a:solidFill>
                <a:latin typeface="Consolas"/>
              </a:rPr>
              <a:t>  ·  Emory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1051560"/>
            <a:ext cx="3749039" cy="5029200"/>
          </a:xfrm>
          <a:prstGeom prst="roundRect">
            <a:avLst/>
          </a:prstGeom>
          <a:solidFill>
            <a:srgbClr val="06090C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1106424"/>
            <a:ext cx="352958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DA9B5"/>
                </a:solidFill>
                <a:latin typeface="Consolas"/>
              </a:rPr>
              <a:t>R MLO ·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1106424"/>
            <a:ext cx="352958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FB7C9"/>
                </a:solidFill>
                <a:latin typeface="Consolas"/>
              </a:rPr>
              <a:t>AI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1435607"/>
            <a:ext cx="3602735" cy="12700"/>
          </a:xfrm>
          <a:prstGeom prst="rect">
            <a:avLst/>
          </a:prstGeom>
          <a:solidFill>
            <a:srgbClr val="2A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1527048"/>
            <a:ext cx="3529583" cy="44256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5696712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6975"/>
                </a:solidFill>
                <a:latin typeface="Consolas"/>
              </a:rPr>
              <a:t>[ de-identified Emory screening case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377440"/>
            <a:ext cx="6400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ECEFF3"/>
                </a:solidFill>
                <a:latin typeface="Arial"/>
              </a:rPr>
              <a:t>A normal screening mammogram — read as normal.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05840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 i="0">
                <a:solidFill>
                  <a:srgbClr val="ECEFF3"/>
                </a:solidFill>
                <a:latin typeface="Arial"/>
              </a:rPr>
              <a:t>What are we </a:t>
            </a:r>
            <a:r>
              <a:rPr sz="5600" b="1" i="0">
                <a:solidFill>
                  <a:srgbClr val="E7AC51"/>
                </a:solidFill>
                <a:latin typeface="Arial"/>
              </a:rPr>
              <a:t>not seeing?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914400"/>
            <a:ext cx="3246120" cy="5120640"/>
          </a:xfrm>
          <a:prstGeom prst="roundRect">
            <a:avLst/>
          </a:prstGeom>
          <a:solidFill>
            <a:srgbClr val="06090C"/>
          </a:solidFill>
          <a:ln w="952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969264"/>
            <a:ext cx="302666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DA9B5"/>
                </a:solidFill>
                <a:latin typeface="Consolas"/>
              </a:rPr>
              <a:t>R MLO ·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969264"/>
            <a:ext cx="3026663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FB7C9"/>
                </a:solidFill>
                <a:latin typeface="Consolas"/>
              </a:rPr>
              <a:t>AI ✓✓✓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" y="1298448"/>
            <a:ext cx="3099815" cy="12700"/>
          </a:xfrm>
          <a:prstGeom prst="rect">
            <a:avLst/>
          </a:prstGeom>
          <a:solidFill>
            <a:srgbClr val="2A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1389888"/>
            <a:ext cx="3026663" cy="451713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565099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6975"/>
                </a:solidFill>
                <a:latin typeface="Consolas"/>
              </a:rPr>
              <a:t>[ de-identified Emory screening case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868680"/>
            <a:ext cx="6903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1" i="0">
                <a:solidFill>
                  <a:srgbClr val="ECEFF3"/>
                </a:solidFill>
                <a:latin typeface="Arial"/>
              </a:rPr>
              <a:t>AI reads this </a:t>
            </a:r>
            <a:r>
              <a:rPr sz="1900" b="1" i="0">
                <a:solidFill>
                  <a:srgbClr val="E7AC51"/>
                </a:solidFill>
                <a:latin typeface="Arial"/>
              </a:rPr>
              <a:t>same mammogram</a:t>
            </a:r>
            <a:r>
              <a:rPr sz="1900" b="1" i="0">
                <a:solidFill>
                  <a:srgbClr val="ECEFF3"/>
                </a:solidFill>
                <a:latin typeface="Arial"/>
              </a:rPr>
              <a:t> — and her eventual biopsy slide — for information not visible to 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057400"/>
            <a:ext cx="6903720" cy="91440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73152" bIns="73152"/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01   </a:t>
            </a:r>
            <a:r>
              <a:rPr sz="1400" b="1" i="0">
                <a:solidFill>
                  <a:srgbClr val="5FB7C9"/>
                </a:solidFill>
                <a:latin typeface="Arial"/>
              </a:rPr>
              <a:t>Image-based risk</a:t>
            </a:r>
            <a:r>
              <a:rPr sz="1400" b="1" i="0">
                <a:solidFill>
                  <a:srgbClr val="ECEFF3"/>
                </a:solidFill>
                <a:latin typeface="Arial"/>
              </a:rPr>
              <a:t> — high probability of cancer within ~5 years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0" i="0">
                <a:solidFill>
                  <a:srgbClr val="9DA9B5"/>
                </a:solidFill>
                <a:latin typeface="Arial"/>
              </a:rPr>
              <a:t>which she developed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057400"/>
            <a:ext cx="41148" cy="9144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3118104"/>
            <a:ext cx="6903720" cy="914400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73152" bIns="73152"/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02   </a:t>
            </a:r>
            <a:r>
              <a:rPr sz="1400" b="1" i="0">
                <a:solidFill>
                  <a:srgbClr val="5FB7C9"/>
                </a:solidFill>
                <a:latin typeface="Arial"/>
              </a:rPr>
              <a:t>Cardiovascular disease</a:t>
            </a:r>
            <a:r>
              <a:rPr sz="1400" b="1" i="0">
                <a:solidFill>
                  <a:srgbClr val="ECEFF3"/>
                </a:solidFill>
                <a:latin typeface="Arial"/>
              </a:rPr>
              <a:t> — breast arterial calcification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0" i="0">
                <a:solidFill>
                  <a:srgbClr val="9DA9B5"/>
                </a:solidFill>
                <a:latin typeface="Arial"/>
              </a:rPr>
              <a:t>an independent risk marker, with a dose-response relationship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3118104"/>
            <a:ext cx="41148" cy="9144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6280" y="4178808"/>
            <a:ext cx="6903720" cy="658368"/>
          </a:xfrm>
          <a:prstGeom prst="roundRect">
            <a:avLst/>
          </a:prstGeom>
          <a:solidFill>
            <a:srgbClr val="1B232D"/>
          </a:solidFill>
          <a:ln w="12700">
            <a:solidFill>
              <a:srgbClr val="E7AC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73152" bIns="73152"/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E7AC51"/>
                </a:solidFill>
                <a:latin typeface="Consolas"/>
              </a:rPr>
              <a:t>03   </a:t>
            </a:r>
            <a:r>
              <a:rPr sz="1400" b="1" i="0">
                <a:solidFill>
                  <a:srgbClr val="5FB7C9"/>
                </a:solidFill>
                <a:latin typeface="Arial"/>
              </a:rPr>
              <a:t>Recurrence prediction</a:t>
            </a:r>
            <a:r>
              <a:rPr sz="1400" b="1" i="0">
                <a:solidFill>
                  <a:srgbClr val="ECEFF3"/>
                </a:solidFill>
                <a:latin typeface="Arial"/>
              </a:rPr>
              <a:t> — a genomic recurrence score from the biopsy slide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4178808"/>
            <a:ext cx="41148" cy="658368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5001768"/>
            <a:ext cx="6903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DA9B5"/>
                </a:solidFill>
                <a:latin typeface="Arial"/>
              </a:rPr>
              <a:t>None of these is hypothetical. Each is published and externally validated — and </a:t>
            </a:r>
            <a:r>
              <a:rPr sz="1200" b="1" i="0">
                <a:solidFill>
                  <a:srgbClr val="ECEFF3"/>
                </a:solidFill>
                <a:latin typeface="Arial"/>
              </a:rPr>
              <a:t>one is already in this year's screening guidelines.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6596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975"/>
                </a:solidFill>
                <a:latin typeface="Consolas"/>
              </a:rPr>
              <a:t>~30 YRS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737360"/>
            <a:ext cx="9509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5C6975"/>
                </a:solidFill>
                <a:latin typeface="Arial"/>
              </a:rPr>
              <a:t>We built tools to </a:t>
            </a:r>
            <a:r>
              <a:rPr sz="3000" b="1" i="0">
                <a:solidFill>
                  <a:srgbClr val="5C6975"/>
                </a:solidFill>
                <a:latin typeface="Arial"/>
              </a:rPr>
              <a:t>find the lesion</a:t>
            </a:r>
            <a:r>
              <a:rPr sz="3000" b="1" i="0">
                <a:solidFill>
                  <a:srgbClr val="5C6975"/>
                </a:solidFill>
                <a:latin typeface="Arial"/>
              </a:rPr>
              <a:t> — to mark the spot. That was CAD.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10607040" cy="12700"/>
          </a:xfrm>
          <a:prstGeom prst="rect">
            <a:avLst/>
          </a:prstGeom>
          <a:solidFill>
            <a:srgbClr val="2A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06908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975"/>
                </a:solidFill>
                <a:latin typeface="Consola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3886200"/>
            <a:ext cx="9509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 i="0">
                <a:solidFill>
                  <a:srgbClr val="ECEFF3"/>
                </a:solidFill>
                <a:latin typeface="Arial"/>
              </a:rPr>
              <a:t>What's changing is the </a:t>
            </a:r>
            <a:r>
              <a:rPr sz="3000" b="1" i="0">
                <a:solidFill>
                  <a:srgbClr val="E7AC51"/>
                </a:solidFill>
                <a:latin typeface="Arial"/>
              </a:rPr>
              <a:t>scope of the question</a:t>
            </a:r>
            <a:r>
              <a:rPr sz="3000" b="1" i="0">
                <a:solidFill>
                  <a:srgbClr val="ECEFF3"/>
                </a:solidFill>
                <a:latin typeface="Arial"/>
              </a:rPr>
              <a:t> we 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400" b="1" i="0">
                <a:solidFill>
                  <a:srgbClr val="ECEFF3"/>
                </a:solidFill>
                <a:latin typeface="Arial"/>
              </a:rPr>
              <a:t>From lesions to </a:t>
            </a:r>
            <a:r>
              <a:rPr sz="4400" b="1" i="0">
                <a:solidFill>
                  <a:srgbClr val="E7AC51"/>
                </a:solidFill>
                <a:latin typeface="Arial"/>
              </a:rPr>
              <a:t>patients.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017520"/>
            <a:ext cx="3429000" cy="2286000"/>
          </a:xfrm>
          <a:prstGeom prst="roundRect">
            <a:avLst/>
          </a:prstGeom>
          <a:solidFill>
            <a:srgbClr val="1B232D"/>
          </a:solidFill>
          <a:ln w="15875">
            <a:solidFill>
              <a:srgbClr val="2A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411480" bIns="182880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975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000" b="1" i="0">
                <a:solidFill>
                  <a:srgbClr val="E7AC51"/>
                </a:solidFill>
                <a:latin typeface="Consolas"/>
              </a:rPr>
              <a:t>PAST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600" b="1" i="0">
                <a:solidFill>
                  <a:srgbClr val="ECEFF3"/>
                </a:solidFill>
                <a:latin typeface="Arial"/>
              </a:rPr>
              <a:t>Lesion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9DA9B5"/>
                </a:solidFill>
                <a:latin typeface="Arial"/>
              </a:rPr>
              <a:t>find &amp; characterize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18688"/>
            <a:ext cx="411480" cy="32004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7700" y="3017520"/>
            <a:ext cx="3429000" cy="2286000"/>
          </a:xfrm>
          <a:prstGeom prst="roundRect">
            <a:avLst/>
          </a:prstGeom>
          <a:solidFill>
            <a:srgbClr val="3A2E16"/>
          </a:solidFill>
          <a:ln w="1587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411480" bIns="182880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975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000" b="1" i="0">
                <a:solidFill>
                  <a:srgbClr val="E7AC51"/>
                </a:solidFill>
                <a:latin typeface="Consolas"/>
              </a:rPr>
              <a:t>PRESENT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600" b="1" i="0">
                <a:solidFill>
                  <a:srgbClr val="ECEFF3"/>
                </a:solidFill>
                <a:latin typeface="Arial"/>
              </a:rPr>
              <a:t>Image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9DA9B5"/>
                </a:solidFill>
                <a:latin typeface="Arial"/>
              </a:rPr>
              <a:t>risk &amp; opportunistic signal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6300" y="3218688"/>
            <a:ext cx="411480" cy="32004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3017520"/>
            <a:ext cx="3429000" cy="2286000"/>
          </a:xfrm>
          <a:prstGeom prst="roundRect">
            <a:avLst/>
          </a:prstGeom>
          <a:solidFill>
            <a:srgbClr val="E7AC51"/>
          </a:solidFill>
          <a:ln w="15875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411480" bIns="182880"/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03014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000" b="1" i="0">
                <a:solidFill>
                  <a:srgbClr val="1A1206"/>
                </a:solidFill>
                <a:latin typeface="Consolas"/>
              </a:rPr>
              <a:t>FUTURE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600" b="1" i="0">
                <a:solidFill>
                  <a:srgbClr val="1A1206"/>
                </a:solidFill>
                <a:latin typeface="Arial"/>
              </a:rPr>
              <a:t>Patient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2A1E0A"/>
                </a:solidFill>
                <a:latin typeface="Arial"/>
              </a:rPr>
              <a:t>pathology +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3218688"/>
            <a:ext cx="411480" cy="3200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CEFF3"/>
                </a:solidFill>
                <a:latin typeface="Arial"/>
              </a:rPr>
              <a:t>Let's step into a </a:t>
            </a:r>
            <a:r>
              <a:rPr sz="4000" b="1" i="0">
                <a:solidFill>
                  <a:srgbClr val="E7AC51"/>
                </a:solidFill>
                <a:latin typeface="Arial"/>
              </a:rPr>
              <a:t>time machine.</a:t>
            </a:r>
          </a:p>
        </p:txBody>
      </p:sp>
      <p:pic>
        <p:nvPicPr>
          <p:cNvPr id="4" name="Picture 3" descr="svg_9646a542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2717074"/>
            <a:ext cx="4572000" cy="2612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9DA9B5"/>
                </a:solidFill>
                <a:latin typeface="Arial"/>
              </a:rPr>
              <a:t>This field has overpromised before. Let's start there — in 1998.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