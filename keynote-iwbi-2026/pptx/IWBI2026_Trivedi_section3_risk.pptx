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 back to today. Same reading room, a normal mammogram — two readers, both right, no cancer. But one model just flagged her: about a five-year risk. It was not looking for a lesion; there wasn't one. It was reading the tissue. There were hidden signals in the image. That is the turn this section is about — the mammogram stops being only a detector and becomes a biosensor. And this one is already FDA-cleared.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forty years our only imaging risk marker was density — a coarse, subjective category. The questionnaire models we layered on top were weak: Tyrer-Cuzick predicts five-year risk at an AUC around 0.62, barely better than a coin flip at the individual level. We were sorting women into risk tiers with tools that could not really tell them apart.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pixels turned out to carry risk. Yala and colleagues at MIT and MGH showed a deep network reading the mammogram itself beat the questionnaire models. Mirai, the next version, was built to predict across time, tolerate missing risk-factor data, and stay consistent across machines. Externally validated in three countries, C-index 0.76 to 0.81. Among women who went on to develop cancer within five years, Mirai flagged 41 percent as high-risk — versus 23 percent for Tyrer-Cuzick.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why explainability matters and what it looks like done right. On the right is Mirai: four images into CNNs, pooled, through a transformer and a risk-factor predictor, out come five years of risk. A black box. On the left is AsymMirai — our group's work with Duke. We asked what Mirai was actually keying on, and the answer was surprisingly simple: local bilateral dissimilarity, the difference between left and right breast tissue in the same region. A transparent model built only on that asymmetry nearly matched the black box: one-year AUC 0.79 versus 0.84. A signal you can point to on the image.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signal is visible early. This is one patient, left MLO, the same region tracked over three screening rounds. In 2014, at age 69, the model's attention sits on a subtle asymmetry the readers called normal. Seventeen months later it intensifies. By 2017 it is unmistakable — and that is where the cancer arose. The risk score was rising for years before the diagnosis. This is the same phenomenon Hickman described in the detection models: the signal builds on the image long before we call it cancer.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caveat, and it is the whole ballgame for using these clinically. Every number I just showed — 0.76, 0.81, 0.84 — is a population number. An AUC tells you how a model sorts a million women; it tells you little about the one in your clinic. Discrimination is not calibration: whether a predicted eight-percent risk really means eight percent is a separate, less-reported property. And the image model and the clinical model flag different women. Arasu showed the AI's top-risk decile and the clinical model's overlapped only partially. For a large share of women, the old number and the new number disagree — and that disagreement, not the average AUC, is the decision in front of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picture the real decision as a two-by-two. The classical model on one axis, the image model on the other. When they agree, management is easy: both low, standardize or extend the interval; both high, escalate to MRI. The interesting cells are the disagreements. Classical-low but image-high: the tissue is doing something the questionnaire never captured — look harder now, short-interval follow-up, a second read of this mammogram. And the dangerous cell, classical-high but image-low: a BRCA carrier with a quiet-looking image. The reassuring image must not override known germline risk. De-escalating there would be the most consequential error this technology invites. The models measure different things — inherited risk versus current tissue state — and each carries its own 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no longer hypothetical. Clairity Breast — Constance Lehman's company — received FDA De Novo authorization in June 2025: the first tool to predict five-year risk from a routine screening mammogram alone, and it was added to the 2026 NCCN screening guidance. The path from research model to cleared product to guideline took under five years. Meanwhile the trials are testing whether to screen by risk instead of by age. WISDOM, reported in JAMA this year, found risk-based screening non-inferior for advanced cancers with about 3,800 fewer mammograms per hundred-thousand person-years — and 89 percent of women offered the choice picked it. MyPeBS, 85,000 women across six countries, will give the definitive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image can now tell us when to look and how hard. But once we find something, the question changes again — from is there cancer and what is her risk, to what is this cancer and what will it do? That answer is not in radiology. It is across the hospital, on a glass slide. To understand the patient, we move to the pathology lab — where AI does something our images cannot.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10058400" cy="365760"/>
          </a:xfrm>
          <a:prstGeom prst="rect">
            <a:avLst/>
          </a:prstGeom>
          <a:noFill/>
        </p:spPr>
        <p:txBody>
          <a:bodyPr wrap="square" anchor="t" lIns="0" rIns="0" tIns="0" bIns="0">
            <a:spAutoFit/>
          </a:bodyPr>
          <a:lstStyle/>
          <a:p>
            <a:pPr algn="l">
              <a:lnSpc>
                <a:spcPct val="100000"/>
              </a:lnSpc>
            </a:pPr>
            <a:r>
              <a:rPr sz="1100" b="0" i="0">
                <a:solidFill>
                  <a:srgbClr val="5C6975"/>
                </a:solidFill>
                <a:latin typeface="Consolas"/>
              </a:rPr>
              <a:t>LESION</a:t>
            </a:r>
            <a:r>
              <a:rPr sz="1100" b="0" i="0">
                <a:solidFill>
                  <a:srgbClr val="5C6975"/>
                </a:solidFill>
                <a:latin typeface="Consolas"/>
              </a:rPr>
              <a:t>  →  </a:t>
            </a:r>
            <a:r>
              <a:rPr sz="1100" b="1" i="0">
                <a:solidFill>
                  <a:srgbClr val="E7AC51"/>
                </a:solidFill>
                <a:latin typeface="Consolas"/>
              </a:rPr>
              <a:t>IMAGE</a:t>
            </a:r>
            <a:r>
              <a:rPr sz="1100" b="0" i="0">
                <a:solidFill>
                  <a:srgbClr val="5C6975"/>
                </a:solidFill>
                <a:latin typeface="Consolas"/>
              </a:rPr>
              <a:t>  →  PATIENT  →  POPULATION</a:t>
            </a:r>
          </a:p>
        </p:txBody>
      </p:sp>
      <p:sp>
        <p:nvSpPr>
          <p:cNvPr id="4" name="TextBox 3"/>
          <p:cNvSpPr txBox="1"/>
          <p:nvPr/>
        </p:nvSpPr>
        <p:spPr>
          <a:xfrm>
            <a:off x="777240" y="1920240"/>
            <a:ext cx="10607040" cy="1280160"/>
          </a:xfrm>
          <a:prstGeom prst="rect">
            <a:avLst/>
          </a:prstGeom>
          <a:noFill/>
        </p:spPr>
        <p:txBody>
          <a:bodyPr wrap="square" anchor="t" lIns="0" rIns="0" tIns="0" bIns="0">
            <a:spAutoFit/>
          </a:bodyPr>
          <a:lstStyle/>
          <a:p>
            <a:pPr algn="l">
              <a:lnSpc>
                <a:spcPct val="102000"/>
              </a:lnSpc>
            </a:pPr>
            <a:r>
              <a:rPr sz="5000" b="1" i="0">
                <a:solidFill>
                  <a:srgbClr val="ECEFF3"/>
                </a:solidFill>
                <a:latin typeface="Arial"/>
              </a:rPr>
              <a:t>Hidden signals </a:t>
            </a:r>
            <a:r>
              <a:rPr sz="5000" b="1" i="0">
                <a:solidFill>
                  <a:srgbClr val="E7AC51"/>
                </a:solidFill>
                <a:latin typeface="Arial"/>
              </a:rPr>
              <a:t>in the image.</a:t>
            </a:r>
          </a:p>
        </p:txBody>
      </p:sp>
      <p:sp>
        <p:nvSpPr>
          <p:cNvPr id="5" name="TextBox 4"/>
          <p:cNvSpPr txBox="1"/>
          <p:nvPr/>
        </p:nvSpPr>
        <p:spPr>
          <a:xfrm>
            <a:off x="777240" y="3520440"/>
            <a:ext cx="8778240" cy="1463040"/>
          </a:xfrm>
          <a:prstGeom prst="rect">
            <a:avLst/>
          </a:prstGeom>
          <a:noFill/>
        </p:spPr>
        <p:txBody>
          <a:bodyPr wrap="square" anchor="t" lIns="0" rIns="0" tIns="0" bIns="0">
            <a:spAutoFit/>
          </a:bodyPr>
          <a:lstStyle/>
          <a:p>
            <a:pPr algn="l">
              <a:lnSpc>
                <a:spcPct val="140000"/>
              </a:lnSpc>
            </a:pPr>
            <a:r>
              <a:rPr sz="1700" b="0" i="0">
                <a:solidFill>
                  <a:srgbClr val="9DA9B5"/>
                </a:solidFill>
                <a:latin typeface="Arial"/>
              </a:rPr>
              <a:t>A normal mammogram. Two readers, both right — no cancer today. But a model reads the same pixels and forecasts her five-year risk. The question changes: from </a:t>
            </a:r>
            <a:r>
              <a:rPr sz="1700" b="1" i="0">
                <a:solidFill>
                  <a:srgbClr val="ECEFF3"/>
                </a:solidFill>
                <a:latin typeface="Arial"/>
              </a:rPr>
              <a:t>“is there cancer now?”</a:t>
            </a:r>
            <a:r>
              <a:rPr sz="1700" b="0" i="0">
                <a:solidFill>
                  <a:srgbClr val="9DA9B5"/>
                </a:solidFill>
                <a:latin typeface="Arial"/>
              </a:rPr>
              <a:t> to </a:t>
            </a:r>
            <a:r>
              <a:rPr sz="1700" b="1" i="0">
                <a:solidFill>
                  <a:srgbClr val="ECEFF3"/>
                </a:solidFill>
                <a:latin typeface="Arial"/>
              </a:rPr>
              <a:t>“what is her risk, and how hard should we look?”</a:t>
            </a:r>
          </a:p>
        </p:txBody>
      </p:sp>
      <p:sp>
        <p:nvSpPr>
          <p:cNvPr id="6" name="TextBox 5"/>
          <p:cNvSpPr txBox="1"/>
          <p:nvPr/>
        </p:nvSpPr>
        <p:spPr>
          <a:xfrm>
            <a:off x="777240" y="5166360"/>
            <a:ext cx="8778240" cy="914400"/>
          </a:xfrm>
          <a:prstGeom prst="rect">
            <a:avLst/>
          </a:prstGeom>
          <a:noFill/>
        </p:spPr>
        <p:txBody>
          <a:bodyPr wrap="square" anchor="t" lIns="0" rIns="0" tIns="0" bIns="0">
            <a:spAutoFit/>
          </a:bodyPr>
          <a:lstStyle/>
          <a:p>
            <a:pPr algn="l">
              <a:lnSpc>
                <a:spcPct val="140000"/>
              </a:lnSpc>
            </a:pPr>
            <a:r>
              <a:rPr sz="1400" b="0" i="0">
                <a:solidFill>
                  <a:srgbClr val="5C6975"/>
                </a:solidFill>
                <a:latin typeface="Arial"/>
              </a:rPr>
              <a:t>The mammogram stops being only a detector. It becomes a biosensor — and this one is already cleared by the FDA.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THE OLD WORLD</a:t>
            </a:r>
          </a:p>
        </p:txBody>
      </p:sp>
      <p:sp>
        <p:nvSpPr>
          <p:cNvPr id="4" name="Rectangle 3"/>
          <p:cNvSpPr/>
          <p:nvPr/>
        </p:nvSpPr>
        <p:spPr>
          <a:xfrm>
            <a:off x="777240" y="1828800"/>
            <a:ext cx="45720" cy="1828800"/>
          </a:xfrm>
          <a:prstGeom prst="rect">
            <a:avLst/>
          </a:prstGeom>
          <a:solidFill>
            <a:srgbClr val="C9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6400800" cy="2286000"/>
          </a:xfrm>
          <a:prstGeom prst="rect">
            <a:avLst/>
          </a:prstGeom>
          <a:noFill/>
        </p:spPr>
        <p:txBody>
          <a:bodyPr wrap="square" anchor="t" lIns="0" rIns="0" tIns="0" bIns="0">
            <a:spAutoFit/>
          </a:bodyPr>
          <a:lstStyle/>
          <a:p>
            <a:pPr algn="l">
              <a:lnSpc>
                <a:spcPct val="128000"/>
              </a:lnSpc>
            </a:pPr>
            <a:r>
              <a:rPr sz="2600" b="1" i="0">
                <a:solidFill>
                  <a:srgbClr val="ECEFF3"/>
                </a:solidFill>
                <a:latin typeface="Arial"/>
              </a:rPr>
              <a:t>“For forty years, the only risk signal we could read off the image was </a:t>
            </a:r>
            <a:r>
              <a:rPr sz="2600" b="1" i="0">
                <a:solidFill>
                  <a:srgbClr val="E7AC51"/>
                </a:solidFill>
                <a:latin typeface="Arial"/>
              </a:rPr>
              <a:t>density</a:t>
            </a:r>
            <a:r>
              <a:rPr sz="2600" b="1" i="0">
                <a:solidFill>
                  <a:srgbClr val="ECEFF3"/>
                </a:solidFill>
                <a:latin typeface="Arial"/>
              </a:rPr>
              <a:t> — coarse, subjective, and a weak predictor.”</a:t>
            </a:r>
          </a:p>
        </p:txBody>
      </p:sp>
      <p:sp>
        <p:nvSpPr>
          <p:cNvPr id="6" name="TextBox 5"/>
          <p:cNvSpPr txBox="1"/>
          <p:nvPr/>
        </p:nvSpPr>
        <p:spPr>
          <a:xfrm>
            <a:off x="1005840" y="4297680"/>
            <a:ext cx="6400800" cy="457200"/>
          </a:xfrm>
          <a:prstGeom prst="rect">
            <a:avLst/>
          </a:prstGeom>
          <a:noFill/>
        </p:spPr>
        <p:txBody>
          <a:bodyPr wrap="square" anchor="t" lIns="0" rIns="0" tIns="0" bIns="0">
            <a:spAutoFit/>
          </a:bodyPr>
          <a:lstStyle/>
          <a:p>
            <a:pPr algn="l">
              <a:lnSpc>
                <a:spcPct val="100000"/>
              </a:lnSpc>
            </a:pPr>
            <a:r>
              <a:rPr sz="1100" b="0" i="0">
                <a:solidFill>
                  <a:srgbClr val="E7AC51"/>
                </a:solidFill>
                <a:latin typeface="Consolas"/>
              </a:rPr>
              <a:t>Tyrer-Cuzick, Gail, BCSC — questionnaire-and-density models</a:t>
            </a:r>
          </a:p>
        </p:txBody>
      </p:sp>
      <p:sp>
        <p:nvSpPr>
          <p:cNvPr id="7" name="TextBox 6"/>
          <p:cNvSpPr txBox="1"/>
          <p:nvPr/>
        </p:nvSpPr>
        <p:spPr>
          <a:xfrm>
            <a:off x="7955279" y="1554480"/>
            <a:ext cx="3474720" cy="548640"/>
          </a:xfrm>
          <a:prstGeom prst="rect">
            <a:avLst/>
          </a:prstGeom>
          <a:noFill/>
        </p:spPr>
        <p:txBody>
          <a:bodyPr wrap="square" anchor="t" lIns="0" rIns="0" tIns="0" bIns="0">
            <a:spAutoFit/>
          </a:bodyPr>
          <a:lstStyle/>
          <a:p>
            <a:pPr algn="l">
              <a:lnSpc>
                <a:spcPct val="100000"/>
              </a:lnSpc>
            </a:pPr>
            <a:r>
              <a:rPr sz="2200" b="1" i="0">
                <a:solidFill>
                  <a:srgbClr val="ECEFF3"/>
                </a:solidFill>
                <a:latin typeface="Arial"/>
              </a:rPr>
              <a:t>~0.62</a:t>
            </a:r>
          </a:p>
        </p:txBody>
      </p:sp>
      <p:sp>
        <p:nvSpPr>
          <p:cNvPr id="8" name="TextBox 7"/>
          <p:cNvSpPr txBox="1"/>
          <p:nvPr/>
        </p:nvSpPr>
        <p:spPr>
          <a:xfrm>
            <a:off x="7955279" y="2057400"/>
            <a:ext cx="3474720" cy="45720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Tyrer-Cuzick v8 · 5-yr AUC</a:t>
            </a:r>
          </a:p>
        </p:txBody>
      </p:sp>
      <p:sp>
        <p:nvSpPr>
          <p:cNvPr id="9" name="TextBox 8"/>
          <p:cNvSpPr txBox="1"/>
          <p:nvPr/>
        </p:nvSpPr>
        <p:spPr>
          <a:xfrm>
            <a:off x="7955279" y="2788920"/>
            <a:ext cx="3474720" cy="548640"/>
          </a:xfrm>
          <a:prstGeom prst="rect">
            <a:avLst/>
          </a:prstGeom>
          <a:noFill/>
        </p:spPr>
        <p:txBody>
          <a:bodyPr wrap="square" anchor="t" lIns="0" rIns="0" tIns="0" bIns="0">
            <a:spAutoFit/>
          </a:bodyPr>
          <a:lstStyle/>
          <a:p>
            <a:pPr algn="l">
              <a:lnSpc>
                <a:spcPct val="100000"/>
              </a:lnSpc>
            </a:pPr>
            <a:r>
              <a:rPr sz="2200" b="1" i="0">
                <a:solidFill>
                  <a:srgbClr val="ECEFF3"/>
                </a:solidFill>
                <a:latin typeface="Arial"/>
              </a:rPr>
              <a:t>~0.59–0.61</a:t>
            </a:r>
          </a:p>
        </p:txBody>
      </p:sp>
      <p:sp>
        <p:nvSpPr>
          <p:cNvPr id="10" name="TextBox 9"/>
          <p:cNvSpPr txBox="1"/>
          <p:nvPr/>
        </p:nvSpPr>
        <p:spPr>
          <a:xfrm>
            <a:off x="7955279" y="3291839"/>
            <a:ext cx="3474720" cy="45720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density-augmented Gail / TC</a:t>
            </a:r>
          </a:p>
        </p:txBody>
      </p:sp>
      <p:sp>
        <p:nvSpPr>
          <p:cNvPr id="11" name="TextBox 10"/>
          <p:cNvSpPr txBox="1"/>
          <p:nvPr/>
        </p:nvSpPr>
        <p:spPr>
          <a:xfrm>
            <a:off x="7955279" y="4023360"/>
            <a:ext cx="3474720" cy="914400"/>
          </a:xfrm>
          <a:prstGeom prst="rect">
            <a:avLst/>
          </a:prstGeom>
          <a:noFill/>
        </p:spPr>
        <p:txBody>
          <a:bodyPr wrap="square" anchor="t" lIns="0" rIns="0" tIns="0" bIns="0">
            <a:spAutoFit/>
          </a:bodyPr>
          <a:lstStyle/>
          <a:p>
            <a:pPr algn="l">
              <a:lnSpc>
                <a:spcPct val="130000"/>
              </a:lnSpc>
            </a:pPr>
            <a:r>
              <a:rPr sz="1300" b="0" i="0">
                <a:solidFill>
                  <a:srgbClr val="9DA9B5"/>
                </a:solidFill>
                <a:latin typeface="Arial"/>
              </a:rPr>
              <a:t>Strong at the population level.</a:t>
            </a:r>
          </a:p>
          <a:p>
            <a:pPr algn="l">
              <a:lnSpc>
                <a:spcPct val="130000"/>
              </a:lnSpc>
            </a:pPr>
            <a:r>
              <a:rPr sz="1300" b="0" i="0">
                <a:solidFill>
                  <a:srgbClr val="9DA9B5"/>
                </a:solidFill>
                <a:latin typeface="Arial"/>
              </a:rPr>
              <a:t>Weak for the woman in front of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THE PIVOT</a:t>
            </a:r>
          </a:p>
        </p:txBody>
      </p:sp>
      <p:sp>
        <p:nvSpPr>
          <p:cNvPr id="4" name="TextBox 3"/>
          <p:cNvSpPr txBox="1"/>
          <p:nvPr/>
        </p:nvSpPr>
        <p:spPr>
          <a:xfrm>
            <a:off x="777240" y="1051560"/>
            <a:ext cx="10607040" cy="914400"/>
          </a:xfrm>
          <a:prstGeom prst="rect">
            <a:avLst/>
          </a:prstGeom>
          <a:noFill/>
        </p:spPr>
        <p:txBody>
          <a:bodyPr wrap="square" anchor="t" lIns="0" rIns="0" tIns="0" bIns="0">
            <a:spAutoFit/>
          </a:bodyPr>
          <a:lstStyle/>
          <a:p>
            <a:pPr algn="l">
              <a:lnSpc>
                <a:spcPct val="110000"/>
              </a:lnSpc>
            </a:pPr>
            <a:r>
              <a:rPr sz="2800" b="1" i="0">
                <a:solidFill>
                  <a:srgbClr val="ECEFF3"/>
                </a:solidFill>
                <a:latin typeface="Arial"/>
              </a:rPr>
              <a:t>Deep-learning models predict risk from the </a:t>
            </a:r>
            <a:r>
              <a:rPr sz="2800" b="1" i="0">
                <a:solidFill>
                  <a:srgbClr val="E7AC51"/>
                </a:solidFill>
                <a:latin typeface="Arial"/>
              </a:rPr>
              <a:t>mammogram itself.</a:t>
            </a:r>
          </a:p>
        </p:txBody>
      </p:sp>
      <p:sp>
        <p:nvSpPr>
          <p:cNvPr id="5" name="TextBox 4"/>
          <p:cNvSpPr txBox="1"/>
          <p:nvPr/>
        </p:nvSpPr>
        <p:spPr>
          <a:xfrm>
            <a:off x="777240" y="2148840"/>
            <a:ext cx="10607040" cy="914400"/>
          </a:xfrm>
          <a:prstGeom prst="rect">
            <a:avLst/>
          </a:prstGeom>
          <a:noFill/>
        </p:spPr>
        <p:txBody>
          <a:bodyPr wrap="square" anchor="t" lIns="0" rIns="0" tIns="0" bIns="0">
            <a:spAutoFit/>
          </a:bodyPr>
          <a:lstStyle/>
          <a:p>
            <a:pPr algn="l">
              <a:lnSpc>
                <a:spcPct val="140000"/>
              </a:lnSpc>
            </a:pPr>
            <a:r>
              <a:rPr sz="1500" b="0" i="0">
                <a:solidFill>
                  <a:srgbClr val="9DA9B5"/>
                </a:solidFill>
                <a:latin typeface="Arial"/>
              </a:rPr>
              <a:t>Yala et al. (Radiology 2019) showed a network reading the image itself out-predicted the classical models. </a:t>
            </a:r>
            <a:r>
              <a:rPr sz="1500" b="1" i="0">
                <a:solidFill>
                  <a:srgbClr val="ECEFF3"/>
                </a:solidFill>
                <a:latin typeface="Arial"/>
              </a:rPr>
              <a:t>Mirai</a:t>
            </a:r>
            <a:r>
              <a:rPr sz="1500" b="0" i="0">
                <a:solidFill>
                  <a:srgbClr val="9DA9B5"/>
                </a:solidFill>
                <a:latin typeface="Arial"/>
              </a:rPr>
              <a:t> (Yala et al., Science Translational Medicine 2021) was built to predict across time points, tolerate missing risk-factor data, and stay consistent across scanners.</a:t>
            </a:r>
          </a:p>
        </p:txBody>
      </p:sp>
      <p:sp>
        <p:nvSpPr>
          <p:cNvPr id="6" name="Rounded Rectangle 5"/>
          <p:cNvSpPr/>
          <p:nvPr/>
        </p:nvSpPr>
        <p:spPr>
          <a:xfrm>
            <a:off x="777240" y="3291840"/>
            <a:ext cx="50292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C-index 0.76 / 0.81 / 0.79</a:t>
            </a:r>
            <a:r>
              <a:rPr sz="1050" b="0" i="0">
                <a:solidFill>
                  <a:srgbClr val="ECEFF3"/>
                </a:solidFill>
                <a:latin typeface="Consolas"/>
              </a:rPr>
              <a:t> — validated US · Sweden · Taiwan</a:t>
            </a:r>
          </a:p>
        </p:txBody>
      </p:sp>
      <p:sp>
        <p:nvSpPr>
          <p:cNvPr id="7" name="Rounded Rectangle 6"/>
          <p:cNvSpPr/>
          <p:nvPr/>
        </p:nvSpPr>
        <p:spPr>
          <a:xfrm>
            <a:off x="6035040" y="3291840"/>
            <a:ext cx="539496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41.5%</a:t>
            </a:r>
            <a:r>
              <a:rPr sz="1050" b="0" i="0">
                <a:solidFill>
                  <a:srgbClr val="ECEFF3"/>
                </a:solidFill>
                <a:latin typeface="Consolas"/>
              </a:rPr>
              <a:t> of future cancers flagged high-risk </a:t>
            </a:r>
            <a:r>
              <a:rPr sz="1050" b="0" i="0">
                <a:solidFill>
                  <a:srgbClr val="5C6975"/>
                </a:solidFill>
                <a:latin typeface="Consolas"/>
              </a:rPr>
              <a:t>(vs 22.9% Tyrer-Cuzick)</a:t>
            </a:r>
          </a:p>
        </p:txBody>
      </p:sp>
      <p:sp>
        <p:nvSpPr>
          <p:cNvPr id="8" name="TextBox 7"/>
          <p:cNvSpPr txBox="1"/>
          <p:nvPr/>
        </p:nvSpPr>
        <p:spPr>
          <a:xfrm>
            <a:off x="777240" y="4114800"/>
            <a:ext cx="10607040" cy="822960"/>
          </a:xfrm>
          <a:prstGeom prst="rect">
            <a:avLst/>
          </a:prstGeom>
          <a:noFill/>
        </p:spPr>
        <p:txBody>
          <a:bodyPr wrap="square" anchor="t" lIns="0" rIns="0" tIns="0" bIns="0">
            <a:spAutoFit/>
          </a:bodyPr>
          <a:lstStyle/>
          <a:p>
            <a:pPr algn="l">
              <a:lnSpc>
                <a:spcPct val="135000"/>
              </a:lnSpc>
            </a:pPr>
            <a:r>
              <a:rPr sz="1400" b="0" i="0">
                <a:solidFill>
                  <a:srgbClr val="5C6975"/>
                </a:solidFill>
                <a:latin typeface="Arial"/>
              </a:rPr>
              <a:t>But a number like 0.81 is a </a:t>
            </a:r>
            <a:r>
              <a:rPr sz="1400" b="1" i="0">
                <a:solidFill>
                  <a:srgbClr val="9DA9B5"/>
                </a:solidFill>
                <a:latin typeface="Arial"/>
              </a:rPr>
              <a:t>black box</a:t>
            </a:r>
            <a:r>
              <a:rPr sz="1400" b="0" i="0">
                <a:solidFill>
                  <a:srgbClr val="5C6975"/>
                </a:solidFill>
                <a:latin typeface="Arial"/>
              </a:rPr>
              <a:t> answer. For a screening program, “it works” is not enough — we have to know </a:t>
            </a:r>
            <a:r>
              <a:rPr sz="1400" b="1" i="0">
                <a:solidFill>
                  <a:srgbClr val="9DA9B5"/>
                </a:solidFill>
                <a:latin typeface="Arial"/>
              </a:rPr>
              <a:t>why</a:t>
            </a:r>
            <a:r>
              <a:rPr sz="1400" b="0" i="0">
                <a:solidFill>
                  <a:srgbClr val="5C6975"/>
                </a:solidFill>
                <a:latin typeface="Arial"/>
              </a:rPr>
              <a:t>.</a:t>
            </a:r>
          </a:p>
        </p:txBody>
      </p:sp>
      <p:sp>
        <p:nvSpPr>
          <p:cNvPr id="9" name="TextBox 8"/>
          <p:cNvSpPr txBox="1"/>
          <p:nvPr/>
        </p:nvSpPr>
        <p:spPr>
          <a:xfrm>
            <a:off x="777240" y="512064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Yala et al., Radiology 2019 · Mirai — Yala et al., Sci Transl Med 2021 (DOI 10.1126/scitranslmed.aba4373)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EXPLAINABILITY DONE RIGHT</a:t>
            </a:r>
          </a:p>
        </p:txBody>
      </p:sp>
      <p:sp>
        <p:nvSpPr>
          <p:cNvPr id="4" name="TextBox 3"/>
          <p:cNvSpPr txBox="1"/>
          <p:nvPr/>
        </p:nvSpPr>
        <p:spPr>
          <a:xfrm>
            <a:off x="777240" y="960120"/>
            <a:ext cx="10607040" cy="640080"/>
          </a:xfrm>
          <a:prstGeom prst="rect">
            <a:avLst/>
          </a:prstGeom>
          <a:noFill/>
        </p:spPr>
        <p:txBody>
          <a:bodyPr wrap="square" anchor="t" lIns="0" rIns="0" tIns="0" bIns="0">
            <a:spAutoFit/>
          </a:bodyPr>
          <a:lstStyle/>
          <a:p>
            <a:pPr algn="l">
              <a:lnSpc>
                <a:spcPct val="110000"/>
              </a:lnSpc>
            </a:pPr>
            <a:r>
              <a:rPr sz="2200" b="1" i="0">
                <a:solidFill>
                  <a:srgbClr val="ECEFF3"/>
                </a:solidFill>
                <a:latin typeface="Arial"/>
              </a:rPr>
              <a:t>AsymMirai: much of the signal is </a:t>
            </a:r>
            <a:r>
              <a:rPr sz="2200" b="1" i="0">
                <a:solidFill>
                  <a:srgbClr val="E7AC51"/>
                </a:solidFill>
                <a:latin typeface="Arial"/>
              </a:rPr>
              <a:t>local bilateral asymmetry.</a:t>
            </a:r>
          </a:p>
        </p:txBody>
      </p:sp>
      <p:sp>
        <p:nvSpPr>
          <p:cNvPr id="5" name="TextBox 4"/>
          <p:cNvSpPr txBox="1"/>
          <p:nvPr/>
        </p:nvSpPr>
        <p:spPr>
          <a:xfrm>
            <a:off x="777240" y="1691640"/>
            <a:ext cx="10607040" cy="685800"/>
          </a:xfrm>
          <a:prstGeom prst="rect">
            <a:avLst/>
          </a:prstGeom>
          <a:noFill/>
        </p:spPr>
        <p:txBody>
          <a:bodyPr wrap="square" anchor="t" lIns="0" rIns="0" tIns="0" bIns="0">
            <a:spAutoFit/>
          </a:bodyPr>
          <a:lstStyle/>
          <a:p>
            <a:pPr algn="l">
              <a:lnSpc>
                <a:spcPct val="130000"/>
              </a:lnSpc>
            </a:pPr>
            <a:r>
              <a:rPr sz="1250" b="0" i="0">
                <a:solidFill>
                  <a:srgbClr val="9DA9B5"/>
                </a:solidFill>
                <a:latin typeface="Arial"/>
              </a:rPr>
              <a:t>Mirai is accurate but opaque. </a:t>
            </a:r>
            <a:r>
              <a:rPr sz="1250" b="1" i="0">
                <a:solidFill>
                  <a:srgbClr val="5FB7C9"/>
                </a:solidFill>
                <a:latin typeface="Arial"/>
              </a:rPr>
              <a:t>AsymMirai</a:t>
            </a:r>
            <a:r>
              <a:rPr sz="1250" b="0" i="0">
                <a:solidFill>
                  <a:srgbClr val="9DA9B5"/>
                </a:solidFill>
                <a:latin typeface="Arial"/>
              </a:rPr>
              <a:t> (Donnelly et al., Radiology 2024 — Duke + Emory) reverse-engineered what it keys on: the left-vs-right tissue difference. A transparent model on that signal alone nearly matched the black box.</a:t>
            </a:r>
          </a:p>
        </p:txBody>
      </p:sp>
      <p:sp>
        <p:nvSpPr>
          <p:cNvPr id="6" name="Rounded Rectangle 5"/>
          <p:cNvSpPr/>
          <p:nvPr/>
        </p:nvSpPr>
        <p:spPr>
          <a:xfrm>
            <a:off x="777240" y="2468880"/>
            <a:ext cx="3291840" cy="292608"/>
          </a:xfrm>
          <a:prstGeom prst="roundRect">
            <a:avLst/>
          </a:prstGeom>
          <a:solidFill>
            <a:srgbClr val="06090C"/>
          </a:solidFill>
          <a:ln w="12700">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9DA9B5"/>
                </a:solidFill>
                <a:latin typeface="Arial"/>
              </a:rPr>
              <a:t>4 image tiles (L/R, CC + MLO)</a:t>
            </a:r>
          </a:p>
        </p:txBody>
      </p:sp>
      <p:sp>
        <p:nvSpPr>
          <p:cNvPr id="7" name="Rounded Rectangle 6"/>
          <p:cNvSpPr/>
          <p:nvPr/>
        </p:nvSpPr>
        <p:spPr>
          <a:xfrm>
            <a:off x="777240" y="2926080"/>
            <a:ext cx="731520" cy="292608"/>
          </a:xfrm>
          <a:prstGeom prst="roundRect">
            <a:avLst/>
          </a:prstGeom>
          <a:solidFill>
            <a:srgbClr val="1E323B"/>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5FB7C9"/>
                </a:solidFill>
                <a:latin typeface="Arial"/>
              </a:rPr>
              <a:t>CNN</a:t>
            </a:r>
          </a:p>
        </p:txBody>
      </p:sp>
      <p:sp>
        <p:nvSpPr>
          <p:cNvPr id="8" name="Rounded Rectangle 7"/>
          <p:cNvSpPr/>
          <p:nvPr/>
        </p:nvSpPr>
        <p:spPr>
          <a:xfrm>
            <a:off x="1618488" y="2926080"/>
            <a:ext cx="731520" cy="292608"/>
          </a:xfrm>
          <a:prstGeom prst="roundRect">
            <a:avLst/>
          </a:prstGeom>
          <a:solidFill>
            <a:srgbClr val="1E323B"/>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5FB7C9"/>
                </a:solidFill>
                <a:latin typeface="Arial"/>
              </a:rPr>
              <a:t>CNN</a:t>
            </a:r>
          </a:p>
        </p:txBody>
      </p:sp>
      <p:sp>
        <p:nvSpPr>
          <p:cNvPr id="9" name="Rounded Rectangle 8"/>
          <p:cNvSpPr/>
          <p:nvPr/>
        </p:nvSpPr>
        <p:spPr>
          <a:xfrm>
            <a:off x="2459736" y="2926080"/>
            <a:ext cx="731520" cy="292608"/>
          </a:xfrm>
          <a:prstGeom prst="roundRect">
            <a:avLst/>
          </a:prstGeom>
          <a:solidFill>
            <a:srgbClr val="1E323B"/>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5FB7C9"/>
                </a:solidFill>
                <a:latin typeface="Arial"/>
              </a:rPr>
              <a:t>CNN</a:t>
            </a:r>
          </a:p>
        </p:txBody>
      </p:sp>
      <p:sp>
        <p:nvSpPr>
          <p:cNvPr id="10" name="Rounded Rectangle 9"/>
          <p:cNvSpPr/>
          <p:nvPr/>
        </p:nvSpPr>
        <p:spPr>
          <a:xfrm>
            <a:off x="3300984" y="2926080"/>
            <a:ext cx="731520" cy="292608"/>
          </a:xfrm>
          <a:prstGeom prst="roundRect">
            <a:avLst/>
          </a:prstGeom>
          <a:solidFill>
            <a:srgbClr val="1E323B"/>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5FB7C9"/>
                </a:solidFill>
                <a:latin typeface="Arial"/>
              </a:rPr>
              <a:t>CNN</a:t>
            </a:r>
          </a:p>
        </p:txBody>
      </p:sp>
      <p:cxnSp>
        <p:nvCxnSpPr>
          <p:cNvPr id="11" name="Connector 10"/>
          <p:cNvCxnSpPr/>
          <p:nvPr/>
        </p:nvCxnSpPr>
        <p:spPr>
          <a:xfrm>
            <a:off x="2423160" y="2788920"/>
            <a:ext cx="0" cy="118872"/>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3401568"/>
            <a:ext cx="1600200" cy="310896"/>
          </a:xfrm>
          <a:prstGeom prst="roundRect">
            <a:avLst/>
          </a:prstGeom>
          <a:solidFill>
            <a:srgbClr val="363125"/>
          </a:solidFill>
          <a:ln w="12700">
            <a:solidFill>
              <a:srgbClr val="E7AC5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ECEFF3"/>
                </a:solidFill>
                <a:latin typeface="Arial"/>
              </a:rPr>
              <a:t>CC Asymmetry</a:t>
            </a:r>
          </a:p>
        </p:txBody>
      </p:sp>
      <p:sp>
        <p:nvSpPr>
          <p:cNvPr id="13" name="Rounded Rectangle 12"/>
          <p:cNvSpPr/>
          <p:nvPr/>
        </p:nvSpPr>
        <p:spPr>
          <a:xfrm>
            <a:off x="2468880" y="3401568"/>
            <a:ext cx="1600200" cy="310896"/>
          </a:xfrm>
          <a:prstGeom prst="roundRect">
            <a:avLst/>
          </a:prstGeom>
          <a:solidFill>
            <a:srgbClr val="363125"/>
          </a:solidFill>
          <a:ln w="12700">
            <a:solidFill>
              <a:srgbClr val="E7AC5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ECEFF3"/>
                </a:solidFill>
                <a:latin typeface="Arial"/>
              </a:rPr>
              <a:t>MLO Asymmetry</a:t>
            </a:r>
          </a:p>
        </p:txBody>
      </p:sp>
      <p:cxnSp>
        <p:nvCxnSpPr>
          <p:cNvPr id="14" name="Connector 13"/>
          <p:cNvCxnSpPr/>
          <p:nvPr/>
        </p:nvCxnSpPr>
        <p:spPr>
          <a:xfrm>
            <a:off x="1600200" y="3236976"/>
            <a:ext cx="0" cy="146304"/>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246120" y="3236976"/>
            <a:ext cx="0" cy="146304"/>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 y="3895344"/>
            <a:ext cx="1600200" cy="310896"/>
          </a:xfrm>
          <a:prstGeom prst="roundRect">
            <a:avLst/>
          </a:prstGeom>
          <a:solidFill>
            <a:srgbClr val="312A1F"/>
          </a:solidFill>
          <a:ln w="12700">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Prediction Window</a:t>
            </a:r>
          </a:p>
        </p:txBody>
      </p:sp>
      <p:sp>
        <p:nvSpPr>
          <p:cNvPr id="17" name="Rounded Rectangle 16"/>
          <p:cNvSpPr/>
          <p:nvPr/>
        </p:nvSpPr>
        <p:spPr>
          <a:xfrm>
            <a:off x="2468880" y="3895344"/>
            <a:ext cx="1600200" cy="310896"/>
          </a:xfrm>
          <a:prstGeom prst="roundRect">
            <a:avLst/>
          </a:prstGeom>
          <a:solidFill>
            <a:srgbClr val="312A1F"/>
          </a:solidFill>
          <a:ln w="12700">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Prediction Window</a:t>
            </a:r>
          </a:p>
        </p:txBody>
      </p:sp>
      <p:cxnSp>
        <p:nvCxnSpPr>
          <p:cNvPr id="18" name="Connector 17"/>
          <p:cNvCxnSpPr/>
          <p:nvPr/>
        </p:nvCxnSpPr>
        <p:spPr>
          <a:xfrm>
            <a:off x="1600200" y="3730752"/>
            <a:ext cx="0" cy="146304"/>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246120" y="3730752"/>
            <a:ext cx="0" cy="146304"/>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4389120"/>
            <a:ext cx="3291840" cy="310896"/>
          </a:xfrm>
          <a:prstGeom prst="roundRect">
            <a:avLst/>
          </a:prstGeom>
          <a:solidFill>
            <a:srgbClr val="293037"/>
          </a:solidFill>
          <a:ln w="12700">
            <a:solidFill>
              <a:srgbClr val="9DA9B5"/>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ECEFF3"/>
                </a:solidFill>
                <a:latin typeface="Arial"/>
              </a:rPr>
              <a:t>Average</a:t>
            </a:r>
          </a:p>
        </p:txBody>
      </p:sp>
      <p:cxnSp>
        <p:nvCxnSpPr>
          <p:cNvPr id="21" name="Connector 20"/>
          <p:cNvCxnSpPr/>
          <p:nvPr/>
        </p:nvCxnSpPr>
        <p:spPr>
          <a:xfrm>
            <a:off x="2423160" y="4224528"/>
            <a:ext cx="0" cy="146304"/>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691640" y="4882896"/>
            <a:ext cx="1463040" cy="329184"/>
          </a:xfrm>
          <a:prstGeom prst="roundRect">
            <a:avLst/>
          </a:prstGeom>
          <a:solidFill>
            <a:srgbClr val="0F141A"/>
          </a:solidFill>
          <a:ln w="12700">
            <a:solidFill>
              <a:srgbClr val="ECEFF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1000" b="0" i="0">
                <a:solidFill>
                  <a:srgbClr val="ECEFF3"/>
                </a:solidFill>
                <a:latin typeface="Arial"/>
              </a:rPr>
              <a:t>Risk Score</a:t>
            </a:r>
          </a:p>
        </p:txBody>
      </p:sp>
      <p:cxnSp>
        <p:nvCxnSpPr>
          <p:cNvPr id="23" name="Connector 22"/>
          <p:cNvCxnSpPr/>
          <p:nvPr/>
        </p:nvCxnSpPr>
        <p:spPr>
          <a:xfrm>
            <a:off x="2423160" y="4718304"/>
            <a:ext cx="0" cy="146304"/>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5349240"/>
            <a:ext cx="3291840" cy="274320"/>
          </a:xfrm>
          <a:prstGeom prst="rect">
            <a:avLst/>
          </a:prstGeom>
          <a:noFill/>
        </p:spPr>
        <p:txBody>
          <a:bodyPr wrap="square" anchor="t" lIns="0" rIns="0" tIns="0" bIns="0">
            <a:spAutoFit/>
          </a:bodyPr>
          <a:lstStyle/>
          <a:p>
            <a:pPr algn="ctr">
              <a:lnSpc>
                <a:spcPct val="100000"/>
              </a:lnSpc>
            </a:pPr>
            <a:r>
              <a:rPr sz="1000" b="1" i="0">
                <a:solidFill>
                  <a:srgbClr val="E7AC51"/>
                </a:solidFill>
                <a:latin typeface="Consolas"/>
              </a:rPr>
              <a:t>AsymMirai · interpretable</a:t>
            </a:r>
          </a:p>
        </p:txBody>
      </p:sp>
      <p:sp>
        <p:nvSpPr>
          <p:cNvPr id="25" name="Rectangle 24"/>
          <p:cNvSpPr/>
          <p:nvPr/>
        </p:nvSpPr>
        <p:spPr>
          <a:xfrm>
            <a:off x="4343400" y="2468880"/>
            <a:ext cx="12700" cy="2743200"/>
          </a:xfrm>
          <a:prstGeom prst="rect">
            <a:avLst/>
          </a:prstGeom>
          <a:solidFill>
            <a:srgbClr val="2A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72000" y="2468880"/>
            <a:ext cx="3291840" cy="292608"/>
          </a:xfrm>
          <a:prstGeom prst="roundRect">
            <a:avLst/>
          </a:prstGeom>
          <a:solidFill>
            <a:srgbClr val="06090C"/>
          </a:solidFill>
          <a:ln w="12700">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9DA9B5"/>
                </a:solidFill>
                <a:latin typeface="Arial"/>
              </a:rPr>
              <a:t>4 image tiles</a:t>
            </a:r>
          </a:p>
        </p:txBody>
      </p:sp>
      <p:sp>
        <p:nvSpPr>
          <p:cNvPr id="27" name="Rounded Rectangle 26"/>
          <p:cNvSpPr/>
          <p:nvPr/>
        </p:nvSpPr>
        <p:spPr>
          <a:xfrm>
            <a:off x="4572000" y="2907792"/>
            <a:ext cx="731520" cy="274320"/>
          </a:xfrm>
          <a:prstGeom prst="roundRect">
            <a:avLst/>
          </a:prstGeom>
          <a:solidFill>
            <a:srgbClr val="1E323B"/>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5FB7C9"/>
                </a:solidFill>
                <a:latin typeface="Arial"/>
              </a:rPr>
              <a:t>CNN</a:t>
            </a:r>
          </a:p>
        </p:txBody>
      </p:sp>
      <p:sp>
        <p:nvSpPr>
          <p:cNvPr id="28" name="Rounded Rectangle 27"/>
          <p:cNvSpPr/>
          <p:nvPr/>
        </p:nvSpPr>
        <p:spPr>
          <a:xfrm>
            <a:off x="5413248" y="2907792"/>
            <a:ext cx="731520" cy="274320"/>
          </a:xfrm>
          <a:prstGeom prst="roundRect">
            <a:avLst/>
          </a:prstGeom>
          <a:solidFill>
            <a:srgbClr val="1E323B"/>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5FB7C9"/>
                </a:solidFill>
                <a:latin typeface="Arial"/>
              </a:rPr>
              <a:t>CNN</a:t>
            </a:r>
          </a:p>
        </p:txBody>
      </p:sp>
      <p:sp>
        <p:nvSpPr>
          <p:cNvPr id="29" name="Rounded Rectangle 28"/>
          <p:cNvSpPr/>
          <p:nvPr/>
        </p:nvSpPr>
        <p:spPr>
          <a:xfrm>
            <a:off x="6254496" y="2907792"/>
            <a:ext cx="731520" cy="274320"/>
          </a:xfrm>
          <a:prstGeom prst="roundRect">
            <a:avLst/>
          </a:prstGeom>
          <a:solidFill>
            <a:srgbClr val="1E323B"/>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5FB7C9"/>
                </a:solidFill>
                <a:latin typeface="Arial"/>
              </a:rPr>
              <a:t>CNN</a:t>
            </a:r>
          </a:p>
        </p:txBody>
      </p:sp>
      <p:sp>
        <p:nvSpPr>
          <p:cNvPr id="30" name="Rounded Rectangle 29"/>
          <p:cNvSpPr/>
          <p:nvPr/>
        </p:nvSpPr>
        <p:spPr>
          <a:xfrm>
            <a:off x="7095744" y="2907792"/>
            <a:ext cx="731520" cy="274320"/>
          </a:xfrm>
          <a:prstGeom prst="roundRect">
            <a:avLst/>
          </a:prstGeom>
          <a:solidFill>
            <a:srgbClr val="1E323B"/>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5FB7C9"/>
                </a:solidFill>
                <a:latin typeface="Arial"/>
              </a:rPr>
              <a:t>CNN</a:t>
            </a:r>
          </a:p>
        </p:txBody>
      </p:sp>
      <p:sp>
        <p:nvSpPr>
          <p:cNvPr id="31" name="Rounded Rectangle 30"/>
          <p:cNvSpPr/>
          <p:nvPr/>
        </p:nvSpPr>
        <p:spPr>
          <a:xfrm>
            <a:off x="4572000" y="3310128"/>
            <a:ext cx="731520" cy="274320"/>
          </a:xfrm>
          <a:prstGeom prst="roundRect">
            <a:avLst/>
          </a:prstGeom>
          <a:solidFill>
            <a:srgbClr val="262839"/>
          </a:solidFill>
          <a:ln w="12700">
            <a:solidFill>
              <a:srgbClr val="8E7FC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00" b="0" i="0">
                <a:solidFill>
                  <a:srgbClr val="8E7FC0"/>
                </a:solidFill>
                <a:latin typeface="Arial"/>
              </a:rPr>
              <a:t>Maxpool</a:t>
            </a:r>
          </a:p>
        </p:txBody>
      </p:sp>
      <p:sp>
        <p:nvSpPr>
          <p:cNvPr id="32" name="Rounded Rectangle 31"/>
          <p:cNvSpPr/>
          <p:nvPr/>
        </p:nvSpPr>
        <p:spPr>
          <a:xfrm>
            <a:off x="5413248" y="3310128"/>
            <a:ext cx="731520" cy="274320"/>
          </a:xfrm>
          <a:prstGeom prst="roundRect">
            <a:avLst/>
          </a:prstGeom>
          <a:solidFill>
            <a:srgbClr val="262839"/>
          </a:solidFill>
          <a:ln w="12700">
            <a:solidFill>
              <a:srgbClr val="8E7FC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00" b="0" i="0">
                <a:solidFill>
                  <a:srgbClr val="8E7FC0"/>
                </a:solidFill>
                <a:latin typeface="Arial"/>
              </a:rPr>
              <a:t>Maxpool</a:t>
            </a:r>
          </a:p>
        </p:txBody>
      </p:sp>
      <p:sp>
        <p:nvSpPr>
          <p:cNvPr id="33" name="Rounded Rectangle 32"/>
          <p:cNvSpPr/>
          <p:nvPr/>
        </p:nvSpPr>
        <p:spPr>
          <a:xfrm>
            <a:off x="6254496" y="3310128"/>
            <a:ext cx="731520" cy="274320"/>
          </a:xfrm>
          <a:prstGeom prst="roundRect">
            <a:avLst/>
          </a:prstGeom>
          <a:solidFill>
            <a:srgbClr val="262839"/>
          </a:solidFill>
          <a:ln w="12700">
            <a:solidFill>
              <a:srgbClr val="8E7FC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00" b="0" i="0">
                <a:solidFill>
                  <a:srgbClr val="8E7FC0"/>
                </a:solidFill>
                <a:latin typeface="Arial"/>
              </a:rPr>
              <a:t>Maxpool</a:t>
            </a:r>
          </a:p>
        </p:txBody>
      </p:sp>
      <p:sp>
        <p:nvSpPr>
          <p:cNvPr id="34" name="Rounded Rectangle 33"/>
          <p:cNvSpPr/>
          <p:nvPr/>
        </p:nvSpPr>
        <p:spPr>
          <a:xfrm>
            <a:off x="7095744" y="3310128"/>
            <a:ext cx="731520" cy="274320"/>
          </a:xfrm>
          <a:prstGeom prst="roundRect">
            <a:avLst/>
          </a:prstGeom>
          <a:solidFill>
            <a:srgbClr val="262839"/>
          </a:solidFill>
          <a:ln w="12700">
            <a:solidFill>
              <a:srgbClr val="8E7FC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00" b="0" i="0">
                <a:solidFill>
                  <a:srgbClr val="8E7FC0"/>
                </a:solidFill>
                <a:latin typeface="Arial"/>
              </a:rPr>
              <a:t>Maxpool</a:t>
            </a:r>
          </a:p>
        </p:txBody>
      </p:sp>
      <p:sp>
        <p:nvSpPr>
          <p:cNvPr id="35" name="Rounded Rectangle 34"/>
          <p:cNvSpPr/>
          <p:nvPr/>
        </p:nvSpPr>
        <p:spPr>
          <a:xfrm>
            <a:off x="4572000" y="3712463"/>
            <a:ext cx="3291840" cy="292608"/>
          </a:xfrm>
          <a:prstGeom prst="roundRect">
            <a:avLst/>
          </a:prstGeom>
          <a:solidFill>
            <a:srgbClr val="2E2B23"/>
          </a:solidFill>
          <a:ln w="12700">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50" b="0" i="0">
                <a:solidFill>
                  <a:srgbClr val="ECEFF3"/>
                </a:solidFill>
                <a:latin typeface="Arial"/>
              </a:rPr>
              <a:t>Transformer</a:t>
            </a:r>
          </a:p>
        </p:txBody>
      </p:sp>
      <p:sp>
        <p:nvSpPr>
          <p:cNvPr id="36" name="Rounded Rectangle 35"/>
          <p:cNvSpPr/>
          <p:nvPr/>
        </p:nvSpPr>
        <p:spPr>
          <a:xfrm>
            <a:off x="4572000" y="4114800"/>
            <a:ext cx="2331720" cy="292608"/>
          </a:xfrm>
          <a:prstGeom prst="roundRect">
            <a:avLst/>
          </a:prstGeom>
          <a:solidFill>
            <a:srgbClr val="342727"/>
          </a:solidFill>
          <a:ln w="12700">
            <a:solidFill>
              <a:srgbClr val="D978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Risk Factor Predictor</a:t>
            </a:r>
          </a:p>
        </p:txBody>
      </p:sp>
      <p:sp>
        <p:nvSpPr>
          <p:cNvPr id="37" name="Rounded Rectangle 36"/>
          <p:cNvSpPr/>
          <p:nvPr/>
        </p:nvSpPr>
        <p:spPr>
          <a:xfrm>
            <a:off x="4572000" y="4517136"/>
            <a:ext cx="475488" cy="274320"/>
          </a:xfrm>
          <a:prstGeom prst="roundRect">
            <a:avLst/>
          </a:prstGeom>
          <a:solidFill>
            <a:srgbClr val="2A2224"/>
          </a:solidFill>
          <a:ln w="12700">
            <a:solidFill>
              <a:srgbClr val="D978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AHL</a:t>
            </a:r>
          </a:p>
        </p:txBody>
      </p:sp>
      <p:sp>
        <p:nvSpPr>
          <p:cNvPr id="38" name="Rounded Rectangle 37"/>
          <p:cNvSpPr/>
          <p:nvPr/>
        </p:nvSpPr>
        <p:spPr>
          <a:xfrm>
            <a:off x="5120640" y="4517136"/>
            <a:ext cx="475488" cy="274320"/>
          </a:xfrm>
          <a:prstGeom prst="roundRect">
            <a:avLst/>
          </a:prstGeom>
          <a:solidFill>
            <a:srgbClr val="2A2224"/>
          </a:solidFill>
          <a:ln w="12700">
            <a:solidFill>
              <a:srgbClr val="D978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AHL</a:t>
            </a:r>
          </a:p>
        </p:txBody>
      </p:sp>
      <p:sp>
        <p:nvSpPr>
          <p:cNvPr id="39" name="Rounded Rectangle 38"/>
          <p:cNvSpPr/>
          <p:nvPr/>
        </p:nvSpPr>
        <p:spPr>
          <a:xfrm>
            <a:off x="5669280" y="4517136"/>
            <a:ext cx="475488" cy="274320"/>
          </a:xfrm>
          <a:prstGeom prst="roundRect">
            <a:avLst/>
          </a:prstGeom>
          <a:solidFill>
            <a:srgbClr val="2A2224"/>
          </a:solidFill>
          <a:ln w="12700">
            <a:solidFill>
              <a:srgbClr val="D978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AHL</a:t>
            </a:r>
          </a:p>
        </p:txBody>
      </p:sp>
      <p:sp>
        <p:nvSpPr>
          <p:cNvPr id="40" name="Rounded Rectangle 39"/>
          <p:cNvSpPr/>
          <p:nvPr/>
        </p:nvSpPr>
        <p:spPr>
          <a:xfrm>
            <a:off x="6217920" y="4517136"/>
            <a:ext cx="475488" cy="274320"/>
          </a:xfrm>
          <a:prstGeom prst="roundRect">
            <a:avLst/>
          </a:prstGeom>
          <a:solidFill>
            <a:srgbClr val="2A2224"/>
          </a:solidFill>
          <a:ln w="12700">
            <a:solidFill>
              <a:srgbClr val="D978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AHL</a:t>
            </a:r>
          </a:p>
        </p:txBody>
      </p:sp>
      <p:sp>
        <p:nvSpPr>
          <p:cNvPr id="41" name="Rounded Rectangle 40"/>
          <p:cNvSpPr/>
          <p:nvPr/>
        </p:nvSpPr>
        <p:spPr>
          <a:xfrm>
            <a:off x="6766560" y="4517136"/>
            <a:ext cx="475488" cy="274320"/>
          </a:xfrm>
          <a:prstGeom prst="roundRect">
            <a:avLst/>
          </a:prstGeom>
          <a:solidFill>
            <a:srgbClr val="2A2224"/>
          </a:solidFill>
          <a:ln w="12700">
            <a:solidFill>
              <a:srgbClr val="D978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AHL</a:t>
            </a:r>
          </a:p>
        </p:txBody>
      </p:sp>
      <p:sp>
        <p:nvSpPr>
          <p:cNvPr id="42" name="Rounded Rectangle 41"/>
          <p:cNvSpPr/>
          <p:nvPr/>
        </p:nvSpPr>
        <p:spPr>
          <a:xfrm>
            <a:off x="4572000" y="4919472"/>
            <a:ext cx="475488" cy="347472"/>
          </a:xfrm>
          <a:prstGeom prst="roundRect">
            <a:avLst/>
          </a:prstGeom>
          <a:solidFill>
            <a:srgbClr val="0F141A"/>
          </a:solidFill>
          <a:ln w="12700">
            <a:solidFill>
              <a:srgbClr val="ECEFF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Yr 1</a:t>
            </a:r>
          </a:p>
        </p:txBody>
      </p:sp>
      <p:cxnSp>
        <p:nvCxnSpPr>
          <p:cNvPr id="43" name="Connector 42"/>
          <p:cNvCxnSpPr/>
          <p:nvPr/>
        </p:nvCxnSpPr>
        <p:spPr>
          <a:xfrm>
            <a:off x="4809744" y="4809744"/>
            <a:ext cx="0" cy="91440"/>
          </a:xfrm>
          <a:prstGeom prst="line">
            <a:avLst/>
          </a:prstGeom>
          <a:ln w="1016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120640" y="4919472"/>
            <a:ext cx="475488" cy="347472"/>
          </a:xfrm>
          <a:prstGeom prst="roundRect">
            <a:avLst/>
          </a:prstGeom>
          <a:solidFill>
            <a:srgbClr val="0F141A"/>
          </a:solidFill>
          <a:ln w="12700">
            <a:solidFill>
              <a:srgbClr val="ECEFF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Yr 2</a:t>
            </a:r>
          </a:p>
        </p:txBody>
      </p:sp>
      <p:cxnSp>
        <p:nvCxnSpPr>
          <p:cNvPr id="45" name="Connector 44"/>
          <p:cNvCxnSpPr/>
          <p:nvPr/>
        </p:nvCxnSpPr>
        <p:spPr>
          <a:xfrm>
            <a:off x="5358383" y="4809744"/>
            <a:ext cx="0" cy="91440"/>
          </a:xfrm>
          <a:prstGeom prst="line">
            <a:avLst/>
          </a:prstGeom>
          <a:ln w="1016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5669280" y="4919472"/>
            <a:ext cx="475488" cy="347472"/>
          </a:xfrm>
          <a:prstGeom prst="roundRect">
            <a:avLst/>
          </a:prstGeom>
          <a:solidFill>
            <a:srgbClr val="0F141A"/>
          </a:solidFill>
          <a:ln w="12700">
            <a:solidFill>
              <a:srgbClr val="ECEFF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Yr 3</a:t>
            </a:r>
          </a:p>
        </p:txBody>
      </p:sp>
      <p:cxnSp>
        <p:nvCxnSpPr>
          <p:cNvPr id="47" name="Connector 46"/>
          <p:cNvCxnSpPr/>
          <p:nvPr/>
        </p:nvCxnSpPr>
        <p:spPr>
          <a:xfrm>
            <a:off x="5907024" y="4809744"/>
            <a:ext cx="0" cy="91440"/>
          </a:xfrm>
          <a:prstGeom prst="line">
            <a:avLst/>
          </a:prstGeom>
          <a:ln w="1016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217920" y="4919472"/>
            <a:ext cx="475488" cy="347472"/>
          </a:xfrm>
          <a:prstGeom prst="roundRect">
            <a:avLst/>
          </a:prstGeom>
          <a:solidFill>
            <a:srgbClr val="0F141A"/>
          </a:solidFill>
          <a:ln w="12700">
            <a:solidFill>
              <a:srgbClr val="ECEFF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Yr 4</a:t>
            </a:r>
          </a:p>
        </p:txBody>
      </p:sp>
      <p:cxnSp>
        <p:nvCxnSpPr>
          <p:cNvPr id="49" name="Connector 48"/>
          <p:cNvCxnSpPr/>
          <p:nvPr/>
        </p:nvCxnSpPr>
        <p:spPr>
          <a:xfrm>
            <a:off x="6455664" y="4809744"/>
            <a:ext cx="0" cy="91440"/>
          </a:xfrm>
          <a:prstGeom prst="line">
            <a:avLst/>
          </a:prstGeom>
          <a:ln w="1016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6766560" y="4919472"/>
            <a:ext cx="475488" cy="347472"/>
          </a:xfrm>
          <a:prstGeom prst="roundRect">
            <a:avLst/>
          </a:prstGeom>
          <a:solidFill>
            <a:srgbClr val="0F141A"/>
          </a:solidFill>
          <a:ln w="12700">
            <a:solidFill>
              <a:srgbClr val="ECEFF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Yr 5</a:t>
            </a:r>
          </a:p>
        </p:txBody>
      </p:sp>
      <p:cxnSp>
        <p:nvCxnSpPr>
          <p:cNvPr id="51" name="Connector 50"/>
          <p:cNvCxnSpPr/>
          <p:nvPr/>
        </p:nvCxnSpPr>
        <p:spPr>
          <a:xfrm>
            <a:off x="7004304" y="4809744"/>
            <a:ext cx="0" cy="91440"/>
          </a:xfrm>
          <a:prstGeom prst="line">
            <a:avLst/>
          </a:prstGeom>
          <a:ln w="1016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572000" y="5394960"/>
            <a:ext cx="3291840" cy="274320"/>
          </a:xfrm>
          <a:prstGeom prst="rect">
            <a:avLst/>
          </a:prstGeom>
          <a:noFill/>
        </p:spPr>
        <p:txBody>
          <a:bodyPr wrap="square" anchor="t" lIns="0" rIns="0" tIns="0" bIns="0">
            <a:spAutoFit/>
          </a:bodyPr>
          <a:lstStyle/>
          <a:p>
            <a:pPr algn="ctr">
              <a:lnSpc>
                <a:spcPct val="100000"/>
              </a:lnSpc>
            </a:pPr>
            <a:r>
              <a:rPr sz="1000" b="0" i="0">
                <a:solidFill>
                  <a:srgbClr val="9DA9B5"/>
                </a:solidFill>
                <a:latin typeface="Consolas"/>
              </a:rPr>
              <a:t>Mirai · black box</a:t>
            </a:r>
          </a:p>
        </p:txBody>
      </p:sp>
      <p:sp>
        <p:nvSpPr>
          <p:cNvPr id="53" name="Rounded Rectangle 52"/>
          <p:cNvSpPr/>
          <p:nvPr/>
        </p:nvSpPr>
        <p:spPr>
          <a:xfrm>
            <a:off x="8183879" y="2468880"/>
            <a:ext cx="3154680" cy="2788920"/>
          </a:xfrm>
          <a:prstGeom prst="roundRect">
            <a:avLst/>
          </a:prstGeom>
          <a:solidFill>
            <a:srgbClr val="181B1E"/>
          </a:solidFill>
          <a:ln w="12700">
            <a:solidFill>
              <a:srgbClr val="C9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0" y="2542032"/>
            <a:ext cx="3017520" cy="274320"/>
          </a:xfrm>
          <a:prstGeom prst="rect">
            <a:avLst/>
          </a:prstGeom>
          <a:noFill/>
        </p:spPr>
        <p:txBody>
          <a:bodyPr wrap="square" anchor="t" lIns="0" rIns="0" tIns="0" bIns="0">
            <a:spAutoFit/>
          </a:bodyPr>
          <a:lstStyle/>
          <a:p>
            <a:pPr algn="ctr">
              <a:lnSpc>
                <a:spcPct val="100000"/>
              </a:lnSpc>
            </a:pPr>
            <a:r>
              <a:rPr sz="900" b="0" i="0">
                <a:solidFill>
                  <a:srgbClr val="E7AC51"/>
                </a:solidFill>
                <a:latin typeface="Consolas"/>
              </a:rPr>
              <a:t>ASYMMETRY MODULE — DETAIL</a:t>
            </a:r>
          </a:p>
        </p:txBody>
      </p:sp>
      <p:sp>
        <p:nvSpPr>
          <p:cNvPr id="55" name="Rounded Rectangle 54"/>
          <p:cNvSpPr/>
          <p:nvPr/>
        </p:nvSpPr>
        <p:spPr>
          <a:xfrm>
            <a:off x="9144000" y="2907792"/>
            <a:ext cx="1188720" cy="292608"/>
          </a:xfrm>
          <a:prstGeom prst="roundRect">
            <a:avLst/>
          </a:prstGeom>
          <a:solidFill>
            <a:srgbClr val="262839"/>
          </a:solidFill>
          <a:ln w="12700">
            <a:solidFill>
              <a:srgbClr val="8E7FC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8E7FC0"/>
                </a:solidFill>
                <a:latin typeface="Arial"/>
              </a:rPr>
              <a:t>Split</a:t>
            </a:r>
          </a:p>
        </p:txBody>
      </p:sp>
      <p:sp>
        <p:nvSpPr>
          <p:cNvPr id="56" name="Rounded Rectangle 55"/>
          <p:cNvSpPr/>
          <p:nvPr/>
        </p:nvSpPr>
        <p:spPr>
          <a:xfrm>
            <a:off x="8275320" y="3419856"/>
            <a:ext cx="914400" cy="274320"/>
          </a:xfrm>
          <a:prstGeom prst="roundRect">
            <a:avLst/>
          </a:prstGeom>
          <a:solidFill>
            <a:srgbClr val="2B2922"/>
          </a:solidFill>
          <a:ln w="12700">
            <a:solidFill>
              <a:srgbClr val="E7AC5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Linear</a:t>
            </a:r>
          </a:p>
        </p:txBody>
      </p:sp>
      <p:sp>
        <p:nvSpPr>
          <p:cNvPr id="57" name="Rounded Rectangle 56"/>
          <p:cNvSpPr/>
          <p:nvPr/>
        </p:nvSpPr>
        <p:spPr>
          <a:xfrm>
            <a:off x="9326880" y="3419856"/>
            <a:ext cx="914400" cy="274320"/>
          </a:xfrm>
          <a:prstGeom prst="roundRect">
            <a:avLst/>
          </a:prstGeom>
          <a:solidFill>
            <a:srgbClr val="2B2922"/>
          </a:solidFill>
          <a:ln w="12700">
            <a:solidFill>
              <a:srgbClr val="E7AC5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Linear</a:t>
            </a:r>
          </a:p>
        </p:txBody>
      </p:sp>
      <p:sp>
        <p:nvSpPr>
          <p:cNvPr id="58" name="Rounded Rectangle 57"/>
          <p:cNvSpPr/>
          <p:nvPr/>
        </p:nvSpPr>
        <p:spPr>
          <a:xfrm>
            <a:off x="10378440" y="3419856"/>
            <a:ext cx="914400" cy="274320"/>
          </a:xfrm>
          <a:prstGeom prst="roundRect">
            <a:avLst/>
          </a:prstGeom>
          <a:solidFill>
            <a:srgbClr val="2B2922"/>
          </a:solidFill>
          <a:ln w="12700">
            <a:solidFill>
              <a:srgbClr val="E7AC5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850" b="0" i="0">
                <a:solidFill>
                  <a:srgbClr val="ECEFF3"/>
                </a:solidFill>
                <a:latin typeface="Arial"/>
              </a:rPr>
              <a:t>Linear</a:t>
            </a:r>
          </a:p>
        </p:txBody>
      </p:sp>
      <p:sp>
        <p:nvSpPr>
          <p:cNvPr id="59" name="Rounded Rectangle 58"/>
          <p:cNvSpPr/>
          <p:nvPr/>
        </p:nvSpPr>
        <p:spPr>
          <a:xfrm>
            <a:off x="8275320" y="3931920"/>
            <a:ext cx="3017520" cy="292608"/>
          </a:xfrm>
          <a:prstGeom prst="roundRect">
            <a:avLst/>
          </a:prstGeom>
          <a:solidFill>
            <a:srgbClr val="363125"/>
          </a:solidFill>
          <a:ln w="12700">
            <a:solidFill>
              <a:srgbClr val="E7AC5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50" b="0" i="0">
                <a:solidFill>
                  <a:srgbClr val="ECEFF3"/>
                </a:solidFill>
                <a:latin typeface="Arial"/>
              </a:rPr>
              <a:t>Attention</a:t>
            </a:r>
          </a:p>
        </p:txBody>
      </p:sp>
      <p:sp>
        <p:nvSpPr>
          <p:cNvPr id="60" name="Rounded Rectangle 59"/>
          <p:cNvSpPr/>
          <p:nvPr/>
        </p:nvSpPr>
        <p:spPr>
          <a:xfrm>
            <a:off x="9144000" y="4443984"/>
            <a:ext cx="1188720" cy="292608"/>
          </a:xfrm>
          <a:prstGeom prst="roundRect">
            <a:avLst/>
          </a:prstGeom>
          <a:solidFill>
            <a:srgbClr val="342727"/>
          </a:solidFill>
          <a:ln w="12700">
            <a:solidFill>
              <a:srgbClr val="D978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pPr>
            <a:r>
              <a:rPr sz="900" b="0" i="0">
                <a:solidFill>
                  <a:srgbClr val="ECEFF3"/>
                </a:solidFill>
                <a:latin typeface="Arial"/>
              </a:rPr>
              <a:t>Linear</a:t>
            </a:r>
          </a:p>
        </p:txBody>
      </p:sp>
      <p:cxnSp>
        <p:nvCxnSpPr>
          <p:cNvPr id="61" name="Connector 60"/>
          <p:cNvCxnSpPr/>
          <p:nvPr/>
        </p:nvCxnSpPr>
        <p:spPr>
          <a:xfrm>
            <a:off x="9738360" y="4224528"/>
            <a:ext cx="0" cy="201168"/>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738360" y="3200400"/>
            <a:ext cx="0" cy="201168"/>
          </a:xfrm>
          <a:prstGeom prst="line">
            <a:avLst/>
          </a:prstGeom>
          <a:ln w="12700">
            <a:solidFill>
              <a:srgbClr val="5C69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77240" y="5715000"/>
            <a:ext cx="10607040" cy="822960"/>
          </a:xfrm>
          <a:prstGeom prst="rect">
            <a:avLst/>
          </a:prstGeom>
          <a:noFill/>
        </p:spPr>
        <p:txBody>
          <a:bodyPr wrap="square" anchor="t" lIns="0" rIns="0" tIns="0" bIns="0">
            <a:spAutoFit/>
          </a:bodyPr>
          <a:lstStyle/>
          <a:p>
            <a:pPr algn="l">
              <a:lnSpc>
                <a:spcPct val="130000"/>
              </a:lnSpc>
            </a:pPr>
            <a:r>
              <a:rPr sz="950" b="0" i="0">
                <a:solidFill>
                  <a:srgbClr val="5C6975"/>
                </a:solidFill>
                <a:latin typeface="Consolas"/>
              </a:rPr>
              <a:t>Redrawn in-theme from Donnelly et al., “AsymMirai,” Radiology 2024;310(3):e232780. </a:t>
            </a:r>
            <a:r>
              <a:rPr sz="950" b="0" i="0">
                <a:solidFill>
                  <a:srgbClr val="5FB7C9"/>
                </a:solidFill>
                <a:latin typeface="Consolas"/>
              </a:rPr>
              <a:t>Interpretable AsymMirai 1-yr AUC 0.79 vs Mirai 0.84; 3-yr AUC 0.92 in stable tissue — a signal you can point 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THE SIGNAL BUILDS EARLY</a:t>
            </a:r>
          </a:p>
        </p:txBody>
      </p:sp>
      <p:sp>
        <p:nvSpPr>
          <p:cNvPr id="4" name="TextBox 3"/>
          <p:cNvSpPr txBox="1"/>
          <p:nvPr/>
        </p:nvSpPr>
        <p:spPr>
          <a:xfrm>
            <a:off x="777240" y="960120"/>
            <a:ext cx="10607040" cy="640080"/>
          </a:xfrm>
          <a:prstGeom prst="rect">
            <a:avLst/>
          </a:prstGeom>
          <a:noFill/>
        </p:spPr>
        <p:txBody>
          <a:bodyPr wrap="square" anchor="t" lIns="0" rIns="0" tIns="0" bIns="0">
            <a:spAutoFit/>
          </a:bodyPr>
          <a:lstStyle/>
          <a:p>
            <a:pPr algn="l">
              <a:lnSpc>
                <a:spcPct val="110000"/>
              </a:lnSpc>
            </a:pPr>
            <a:r>
              <a:rPr sz="2200" b="1" i="0">
                <a:solidFill>
                  <a:srgbClr val="ECEFF3"/>
                </a:solidFill>
                <a:latin typeface="Arial"/>
              </a:rPr>
              <a:t>The asymmetry was present </a:t>
            </a:r>
            <a:r>
              <a:rPr sz="2200" b="1" i="0">
                <a:solidFill>
                  <a:srgbClr val="E7AC51"/>
                </a:solidFill>
                <a:latin typeface="Arial"/>
              </a:rPr>
              <a:t>years before</a:t>
            </a:r>
            <a:r>
              <a:rPr sz="2200" b="1" i="0">
                <a:solidFill>
                  <a:srgbClr val="ECEFF3"/>
                </a:solidFill>
                <a:latin typeface="Arial"/>
              </a:rPr>
              <a:t> the diagnosis.</a:t>
            </a:r>
          </a:p>
        </p:txBody>
      </p:sp>
      <p:sp>
        <p:nvSpPr>
          <p:cNvPr id="5" name="TextBox 4"/>
          <p:cNvSpPr txBox="1"/>
          <p:nvPr/>
        </p:nvSpPr>
        <p:spPr>
          <a:xfrm>
            <a:off x="777240" y="1691640"/>
            <a:ext cx="10607040" cy="685800"/>
          </a:xfrm>
          <a:prstGeom prst="rect">
            <a:avLst/>
          </a:prstGeom>
          <a:noFill/>
        </p:spPr>
        <p:txBody>
          <a:bodyPr wrap="square" anchor="t" lIns="0" rIns="0" tIns="0" bIns="0">
            <a:spAutoFit/>
          </a:bodyPr>
          <a:lstStyle/>
          <a:p>
            <a:pPr algn="l">
              <a:lnSpc>
                <a:spcPct val="130000"/>
              </a:lnSpc>
            </a:pPr>
            <a:r>
              <a:rPr sz="1250" b="0" i="0">
                <a:solidFill>
                  <a:srgbClr val="9DA9B5"/>
                </a:solidFill>
                <a:latin typeface="Arial"/>
              </a:rPr>
              <a:t>One patient, left MLO, same region across three screening rounds. The model's attention localizes to a growing asymmetry the readers reasonably called normal — and that is where the cancer arose.</a:t>
            </a:r>
          </a:p>
        </p:txBody>
      </p:sp>
      <p:sp>
        <p:nvSpPr>
          <p:cNvPr id="6" name="Rounded Rectangle 5"/>
          <p:cNvSpPr/>
          <p:nvPr/>
        </p:nvSpPr>
        <p:spPr>
          <a:xfrm>
            <a:off x="777240" y="2514600"/>
            <a:ext cx="6675120" cy="3108960"/>
          </a:xfrm>
          <a:prstGeom prst="roundRect">
            <a:avLst/>
          </a:prstGeom>
          <a:solidFill>
            <a:srgbClr val="0B1116"/>
          </a:solidFill>
          <a:ln w="12700">
            <a:solidFill>
              <a:srgbClr val="E7AC5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00000"/>
              </a:lnSpc>
            </a:pPr>
            <a:r>
              <a:rPr sz="3000" b="0" i="0">
                <a:solidFill>
                  <a:srgbClr val="E7AC51"/>
                </a:solidFill>
                <a:latin typeface="Consolas"/>
              </a:rPr>
              <a:t>▢</a:t>
            </a:r>
          </a:p>
          <a:p>
            <a:pPr algn="ctr">
              <a:lnSpc>
                <a:spcPct val="100000"/>
              </a:lnSpc>
              <a:spcBef>
                <a:spcPts val="600"/>
              </a:spcBef>
            </a:pPr>
            <a:r>
              <a:rPr sz="1200" b="0" i="0">
                <a:solidFill>
                  <a:srgbClr val="ECEFF3"/>
                </a:solidFill>
                <a:latin typeface="Consolas"/>
              </a:rPr>
              <a:t>LONGITUDINAL CASE — 2014 / 2015 / 2017</a:t>
            </a:r>
          </a:p>
          <a:p>
            <a:pPr algn="ctr">
              <a:lnSpc>
                <a:spcPct val="140000"/>
              </a:lnSpc>
              <a:spcBef>
                <a:spcPts val="600"/>
              </a:spcBef>
            </a:pPr>
            <a:r>
              <a:rPr sz="1000" b="0" i="0">
                <a:solidFill>
                  <a:srgbClr val="5C6975"/>
                </a:solidFill>
                <a:latin typeface="Consolas"/>
              </a:rPr>
              <a:t>drop the triptych here (L MLO, age 69 → 17 mo → 21 mo; red box on the localized asymmetry that became cancer)</a:t>
            </a:r>
          </a:p>
        </p:txBody>
      </p:sp>
      <p:sp>
        <p:nvSpPr>
          <p:cNvPr id="7" name="TextBox 6"/>
          <p:cNvSpPr txBox="1"/>
          <p:nvPr/>
        </p:nvSpPr>
        <p:spPr>
          <a:xfrm>
            <a:off x="777240" y="5669280"/>
            <a:ext cx="6675120" cy="548640"/>
          </a:xfrm>
          <a:prstGeom prst="rect">
            <a:avLst/>
          </a:prstGeom>
          <a:noFill/>
        </p:spPr>
        <p:txBody>
          <a:bodyPr wrap="square" anchor="t" lIns="0" rIns="0" tIns="0" bIns="0">
            <a:spAutoFit/>
          </a:bodyPr>
          <a:lstStyle/>
          <a:p>
            <a:pPr algn="l">
              <a:lnSpc>
                <a:spcPct val="130000"/>
              </a:lnSpc>
            </a:pPr>
            <a:r>
              <a:rPr sz="900" b="0" i="0">
                <a:solidFill>
                  <a:srgbClr val="5C6975"/>
                </a:solidFill>
                <a:latin typeface="Consolas"/>
              </a:rPr>
              <a:t>Source: Donnelly et al., “AsymMirai,” Radiology 2024;310(3):e232780 · pubs.rsna.org/doi/10.1148/radiol.232780</a:t>
            </a:r>
          </a:p>
        </p:txBody>
      </p:sp>
      <p:sp>
        <p:nvSpPr>
          <p:cNvPr id="8" name="Rectangle 7"/>
          <p:cNvSpPr/>
          <p:nvPr/>
        </p:nvSpPr>
        <p:spPr>
          <a:xfrm>
            <a:off x="7818120" y="2606040"/>
            <a:ext cx="12700" cy="2743200"/>
          </a:xfrm>
          <a:prstGeom prst="rect">
            <a:avLst/>
          </a:prstGeom>
          <a:solidFill>
            <a:srgbClr val="2A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2834640"/>
            <a:ext cx="3383280" cy="1188720"/>
          </a:xfrm>
          <a:prstGeom prst="rect">
            <a:avLst/>
          </a:prstGeom>
          <a:noFill/>
        </p:spPr>
        <p:txBody>
          <a:bodyPr wrap="square" anchor="t" lIns="0" rIns="0" tIns="0" bIns="0">
            <a:spAutoFit/>
          </a:bodyPr>
          <a:lstStyle/>
          <a:p>
            <a:pPr algn="l">
              <a:lnSpc>
                <a:spcPct val="130000"/>
              </a:lnSpc>
            </a:pPr>
            <a:r>
              <a:rPr sz="1500" b="1" i="0">
                <a:solidFill>
                  <a:srgbClr val="ECEFF3"/>
                </a:solidFill>
                <a:latin typeface="Arial"/>
              </a:rPr>
              <a:t>Risk is a trajectory, not a snapshot.</a:t>
            </a:r>
          </a:p>
          <a:p>
            <a:pPr algn="l">
              <a:lnSpc>
                <a:spcPct val="135000"/>
              </a:lnSpc>
              <a:spcBef>
                <a:spcPts val="400"/>
              </a:spcBef>
            </a:pPr>
            <a:r>
              <a:rPr sz="1200" b="0" i="0">
                <a:solidFill>
                  <a:srgbClr val="9DA9B5"/>
                </a:solidFill>
                <a:latin typeface="Arial"/>
              </a:rPr>
              <a:t>The score was rising </a:t>
            </a:r>
            <a:r>
              <a:rPr sz="1200" b="1" i="0">
                <a:solidFill>
                  <a:srgbClr val="5FB7C9"/>
                </a:solidFill>
                <a:latin typeface="Arial"/>
              </a:rPr>
              <a:t>for years</a:t>
            </a:r>
            <a:r>
              <a:rPr sz="1200" b="0" i="0">
                <a:solidFill>
                  <a:srgbClr val="9DA9B5"/>
                </a:solidFill>
                <a:latin typeface="Arial"/>
              </a:rPr>
              <a:t> before the diagnosis.</a:t>
            </a:r>
          </a:p>
        </p:txBody>
      </p:sp>
      <p:sp>
        <p:nvSpPr>
          <p:cNvPr id="10" name="TextBox 9"/>
          <p:cNvSpPr txBox="1"/>
          <p:nvPr/>
        </p:nvSpPr>
        <p:spPr>
          <a:xfrm>
            <a:off x="8046720" y="4297680"/>
            <a:ext cx="3383280" cy="1280160"/>
          </a:xfrm>
          <a:prstGeom prst="rect">
            <a:avLst/>
          </a:prstGeom>
          <a:noFill/>
        </p:spPr>
        <p:txBody>
          <a:bodyPr wrap="square" anchor="t" lIns="0" rIns="0" tIns="0" bIns="0">
            <a:spAutoFit/>
          </a:bodyPr>
          <a:lstStyle/>
          <a:p>
            <a:pPr algn="l">
              <a:lnSpc>
                <a:spcPct val="130000"/>
              </a:lnSpc>
            </a:pPr>
            <a:r>
              <a:rPr sz="1500" b="1" i="0">
                <a:solidFill>
                  <a:srgbClr val="ECEFF3"/>
                </a:solidFill>
                <a:latin typeface="Arial"/>
              </a:rPr>
              <a:t>Same phenomenon as detection.</a:t>
            </a:r>
          </a:p>
          <a:p>
            <a:pPr algn="l">
              <a:lnSpc>
                <a:spcPct val="135000"/>
              </a:lnSpc>
              <a:spcBef>
                <a:spcPts val="400"/>
              </a:spcBef>
            </a:pPr>
            <a:r>
              <a:rPr sz="1200" b="0" i="0">
                <a:solidFill>
                  <a:srgbClr val="9DA9B5"/>
                </a:solidFill>
                <a:latin typeface="Arial"/>
              </a:rPr>
              <a:t>Hickman (§2): detection scores also climb across a decade </a:t>
            </a:r>
            <a:r>
              <a:rPr sz="1200" b="1" i="0">
                <a:solidFill>
                  <a:srgbClr val="5FB7C9"/>
                </a:solidFill>
                <a:latin typeface="Arial"/>
              </a:rPr>
              <a:t>before</a:t>
            </a:r>
            <a:r>
              <a:rPr sz="1200" b="0" i="0">
                <a:solidFill>
                  <a:srgbClr val="9DA9B5"/>
                </a:solidFill>
                <a:latin typeface="Arial"/>
              </a:rPr>
              <a:t> we call it cancer.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THE TRAP IN A GOOD AUC</a:t>
            </a:r>
          </a:p>
        </p:txBody>
      </p:sp>
      <p:sp>
        <p:nvSpPr>
          <p:cNvPr id="4" name="TextBox 3"/>
          <p:cNvSpPr txBox="1"/>
          <p:nvPr/>
        </p:nvSpPr>
        <p:spPr>
          <a:xfrm>
            <a:off x="777240" y="1051560"/>
            <a:ext cx="10607040" cy="914400"/>
          </a:xfrm>
          <a:prstGeom prst="rect">
            <a:avLst/>
          </a:prstGeom>
          <a:noFill/>
        </p:spPr>
        <p:txBody>
          <a:bodyPr wrap="square" anchor="t" lIns="0" rIns="0" tIns="0" bIns="0">
            <a:spAutoFit/>
          </a:bodyPr>
          <a:lstStyle/>
          <a:p>
            <a:pPr algn="l">
              <a:lnSpc>
                <a:spcPct val="110000"/>
              </a:lnSpc>
            </a:pPr>
            <a:r>
              <a:rPr sz="2800" b="1" i="0">
                <a:solidFill>
                  <a:srgbClr val="ECEFF3"/>
                </a:solidFill>
                <a:latin typeface="Arial"/>
              </a:rPr>
              <a:t>A population AUC is not an </a:t>
            </a:r>
            <a:r>
              <a:rPr sz="2800" b="1" i="0">
                <a:solidFill>
                  <a:srgbClr val="E7AC51"/>
                </a:solidFill>
                <a:latin typeface="Arial"/>
              </a:rPr>
              <a:t>individual</a:t>
            </a:r>
            <a:r>
              <a:rPr sz="2800" b="1" i="0">
                <a:solidFill>
                  <a:srgbClr val="ECEFF3"/>
                </a:solidFill>
                <a:latin typeface="Arial"/>
              </a:rPr>
              <a:t> prediction.</a:t>
            </a:r>
          </a:p>
        </p:txBody>
      </p:sp>
      <p:sp>
        <p:nvSpPr>
          <p:cNvPr id="5" name="TextBox 4"/>
          <p:cNvSpPr txBox="1"/>
          <p:nvPr/>
        </p:nvSpPr>
        <p:spPr>
          <a:xfrm>
            <a:off x="777240" y="2148840"/>
            <a:ext cx="10607040" cy="1097280"/>
          </a:xfrm>
          <a:prstGeom prst="rect">
            <a:avLst/>
          </a:prstGeom>
          <a:noFill/>
        </p:spPr>
        <p:txBody>
          <a:bodyPr wrap="square" anchor="t" lIns="0" rIns="0" tIns="0" bIns="0">
            <a:spAutoFit/>
          </a:bodyPr>
          <a:lstStyle/>
          <a:p>
            <a:pPr algn="l">
              <a:lnSpc>
                <a:spcPct val="140000"/>
              </a:lnSpc>
            </a:pPr>
            <a:r>
              <a:rPr sz="1500" b="1" i="0">
                <a:solidFill>
                  <a:srgbClr val="ECEFF3"/>
                </a:solidFill>
                <a:latin typeface="Arial"/>
              </a:rPr>
              <a:t>Discrimination ≠ calibration. </a:t>
            </a:r>
            <a:r>
              <a:rPr sz="1500" b="0" i="0">
                <a:solidFill>
                  <a:srgbClr val="9DA9B5"/>
                </a:solidFill>
                <a:latin typeface="Arial"/>
              </a:rPr>
              <a:t>An AUC measures how well a model ranks a million women. Whether a predicted “8% risk” actually means 8% — calibration — is a separate property, less often reported, and it is the one that governs </a:t>
            </a:r>
            <a:r>
              <a:rPr sz="1500" b="0" i="1">
                <a:solidFill>
                  <a:srgbClr val="9DA9B5"/>
                </a:solidFill>
                <a:latin typeface="Arial"/>
              </a:rPr>
              <a:t>her</a:t>
            </a:r>
            <a:r>
              <a:rPr sz="1500" b="0" i="0">
                <a:solidFill>
                  <a:srgbClr val="9DA9B5"/>
                </a:solidFill>
                <a:latin typeface="Arial"/>
              </a:rPr>
              <a:t> decision.</a:t>
            </a:r>
          </a:p>
        </p:txBody>
      </p:sp>
      <p:sp>
        <p:nvSpPr>
          <p:cNvPr id="6" name="Rounded Rectangle 5"/>
          <p:cNvSpPr/>
          <p:nvPr/>
        </p:nvSpPr>
        <p:spPr>
          <a:xfrm>
            <a:off x="777240" y="3383280"/>
            <a:ext cx="338328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~28%</a:t>
            </a:r>
            <a:r>
              <a:rPr sz="1050" b="0" i="0">
                <a:solidFill>
                  <a:srgbClr val="ECEFF3"/>
                </a:solidFill>
                <a:latin typeface="Consolas"/>
              </a:rPr>
              <a:t> of future cancers in the AI top decile</a:t>
            </a:r>
          </a:p>
        </p:txBody>
      </p:sp>
      <p:sp>
        <p:nvSpPr>
          <p:cNvPr id="7" name="Rounded Rectangle 6"/>
          <p:cNvSpPr/>
          <p:nvPr/>
        </p:nvSpPr>
        <p:spPr>
          <a:xfrm>
            <a:off x="4297680" y="3383280"/>
            <a:ext cx="338328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~21%</a:t>
            </a:r>
            <a:r>
              <a:rPr sz="1050" b="0" i="0">
                <a:solidFill>
                  <a:srgbClr val="ECEFF3"/>
                </a:solidFill>
                <a:latin typeface="Consolas"/>
              </a:rPr>
              <a:t> in the clinical-model top decile</a:t>
            </a:r>
          </a:p>
        </p:txBody>
      </p:sp>
      <p:sp>
        <p:nvSpPr>
          <p:cNvPr id="8" name="Rounded Rectangle 7"/>
          <p:cNvSpPr/>
          <p:nvPr/>
        </p:nvSpPr>
        <p:spPr>
          <a:xfrm>
            <a:off x="7818120" y="3383280"/>
            <a:ext cx="361188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the two high-risk groups </a:t>
            </a:r>
            <a:r>
              <a:rPr sz="1050" b="1" i="0">
                <a:solidFill>
                  <a:srgbClr val="5FB7C9"/>
                </a:solidFill>
                <a:latin typeface="Consolas"/>
              </a:rPr>
              <a:t>overlap only partially</a:t>
            </a:r>
          </a:p>
        </p:txBody>
      </p:sp>
      <p:sp>
        <p:nvSpPr>
          <p:cNvPr id="9" name="TextBox 8"/>
          <p:cNvSpPr txBox="1"/>
          <p:nvPr/>
        </p:nvSpPr>
        <p:spPr>
          <a:xfrm>
            <a:off x="777240" y="4251960"/>
            <a:ext cx="10607040" cy="731520"/>
          </a:xfrm>
          <a:prstGeom prst="rect">
            <a:avLst/>
          </a:prstGeom>
          <a:noFill/>
        </p:spPr>
        <p:txBody>
          <a:bodyPr wrap="square" anchor="t" lIns="0" rIns="0" tIns="0" bIns="0">
            <a:spAutoFit/>
          </a:bodyPr>
          <a:lstStyle/>
          <a:p>
            <a:pPr algn="l">
              <a:lnSpc>
                <a:spcPct val="135000"/>
              </a:lnSpc>
            </a:pPr>
            <a:r>
              <a:rPr sz="1500" b="0" i="0">
                <a:solidFill>
                  <a:srgbClr val="9DA9B5"/>
                </a:solidFill>
                <a:latin typeface="Arial"/>
              </a:rPr>
              <a:t>The image model and the clinical model flag </a:t>
            </a:r>
            <a:r>
              <a:rPr sz="1500" b="1" i="0">
                <a:solidFill>
                  <a:srgbClr val="ECEFF3"/>
                </a:solidFill>
                <a:latin typeface="Arial"/>
              </a:rPr>
              <a:t>different women</a:t>
            </a:r>
            <a:r>
              <a:rPr sz="1500" b="0" i="0">
                <a:solidFill>
                  <a:srgbClr val="9DA9B5"/>
                </a:solidFill>
                <a:latin typeface="Arial"/>
              </a:rPr>
              <a:t>. That disagreement — not the average AUC — is the decision in front of you.</a:t>
            </a:r>
          </a:p>
        </p:txBody>
      </p:sp>
      <p:sp>
        <p:nvSpPr>
          <p:cNvPr id="10" name="TextBox 9"/>
          <p:cNvSpPr txBox="1"/>
          <p:nvPr/>
        </p:nvSpPr>
        <p:spPr>
          <a:xfrm>
            <a:off x="777240" y="516636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Arasu et al., Radiology 2023;307(5):e222733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THE CLINICALLY RELEVANT VIEW</a:t>
            </a:r>
          </a:p>
        </p:txBody>
      </p:sp>
      <p:sp>
        <p:nvSpPr>
          <p:cNvPr id="4" name="TextBox 3"/>
          <p:cNvSpPr txBox="1"/>
          <p:nvPr/>
        </p:nvSpPr>
        <p:spPr>
          <a:xfrm>
            <a:off x="777240" y="1005840"/>
            <a:ext cx="10607040" cy="822960"/>
          </a:xfrm>
          <a:prstGeom prst="rect">
            <a:avLst/>
          </a:prstGeom>
          <a:noFill/>
        </p:spPr>
        <p:txBody>
          <a:bodyPr wrap="square" anchor="t" lIns="0" rIns="0" tIns="0" bIns="0">
            <a:spAutoFit/>
          </a:bodyPr>
          <a:lstStyle/>
          <a:p>
            <a:pPr algn="l">
              <a:lnSpc>
                <a:spcPct val="110000"/>
              </a:lnSpc>
            </a:pPr>
            <a:r>
              <a:rPr sz="2400" b="1" i="0">
                <a:solidFill>
                  <a:srgbClr val="ECEFF3"/>
                </a:solidFill>
                <a:latin typeface="Arial"/>
              </a:rPr>
              <a:t>Image-based and clinical risk models often flag </a:t>
            </a:r>
            <a:r>
              <a:rPr sz="2400" b="1" i="0">
                <a:solidFill>
                  <a:srgbClr val="E7AC51"/>
                </a:solidFill>
                <a:latin typeface="Arial"/>
              </a:rPr>
              <a:t>different women.</a:t>
            </a:r>
          </a:p>
        </p:txBody>
      </p:sp>
      <p:sp>
        <p:nvSpPr>
          <p:cNvPr id="5" name="TextBox 4"/>
          <p:cNvSpPr txBox="1"/>
          <p:nvPr/>
        </p:nvSpPr>
        <p:spPr>
          <a:xfrm>
            <a:off x="3108960" y="1965960"/>
            <a:ext cx="3657600" cy="320040"/>
          </a:xfrm>
          <a:prstGeom prst="rect">
            <a:avLst/>
          </a:prstGeom>
          <a:noFill/>
        </p:spPr>
        <p:txBody>
          <a:bodyPr wrap="square" anchor="t" lIns="0" rIns="0" tIns="0" bIns="0">
            <a:spAutoFit/>
          </a:bodyPr>
          <a:lstStyle/>
          <a:p>
            <a:pPr algn="ctr">
              <a:lnSpc>
                <a:spcPct val="100000"/>
              </a:lnSpc>
            </a:pPr>
            <a:r>
              <a:rPr sz="1000" b="0" i="0">
                <a:solidFill>
                  <a:srgbClr val="5C6975"/>
                </a:solidFill>
                <a:latin typeface="Consolas"/>
              </a:rPr>
              <a:t>Image model · LOW</a:t>
            </a:r>
          </a:p>
        </p:txBody>
      </p:sp>
      <p:sp>
        <p:nvSpPr>
          <p:cNvPr id="6" name="TextBox 5"/>
          <p:cNvSpPr txBox="1"/>
          <p:nvPr/>
        </p:nvSpPr>
        <p:spPr>
          <a:xfrm>
            <a:off x="7315200" y="1965960"/>
            <a:ext cx="3657600" cy="320040"/>
          </a:xfrm>
          <a:prstGeom prst="rect">
            <a:avLst/>
          </a:prstGeom>
          <a:noFill/>
        </p:spPr>
        <p:txBody>
          <a:bodyPr wrap="square" anchor="t" lIns="0" rIns="0" tIns="0" bIns="0">
            <a:spAutoFit/>
          </a:bodyPr>
          <a:lstStyle/>
          <a:p>
            <a:pPr algn="ctr">
              <a:lnSpc>
                <a:spcPct val="100000"/>
              </a:lnSpc>
            </a:pPr>
            <a:r>
              <a:rPr sz="1000" b="0" i="0">
                <a:solidFill>
                  <a:srgbClr val="5C6975"/>
                </a:solidFill>
                <a:latin typeface="Consolas"/>
              </a:rPr>
              <a:t>Image model · HIGH</a:t>
            </a:r>
          </a:p>
        </p:txBody>
      </p:sp>
      <p:sp>
        <p:nvSpPr>
          <p:cNvPr id="7" name="TextBox 6"/>
          <p:cNvSpPr txBox="1"/>
          <p:nvPr/>
        </p:nvSpPr>
        <p:spPr>
          <a:xfrm>
            <a:off x="777240" y="3154680"/>
            <a:ext cx="2194560" cy="32004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Classical · HIGH</a:t>
            </a:r>
          </a:p>
        </p:txBody>
      </p:sp>
      <p:sp>
        <p:nvSpPr>
          <p:cNvPr id="8" name="TextBox 7"/>
          <p:cNvSpPr txBox="1"/>
          <p:nvPr/>
        </p:nvSpPr>
        <p:spPr>
          <a:xfrm>
            <a:off x="777240" y="5074920"/>
            <a:ext cx="2194560" cy="32004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Classical · LOW</a:t>
            </a:r>
          </a:p>
        </p:txBody>
      </p:sp>
      <p:sp>
        <p:nvSpPr>
          <p:cNvPr id="9" name="Rounded Rectangle 8"/>
          <p:cNvSpPr/>
          <p:nvPr/>
        </p:nvSpPr>
        <p:spPr>
          <a:xfrm>
            <a:off x="3108960" y="2377440"/>
            <a:ext cx="3840480" cy="1783080"/>
          </a:xfrm>
          <a:prstGeom prst="roundRect">
            <a:avLst/>
          </a:prstGeom>
          <a:solidFill>
            <a:srgbClr val="1B232D"/>
          </a:solidFill>
          <a:ln w="19050">
            <a:solidFill>
              <a:srgbClr val="D9785B"/>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l">
              <a:lnSpc>
                <a:spcPct val="100000"/>
              </a:lnSpc>
            </a:pPr>
            <a:r>
              <a:rPr sz="900" b="0" i="0">
                <a:solidFill>
                  <a:srgbClr val="D9785B"/>
                </a:solidFill>
                <a:latin typeface="Consolas"/>
              </a:rPr>
              <a:t>⚠ discordant</a:t>
            </a:r>
          </a:p>
          <a:p>
            <a:pPr algn="l">
              <a:lnSpc>
                <a:spcPct val="110000"/>
              </a:lnSpc>
              <a:spcBef>
                <a:spcPts val="400"/>
              </a:spcBef>
            </a:pPr>
            <a:r>
              <a:rPr sz="1300" b="1" i="0">
                <a:solidFill>
                  <a:srgbClr val="ECEFF3"/>
                </a:solidFill>
                <a:latin typeface="Arial"/>
              </a:rPr>
              <a:t>Germline risk, quiet image</a:t>
            </a:r>
          </a:p>
          <a:p>
            <a:pPr algn="l">
              <a:lnSpc>
                <a:spcPct val="125000"/>
              </a:lnSpc>
              <a:spcBef>
                <a:spcPts val="400"/>
              </a:spcBef>
            </a:pPr>
            <a:r>
              <a:rPr sz="1050" b="0" i="0">
                <a:solidFill>
                  <a:srgbClr val="9DA9B5"/>
                </a:solidFill>
                <a:latin typeface="Arial"/>
              </a:rPr>
              <a:t>BRCA / strong family history, low image score. The image was not trained on inherited risk — do </a:t>
            </a:r>
            <a:r>
              <a:rPr sz="1050" b="1" i="0">
                <a:solidFill>
                  <a:srgbClr val="ECEFF3"/>
                </a:solidFill>
                <a:latin typeface="Arial"/>
              </a:rPr>
              <a:t>not</a:t>
            </a:r>
            <a:r>
              <a:rPr sz="1050" b="0" i="0">
                <a:solidFill>
                  <a:srgbClr val="9DA9B5"/>
                </a:solidFill>
                <a:latin typeface="Arial"/>
              </a:rPr>
              <a:t> de-escalate. Highest-stakes error.</a:t>
            </a:r>
          </a:p>
        </p:txBody>
      </p:sp>
      <p:sp>
        <p:nvSpPr>
          <p:cNvPr id="10" name="Rounded Rectangle 9"/>
          <p:cNvSpPr/>
          <p:nvPr/>
        </p:nvSpPr>
        <p:spPr>
          <a:xfrm>
            <a:off x="7086600" y="2377440"/>
            <a:ext cx="3840480" cy="1783080"/>
          </a:xfrm>
          <a:prstGeom prst="roundRect">
            <a:avLst/>
          </a:prstGeom>
          <a:solidFill>
            <a:srgbClr val="1B232D"/>
          </a:solidFill>
          <a:ln w="1905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l">
              <a:lnSpc>
                <a:spcPct val="100000"/>
              </a:lnSpc>
            </a:pPr>
            <a:r>
              <a:rPr sz="900" b="0" i="0">
                <a:solidFill>
                  <a:srgbClr val="5FB7C9"/>
                </a:solidFill>
                <a:latin typeface="Consolas"/>
              </a:rPr>
              <a:t>✓ concordant high</a:t>
            </a:r>
          </a:p>
          <a:p>
            <a:pPr algn="l">
              <a:lnSpc>
                <a:spcPct val="110000"/>
              </a:lnSpc>
              <a:spcBef>
                <a:spcPts val="400"/>
              </a:spcBef>
            </a:pPr>
            <a:r>
              <a:rPr sz="1300" b="1" i="0">
                <a:solidFill>
                  <a:srgbClr val="ECEFF3"/>
                </a:solidFill>
                <a:latin typeface="Arial"/>
              </a:rPr>
              <a:t>Escalate</a:t>
            </a:r>
          </a:p>
          <a:p>
            <a:pPr algn="l">
              <a:lnSpc>
                <a:spcPct val="125000"/>
              </a:lnSpc>
              <a:spcBef>
                <a:spcPts val="400"/>
              </a:spcBef>
            </a:pPr>
            <a:r>
              <a:rPr sz="1050" b="0" i="0">
                <a:solidFill>
                  <a:srgbClr val="9DA9B5"/>
                </a:solidFill>
                <a:latin typeface="Arial"/>
              </a:rPr>
              <a:t>Supplemental MRI, short interval. Both axes agree.</a:t>
            </a:r>
          </a:p>
        </p:txBody>
      </p:sp>
      <p:sp>
        <p:nvSpPr>
          <p:cNvPr id="11" name="Rounded Rectangle 10"/>
          <p:cNvSpPr/>
          <p:nvPr/>
        </p:nvSpPr>
        <p:spPr>
          <a:xfrm>
            <a:off x="3108960" y="4251960"/>
            <a:ext cx="3840480" cy="1783080"/>
          </a:xfrm>
          <a:prstGeom prst="roundRect">
            <a:avLst/>
          </a:prstGeom>
          <a:solidFill>
            <a:srgbClr val="1B232D"/>
          </a:solidFill>
          <a:ln w="1905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l">
              <a:lnSpc>
                <a:spcPct val="100000"/>
              </a:lnSpc>
            </a:pPr>
            <a:r>
              <a:rPr sz="900" b="0" i="0">
                <a:solidFill>
                  <a:srgbClr val="5FB7C9"/>
                </a:solidFill>
                <a:latin typeface="Consolas"/>
              </a:rPr>
              <a:t>✓ concordant low</a:t>
            </a:r>
          </a:p>
          <a:p>
            <a:pPr algn="l">
              <a:lnSpc>
                <a:spcPct val="110000"/>
              </a:lnSpc>
              <a:spcBef>
                <a:spcPts val="400"/>
              </a:spcBef>
            </a:pPr>
            <a:r>
              <a:rPr sz="1300" b="1" i="0">
                <a:solidFill>
                  <a:srgbClr val="ECEFF3"/>
                </a:solidFill>
                <a:latin typeface="Arial"/>
              </a:rPr>
              <a:t>Standardize / de-escalate</a:t>
            </a:r>
          </a:p>
          <a:p>
            <a:pPr algn="l">
              <a:lnSpc>
                <a:spcPct val="125000"/>
              </a:lnSpc>
              <a:spcBef>
                <a:spcPts val="400"/>
              </a:spcBef>
            </a:pPr>
            <a:r>
              <a:rPr sz="1050" b="0" i="0">
                <a:solidFill>
                  <a:srgbClr val="9DA9B5"/>
                </a:solidFill>
                <a:latin typeface="Arial"/>
              </a:rPr>
              <a:t>Routine screening, consider longer interval.</a:t>
            </a:r>
          </a:p>
        </p:txBody>
      </p:sp>
      <p:sp>
        <p:nvSpPr>
          <p:cNvPr id="12" name="Rounded Rectangle 11"/>
          <p:cNvSpPr/>
          <p:nvPr/>
        </p:nvSpPr>
        <p:spPr>
          <a:xfrm>
            <a:off x="7086600" y="4251960"/>
            <a:ext cx="3840480" cy="1783080"/>
          </a:xfrm>
          <a:prstGeom prst="roundRect">
            <a:avLst/>
          </a:prstGeom>
          <a:solidFill>
            <a:srgbClr val="1B232D"/>
          </a:solidFill>
          <a:ln w="19050">
            <a:solidFill>
              <a:srgbClr val="E7AC51"/>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l">
              <a:lnSpc>
                <a:spcPct val="100000"/>
              </a:lnSpc>
            </a:pPr>
            <a:r>
              <a:rPr sz="900" b="0" i="0">
                <a:solidFill>
                  <a:srgbClr val="E7AC51"/>
                </a:solidFill>
                <a:latin typeface="Consolas"/>
              </a:rPr>
              <a:t>★ the new signal</a:t>
            </a:r>
          </a:p>
          <a:p>
            <a:pPr algn="l">
              <a:lnSpc>
                <a:spcPct val="110000"/>
              </a:lnSpc>
              <a:spcBef>
                <a:spcPts val="400"/>
              </a:spcBef>
            </a:pPr>
            <a:r>
              <a:rPr sz="1300" b="1" i="0">
                <a:solidFill>
                  <a:srgbClr val="ECEFF3"/>
                </a:solidFill>
                <a:latin typeface="Arial"/>
              </a:rPr>
              <a:t>“Average” by questionnaire, high by image</a:t>
            </a:r>
          </a:p>
          <a:p>
            <a:pPr algn="l">
              <a:lnSpc>
                <a:spcPct val="125000"/>
              </a:lnSpc>
              <a:spcBef>
                <a:spcPts val="400"/>
              </a:spcBef>
            </a:pPr>
            <a:r>
              <a:rPr sz="1050" b="0" i="0">
                <a:solidFill>
                  <a:srgbClr val="9DA9B5"/>
                </a:solidFill>
                <a:latin typeface="Arial"/>
              </a:rPr>
              <a:t>Tissue-state signal the form missed. Strongest near-term — </a:t>
            </a:r>
            <a:r>
              <a:rPr sz="1050" b="1" i="0">
                <a:solidFill>
                  <a:srgbClr val="ECEFF3"/>
                </a:solidFill>
                <a:latin typeface="Arial"/>
              </a:rPr>
              <a:t>look harder now</a:t>
            </a:r>
            <a:r>
              <a:rPr sz="1050" b="0" i="0">
                <a:solidFill>
                  <a:srgbClr val="9DA9B5"/>
                </a:solidFill>
                <a:latin typeface="Arial"/>
              </a:rPr>
              <a:t>: short interval, supplemental imaging, a second look at </a:t>
            </a:r>
            <a:r>
              <a:rPr sz="1050" b="0" i="1">
                <a:solidFill>
                  <a:srgbClr val="9DA9B5"/>
                </a:solidFill>
                <a:latin typeface="Arial"/>
              </a:rPr>
              <a:t>this</a:t>
            </a:r>
            <a:r>
              <a:rPr sz="1050" b="0" i="0">
                <a:solidFill>
                  <a:srgbClr val="9DA9B5"/>
                </a:solidFill>
                <a:latin typeface="Arial"/>
              </a:rPr>
              <a:t> exam.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ALREADY CLEARED, ALREADY IN TRIALS</a:t>
            </a:r>
          </a:p>
        </p:txBody>
      </p:sp>
      <p:sp>
        <p:nvSpPr>
          <p:cNvPr id="4" name="TextBox 3"/>
          <p:cNvSpPr txBox="1"/>
          <p:nvPr/>
        </p:nvSpPr>
        <p:spPr>
          <a:xfrm>
            <a:off x="777240" y="1051560"/>
            <a:ext cx="10607040" cy="914400"/>
          </a:xfrm>
          <a:prstGeom prst="rect">
            <a:avLst/>
          </a:prstGeom>
          <a:noFill/>
        </p:spPr>
        <p:txBody>
          <a:bodyPr wrap="square" anchor="t" lIns="0" rIns="0" tIns="0" bIns="0">
            <a:spAutoFit/>
          </a:bodyPr>
          <a:lstStyle/>
          <a:p>
            <a:pPr algn="l">
              <a:lnSpc>
                <a:spcPct val="110000"/>
              </a:lnSpc>
            </a:pPr>
            <a:r>
              <a:rPr sz="2800" b="1" i="0">
                <a:solidFill>
                  <a:srgbClr val="ECEFF3"/>
                </a:solidFill>
                <a:latin typeface="Arial"/>
              </a:rPr>
              <a:t>From research model to </a:t>
            </a:r>
            <a:r>
              <a:rPr sz="2800" b="1" i="0">
                <a:solidFill>
                  <a:srgbClr val="E7AC51"/>
                </a:solidFill>
                <a:latin typeface="Arial"/>
              </a:rPr>
              <a:t>FDA clearance</a:t>
            </a:r>
            <a:r>
              <a:rPr sz="2800" b="1" i="0">
                <a:solidFill>
                  <a:srgbClr val="ECEFF3"/>
                </a:solidFill>
                <a:latin typeface="Arial"/>
              </a:rPr>
              <a:t> and screening guidelines.</a:t>
            </a:r>
          </a:p>
        </p:txBody>
      </p:sp>
      <p:sp>
        <p:nvSpPr>
          <p:cNvPr id="5" name="TextBox 4"/>
          <p:cNvSpPr txBox="1"/>
          <p:nvPr/>
        </p:nvSpPr>
        <p:spPr>
          <a:xfrm>
            <a:off x="777240" y="2148840"/>
            <a:ext cx="10607040" cy="822960"/>
          </a:xfrm>
          <a:prstGeom prst="rect">
            <a:avLst/>
          </a:prstGeom>
          <a:noFill/>
        </p:spPr>
        <p:txBody>
          <a:bodyPr wrap="square" anchor="t" lIns="0" rIns="0" tIns="0" bIns="0">
            <a:spAutoFit/>
          </a:bodyPr>
          <a:lstStyle/>
          <a:p>
            <a:pPr algn="l">
              <a:lnSpc>
                <a:spcPct val="140000"/>
              </a:lnSpc>
            </a:pPr>
            <a:r>
              <a:rPr sz="1500" b="1" i="0">
                <a:solidFill>
                  <a:srgbClr val="ECEFF3"/>
                </a:solidFill>
                <a:latin typeface="Arial"/>
              </a:rPr>
              <a:t>Clairity Breast</a:t>
            </a:r>
            <a:r>
              <a:rPr sz="1500" b="0" i="0">
                <a:solidFill>
                  <a:srgbClr val="9DA9B5"/>
                </a:solidFill>
                <a:latin typeface="Arial"/>
              </a:rPr>
              <a:t> (FDA De Novo, June 2025) — the first tool to predict 5-year risk from a routine screening mammogram alone; added to the </a:t>
            </a:r>
            <a:r>
              <a:rPr sz="1500" b="1" i="0">
                <a:solidFill>
                  <a:srgbClr val="ECEFF3"/>
                </a:solidFill>
                <a:latin typeface="Arial"/>
              </a:rPr>
              <a:t>2026 NCCN</a:t>
            </a:r>
            <a:r>
              <a:rPr sz="1500" b="0" i="0">
                <a:solidFill>
                  <a:srgbClr val="9DA9B5"/>
                </a:solidFill>
                <a:latin typeface="Arial"/>
              </a:rPr>
              <a:t> screening guidance.</a:t>
            </a:r>
          </a:p>
        </p:txBody>
      </p:sp>
      <p:sp>
        <p:nvSpPr>
          <p:cNvPr id="6" name="Rounded Rectangle 5"/>
          <p:cNvSpPr/>
          <p:nvPr/>
        </p:nvSpPr>
        <p:spPr>
          <a:xfrm>
            <a:off x="777240" y="3200400"/>
            <a:ext cx="10607040" cy="640080"/>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WISDOM</a:t>
            </a:r>
            <a:r>
              <a:rPr sz="1050" b="0" i="0">
                <a:solidFill>
                  <a:srgbClr val="ECEFF3"/>
                </a:solidFill>
                <a:latin typeface="Consolas"/>
              </a:rPr>
              <a:t> (JAMA 2026): risk-based non-inferior for stage ≥IIB · ~3,800 fewer mammograms /100k person-yr · </a:t>
            </a:r>
            <a:r>
              <a:rPr sz="1050" b="1" i="0">
                <a:solidFill>
                  <a:srgbClr val="5FB7C9"/>
                </a:solidFill>
                <a:latin typeface="Consolas"/>
              </a:rPr>
              <a:t>89%</a:t>
            </a:r>
            <a:r>
              <a:rPr sz="1050" b="0" i="0">
                <a:solidFill>
                  <a:srgbClr val="ECEFF3"/>
                </a:solidFill>
                <a:latin typeface="Consolas"/>
              </a:rPr>
              <a:t> chose risk-based</a:t>
            </a:r>
          </a:p>
        </p:txBody>
      </p:sp>
      <p:sp>
        <p:nvSpPr>
          <p:cNvPr id="7" name="Rounded Rectangle 6"/>
          <p:cNvSpPr/>
          <p:nvPr/>
        </p:nvSpPr>
        <p:spPr>
          <a:xfrm>
            <a:off x="777240" y="3977639"/>
            <a:ext cx="10607040" cy="640080"/>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MyPeBS</a:t>
            </a:r>
            <a:r>
              <a:rPr sz="1050" b="0" i="0">
                <a:solidFill>
                  <a:srgbClr val="ECEFF3"/>
                </a:solidFill>
                <a:latin typeface="Consolas"/>
              </a:rPr>
              <a:t>: ~85,000 women · 6 countries · screen-by-risk vs by-age · </a:t>
            </a:r>
            <a:r>
              <a:rPr sz="1050" b="1" i="0">
                <a:solidFill>
                  <a:srgbClr val="5FB7C9"/>
                </a:solidFill>
                <a:latin typeface="Consolas"/>
              </a:rPr>
              <a:t>ongoing</a:t>
            </a:r>
          </a:p>
        </p:txBody>
      </p:sp>
      <p:sp>
        <p:nvSpPr>
          <p:cNvPr id="8" name="TextBox 7"/>
          <p:cNvSpPr txBox="1"/>
          <p:nvPr/>
        </p:nvSpPr>
        <p:spPr>
          <a:xfrm>
            <a:off x="777240" y="4846320"/>
            <a:ext cx="10607040" cy="640080"/>
          </a:xfrm>
          <a:prstGeom prst="rect">
            <a:avLst/>
          </a:prstGeom>
          <a:noFill/>
        </p:spPr>
        <p:txBody>
          <a:bodyPr wrap="square" anchor="t" lIns="0" rIns="0" tIns="0" bIns="0">
            <a:spAutoFit/>
          </a:bodyPr>
          <a:lstStyle/>
          <a:p>
            <a:pPr algn="l">
              <a:lnSpc>
                <a:spcPct val="135000"/>
              </a:lnSpc>
            </a:pPr>
            <a:r>
              <a:rPr sz="1300" b="0" i="0">
                <a:solidFill>
                  <a:srgbClr val="5C6975"/>
                </a:solidFill>
                <a:latin typeface="Arial"/>
              </a:rPr>
              <a:t>Today the trials triage on genetics and classical models. The image-derived score is the second axis they have not yet switched on.</a:t>
            </a:r>
          </a:p>
        </p:txBody>
      </p:sp>
      <p:sp>
        <p:nvSpPr>
          <p:cNvPr id="9" name="TextBox 8"/>
          <p:cNvSpPr txBox="1"/>
          <p:nvPr/>
        </p:nvSpPr>
        <p:spPr>
          <a:xfrm>
            <a:off x="777240" y="5623560"/>
            <a:ext cx="10607040" cy="548640"/>
          </a:xfrm>
          <a:prstGeom prst="rect">
            <a:avLst/>
          </a:prstGeom>
          <a:noFill/>
        </p:spPr>
        <p:txBody>
          <a:bodyPr wrap="square" anchor="t" lIns="0" rIns="0" tIns="0" bIns="0">
            <a:spAutoFit/>
          </a:bodyPr>
          <a:lstStyle/>
          <a:p>
            <a:pPr algn="l">
              <a:lnSpc>
                <a:spcPct val="130000"/>
              </a:lnSpc>
            </a:pPr>
            <a:r>
              <a:rPr sz="950" b="0" i="0">
                <a:solidFill>
                  <a:srgbClr val="5C6975"/>
                </a:solidFill>
                <a:latin typeface="Consolas"/>
              </a:rPr>
              <a:t>Clairity — FDA De Novo 2025 (no primary validation paper yet) · WISDOM — Esserman et al., JAMA 2026;335(9):763–774 · MyPeBS — BMC Cancer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IMAGE → PATIENT</a:t>
            </a:r>
          </a:p>
        </p:txBody>
      </p:sp>
      <p:sp>
        <p:nvSpPr>
          <p:cNvPr id="4" name="TextBox 3"/>
          <p:cNvSpPr txBox="1"/>
          <p:nvPr/>
        </p:nvSpPr>
        <p:spPr>
          <a:xfrm>
            <a:off x="777240" y="1188720"/>
            <a:ext cx="10607040" cy="914400"/>
          </a:xfrm>
          <a:prstGeom prst="rect">
            <a:avLst/>
          </a:prstGeom>
          <a:noFill/>
        </p:spPr>
        <p:txBody>
          <a:bodyPr wrap="square" anchor="t" lIns="0" rIns="0" tIns="0" bIns="0">
            <a:spAutoFit/>
          </a:bodyPr>
          <a:lstStyle/>
          <a:p>
            <a:pPr algn="l">
              <a:lnSpc>
                <a:spcPct val="110000"/>
              </a:lnSpc>
            </a:pPr>
            <a:r>
              <a:rPr sz="3000" b="1" i="0">
                <a:solidFill>
                  <a:srgbClr val="ECEFF3"/>
                </a:solidFill>
                <a:latin typeface="Arial"/>
              </a:rPr>
              <a:t>The risk score guides </a:t>
            </a:r>
            <a:r>
              <a:rPr sz="3000" b="1" i="0">
                <a:solidFill>
                  <a:srgbClr val="E7AC51"/>
                </a:solidFill>
                <a:latin typeface="Arial"/>
              </a:rPr>
              <a:t>when and how closely</a:t>
            </a:r>
            <a:r>
              <a:rPr sz="3000" b="1" i="0">
                <a:solidFill>
                  <a:srgbClr val="ECEFF3"/>
                </a:solidFill>
                <a:latin typeface="Arial"/>
              </a:rPr>
              <a:t> to screen.</a:t>
            </a:r>
          </a:p>
        </p:txBody>
      </p:sp>
      <p:sp>
        <p:nvSpPr>
          <p:cNvPr id="5" name="Rectangle 4"/>
          <p:cNvSpPr/>
          <p:nvPr/>
        </p:nvSpPr>
        <p:spPr>
          <a:xfrm>
            <a:off x="777240" y="2468880"/>
            <a:ext cx="45720" cy="9144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68880"/>
            <a:ext cx="10058400" cy="914400"/>
          </a:xfrm>
          <a:prstGeom prst="rect">
            <a:avLst/>
          </a:prstGeom>
          <a:noFill/>
        </p:spPr>
        <p:txBody>
          <a:bodyPr wrap="square" anchor="t" lIns="0" rIns="0" tIns="0" bIns="0">
            <a:spAutoFit/>
          </a:bodyPr>
          <a:lstStyle/>
          <a:p>
            <a:pPr algn="l">
              <a:lnSpc>
                <a:spcPct val="140000"/>
              </a:lnSpc>
            </a:pPr>
            <a:r>
              <a:rPr sz="1800" b="0" i="0">
                <a:solidFill>
                  <a:srgbClr val="ECEFF3"/>
                </a:solidFill>
                <a:latin typeface="Arial"/>
              </a:rPr>
              <a:t>Once we find something, the question changes again: from </a:t>
            </a:r>
            <a:r>
              <a:rPr sz="1800" b="1" i="0">
                <a:solidFill>
                  <a:srgbClr val="E7AC51"/>
                </a:solidFill>
                <a:latin typeface="Arial"/>
              </a:rPr>
              <a:t>“is there cancer, and what is her risk?”</a:t>
            </a:r>
            <a:r>
              <a:rPr sz="1800" b="0" i="0">
                <a:solidFill>
                  <a:srgbClr val="ECEFF3"/>
                </a:solidFill>
                <a:latin typeface="Arial"/>
              </a:rPr>
              <a:t> to </a:t>
            </a:r>
            <a:r>
              <a:rPr sz="1800" b="1" i="0">
                <a:solidFill>
                  <a:srgbClr val="E7AC51"/>
                </a:solidFill>
                <a:latin typeface="Arial"/>
              </a:rPr>
              <a:t>“what is this cancer, and what will it do?”</a:t>
            </a:r>
          </a:p>
        </p:txBody>
      </p:sp>
      <p:sp>
        <p:nvSpPr>
          <p:cNvPr id="7" name="TextBox 6"/>
          <p:cNvSpPr txBox="1"/>
          <p:nvPr/>
        </p:nvSpPr>
        <p:spPr>
          <a:xfrm>
            <a:off x="777240" y="3657600"/>
            <a:ext cx="10607040" cy="365760"/>
          </a:xfrm>
          <a:prstGeom prst="rect">
            <a:avLst/>
          </a:prstGeom>
          <a:noFill/>
        </p:spPr>
        <p:txBody>
          <a:bodyPr wrap="square" anchor="t" lIns="0" rIns="0" tIns="0" bIns="0">
            <a:spAutoFit/>
          </a:bodyPr>
          <a:lstStyle/>
          <a:p>
            <a:pPr algn="l">
              <a:lnSpc>
                <a:spcPct val="100000"/>
              </a:lnSpc>
            </a:pPr>
            <a:r>
              <a:rPr sz="1100" b="0" i="0">
                <a:solidFill>
                  <a:srgbClr val="5C6975"/>
                </a:solidFill>
                <a:latin typeface="Consolas"/>
              </a:rPr>
              <a:t>LESION  →  </a:t>
            </a:r>
            <a:r>
              <a:rPr sz="1100" b="0" i="0">
                <a:solidFill>
                  <a:srgbClr val="E7AC51"/>
                </a:solidFill>
                <a:latin typeface="Consolas"/>
              </a:rPr>
              <a:t>IMAGE ✓</a:t>
            </a:r>
            <a:r>
              <a:rPr sz="1100" b="0" i="0">
                <a:solidFill>
                  <a:srgbClr val="5C6975"/>
                </a:solidFill>
                <a:latin typeface="Consolas"/>
              </a:rPr>
              <a:t>  →  </a:t>
            </a:r>
            <a:r>
              <a:rPr sz="1100" b="0" i="0">
                <a:solidFill>
                  <a:srgbClr val="E7AC51"/>
                </a:solidFill>
                <a:latin typeface="Consolas"/>
              </a:rPr>
              <a:t>PATIENT →</a:t>
            </a:r>
            <a:r>
              <a:rPr sz="1100" b="0" i="0">
                <a:solidFill>
                  <a:srgbClr val="5C6975"/>
                </a:solidFill>
                <a:latin typeface="Consolas"/>
              </a:rPr>
              <a:t>  →  POPULATION</a:t>
            </a:r>
          </a:p>
        </p:txBody>
      </p:sp>
      <p:sp>
        <p:nvSpPr>
          <p:cNvPr id="8" name="TextBox 7"/>
          <p:cNvSpPr txBox="1"/>
          <p:nvPr/>
        </p:nvSpPr>
        <p:spPr>
          <a:xfrm>
            <a:off x="777240" y="4297680"/>
            <a:ext cx="9601200" cy="1097280"/>
          </a:xfrm>
          <a:prstGeom prst="rect">
            <a:avLst/>
          </a:prstGeom>
          <a:noFill/>
        </p:spPr>
        <p:txBody>
          <a:bodyPr wrap="square" anchor="t" lIns="0" rIns="0" tIns="0" bIns="0">
            <a:spAutoFit/>
          </a:bodyPr>
          <a:lstStyle/>
          <a:p>
            <a:pPr algn="l">
              <a:lnSpc>
                <a:spcPct val="145000"/>
              </a:lnSpc>
            </a:pPr>
            <a:r>
              <a:rPr sz="1800" b="0" i="0">
                <a:solidFill>
                  <a:srgbClr val="9DA9B5"/>
                </a:solidFill>
                <a:latin typeface="Arial"/>
              </a:rPr>
              <a:t>That answer is not in radiology. It is across the hospital, on a glass slide. We move to the </a:t>
            </a:r>
            <a:r>
              <a:rPr sz="1800" b="1" i="0">
                <a:solidFill>
                  <a:srgbClr val="ECEFF3"/>
                </a:solidFill>
                <a:latin typeface="Arial"/>
              </a:rPr>
              <a:t>pathology lab</a:t>
            </a:r>
            <a:r>
              <a:rPr sz="1800" b="0" i="0">
                <a:solidFill>
                  <a:srgbClr val="9DA9B5"/>
                </a:solidFill>
                <a:latin typeface="Arial"/>
              </a:rPr>
              <a:t> — where AI does something our images cannot.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