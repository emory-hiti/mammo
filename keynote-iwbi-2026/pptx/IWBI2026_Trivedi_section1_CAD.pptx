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ERA I · 1998 · LESION</a:t>
            </a:r>
            <a:r>
              <a:rPr sz="1100" b="0" i="0">
                <a:solidFill>
                  <a:srgbClr val="5C6975"/>
                </a:solidFill>
                <a:latin typeface="Consolas"/>
              </a:rPr>
              <a:t>    →    IMAGE    →    PATIENT    →    POPULATION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6766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ECEFF3"/>
                </a:solidFill>
                <a:latin typeface="Arial"/>
              </a:rPr>
              <a:t>The year is </a:t>
            </a:r>
            <a:r>
              <a:rPr sz="5000" b="1" i="0">
                <a:solidFill>
                  <a:srgbClr val="E7AC51"/>
                </a:solidFill>
                <a:latin typeface="Arial"/>
              </a:rPr>
              <a:t>1998.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77639"/>
            <a:ext cx="65836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9DA9B5"/>
                </a:solidFill>
                <a:latin typeface="Arial"/>
              </a:rPr>
              <a:t>Computer-aided detection has just arrived — software that puts a mark on every mammogram to flag a possible cancer. A second set of eyes, automatically. It feels like the future.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371600"/>
            <a:ext cx="3474720" cy="4206240"/>
          </a:xfrm>
          <a:prstGeom prst="roundRect">
            <a:avLst/>
          </a:prstGeom>
          <a:solidFill>
            <a:srgbClr val="06090C"/>
          </a:solidFill>
          <a:ln w="9525">
            <a:solidFill>
              <a:srgbClr val="C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C6975"/>
                </a:solidFill>
                <a:latin typeface="Consolas"/>
              </a:rPr>
              <a:t>[ CAD-marked screening mammogram — Intelerad InteleViewer (placeholder)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ERA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CEFF3"/>
                </a:solidFill>
                <a:latin typeface="Arial"/>
              </a:rPr>
              <a:t>Within a decade, CAD was used on </a:t>
            </a:r>
            <a:r>
              <a:rPr sz="3000" b="1" i="0">
                <a:solidFill>
                  <a:srgbClr val="E7AC51"/>
                </a:solidFill>
                <a:latin typeface="Arial"/>
              </a:rPr>
              <a:t>most US mammograms.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03320"/>
            <a:ext cx="10332720" cy="25400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" y="3657600"/>
            <a:ext cx="146304" cy="146304"/>
          </a:xfrm>
          <a:prstGeom prst="ellipse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7AC51"/>
                </a:solidFill>
                <a:latin typeface="Consolas"/>
              </a:rPr>
              <a:t>1998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DA9B5"/>
                </a:solidFill>
                <a:latin typeface="Arial"/>
              </a:rPr>
              <a:t>FDA clears first CAD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DA9B5"/>
                </a:solidFill>
                <a:latin typeface="Arial"/>
              </a:rPr>
              <a:t>(R2 ImageChecker)</a:t>
            </a:r>
          </a:p>
        </p:txBody>
      </p:sp>
      <p:sp>
        <p:nvSpPr>
          <p:cNvPr id="9" name="Oval 8"/>
          <p:cNvSpPr/>
          <p:nvPr/>
        </p:nvSpPr>
        <p:spPr>
          <a:xfrm>
            <a:off x="3328416" y="3657600"/>
            <a:ext cx="146304" cy="146304"/>
          </a:xfrm>
          <a:prstGeom prst="ellipse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92608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7AC51"/>
                </a:solidFill>
                <a:latin typeface="Consolas"/>
              </a:rPr>
              <a:t>2002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977639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DA9B5"/>
                </a:solidFill>
                <a:latin typeface="Arial"/>
              </a:rPr>
              <a:t>CMS reimburses CAD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DA9B5"/>
                </a:solidFill>
                <a:latin typeface="Arial"/>
              </a:rPr>
              <a:t>— drives adoption</a:t>
            </a:r>
          </a:p>
        </p:txBody>
      </p:sp>
      <p:sp>
        <p:nvSpPr>
          <p:cNvPr id="12" name="Oval 11"/>
          <p:cNvSpPr/>
          <p:nvPr/>
        </p:nvSpPr>
        <p:spPr>
          <a:xfrm>
            <a:off x="5797296" y="3657600"/>
            <a:ext cx="146304" cy="146304"/>
          </a:xfrm>
          <a:prstGeom prst="ellipse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292608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CEFF3"/>
                </a:solidFill>
                <a:latin typeface="Consolas"/>
              </a:rPr>
              <a:t>2008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977639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DA9B5"/>
                </a:solidFill>
                <a:latin typeface="Arial"/>
              </a:rPr>
              <a:t>~74% of US screening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DA9B5"/>
                </a:solidFill>
                <a:latin typeface="Arial"/>
              </a:rPr>
              <a:t>mammograms use CAD</a:t>
            </a:r>
          </a:p>
        </p:txBody>
      </p:sp>
      <p:sp>
        <p:nvSpPr>
          <p:cNvPr id="15" name="Oval 14"/>
          <p:cNvSpPr/>
          <p:nvPr/>
        </p:nvSpPr>
        <p:spPr>
          <a:xfrm>
            <a:off x="8174736" y="3657600"/>
            <a:ext cx="146304" cy="146304"/>
          </a:xfrm>
          <a:prstGeom prst="ellipse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92608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CEFF3"/>
                </a:solidFill>
                <a:latin typeface="Consolas"/>
              </a:rPr>
              <a:t>2016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977639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DA9B5"/>
                </a:solidFill>
                <a:latin typeface="Arial"/>
              </a:rPr>
              <a:t>~92% — near-universal</a:t>
            </a:r>
          </a:p>
        </p:txBody>
      </p:sp>
      <p:sp>
        <p:nvSpPr>
          <p:cNvPr id="18" name="Oval 17"/>
          <p:cNvSpPr/>
          <p:nvPr/>
        </p:nvSpPr>
        <p:spPr>
          <a:xfrm>
            <a:off x="9912096" y="3657600"/>
            <a:ext cx="146304" cy="146304"/>
          </a:xfrm>
          <a:prstGeom prst="ellipse">
            <a:avLst/>
          </a:prstGeom>
          <a:solidFill>
            <a:srgbClr val="D97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292608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D9785B"/>
                </a:solidFill>
                <a:latin typeface="Consolas"/>
              </a:rPr>
              <a:t>2015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977639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DA9B5"/>
                </a:solidFill>
                <a:latin typeface="Arial"/>
              </a:rPr>
              <a:t>The verdict lands: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DA9B5"/>
                </a:solidFill>
                <a:latin typeface="Arial"/>
              </a:rPr>
              <a:t>no benefit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150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DA9B5"/>
                </a:solidFill>
                <a:latin typeface="Arial"/>
              </a:rPr>
              <a:t>A 2002 reimbursement code drove adoption — not evidence of benefit. The definitive study landed in 2015, after CAD already ran on ~9 in 10 mammograms.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ERA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ECEFF3"/>
                </a:solidFill>
                <a:latin typeface="Arial"/>
              </a:rPr>
              <a:t>Conventional CAD put a </a:t>
            </a:r>
            <a:r>
              <a:rPr sz="2400" b="1" i="0">
                <a:solidFill>
                  <a:srgbClr val="D9785B"/>
                </a:solidFill>
                <a:latin typeface="Arial"/>
              </a:rPr>
              <a:t>false-positive mark</a:t>
            </a:r>
            <a:r>
              <a:rPr sz="2400" b="1" i="0">
                <a:solidFill>
                  <a:srgbClr val="ECEFF3"/>
                </a:solidFill>
                <a:latin typeface="Arial"/>
              </a:rPr>
              <a:t> on most normal exams.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E7AC51"/>
                </a:solidFill>
                <a:latin typeface="Arial"/>
              </a:rPr>
              <a:t>70–85%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1188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CEFF3"/>
                </a:solidFill>
                <a:latin typeface="Arial"/>
              </a:rPr>
              <a:t>of normal mammograms had </a:t>
            </a:r>
            <a:r>
              <a:rPr sz="1200" b="1" i="0">
                <a:solidFill>
                  <a:srgbClr val="D9785B"/>
                </a:solidFill>
                <a:latin typeface="Arial"/>
              </a:rPr>
              <a:t>≥1 false positive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4340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E7AC51"/>
                </a:solidFill>
                <a:latin typeface="Arial"/>
              </a:rPr>
              <a:t>0.5–1.5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7492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D9785B"/>
                </a:solidFill>
                <a:latin typeface="Arial"/>
              </a:rPr>
              <a:t>false positives </a:t>
            </a:r>
            <a:r>
              <a:rPr sz="1200" b="0" i="0">
                <a:solidFill>
                  <a:srgbClr val="ECEFF3"/>
                </a:solidFill>
                <a:latin typeface="Arial"/>
              </a:rPr>
              <a:t>per image — about 2–4 per 4-view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43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975"/>
                </a:solidFill>
                <a:latin typeface="Consolas"/>
              </a:rPr>
              <a:t>Kim 2009 · Mahoney 2011 · Watanabe 2019 · Leon 2009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5074920"/>
            <a:ext cx="5120640" cy="12700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495604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975"/>
                </a:solidFill>
                <a:latin typeface="Consola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4114800"/>
            <a:ext cx="5120640" cy="12700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39959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975"/>
                </a:solidFill>
                <a:latin typeface="Consolas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154679"/>
            <a:ext cx="5120640" cy="12700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303580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975"/>
                </a:solidFill>
                <a:latin typeface="Consolas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194559"/>
            <a:ext cx="5120640" cy="12700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2075687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975"/>
                </a:solidFill>
                <a:latin typeface="Consola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578607"/>
            <a:ext cx="502920" cy="2496312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285999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CEFF3"/>
                </a:solidFill>
                <a:latin typeface="Arial"/>
              </a:rPr>
              <a:t>2.6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3346703"/>
            <a:ext cx="502920" cy="1728216"/>
          </a:xfrm>
          <a:prstGeom prst="rect">
            <a:avLst/>
          </a:prstGeom>
          <a:solidFill>
            <a:srgbClr val="5F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3054096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CEFF3"/>
                </a:solidFill>
                <a:latin typeface="Arial"/>
              </a:rPr>
              <a:t>1.8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148072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9DA9B5"/>
                </a:solidFill>
                <a:latin typeface="Arial"/>
              </a:rPr>
              <a:t>All marks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3154679"/>
            <a:ext cx="502920" cy="192024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286207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CEFF3"/>
                </a:solidFill>
                <a:latin typeface="Arial"/>
              </a:rPr>
              <a:t>2.0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3634739"/>
            <a:ext cx="502920" cy="1440180"/>
          </a:xfrm>
          <a:prstGeom prst="rect">
            <a:avLst/>
          </a:prstGeom>
          <a:solidFill>
            <a:srgbClr val="5F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334213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CEFF3"/>
                </a:solidFill>
                <a:latin typeface="Arial"/>
              </a:rPr>
              <a:t>1.5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5148072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9DA9B5"/>
                </a:solidFill>
                <a:latin typeface="Arial"/>
              </a:rPr>
              <a:t>Masses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15600" y="4498848"/>
            <a:ext cx="502920" cy="576072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60" y="420624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CEFF3"/>
                </a:solidFill>
                <a:latin typeface="Arial"/>
              </a:rPr>
              <a:t>0.6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064240" y="4786883"/>
            <a:ext cx="502920" cy="288036"/>
          </a:xfrm>
          <a:prstGeom prst="rect">
            <a:avLst/>
          </a:prstGeom>
          <a:solidFill>
            <a:srgbClr val="5F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0" y="4494275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CEFF3"/>
                </a:solidFill>
                <a:latin typeface="Arial"/>
              </a:rPr>
              <a:t>0.3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5148072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9DA9B5"/>
                </a:solidFill>
                <a:latin typeface="Arial"/>
              </a:rPr>
              <a:t>Calcifications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1417320"/>
            <a:ext cx="164592" cy="164592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1371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DA9B5"/>
                </a:solidFill>
                <a:latin typeface="Arial"/>
              </a:rPr>
              <a:t>Non-dense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49840" y="1417320"/>
            <a:ext cx="164592" cy="164592"/>
          </a:xfrm>
          <a:prstGeom prst="rect">
            <a:avLst/>
          </a:prstGeom>
          <a:solidFill>
            <a:srgbClr val="5F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78440" y="13716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DA9B5"/>
                </a:solidFill>
                <a:latin typeface="Arial"/>
              </a:rPr>
              <a:t>Dense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53212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C6975"/>
                </a:solidFill>
                <a:latin typeface="Consolas"/>
              </a:rPr>
              <a:t>Mean false-positive marks per case · ImageChecker v7.2 — Mahoney &amp; Meganathan, J Digit Imaging 2011 (Table 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ERA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01168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 i="0">
                <a:solidFill>
                  <a:srgbClr val="E7AC51"/>
                </a:solidFill>
                <a:latin typeface="Arial"/>
              </a:rPr>
              <a:t>$400M</a:t>
            </a:r>
            <a:r>
              <a:rPr sz="2600" b="0" i="0">
                <a:solidFill>
                  <a:srgbClr val="9DA9B5"/>
                </a:solidFill>
                <a:latin typeface="Arial"/>
              </a:rPr>
              <a:t> /yr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29000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CEFF3"/>
                </a:solidFill>
                <a:latin typeface="Consolas"/>
              </a:rPr>
              <a:t>U.S. spend ≈ $1 of every $10,000 in health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011680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 i="0">
                <a:solidFill>
                  <a:srgbClr val="E7AC51"/>
                </a:solidFill>
                <a:latin typeface="Arial"/>
              </a:rPr>
              <a:t>−47%</a:t>
            </a:r>
            <a:r>
              <a:rPr sz="2200" b="0" i="0">
                <a:solidFill>
                  <a:srgbClr val="5C6975"/>
                </a:solidFill>
                <a:latin typeface="Arial"/>
              </a:rPr>
              <a:t> odds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342900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CEFF3"/>
                </a:solidFill>
                <a:latin typeface="Consolas"/>
              </a:rPr>
              <a:t>odds of detecting a malignant lesion — CAD on vs off, same readers (OR 0.53)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66344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9DA9B5"/>
                </a:solidFill>
                <a:latin typeface="Arial"/>
              </a:rPr>
              <a:t>When the definitive study finally ran, CAD added cost and, for the same readers, lowered the odds of catching a cancer.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557784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975"/>
                </a:solidFill>
                <a:latin typeface="Consolas"/>
              </a:rPr>
              <a:t>Lehman et al., JAMA Internal Medicine 2015 · 323,973 women · 271 radiologists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ERA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69494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 i="0">
                <a:solidFill>
                  <a:srgbClr val="ECEFF3"/>
                </a:solidFill>
                <a:latin typeface="Arial"/>
              </a:rPr>
              <a:t>“Computer-aided detection does not improve diagnostic accuracy of mammography. These results suggest that insurers pay more for CAD with no established benefit to women.”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0060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7AC51"/>
                </a:solidFill>
                <a:latin typeface="Consolas"/>
              </a:rPr>
              <a:t>— Lehman et al., JAMA Internal Medicine 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64592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CEFF3"/>
                </a:solidFill>
                <a:latin typeface="Arial"/>
              </a:rPr>
              <a:t>85.3% vs 87.3%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10312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6975"/>
                </a:solidFill>
                <a:latin typeface="Consolas"/>
              </a:rPr>
              <a:t>sensitivity — with vs without CAD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88036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CEFF3"/>
                </a:solidFill>
                <a:latin typeface="Arial"/>
              </a:rPr>
              <a:t>4.1 = 4.1 /1,000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33756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6975"/>
                </a:solidFill>
                <a:latin typeface="Consolas"/>
              </a:rPr>
              <a:t>cancer detection — identical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11480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CEFF3"/>
                </a:solidFill>
                <a:latin typeface="Arial"/>
              </a:rPr>
              <a:t>0.871 vs 0.919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57200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6975"/>
                </a:solidFill>
                <a:latin typeface="Consolas"/>
              </a:rPr>
              <a:t>AUC — with vs without (Fenton, NEJM 2007)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ERA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4572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D9785B"/>
                </a:solidFill>
                <a:latin typeface="Consolas"/>
              </a:rPr>
              <a:t>⚑ HIDDEN IN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ECEFF3"/>
                </a:solidFill>
                <a:latin typeface="Arial"/>
              </a:rPr>
              <a:t>Same readers, same detection rate — </a:t>
            </a:r>
            <a:r>
              <a:rPr sz="2200" b="1" i="0">
                <a:solidFill>
                  <a:srgbClr val="E7AC51"/>
                </a:solidFill>
                <a:latin typeface="Arial"/>
              </a:rPr>
              <a:t>with CAD or without.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194560"/>
          <a:ext cx="74980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097280"/>
                <a:gridCol w="1097280"/>
                <a:gridCol w="1097280"/>
                <a:gridCol w="109728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9DA9B5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9DA9B5"/>
                          </a:solidFill>
                          <a:latin typeface="Arial"/>
                        </a:rPr>
                        <a:t>CAD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9DA9B5"/>
                          </a:solidFill>
                          <a:latin typeface="Arial"/>
                        </a:rPr>
                        <a:t>No CAD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9DA9B5"/>
                          </a:solidFill>
                          <a:latin typeface="Arial"/>
                        </a:rPr>
                        <a:t>aOR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9DA9B5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Cancers detected /1000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7AC51"/>
                          </a:solidFill>
                          <a:latin typeface="Arial"/>
                        </a:rPr>
                        <a:t>4.1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4.1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0.99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.86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Sensitivity, %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7AC51"/>
                          </a:solidFill>
                          <a:latin typeface="Arial"/>
                        </a:rPr>
                        <a:t>85.3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87.3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0.81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.18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Specificity, %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7AC51"/>
                          </a:solidFill>
                          <a:latin typeface="Arial"/>
                        </a:rPr>
                        <a:t>91.6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91.4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1.02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.58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Recall rate /100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7AC51"/>
                          </a:solidFill>
                          <a:latin typeface="Arial"/>
                        </a:rPr>
                        <a:t>8.7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9.1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0.96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.35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7548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DA9B5"/>
                </a:solidFill>
                <a:latin typeface="Arial"/>
              </a:rPr>
              <a:t>Pooled ROC across 271 radiologists: pAUC 0.88 without CAD vs 0.84 with. No adjusted OR favors CAD.  Lehman 2015, Table 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ERA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CEFF3"/>
                </a:solidFill>
                <a:latin typeface="Arial"/>
              </a:rPr>
              <a:t>What went wrong.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10607040" cy="1143000"/>
          </a:xfrm>
          <a:prstGeom prst="roundRect">
            <a:avLst/>
          </a:prstGeom>
          <a:solidFill>
            <a:srgbClr val="1B232D"/>
          </a:solidFill>
          <a:ln w="12700">
            <a:solidFill>
              <a:srgbClr val="E7A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AC51"/>
                </a:solidFill>
                <a:latin typeface="Consolas"/>
              </a:rPr>
              <a:t>01   </a:t>
            </a:r>
            <a:r>
              <a:rPr sz="1700" b="1" i="0">
                <a:solidFill>
                  <a:srgbClr val="ECEFF3"/>
                </a:solidFill>
                <a:latin typeface="Arial"/>
              </a:rPr>
              <a:t>It targeted the cancers we already find well.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9DA9B5"/>
                </a:solidFill>
                <a:latin typeface="Arial"/>
              </a:rPr>
              <a:t>Hand-tuned rules aimed at cancers radiologists already catch — so it added marks, not new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474720"/>
            <a:ext cx="10607040" cy="1143000"/>
          </a:xfrm>
          <a:prstGeom prst="roundRect">
            <a:avLst/>
          </a:prstGeom>
          <a:solidFill>
            <a:srgbClr val="1B232D"/>
          </a:solidFill>
          <a:ln w="12700">
            <a:solidFill>
              <a:srgbClr val="E7A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AC51"/>
                </a:solidFill>
                <a:latin typeface="Consolas"/>
              </a:rPr>
              <a:t>02   </a:t>
            </a:r>
            <a:r>
              <a:rPr sz="1700" b="1" i="0">
                <a:solidFill>
                  <a:srgbClr val="ECEFF3"/>
                </a:solidFill>
                <a:latin typeface="Arial"/>
              </a:rPr>
              <a:t>Readers learned to ignore it.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9DA9B5"/>
                </a:solidFill>
                <a:latin typeface="Arial"/>
              </a:rPr>
              <a:t>70–85% of normal mammograms carried a false mark. After enough false alarms, you stop trusting the marks.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00600"/>
            <a:ext cx="10607040" cy="1143000"/>
          </a:xfrm>
          <a:prstGeom prst="roundRect">
            <a:avLst/>
          </a:prstGeom>
          <a:solidFill>
            <a:srgbClr val="1B232D"/>
          </a:solidFill>
          <a:ln w="12700">
            <a:solidFill>
              <a:srgbClr val="E7A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AC51"/>
                </a:solidFill>
                <a:latin typeface="Consolas"/>
              </a:rPr>
              <a:t>03   </a:t>
            </a:r>
            <a:r>
              <a:rPr sz="1700" b="1" i="0">
                <a:solidFill>
                  <a:srgbClr val="ECEFF3"/>
                </a:solidFill>
                <a:latin typeface="Arial"/>
              </a:rPr>
              <a:t>It could lower a good reader's sensitivity.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9DA9B5"/>
                </a:solidFill>
                <a:latin typeface="Arial"/>
              </a:rPr>
              <a:t>As an imperfect second reader it pulled attention toward its marks — the over-dependence Lehman described (OR 0.53).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ERA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CEFF3"/>
                </a:solidFill>
                <a:latin typeface="Arial"/>
              </a:rPr>
              <a:t>The lesson, and </a:t>
            </a:r>
            <a:r>
              <a:rPr sz="2800" b="1" i="0">
                <a:solidFill>
                  <a:srgbClr val="E7AC51"/>
                </a:solidFill>
                <a:latin typeface="Arial"/>
              </a:rPr>
              <a:t>the turn.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4846320" cy="1828800"/>
          </a:xfrm>
          <a:prstGeom prst="roundRect">
            <a:avLst/>
          </a:prstGeom>
          <a:solidFill>
            <a:srgbClr val="1B232D"/>
          </a:solidFill>
          <a:ln w="12700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6975"/>
                </a:solidFill>
                <a:latin typeface="Consolas"/>
              </a:rPr>
              <a:t>TRADITIONAL CAD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2200" b="1" i="0">
                <a:solidFill>
                  <a:srgbClr val="9DA9B5"/>
                </a:solidFill>
                <a:latin typeface="Arial"/>
              </a:rPr>
              <a:t>Programmed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300" b="0" i="0">
                <a:solidFill>
                  <a:srgbClr val="9DA9B5"/>
                </a:solidFill>
                <a:latin typeface="Arial"/>
              </a:rPr>
              <a:t>We wrote the rules for what cancer looks like. It pointed at spots for a human to check.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2103120"/>
            <a:ext cx="4846320" cy="1828800"/>
          </a:xfrm>
          <a:prstGeom prst="roundRect">
            <a:avLst/>
          </a:prstGeom>
          <a:solidFill>
            <a:srgbClr val="1B232D"/>
          </a:solidFill>
          <a:ln w="15875">
            <a:solidFill>
              <a:srgbClr val="C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7AC51"/>
                </a:solidFill>
                <a:latin typeface="Consolas"/>
              </a:rPr>
              <a:t>MODERN DEEP LEARNING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2200" b="1" i="0">
                <a:solidFill>
                  <a:srgbClr val="ECEFF3"/>
                </a:solidFill>
                <a:latin typeface="Arial"/>
              </a:rPr>
              <a:t>Trained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300" b="0" i="0">
                <a:solidFill>
                  <a:srgbClr val="9DA9B5"/>
                </a:solidFill>
                <a:latin typeface="Arial"/>
              </a:rPr>
              <a:t>The model learns the patterns from the images. It can read the image — as a second reader, or on its 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4340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ECEFF3"/>
                </a:solidFill>
                <a:latin typeface="Arial"/>
              </a:rPr>
              <a:t>The lesson from Era I: CAD was reimbursed before it was proven, and never shown to help. For two decades we taught machines to point at mammograms; the change was teaching them to read the image — and validating that before billing for it. The next section picks up sixteen years later.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