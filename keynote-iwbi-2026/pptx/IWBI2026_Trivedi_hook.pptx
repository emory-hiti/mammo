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C6975"/>
                </a:solidFill>
                <a:latin typeface="Consolas"/>
              </a:rPr>
              <a:t>INTERNATIONAL WORKSHOP ON BREAST IMAGING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ECEFF3"/>
                </a:solidFill>
                <a:latin typeface="Arial"/>
              </a:rPr>
              <a:t>Thirty Years,</a:t>
            </a:r>
          </a:p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E7AC51"/>
                </a:solidFill>
                <a:latin typeface="Arial"/>
              </a:rPr>
              <a:t>Three Eras.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5262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9DA9B5"/>
                </a:solidFill>
                <a:latin typeface="Arial"/>
              </a:rPr>
              <a:t>AI in Breast Imaging — from CAD to Clinical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120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CEFF3"/>
                </a:solidFill>
                <a:latin typeface="Arial"/>
              </a:rPr>
              <a:t>Hari Trivedi, MD</a:t>
            </a:r>
            <a:r>
              <a:rPr sz="1400" b="0" i="0">
                <a:solidFill>
                  <a:srgbClr val="5C6975"/>
                </a:solidFill>
                <a:latin typeface="Arial"/>
              </a:rPr>
              <a:t>    ·    Emory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1097280"/>
            <a:ext cx="3383280" cy="4663440"/>
          </a:xfrm>
          <a:prstGeom prst="roundRect">
            <a:avLst/>
          </a:prstGeom>
          <a:solidFill>
            <a:srgbClr val="06090C"/>
          </a:solidFill>
          <a:ln w="9525">
            <a:solidFill>
              <a:srgbClr val="C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/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C6975"/>
                </a:solidFill>
                <a:latin typeface="Consolas"/>
              </a:rPr>
              <a:t>[ real de-identified Emory screening case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377440"/>
            <a:ext cx="676656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ECEFF3"/>
                </a:solidFill>
                <a:latin typeface="Arial"/>
              </a:rPr>
              <a:t>A normal screening mammogram — read as normal.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ECEFF3"/>
                </a:solidFill>
                <a:latin typeface="Arial"/>
              </a:rPr>
              <a:t>What are we </a:t>
            </a:r>
            <a:r>
              <a:rPr sz="4800" b="1" i="0">
                <a:solidFill>
                  <a:srgbClr val="E7AC51"/>
                </a:solidFill>
                <a:latin typeface="Arial"/>
              </a:rPr>
              <a:t>not seeing?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1371600"/>
            <a:ext cx="3017520" cy="4206240"/>
          </a:xfrm>
          <a:prstGeom prst="roundRect">
            <a:avLst/>
          </a:prstGeom>
          <a:solidFill>
            <a:srgbClr val="06090C"/>
          </a:solidFill>
          <a:ln w="9525">
            <a:solidFill>
              <a:srgbClr val="C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86868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ECEFF3"/>
                </a:solidFill>
                <a:latin typeface="Arial"/>
              </a:rPr>
              <a:t>AI reads this </a:t>
            </a:r>
            <a:r>
              <a:rPr sz="1900" b="1" i="0">
                <a:solidFill>
                  <a:srgbClr val="E7AC51"/>
                </a:solidFill>
                <a:latin typeface="Arial"/>
              </a:rPr>
              <a:t>same mammogram</a:t>
            </a:r>
            <a:r>
              <a:rPr sz="1900" b="1" i="0">
                <a:solidFill>
                  <a:srgbClr val="ECEFF3"/>
                </a:solidFill>
                <a:latin typeface="Arial"/>
              </a:rPr>
              <a:t> — and her eventual biopsy slide — for information not visible to 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2148840"/>
            <a:ext cx="7315200" cy="868680"/>
          </a:xfrm>
          <a:prstGeom prst="roundRect">
            <a:avLst/>
          </a:prstGeom>
          <a:solidFill>
            <a:srgbClr val="1B232D"/>
          </a:solidFill>
          <a:ln w="12700">
            <a:solidFill>
              <a:srgbClr val="E7A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/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E7AC51"/>
                </a:solidFill>
                <a:latin typeface="Consolas"/>
              </a:rPr>
              <a:t>01   </a:t>
            </a:r>
            <a:r>
              <a:rPr sz="1500" b="1" i="0">
                <a:solidFill>
                  <a:srgbClr val="5FB7C9"/>
                </a:solidFill>
                <a:latin typeface="Arial"/>
              </a:rPr>
              <a:t>Image-based risk</a:t>
            </a:r>
            <a:r>
              <a:rPr sz="1500" b="0" i="0">
                <a:solidFill>
                  <a:srgbClr val="ECEFF3"/>
                </a:solidFill>
                <a:latin typeface="Arial"/>
              </a:rPr>
              <a:t> — high probability of cancer within ~5 years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150" b="0" i="1">
                <a:solidFill>
                  <a:srgbClr val="9DA9B5"/>
                </a:solidFill>
                <a:latin typeface="Arial"/>
              </a:rPr>
              <a:t>which she developed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127248"/>
            <a:ext cx="7315200" cy="868680"/>
          </a:xfrm>
          <a:prstGeom prst="roundRect">
            <a:avLst/>
          </a:prstGeom>
          <a:solidFill>
            <a:srgbClr val="1B232D"/>
          </a:solidFill>
          <a:ln w="12700">
            <a:solidFill>
              <a:srgbClr val="E7A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/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E7AC51"/>
                </a:solidFill>
                <a:latin typeface="Consolas"/>
              </a:rPr>
              <a:t>02   </a:t>
            </a:r>
            <a:r>
              <a:rPr sz="1500" b="1" i="0">
                <a:solidFill>
                  <a:srgbClr val="5FB7C9"/>
                </a:solidFill>
                <a:latin typeface="Arial"/>
              </a:rPr>
              <a:t>Cardiovascular disease</a:t>
            </a:r>
            <a:r>
              <a:rPr sz="1500" b="0" i="0">
                <a:solidFill>
                  <a:srgbClr val="ECEFF3"/>
                </a:solidFill>
                <a:latin typeface="Arial"/>
              </a:rPr>
              <a:t> — breast arterial calcification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150" b="0" i="1">
                <a:solidFill>
                  <a:srgbClr val="9DA9B5"/>
                </a:solidFill>
                <a:latin typeface="Arial"/>
              </a:rPr>
              <a:t>an independent risk marker, with a dose-response relationship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105656"/>
            <a:ext cx="7315200" cy="868680"/>
          </a:xfrm>
          <a:prstGeom prst="roundRect">
            <a:avLst/>
          </a:prstGeom>
          <a:solidFill>
            <a:srgbClr val="1B232D"/>
          </a:solidFill>
          <a:ln w="12700">
            <a:solidFill>
              <a:srgbClr val="E7A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/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E7AC51"/>
                </a:solidFill>
                <a:latin typeface="Consolas"/>
              </a:rPr>
              <a:t>03   </a:t>
            </a:r>
            <a:r>
              <a:rPr sz="1500" b="1" i="0">
                <a:solidFill>
                  <a:srgbClr val="5FB7C9"/>
                </a:solidFill>
                <a:latin typeface="Arial"/>
              </a:rPr>
              <a:t>Recurrence prediction</a:t>
            </a:r>
            <a:r>
              <a:rPr sz="1500" b="0" i="0">
                <a:solidFill>
                  <a:srgbClr val="ECEFF3"/>
                </a:solidFill>
                <a:latin typeface="Arial"/>
              </a:rPr>
              <a:t> — a genomic recurrence score from the biopsy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07492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DA9B5"/>
                </a:solidFill>
                <a:latin typeface="Arial"/>
              </a:rPr>
              <a:t>None of these is hypothetical. Each is published and externally validated — and </a:t>
            </a:r>
            <a:r>
              <a:rPr sz="1200" b="1" i="0">
                <a:solidFill>
                  <a:srgbClr val="ECEFF3"/>
                </a:solidFill>
                <a:latin typeface="Arial"/>
              </a:rPr>
              <a:t>one is already in this year’s screening guidelines.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C6975"/>
                </a:solidFill>
                <a:latin typeface="Consolas"/>
              </a:rPr>
              <a:t>~30 YRS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874519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5C6975"/>
                </a:solidFill>
                <a:latin typeface="Arial"/>
              </a:rPr>
              <a:t>We built tools to find the lesion — to mark the spot. That was CAD.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3246120"/>
            <a:ext cx="8869680" cy="12700"/>
          </a:xfrm>
          <a:prstGeom prst="rect">
            <a:avLst/>
          </a:prstGeom>
          <a:solidFill>
            <a:srgbClr val="2A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7033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7AC51"/>
                </a:solidFill>
                <a:latin typeface="Consolas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429000"/>
            <a:ext cx="8869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ECEFF3"/>
                </a:solidFill>
                <a:latin typeface="Arial"/>
              </a:rPr>
              <a:t>What’s changing is the </a:t>
            </a:r>
            <a:r>
              <a:rPr sz="2600" b="1" i="0">
                <a:solidFill>
                  <a:srgbClr val="E7AC51"/>
                </a:solidFill>
                <a:latin typeface="Arial"/>
              </a:rPr>
              <a:t>scope of the question</a:t>
            </a:r>
            <a:r>
              <a:rPr sz="2600" b="1" i="0">
                <a:solidFill>
                  <a:srgbClr val="ECEFF3"/>
                </a:solidFill>
                <a:latin typeface="Arial"/>
              </a:rPr>
              <a:t> we ask.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CEFF3"/>
                </a:solidFill>
                <a:latin typeface="Arial"/>
              </a:rPr>
              <a:t>From lesions to </a:t>
            </a:r>
            <a:r>
              <a:rPr sz="4000" b="1" i="0">
                <a:solidFill>
                  <a:srgbClr val="E7AC51"/>
                </a:solidFill>
                <a:latin typeface="Arial"/>
              </a:rPr>
              <a:t>populations.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468880"/>
            <a:ext cx="2478024" cy="2743200"/>
          </a:xfrm>
          <a:prstGeom prst="roundRect">
            <a:avLst/>
          </a:prstGeom>
          <a:solidFill>
            <a:srgbClr val="2B2E30"/>
          </a:solidFill>
          <a:ln w="12700">
            <a:solidFill>
              <a:srgbClr val="E7A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46304" tIns="201168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975"/>
                </a:solidFill>
                <a:latin typeface="Consolas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2600" b="1" i="0">
                <a:solidFill>
                  <a:srgbClr val="ECEFF3"/>
                </a:solidFill>
                <a:latin typeface="Arial"/>
              </a:rPr>
              <a:t>Lesion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00" b="0" i="0">
                <a:solidFill>
                  <a:srgbClr val="9DA9B5"/>
                </a:solidFill>
                <a:latin typeface="Arial"/>
              </a:rPr>
              <a:t>find &amp; characterize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9584" y="2468880"/>
            <a:ext cx="2478024" cy="2743200"/>
          </a:xfrm>
          <a:prstGeom prst="roundRect">
            <a:avLst/>
          </a:prstGeom>
          <a:solidFill>
            <a:srgbClr val="484135"/>
          </a:solidFill>
          <a:ln w="12700">
            <a:solidFill>
              <a:srgbClr val="E7A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46304" tIns="201168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975"/>
                </a:solidFill>
                <a:latin typeface="Consolas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2600" b="1" i="0">
                <a:solidFill>
                  <a:srgbClr val="ECEFF3"/>
                </a:solidFill>
                <a:latin typeface="Arial"/>
              </a:rPr>
              <a:t>Image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00" b="0" i="0">
                <a:solidFill>
                  <a:srgbClr val="9DA9B5"/>
                </a:solidFill>
                <a:latin typeface="Arial"/>
              </a:rPr>
              <a:t>risk &amp; opportunistic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1927" y="2468880"/>
            <a:ext cx="2478024" cy="2743200"/>
          </a:xfrm>
          <a:prstGeom prst="roundRect">
            <a:avLst/>
          </a:prstGeom>
          <a:solidFill>
            <a:srgbClr val="77613D"/>
          </a:solidFill>
          <a:ln w="12700">
            <a:solidFill>
              <a:srgbClr val="E7A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46304" tIns="201168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975"/>
                </a:solidFill>
                <a:latin typeface="Consolas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2600" b="1" i="0">
                <a:solidFill>
                  <a:srgbClr val="ECEFF3"/>
                </a:solidFill>
                <a:latin typeface="Arial"/>
              </a:rPr>
              <a:t>Patient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00" b="0" i="0">
                <a:solidFill>
                  <a:srgbClr val="9DA9B5"/>
                </a:solidFill>
                <a:latin typeface="Arial"/>
              </a:rPr>
              <a:t>pathology +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34272" y="2468880"/>
            <a:ext cx="2478024" cy="2743200"/>
          </a:xfrm>
          <a:prstGeom prst="roundRect">
            <a:avLst/>
          </a:prstGeom>
          <a:solidFill>
            <a:srgbClr val="E7AC51"/>
          </a:solidFill>
          <a:ln w="12700">
            <a:solidFill>
              <a:srgbClr val="E7AC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46304" tIns="201168"/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A2A10"/>
                </a:solidFill>
                <a:latin typeface="Consolas"/>
              </a:rPr>
              <a:t>04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2600" b="1" i="0">
                <a:solidFill>
                  <a:srgbClr val="1A1206"/>
                </a:solidFill>
                <a:latin typeface="Arial"/>
              </a:rPr>
              <a:t>Population</a:t>
            </a: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200" b="0" i="0">
                <a:solidFill>
                  <a:srgbClr val="1A1206"/>
                </a:solidFill>
                <a:latin typeface="Arial"/>
              </a:rPr>
              <a:t>access, equity,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