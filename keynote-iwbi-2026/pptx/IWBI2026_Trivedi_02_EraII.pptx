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year is 2016. You're a radiologist, you're just beginning to hear about AI for breast imaging — and the reading room is still feeling the burn from CAD. So what does mammography AI actually look like, and what is the evidence?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optimism wasn't new in 2020. Back in 2016 came the first large-scale effort to build breast-cancer AI: the Digital Mammography DREAM Challenge. Over a thousand participants, 126 teams from 44 countries, on roughly 640,000 mammograms; we took part. There was an incredible surge of optimism that this would simply solve breast AI. On the held-out evaluation set, the best single model reached an AUC of 0.858; the ensemble of the eight best models reached 0.895; and the ensemble plus a single radiologist reached 0.942. The winner, Therapixel, spun out a company whose product, MammoScreen, is still in clinical use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was the early evidence? In 2020, McKinney and colleagues at Google Health, in Nature, reported an AI that on US data cut false positives by 5.7% and false negatives by 9.4%, exceeded the average radiologist's AUC by over 11 points, and could cut a second reader's workload by 88%. The figure shows example cases the model localized. On paper, superhuman — but only on clean, curated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held up independently. Salim and colleagues, in JAMA Oncology, took three commercial AI algorithms and tested them on an external Stockholm cohort of about 8,800 women. The best — Algorithm 1 here — reached an AUC of 0.956, and combined with a first reader it reached 88.6% sensitivity at 93% specificity, exceeding two human readers. Three different vendors, external data — the evidence is looking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2023, MASAI published its clinical safety analysis — a randomized trial of about eighty thousand women, roughly forty thousand per arm. Cancer detection was 6.1 per thousand with AI versus 5.1 in controls, a ratio of 1.2, above the lowest acceptable safety limit. Recall was essentially identical, 2.2 versus 2.0 percent; the false-positive rate was 1.5 percent in both; and the positive predictive value of recall was higher with AI, 28 versus 25 percent. Three-quarters of detected cancers were invasive. So: safe, and detecting more — the green light to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here is the discipline this talk runs on. Reader studies have well-known limits: enriched case sets, lab conditions, no real workflow. CAD had good numbers too. That kind of data is not enough to drive adoption. And it shows: a 2024 European survey found about 48% of radiologists use AI, but of those only 13.7% use it for breast imaging, about one in eight. In the US, by one estimate, only around 2% of practices use it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ECEFF3"/>
                </a:solidFill>
                <a:latin typeface="Arial"/>
              </a:rPr>
              <a:t>The year is </a:t>
            </a:r>
            <a:r>
              <a:rPr sz="5000" b="1" i="0">
                <a:solidFill>
                  <a:srgbClr val="E7AC51"/>
                </a:solidFill>
                <a:latin typeface="Arial"/>
              </a:rPr>
              <a:t>2016.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9DA9B5"/>
                </a:solidFill>
                <a:latin typeface="Arial"/>
              </a:rPr>
              <a:t>You're beginning to hear about AI — and still </a:t>
            </a:r>
            <a:r>
              <a:rPr sz="1900" b="1" i="0">
                <a:solidFill>
                  <a:srgbClr val="ECEFF3"/>
                </a:solidFill>
                <a:latin typeface="Arial"/>
              </a:rPr>
              <a:t>feeling the burn from CAD.</a:t>
            </a:r>
          </a:p>
        </p:txBody>
      </p:sp>
      <p:pic>
        <p:nvPicPr>
          <p:cNvPr id="6" name="Picture 5" descr="svg_7e3644f7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305594"/>
            <a:ext cx="4572000" cy="2612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5852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ECEFF3"/>
                </a:solidFill>
                <a:latin typeface="Arial"/>
              </a:rPr>
              <a:t>2016: the first large-scale push — and a </a:t>
            </a:r>
            <a:r>
              <a:rPr sz="2600" b="1" i="0">
                <a:solidFill>
                  <a:srgbClr val="E7AC51"/>
                </a:solidFill>
                <a:latin typeface="Arial"/>
              </a:rPr>
              <a:t>surge of optimism.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DA9B5"/>
                </a:solidFill>
                <a:latin typeface="Arial"/>
              </a:rPr>
              <a:t>The Digital Mammography DREAM Challenge was the first large-scale effort to build breast-cancer AI — and we took part. The hope: a crowdsourced competition would simply solve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69080"/>
            <a:ext cx="5669280" cy="384048"/>
          </a:xfrm>
          <a:prstGeom prst="roundRect">
            <a:avLst/>
          </a:prstGeom>
          <a:solidFill>
            <a:srgbClr val="1B232D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FF3"/>
                </a:solidFill>
                <a:latin typeface="Consolas"/>
              </a:rPr>
              <a:t>1,000+ participants · 126 teams · 44 countries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069080"/>
            <a:ext cx="36576" cy="384048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4526280"/>
            <a:ext cx="5669280" cy="384048"/>
          </a:xfrm>
          <a:prstGeom prst="roundRect">
            <a:avLst/>
          </a:prstGeom>
          <a:solidFill>
            <a:srgbClr val="1B232D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FF3"/>
                </a:solidFill>
                <a:latin typeface="Consolas"/>
              </a:rPr>
              <a:t>~640,000 mammograms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526280"/>
            <a:ext cx="36576" cy="384048"/>
          </a:xfrm>
          <a:prstGeom prst="rect">
            <a:avLst/>
          </a:prstGeom>
          <a:solidFill>
            <a:srgbClr val="5F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DA9B5"/>
                </a:solidFill>
                <a:latin typeface="Arial"/>
              </a:rPr>
              <a:t>Best model </a:t>
            </a:r>
            <a:r>
              <a:rPr sz="1350" b="1" i="0">
                <a:solidFill>
                  <a:srgbClr val="ECEFF3"/>
                </a:solidFill>
                <a:latin typeface="Arial"/>
              </a:rPr>
              <a:t>AUC 0.858</a:t>
            </a:r>
            <a:r>
              <a:rPr sz="1350" b="0" i="0">
                <a:solidFill>
                  <a:srgbClr val="9DA9B5"/>
                </a:solidFill>
                <a:latin typeface="Arial"/>
              </a:rPr>
              <a:t> → ensemble </a:t>
            </a:r>
            <a:r>
              <a:rPr sz="1350" b="1" i="0">
                <a:solidFill>
                  <a:srgbClr val="ECEFF3"/>
                </a:solidFill>
                <a:latin typeface="Arial"/>
              </a:rPr>
              <a:t>0.895</a:t>
            </a:r>
            <a:r>
              <a:rPr sz="1350" b="0" i="0">
                <a:solidFill>
                  <a:srgbClr val="9DA9B5"/>
                </a:solidFill>
                <a:latin typeface="Arial"/>
              </a:rPr>
              <a:t> → + a radiologist </a:t>
            </a:r>
            <a:r>
              <a:rPr sz="1350" b="1" i="0">
                <a:solidFill>
                  <a:srgbClr val="ECEFF3"/>
                </a:solidFill>
                <a:latin typeface="Arial"/>
              </a:rPr>
              <a:t>0.942.</a:t>
            </a:r>
            <a:r>
              <a:rPr sz="1350" b="0" i="0">
                <a:solidFill>
                  <a:srgbClr val="9DA9B5"/>
                </a:solidFill>
                <a:latin typeface="Arial"/>
              </a:rPr>
              <a:t> Winner Therapixel spun out MammoScreen — still in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264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Schaffter et al., JAMA Network Open 2020;3(3):e200265.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019819"/>
            <a:ext cx="4754880" cy="5275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920569b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11259"/>
            <a:ext cx="4572000" cy="5092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ECEFF3"/>
                </a:solidFill>
                <a:latin typeface="Arial"/>
              </a:rPr>
              <a:t>2020: Google publishes its </a:t>
            </a:r>
            <a:r>
              <a:rPr sz="2600" b="1" i="0">
                <a:solidFill>
                  <a:srgbClr val="E7AC51"/>
                </a:solidFill>
                <a:latin typeface="Arial"/>
              </a:rPr>
              <a:t>breast-cancer AI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7AC51"/>
                </a:solidFill>
                <a:latin typeface="Arial"/>
              </a:rPr>
              <a:t>−5.7% / −1.2%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7238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DA9B5"/>
                </a:solidFill>
                <a:latin typeface="Consolas"/>
              </a:rPr>
              <a:t>false positives (US / UK)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39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7AC51"/>
                </a:solidFill>
                <a:latin typeface="Arial"/>
              </a:rPr>
              <a:t>−9.4% / −2.7%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41063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DA9B5"/>
                </a:solidFill>
                <a:latin typeface="Consolas"/>
              </a:rPr>
              <a:t>false negatives (US / UK)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7AC51"/>
                </a:solidFill>
                <a:latin typeface="Arial"/>
              </a:rPr>
              <a:t>+11.5%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974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DA9B5"/>
                </a:solidFill>
                <a:latin typeface="Consolas"/>
              </a:rPr>
              <a:t>AUC over the average radiologist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7AC51"/>
                </a:solidFill>
                <a:latin typeface="Arial"/>
              </a:rPr>
              <a:t>−88%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7842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DA9B5"/>
                </a:solidFill>
                <a:latin typeface="Consolas"/>
              </a:rPr>
              <a:t>simulated second-reader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McKinney et al., Nature 2020;577:89–94 — promising, but only on clean, curated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966" y="1280160"/>
            <a:ext cx="2851827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_6cb54df2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406" y="1371600"/>
            <a:ext cx="26689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CEFF3"/>
                </a:solidFill>
                <a:latin typeface="Arial"/>
              </a:rPr>
              <a:t>2020: three commercial models, independently validated on </a:t>
            </a:r>
            <a:r>
              <a:rPr sz="2400" b="1" i="0">
                <a:solidFill>
                  <a:srgbClr val="E7AC51"/>
                </a:solidFill>
                <a:latin typeface="Arial"/>
              </a:rPr>
              <a:t>8,800 women.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DA9B5"/>
                </a:solidFill>
                <a:latin typeface="Arial"/>
              </a:rPr>
              <a:t>Best algorithm </a:t>
            </a:r>
            <a:r>
              <a:rPr sz="1500" b="1" i="0">
                <a:solidFill>
                  <a:srgbClr val="ECEFF3"/>
                </a:solidFill>
                <a:latin typeface="Arial"/>
              </a:rPr>
              <a:t>AUC 0.956</a:t>
            </a:r>
            <a:r>
              <a:rPr sz="1500" b="0" i="0">
                <a:solidFill>
                  <a:srgbClr val="9DA9B5"/>
                </a:solidFill>
                <a:latin typeface="Arial"/>
              </a:rPr>
              <a:t>. AI + first reader reached </a:t>
            </a:r>
            <a:r>
              <a:rPr sz="1500" b="1" i="0">
                <a:solidFill>
                  <a:srgbClr val="ECEFF3"/>
                </a:solidFill>
                <a:latin typeface="Arial"/>
              </a:rPr>
              <a:t>88.6% sensitivity at 93.0% specificity</a:t>
            </a:r>
            <a:r>
              <a:rPr sz="1500" b="0" i="0">
                <a:solidFill>
                  <a:srgbClr val="9DA9B5"/>
                </a:solidFill>
                <a:latin typeface="Arial"/>
              </a:rPr>
              <a:t> — exceeding two human readers.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Salim et al., JAMA Oncology 2020 (Stockholm, 8,805 women).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219999"/>
            <a:ext cx="4754880" cy="28752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1a0b0987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311439"/>
            <a:ext cx="4572000" cy="26923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2023: MASAI publishes its </a:t>
            </a:r>
            <a:r>
              <a:rPr sz="3000" b="1" i="0">
                <a:solidFill>
                  <a:srgbClr val="E7AC51"/>
                </a:solidFill>
                <a:latin typeface="Arial"/>
              </a:rPr>
              <a:t>safety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DA9B5"/>
                </a:solidFill>
                <a:latin typeface="Arial"/>
              </a:rPr>
              <a:t>A randomized trial, </a:t>
            </a:r>
            <a:r>
              <a:rPr sz="1600" b="1" i="0">
                <a:solidFill>
                  <a:srgbClr val="ECEFF3"/>
                </a:solidFill>
                <a:latin typeface="Arial"/>
              </a:rPr>
              <a:t>~80,000 women</a:t>
            </a:r>
            <a:r>
              <a:rPr sz="1600" b="0" i="0">
                <a:solidFill>
                  <a:srgbClr val="9DA9B5"/>
                </a:solidFill>
                <a:latin typeface="Arial"/>
              </a:rPr>
              <a:t> (≈40,000 per arm) — AI-supported reading vs standard double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7AC51"/>
                </a:solidFill>
                <a:latin typeface="Arial"/>
              </a:rPr>
              <a:t>6.1 </a:t>
            </a:r>
            <a:r>
              <a:rPr sz="3000" b="0" i="0">
                <a:solidFill>
                  <a:srgbClr val="5C6975"/>
                </a:solidFill>
                <a:latin typeface="Arial"/>
              </a:rPr>
              <a:t>vs </a:t>
            </a:r>
            <a:r>
              <a:rPr sz="5400" b="1" i="0">
                <a:solidFill>
                  <a:srgbClr val="E7AC51"/>
                </a:solidFill>
                <a:latin typeface="Arial"/>
              </a:rPr>
              <a:t>5.1</a:t>
            </a:r>
            <a:r>
              <a:rPr sz="1300" b="0" i="0">
                <a:solidFill>
                  <a:srgbClr val="ECEFF3"/>
                </a:solidFill>
                <a:latin typeface="Consolas"/>
              </a:rPr>
              <a:t>   CDR per 1,000 · ratio 1.2 (95% CI 1.0–1.5)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4297680"/>
          <a:ext cx="6949438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799"/>
                <a:gridCol w="1828799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7AC51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7AC51"/>
                          </a:solidFill>
                          <a:latin typeface="Arial"/>
                        </a:rPr>
                        <a:t>AI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7AC51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FF3"/>
                          </a:solidFill>
                          <a:latin typeface="Arial"/>
                        </a:rPr>
                        <a:t>Recall rate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FF3"/>
                          </a:solidFill>
                          <a:latin typeface="Arial"/>
                        </a:rPr>
                        <a:t>False-positive rate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FF3"/>
                          </a:solidFill>
                          <a:latin typeface="Arial"/>
                        </a:rPr>
                        <a:t>PPV of recall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28.3%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24.8%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FF3"/>
                          </a:solidFill>
                          <a:latin typeface="Arial"/>
                        </a:rPr>
                        <a:t>Invasive cancers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DA9B5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anchor="ctr" marL="73152" marR="73152" marT="25400" marB="25400">
                    <a:solidFill>
                      <a:srgbClr val="0F14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Lång et al., Lancet Oncology 2023 — above the lowest acceptable detection limit for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ERA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Data isn't enough to </a:t>
            </a:r>
            <a:r>
              <a:rPr sz="3000" b="1" i="0">
                <a:solidFill>
                  <a:srgbClr val="E7AC51"/>
                </a:solidFill>
                <a:latin typeface="Arial"/>
              </a:rPr>
              <a:t>drive adoption.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DA9B5"/>
                </a:solidFill>
                <a:latin typeface="Arial"/>
              </a:rPr>
              <a:t>Enriched cases, lab conditions, no real workflow — CAD had good numbers too. The bar is prospective deployment, and real-world uptake has been slow.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7AC51"/>
                </a:solidFill>
                <a:latin typeface="Arial"/>
              </a:rPr>
              <a:t>48%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CEFF3"/>
                </a:solidFill>
                <a:latin typeface="Consolas"/>
              </a:rPr>
              <a:t>of European radiologists use AI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3832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7AC51"/>
                </a:solidFill>
                <a:latin typeface="Arial"/>
              </a:rPr>
              <a:t>13.7%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4348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CEFF3"/>
                </a:solidFill>
                <a:latin typeface="Consolas"/>
              </a:rPr>
              <a:t>of them, for breast imaging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3832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7AC51"/>
                </a:solidFill>
                <a:latin typeface="Arial"/>
              </a:rPr>
              <a:t>~2%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4348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CEFF3"/>
                </a:solidFill>
                <a:latin typeface="Consolas"/>
              </a:rPr>
              <a:t>of US practices, by one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ESR EuroAIM/EuSoMII survey, Insights Imaging 2024 (n=572) · US estimate: industry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